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1210"/>
                </a:solidFill>
                <a:latin typeface="Calibri"/>
              </a:defRPr>
            </a:pPr>
            <a:r>
              <a:rPr sz="1100" b="0" i="0" u="none" strike="noStrike">
                <a:solidFill>
                  <a:srgbClr val="0B1210"/>
                </a:solidFill>
                <a:latin typeface="Calibri"/>
              </a:rPr>
              <a:t>P(clearing the target within one quarter)</a:t>
            </a:r>
          </a:p>
        </c:rich>
      </c:tx>
      <c:layout/>
      <c:overlay val="0"/>
    </c:title>
    <c:autoTitleDeleted val="0"/>
    <c:plotArea>
      <c:layout/>
      <c:lineChart>
        <c:varyColors val="0"/>
        <c:ser>
          <c:idx val="0"/>
          <c:order val="0"/>
          <c:tx>
            <c:strRef>
              <c:f>Sheet1!$B$1</c:f>
              <c:strCache>
                <c:ptCount val="1"/>
                <c:pt idx="0">
                  <c:v>Bond fund  σ 0.3%/day</c:v>
                </c:pt>
              </c:strCache>
            </c:strRef>
          </c:tx>
          <c:spPr>
            <a:solidFill>
              <a:srgbClr val="94A29B"/>
            </a:solidFill>
            <a:ln w="28575" cap="flat">
              <a:solidFill>
                <a:srgbClr val="94A29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94A29B"/>
              </a:solidFill>
              <a:ln w="9525" cap="flat">
                <a:solidFill>
                  <a:srgbClr val="94A29B"/>
                </a:solidFill>
                <a:prstDash val="solid"/>
                <a:round/>
              </a:ln>
              <a:effectLst/>
            </c:spPr>
          </c:marker>
          <c:cat>
            <c:multiLvlStrRef>
              <c:f>Sheet1!$A$2:$A$8</c:f>
              <c:multiLvlStrCache>
                <c:ptCount val="7"/>
                <c:lvl>
                  <c:pt idx="0">
                    <c:v>+1%</c:v>
                  </c:pt>
                  <c:pt idx="1">
                    <c:v>+2%</c:v>
                  </c:pt>
                  <c:pt idx="2">
                    <c:v>+3%</c:v>
                  </c:pt>
                  <c:pt idx="3">
                    <c:v>+5%</c:v>
                  </c:pt>
                  <c:pt idx="4">
                    <c:v>+8%</c:v>
                  </c:pt>
                  <c:pt idx="5">
                    <c:v>+12%</c:v>
                  </c:pt>
                  <c:pt idx="6">
                    <c:v>+20%</c:v>
                  </c:pt>
                </c:lvl>
              </c:multiLvlStrCache>
            </c:multiLvlStrRef>
          </c:cat>
          <c:val>
            <c:numRef>
              <c:f>Sheet1!$B$2:$B$8</c:f>
              <c:numCache>
                <c:formatCode>General</c:formatCode>
                <c:ptCount val="7"/>
                <c:pt idx="0">
                  <c:v>65</c:v>
                </c:pt>
                <c:pt idx="1">
                  <c:v>49</c:v>
                </c:pt>
                <c:pt idx="2">
                  <c:v>33</c:v>
                </c:pt>
                <c:pt idx="3">
                  <c:v>11</c:v>
                </c:pt>
                <c:pt idx="4">
                  <c:v>1</c:v>
                </c:pt>
                <c:pt idx="5">
                  <c:v>0</c:v>
                </c:pt>
                <c:pt idx="6">
                  <c:v>0</c:v>
                </c:pt>
              </c:numCache>
            </c:numRef>
          </c:val>
          <c:smooth val="0"/>
        </c:ser>
        <c:ser>
          <c:idx val="1"/>
          <c:order val="1"/>
          <c:tx>
            <c:strRef>
              <c:f>Sheet1!$C$1</c:f>
              <c:strCache>
                <c:ptCount val="1"/>
                <c:pt idx="0">
                  <c:v>Broad-market ETF  σ 0.8%/day</c:v>
                </c:pt>
              </c:strCache>
            </c:strRef>
          </c:tx>
          <c:spPr>
            <a:solidFill>
              <a:srgbClr val="12855A"/>
            </a:solidFill>
            <a:ln w="28575" cap="flat">
              <a:solidFill>
                <a:srgbClr val="12855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12855A"/>
              </a:solidFill>
              <a:ln w="9525" cap="flat">
                <a:solidFill>
                  <a:srgbClr val="12855A"/>
                </a:solidFill>
                <a:prstDash val="solid"/>
                <a:round/>
              </a:ln>
              <a:effectLst/>
            </c:spPr>
          </c:marker>
          <c:cat>
            <c:multiLvlStrRef>
              <c:f>Sheet1!$A$2:$A$8</c:f>
              <c:multiLvlStrCache>
                <c:ptCount val="7"/>
                <c:lvl>
                  <c:pt idx="0">
                    <c:v>+1%</c:v>
                  </c:pt>
                  <c:pt idx="1">
                    <c:v>+2%</c:v>
                  </c:pt>
                  <c:pt idx="2">
                    <c:v>+3%</c:v>
                  </c:pt>
                  <c:pt idx="3">
                    <c:v>+5%</c:v>
                  </c:pt>
                  <c:pt idx="4">
                    <c:v>+8%</c:v>
                  </c:pt>
                  <c:pt idx="5">
                    <c:v>+12%</c:v>
                  </c:pt>
                  <c:pt idx="6">
                    <c:v>+20%</c:v>
                  </c:pt>
                </c:lvl>
              </c:multiLvlStrCache>
            </c:multiLvlStrRef>
          </c:cat>
          <c:val>
            <c:numRef>
              <c:f>Sheet1!$C$2:$C$8</c:f>
              <c:numCache>
                <c:formatCode>General</c:formatCode>
                <c:ptCount val="7"/>
                <c:pt idx="0">
                  <c:v>56</c:v>
                </c:pt>
                <c:pt idx="1">
                  <c:v>50</c:v>
                </c:pt>
                <c:pt idx="2">
                  <c:v>44</c:v>
                </c:pt>
                <c:pt idx="3">
                  <c:v>32</c:v>
                </c:pt>
                <c:pt idx="4">
                  <c:v>18</c:v>
                </c:pt>
                <c:pt idx="5">
                  <c:v>7</c:v>
                </c:pt>
                <c:pt idx="6">
                  <c:v>1</c:v>
                </c:pt>
              </c:numCache>
            </c:numRef>
          </c:val>
          <c:smooth val="0"/>
        </c:ser>
        <c:ser>
          <c:idx val="2"/>
          <c:order val="2"/>
          <c:tx>
            <c:strRef>
              <c:f>Sheet1!$D$1</c:f>
              <c:strCache>
                <c:ptCount val="1"/>
                <c:pt idx="0">
                  <c:v>Single volatile name  σ 2.5%/day</c:v>
                </c:pt>
              </c:strCache>
            </c:strRef>
          </c:tx>
          <c:spPr>
            <a:solidFill>
              <a:srgbClr val="F2B23C"/>
            </a:solidFill>
            <a:ln w="28575" cap="flat">
              <a:solidFill>
                <a:srgbClr val="F2B2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2B23C"/>
              </a:solidFill>
              <a:ln w="9525" cap="flat">
                <a:solidFill>
                  <a:srgbClr val="F2B23C"/>
                </a:solidFill>
                <a:prstDash val="solid"/>
                <a:round/>
              </a:ln>
              <a:effectLst/>
            </c:spPr>
          </c:marker>
          <c:cat>
            <c:multiLvlStrRef>
              <c:f>Sheet1!$A$2:$A$8</c:f>
              <c:multiLvlStrCache>
                <c:ptCount val="7"/>
                <c:lvl>
                  <c:pt idx="0">
                    <c:v>+1%</c:v>
                  </c:pt>
                  <c:pt idx="1">
                    <c:v>+2%</c:v>
                  </c:pt>
                  <c:pt idx="2">
                    <c:v>+3%</c:v>
                  </c:pt>
                  <c:pt idx="3">
                    <c:v>+5%</c:v>
                  </c:pt>
                  <c:pt idx="4">
                    <c:v>+8%</c:v>
                  </c:pt>
                  <c:pt idx="5">
                    <c:v>+12%</c:v>
                  </c:pt>
                  <c:pt idx="6">
                    <c:v>+20%</c:v>
                  </c:pt>
                </c:lvl>
              </c:multiLvlStrCache>
            </c:multiLvlStrRef>
          </c:cat>
          <c:val>
            <c:numRef>
              <c:f>Sheet1!$D$2:$D$8</c:f>
              <c:numCache>
                <c:formatCode>General</c:formatCode>
                <c:ptCount val="7"/>
                <c:pt idx="0">
                  <c:v>52</c:v>
                </c:pt>
                <c:pt idx="1">
                  <c:v>50</c:v>
                </c:pt>
                <c:pt idx="2">
                  <c:v>48</c:v>
                </c:pt>
                <c:pt idx="3">
                  <c:v>44</c:v>
                </c:pt>
                <c:pt idx="4">
                  <c:v>39</c:v>
                </c:pt>
                <c:pt idx="5">
                  <c:v>32</c:v>
                </c:pt>
                <c:pt idx="6">
                  <c:v>21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C7C74"/>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C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C7C74"/>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900">
              <a:solidFill>
                <a:srgbClr val="44534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0B1210"/>
                </a:solidFill>
                <a:latin typeface="Calibri"/>
              </a:defRPr>
            </a:pPr>
            <a:r>
              <a:rPr sz="1050" b="0" i="0" u="none" strike="noStrike">
                <a:solidFill>
                  <a:srgbClr val="0B1210"/>
                </a:solidFill>
                <a:latin typeface="Calibri"/>
              </a:rPr>
              <a:t>What the corrections do</a:t>
            </a:r>
          </a:p>
        </c:rich>
      </c:tx>
      <c:layout/>
      <c:overlay val="0"/>
    </c:title>
    <c:autoTitleDeleted val="0"/>
    <c:plotArea>
      <c:layout/>
      <c:barChart>
        <c:barDir val="bar"/>
        <c:grouping val="clustered"/>
        <c:varyColors val="0"/>
        <c:ser>
          <c:idx val="0"/>
          <c:order val="0"/>
          <c:tx>
            <c:strRef>
              <c:f>Sheet1!$B$1</c:f>
              <c:strCache>
                <c:ptCount val="1"/>
                <c:pt idx="0">
                  <c:v>Raw weighted score</c:v>
                </c:pt>
              </c:strCache>
            </c:strRef>
          </c:tx>
          <c:spPr>
            <a:solidFill>
              <a:srgbClr val="E9EEEB"/>
            </a:solidFill>
            <a:effectLst/>
          </c:spPr>
          <c:invertIfNegative val="0"/>
          <c:dLbls>
            <c:numFmt formatCode="0" sourceLinked="0"/>
            <c:txPr>
              <a:bodyPr/>
              <a:lstStyle/>
              <a:p>
                <a:pPr>
                  <a:defRPr b="0" i="0" strike="noStrike" sz="800" u="none">
                    <a:solidFill>
                      <a:srgbClr val="6C7C74"/>
                    </a:solidFill>
                    <a:latin typeface="Calibri"/>
                  </a:defRPr>
                </a:pPr>
              </a:p>
            </c:txPr>
            <c:dLblPos val="outEnd"/>
            <c:showLegendKey val="0"/>
            <c:showVal val="1"/>
            <c:showCatName val="0"/>
            <c:showSerName val="0"/>
            <c:showPercent val="0"/>
            <c:showBubbleSize val="0"/>
            <c:showLeaderLines val="0"/>
          </c:dLbls>
          <c:cat>
            <c:multiLvlStrRef>
              <c:f>Sheet1!$A$2:$A$7</c:f>
              <c:multiLvlStrCache>
                <c:ptCount val="6"/>
                <c:lvl>
                  <c:pt idx="0">
                    <c:v>4-leg parlay</c:v>
                  </c:pt>
                  <c:pt idx="1">
                    <c:v>92¢, thin book</c:v>
                  </c:pt>
                  <c:pt idx="2">
                    <c:v>92¢ contract</c:v>
                  </c:pt>
                  <c:pt idx="3">
                    <c:v>Broad ETF</c:v>
                  </c:pt>
                  <c:pt idx="4">
                    <c:v>6-mo CD</c:v>
                  </c:pt>
                  <c:pt idx="5">
                    <c:v>13-week T-bill</c:v>
                  </c:pt>
                </c:lvl>
              </c:multiLvlStrCache>
            </c:multiLvlStrRef>
          </c:cat>
          <c:val>
            <c:numRef>
              <c:f>Sheet1!$B$2:$B$7</c:f>
              <c:numCache>
                <c:formatCode>General</c:formatCode>
                <c:ptCount val="6"/>
                <c:pt idx="0">
                  <c:v>40.4</c:v>
                </c:pt>
                <c:pt idx="1">
                  <c:v>43</c:v>
                </c:pt>
                <c:pt idx="2">
                  <c:v>43</c:v>
                </c:pt>
                <c:pt idx="3">
                  <c:v>39.8</c:v>
                </c:pt>
                <c:pt idx="4">
                  <c:v>64.9</c:v>
                </c:pt>
                <c:pt idx="5">
                  <c:v>65</c:v>
                </c:pt>
              </c:numCache>
            </c:numRef>
          </c:val>
        </c:ser>
        <c:ser>
          <c:idx val="1"/>
          <c:order val="1"/>
          <c:tx>
            <c:strRef>
              <c:f>Sheet1!$C$1</c:f>
              <c:strCache>
                <c:ptCount val="1"/>
                <c:pt idx="0">
                  <c:v>After corrections</c:v>
                </c:pt>
              </c:strCache>
            </c:strRef>
          </c:tx>
          <c:spPr>
            <a:solidFill>
              <a:srgbClr val="12855A"/>
            </a:solidFill>
            <a:effectLst/>
          </c:spPr>
          <c:invertIfNegative val="0"/>
          <c:dLbls>
            <c:numFmt formatCode="0" sourceLinked="0"/>
            <c:txPr>
              <a:bodyPr/>
              <a:lstStyle/>
              <a:p>
                <a:pPr>
                  <a:defRPr b="0" i="0" strike="noStrike" sz="800" u="none">
                    <a:solidFill>
                      <a:srgbClr val="6C7C74"/>
                    </a:solidFill>
                    <a:latin typeface="Calibri"/>
                  </a:defRPr>
                </a:pPr>
              </a:p>
            </c:txPr>
            <c:dLblPos val="outEnd"/>
            <c:showLegendKey val="0"/>
            <c:showVal val="1"/>
            <c:showCatName val="0"/>
            <c:showSerName val="0"/>
            <c:showPercent val="0"/>
            <c:showBubbleSize val="0"/>
            <c:showLeaderLines val="0"/>
          </c:dLbls>
          <c:cat>
            <c:multiLvlStrRef>
              <c:f>Sheet1!$A$2:$A$7</c:f>
              <c:multiLvlStrCache>
                <c:ptCount val="6"/>
                <c:lvl>
                  <c:pt idx="0">
                    <c:v>4-leg parlay</c:v>
                  </c:pt>
                  <c:pt idx="1">
                    <c:v>92¢, thin book</c:v>
                  </c:pt>
                  <c:pt idx="2">
                    <c:v>92¢ contract</c:v>
                  </c:pt>
                  <c:pt idx="3">
                    <c:v>Broad ETF</c:v>
                  </c:pt>
                  <c:pt idx="4">
                    <c:v>6-mo CD</c:v>
                  </c:pt>
                  <c:pt idx="5">
                    <c:v>13-week T-bill</c:v>
                  </c:pt>
                </c:lvl>
              </c:multiLvlStrCache>
            </c:multiLvlStrRef>
          </c:cat>
          <c:val>
            <c:numRef>
              <c:f>Sheet1!$C$2:$C$7</c:f>
              <c:numCache>
                <c:formatCode>General</c:formatCode>
                <c:ptCount val="6"/>
                <c:pt idx="0">
                  <c:v>5</c:v>
                </c:pt>
                <c:pt idx="1">
                  <c:v>35</c:v>
                </c:pt>
                <c:pt idx="2">
                  <c:v>40</c:v>
                </c:pt>
                <c:pt idx="3">
                  <c:v>40</c:v>
                </c:pt>
                <c:pt idx="4">
                  <c:v>49</c:v>
                </c:pt>
                <c:pt idx="5">
                  <c:v>65</c:v>
                </c:pt>
              </c:numCache>
            </c:numRef>
          </c:val>
        </c:ser>
        <c:dLbls>
          <c:numFmt formatCode="0" sourceLinked="0"/>
          <c:txPr>
            <a:bodyPr/>
            <a:lstStyle/>
            <a:p>
              <a:pPr>
                <a:defRPr b="0" i="0" strike="noStrike" sz="800" u="none">
                  <a:solidFill>
                    <a:srgbClr val="6C7C74"/>
                  </a:solidFill>
                  <a:latin typeface="Calibri"/>
                </a:defRPr>
              </a:pPr>
            </a:p>
          </c:txPr>
          <c:dLblPos val="outEnd"/>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50" b="0" i="0" u="none" strike="noStrike">
                <a:solidFill>
                  <a:srgbClr val="44534C"/>
                </a:solidFill>
                <a:latin typeface="Calibri"/>
              </a:defRPr>
            </a:pPr>
            <a:endParaRPr lang="en-US"/>
          </a:p>
        </c:txPr>
        <c:crossAx val="2094734552"/>
        <c:crosses val="autoZero"/>
        <c:auto val="1"/>
        <c:lblAlgn val="ctr"/>
        <c:noMultiLvlLbl val="1"/>
      </c:catAx>
      <c:valAx>
        <c:axId val="2094734552"/>
        <c:scaling>
          <c:orientation val="minMax"/>
          <c:max val="80"/>
          <c:min val="0"/>
        </c:scaling>
        <c:delete val="0"/>
        <c:axPos val="b"/>
        <c:majorGridlines>
          <c:spPr>
            <a:ln w="9525" cap="flat">
              <a:solidFill>
                <a:srgbClr val="DCE3D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C7C74"/>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850">
              <a:solidFill>
                <a:srgbClr val="44534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one-line promise. The product exists and charges money today; the raise is about proving the number can be trusted and making the saving side visible. Drop the real home-screen screenshot into the frame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as misaligned objective functions rather than 'no good apps'. The user is doing unpaid analyst work across five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slide. Left column = built and charging. Right column = the raise, and it is the rest of the deck. Say explicitly: same engine, one list, two sides of the same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screenshots to drop: the goal-setup screen and a route's score-breakdown detail screen. The breakdown screen is the one that sells the honesty claim — it shows the arithmetic in the product, not just on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marker. The math is both the moat and the largest unproven claim — say that out loud here, before walking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labelling. A 99% from a T-bill and a 99% from a model are not the same claim, and the product never lets them look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the one number we generate ourselves is the one we handicap. No vol history means no route at all, and the assumed return is capped at 8%/yr rather than extrapolated from a hot streak.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corrections most comparison tools skip. De-vigging is table stakes; netting Kalshi's fee curve against Polymarket's spread before comparing venues is the part that makes the cross-venue card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are hard-coded and shown in-product. The interesting design choice is the 30% on capital efficiency — it is what stops a huge safe position from dominating a small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asymmetry is the argument: there is no term anywhere in the engine that can raise a score above what the inputs justify. Investors should test this claim — invite them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bottom row. Highest capital efficiency, fastest payout, and dead last. If an investor only remembers one slide of the math section, it should be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restraint as an asset. Competitors will ship a number for every input; the moat is the discipline of returning nothing when the data is not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Investors will ask 'is this just an LLM wrapper'. The answer is on this slide: the LLM cannot generate a Treasury or ETF route at all, and cannot invent a prediction-market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line: everything in section 04 was the left half of the equation. Section 05 is the right half — the half that is bigger, safer, and not built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columns are computed by the shipped score function at build time. Earning $600 on $5,000 scores 37; cancelling $50/month scores 99. Be honest about the zero-capital gate — an investor who reads the code will find it, and volunteering it is worth more than hiding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founder flagged: the spend side IS the roadmap. Each leak has a detector, a value formula, and a confidence level — so each becomes a route in the same ranked list rather than a separate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ranking is on net dollars, so the two halves are directly comparable. Point out that the top rows all require zero capital — the thing no investing app can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is the argument, not the feature list. Bank linking is phase three on purpose: it is the most valuable and the most trust-expensive step, so it comes after the calibration record is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column is the one investors care about: a solo founder shipping ten integrations is the proof of execution speed, and the reason the round buys unusual leverage.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weakness before an investor finds it. Zero users is the honest state; the plan converts it into ten paying renewals within a quarter, at zero acquisition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the roadmap columns. The honest version of this table is more persuasive than a full row of green, and it sets up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weakness — recurring price against a one-time answer — before an investor does, then show that the roadmap sequencing is the answer to it. The marketplace is upside, deliberately fenced, and not in any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round size before sending, and sanity-check the four percentages against your own runway model — they are a draft split, ordered by how much risk each line removes. The framing to keep: every line item retires one named doubt, and the doubts are retired in the order an investor would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milestone, not the ask. The record of being right is the asset; everything else in the deck is the plan for producing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10"/>
        </a:solidFill>
      </p:bgPr>
    </p:bg>
    <p:spTree>
      <p:nvGrpSpPr>
        <p:cNvPr id="1" name=""/>
        <p:cNvGrpSpPr/>
        <p:nvPr/>
      </p:nvGrpSpPr>
      <p:grpSpPr>
        <a:xfrm>
          <a:off x="0" y="0"/>
          <a:ext cx="0" cy="0"/>
          <a:chOff x="0" y="0"/>
          <a:chExt cx="0" cy="0"/>
        </a:xfrm>
      </p:grpSpPr>
      <p:sp>
        <p:nvSpPr>
          <p:cNvPr id="2" name="Shape 0"/>
          <p:cNvSpPr/>
          <p:nvPr/>
        </p:nvSpPr>
        <p:spPr>
          <a:xfrm>
            <a:off x="658368" y="603504"/>
            <a:ext cx="438912" cy="438912"/>
          </a:xfrm>
          <a:prstGeom prst="roundRect">
            <a:avLst>
              <a:gd name="adj" fmla="val 20833"/>
            </a:avLst>
          </a:prstGeom>
          <a:solidFill>
            <a:srgbClr val="2ECC7F"/>
          </a:solidFill>
          <a:ln/>
        </p:spPr>
      </p:sp>
      <p:sp>
        <p:nvSpPr>
          <p:cNvPr id="3" name="Text 1"/>
          <p:cNvSpPr/>
          <p:nvPr/>
        </p:nvSpPr>
        <p:spPr>
          <a:xfrm>
            <a:off x="658368" y="603504"/>
            <a:ext cx="438912" cy="438912"/>
          </a:xfrm>
          <a:prstGeom prst="rect">
            <a:avLst/>
          </a:prstGeom>
          <a:noFill/>
          <a:ln/>
        </p:spPr>
        <p:txBody>
          <a:bodyPr wrap="square" lIns="0" tIns="0" rIns="0" bIns="0" rtlCol="0" anchor="ctr"/>
          <a:lstStyle/>
          <a:p>
            <a:pPr algn="ctr" indent="0" marL="0">
              <a:buNone/>
            </a:pPr>
            <a:r>
              <a:rPr lang="en-US" sz="2112" b="1" dirty="0">
                <a:solidFill>
                  <a:srgbClr val="07130D"/>
                </a:solidFill>
                <a:latin typeface="Cambria" pitchFamily="34" charset="0"/>
                <a:ea typeface="Cambria" pitchFamily="34" charset="-122"/>
                <a:cs typeface="Cambria" pitchFamily="34" charset="-120"/>
              </a:rPr>
              <a:t>$</a:t>
            </a:r>
            <a:endParaRPr lang="en-US" sz="2112" dirty="0"/>
          </a:p>
        </p:txBody>
      </p:sp>
      <p:sp>
        <p:nvSpPr>
          <p:cNvPr id="4" name="Text 2"/>
          <p:cNvSpPr/>
          <p:nvPr/>
        </p:nvSpPr>
        <p:spPr>
          <a:xfrm>
            <a:off x="1261872" y="603504"/>
            <a:ext cx="2743200" cy="438912"/>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PolyProfit</a:t>
            </a:r>
            <a:endParaRPr lang="en-US" sz="1900" dirty="0"/>
          </a:p>
        </p:txBody>
      </p:sp>
      <p:sp>
        <p:nvSpPr>
          <p:cNvPr id="5" name="Text 3"/>
          <p:cNvSpPr/>
          <p:nvPr/>
        </p:nvSpPr>
        <p:spPr>
          <a:xfrm>
            <a:off x="658368" y="1737360"/>
            <a:ext cx="6035040" cy="1920240"/>
          </a:xfrm>
          <a:prstGeom prst="rect">
            <a:avLst/>
          </a:prstGeom>
          <a:noFill/>
          <a:ln/>
        </p:spPr>
        <p:txBody>
          <a:bodyPr wrap="square" lIns="0" tIns="0" rIns="0" bIns="0" rtlCol="0" anchor="t"/>
          <a:lstStyle/>
          <a:p>
            <a:pPr indent="0" marL="0">
              <a:lnSpc>
                <a:spcPct val="100000"/>
              </a:lnSpc>
              <a:buNone/>
            </a:pPr>
            <a:r>
              <a:rPr lang="en-US" sz="5000" b="1" dirty="0">
                <a:solidFill>
                  <a:srgbClr val="FFFFFF"/>
                </a:solidFill>
                <a:latin typeface="Cambria" pitchFamily="34" charset="0"/>
                <a:ea typeface="Cambria" pitchFamily="34" charset="-122"/>
                <a:cs typeface="Cambria" pitchFamily="34" charset="-120"/>
              </a:rPr>
              <a:t>A GPS for</a:t>
            </a:r>
            <a:endParaRPr lang="en-US" sz="5000" dirty="0"/>
          </a:p>
          <a:p>
            <a:pPr indent="0" marL="0">
              <a:lnSpc>
                <a:spcPct val="100000"/>
              </a:lnSpc>
              <a:buNone/>
            </a:pPr>
            <a:r>
              <a:rPr lang="en-US" sz="5000" b="1" dirty="0">
                <a:solidFill>
                  <a:srgbClr val="FFFFFF"/>
                </a:solidFill>
                <a:latin typeface="Cambria" pitchFamily="34" charset="0"/>
                <a:ea typeface="Cambria" pitchFamily="34" charset="-122"/>
                <a:cs typeface="Cambria" pitchFamily="34" charset="-120"/>
              </a:rPr>
              <a:t>your money.</a:t>
            </a:r>
            <a:endParaRPr lang="en-US" sz="5000" dirty="0"/>
          </a:p>
        </p:txBody>
      </p:sp>
      <p:sp>
        <p:nvSpPr>
          <p:cNvPr id="6" name="Text 4"/>
          <p:cNvSpPr/>
          <p:nvPr/>
        </p:nvSpPr>
        <p:spPr>
          <a:xfrm>
            <a:off x="658368" y="3767328"/>
            <a:ext cx="5760720" cy="822960"/>
          </a:xfrm>
          <a:prstGeom prst="rect">
            <a:avLst/>
          </a:prstGeom>
          <a:noFill/>
          <a:ln/>
        </p:spPr>
        <p:txBody>
          <a:bodyPr wrap="square" lIns="0" tIns="0" rIns="0" bIns="0" rtlCol="0" anchor="t"/>
          <a:lstStyle/>
          <a:p>
            <a:pPr indent="0" marL="0">
              <a:lnSpc>
                <a:spcPct val="124000"/>
              </a:lnSpc>
              <a:buNone/>
            </a:pPr>
            <a:r>
              <a:rPr lang="en-US" sz="1350" dirty="0">
                <a:solidFill>
                  <a:srgbClr val="AFBCB5"/>
                </a:solidFill>
                <a:latin typeface="Calibri" pitchFamily="34" charset="0"/>
                <a:ea typeface="Calibri" pitchFamily="34" charset="-122"/>
                <a:cs typeface="Calibri" pitchFamily="34" charset="-120"/>
              </a:rPr>
              <a:t>Tell it the goal. It ranks every realistic route to more money in your bank account — savings, Treasuries, ETFs, live prediction markets — and shows the arithmetic behind the ranking.</a:t>
            </a:r>
            <a:endParaRPr lang="en-US" sz="1350" dirty="0"/>
          </a:p>
        </p:txBody>
      </p:sp>
      <p:sp>
        <p:nvSpPr>
          <p:cNvPr id="7" name="Text 5"/>
          <p:cNvSpPr/>
          <p:nvPr/>
        </p:nvSpPr>
        <p:spPr>
          <a:xfrm>
            <a:off x="658368" y="4754880"/>
            <a:ext cx="1737360" cy="457200"/>
          </a:xfrm>
          <a:prstGeom prst="rect">
            <a:avLst/>
          </a:prstGeom>
          <a:noFill/>
          <a:ln/>
        </p:spPr>
        <p:txBody>
          <a:bodyPr wrap="square" lIns="0" tIns="0" rIns="0" bIns="0" rtlCol="0" anchor="ctr"/>
          <a:lstStyle/>
          <a:p>
            <a:pPr indent="0" marL="0">
              <a:buNone/>
            </a:pPr>
            <a:r>
              <a:rPr lang="en-US" sz="3000" b="1" dirty="0">
                <a:solidFill>
                  <a:srgbClr val="2ECC7F"/>
                </a:solidFill>
                <a:latin typeface="Cambria" pitchFamily="34" charset="0"/>
                <a:ea typeface="Cambria" pitchFamily="34" charset="-122"/>
                <a:cs typeface="Cambria" pitchFamily="34" charset="-120"/>
              </a:rPr>
              <a:t>3</a:t>
            </a:r>
            <a:endParaRPr lang="en-US" sz="3000" dirty="0"/>
          </a:p>
        </p:txBody>
      </p:sp>
      <p:sp>
        <p:nvSpPr>
          <p:cNvPr id="8" name="Text 6"/>
          <p:cNvSpPr/>
          <p:nvPr/>
        </p:nvSpPr>
        <p:spPr>
          <a:xfrm>
            <a:off x="658368" y="5212080"/>
            <a:ext cx="1737360" cy="310896"/>
          </a:xfrm>
          <a:prstGeom prst="rect">
            <a:avLst/>
          </a:prstGeom>
          <a:noFill/>
          <a:ln/>
        </p:spPr>
        <p:txBody>
          <a:bodyPr wrap="square" lIns="0" tIns="0" rIns="0" bIns="0" rtlCol="0" anchor="t"/>
          <a:lstStyle/>
          <a:p>
            <a:pPr indent="0" marL="0">
              <a:lnSpc>
                <a:spcPct val="110000"/>
              </a:lnSpc>
              <a:buNone/>
            </a:pPr>
            <a:r>
              <a:rPr lang="en-US" sz="1000" dirty="0">
                <a:solidFill>
                  <a:srgbClr val="6C7C74"/>
                </a:solidFill>
                <a:latin typeface="Calibri" pitchFamily="34" charset="0"/>
                <a:ea typeface="Calibri" pitchFamily="34" charset="-122"/>
                <a:cs typeface="Calibri" pitchFamily="34" charset="-120"/>
              </a:rPr>
              <a:t>probability methods</a:t>
            </a:r>
            <a:endParaRPr lang="en-US" sz="1000" dirty="0"/>
          </a:p>
        </p:txBody>
      </p:sp>
      <p:sp>
        <p:nvSpPr>
          <p:cNvPr id="9" name="Text 7"/>
          <p:cNvSpPr/>
          <p:nvPr/>
        </p:nvSpPr>
        <p:spPr>
          <a:xfrm>
            <a:off x="2624328" y="4754880"/>
            <a:ext cx="1737360" cy="457200"/>
          </a:xfrm>
          <a:prstGeom prst="rect">
            <a:avLst/>
          </a:prstGeom>
          <a:noFill/>
          <a:ln/>
        </p:spPr>
        <p:txBody>
          <a:bodyPr wrap="square" lIns="0" tIns="0" rIns="0" bIns="0" rtlCol="0" anchor="ctr"/>
          <a:lstStyle/>
          <a:p>
            <a:pPr indent="0" marL="0">
              <a:buNone/>
            </a:pPr>
            <a:r>
              <a:rPr lang="en-US" sz="3000" b="1" dirty="0">
                <a:solidFill>
                  <a:srgbClr val="2ECC7F"/>
                </a:solidFill>
                <a:latin typeface="Cambria" pitchFamily="34" charset="0"/>
                <a:ea typeface="Cambria" pitchFamily="34" charset="-122"/>
                <a:cs typeface="Cambria" pitchFamily="34" charset="-120"/>
              </a:rPr>
              <a:t>10</a:t>
            </a:r>
            <a:endParaRPr lang="en-US" sz="3000" dirty="0"/>
          </a:p>
        </p:txBody>
      </p:sp>
      <p:sp>
        <p:nvSpPr>
          <p:cNvPr id="10" name="Text 8"/>
          <p:cNvSpPr/>
          <p:nvPr/>
        </p:nvSpPr>
        <p:spPr>
          <a:xfrm>
            <a:off x="2624328" y="5212080"/>
            <a:ext cx="1737360" cy="310896"/>
          </a:xfrm>
          <a:prstGeom prst="rect">
            <a:avLst/>
          </a:prstGeom>
          <a:noFill/>
          <a:ln/>
        </p:spPr>
        <p:txBody>
          <a:bodyPr wrap="square" lIns="0" tIns="0" rIns="0" bIns="0" rtlCol="0" anchor="t"/>
          <a:lstStyle/>
          <a:p>
            <a:pPr indent="0" marL="0">
              <a:lnSpc>
                <a:spcPct val="110000"/>
              </a:lnSpc>
              <a:buNone/>
            </a:pPr>
            <a:r>
              <a:rPr lang="en-US" sz="1000" dirty="0">
                <a:solidFill>
                  <a:srgbClr val="6C7C74"/>
                </a:solidFill>
                <a:latin typeface="Calibri" pitchFamily="34" charset="0"/>
                <a:ea typeface="Calibri" pitchFamily="34" charset="-122"/>
                <a:cs typeface="Calibri" pitchFamily="34" charset="-120"/>
              </a:rPr>
              <a:t>live data sources</a:t>
            </a:r>
            <a:endParaRPr lang="en-US" sz="1000" dirty="0"/>
          </a:p>
        </p:txBody>
      </p:sp>
      <p:sp>
        <p:nvSpPr>
          <p:cNvPr id="11" name="Text 9"/>
          <p:cNvSpPr/>
          <p:nvPr/>
        </p:nvSpPr>
        <p:spPr>
          <a:xfrm>
            <a:off x="4590288" y="4754880"/>
            <a:ext cx="1737360" cy="457200"/>
          </a:xfrm>
          <a:prstGeom prst="rect">
            <a:avLst/>
          </a:prstGeom>
          <a:noFill/>
          <a:ln/>
        </p:spPr>
        <p:txBody>
          <a:bodyPr wrap="square" lIns="0" tIns="0" rIns="0" bIns="0" rtlCol="0" anchor="ctr"/>
          <a:lstStyle/>
          <a:p>
            <a:pPr indent="0" marL="0">
              <a:buNone/>
            </a:pPr>
            <a:r>
              <a:rPr lang="en-US" sz="3000" b="1" dirty="0">
                <a:solidFill>
                  <a:srgbClr val="2ECC7F"/>
                </a:solidFill>
                <a:latin typeface="Cambria" pitchFamily="34" charset="0"/>
                <a:ea typeface="Cambria" pitchFamily="34" charset="-122"/>
                <a:cs typeface="Cambria" pitchFamily="34" charset="-120"/>
              </a:rPr>
              <a:t>1</a:t>
            </a:r>
            <a:endParaRPr lang="en-US" sz="3000" dirty="0"/>
          </a:p>
        </p:txBody>
      </p:sp>
      <p:sp>
        <p:nvSpPr>
          <p:cNvPr id="12" name="Text 10"/>
          <p:cNvSpPr/>
          <p:nvPr/>
        </p:nvSpPr>
        <p:spPr>
          <a:xfrm>
            <a:off x="4590288" y="5212080"/>
            <a:ext cx="1737360" cy="310896"/>
          </a:xfrm>
          <a:prstGeom prst="rect">
            <a:avLst/>
          </a:prstGeom>
          <a:noFill/>
          <a:ln/>
        </p:spPr>
        <p:txBody>
          <a:bodyPr wrap="square" lIns="0" tIns="0" rIns="0" bIns="0" rtlCol="0" anchor="t"/>
          <a:lstStyle/>
          <a:p>
            <a:pPr indent="0" marL="0">
              <a:lnSpc>
                <a:spcPct val="110000"/>
              </a:lnSpc>
              <a:buNone/>
            </a:pPr>
            <a:r>
              <a:rPr lang="en-US" sz="1000" dirty="0">
                <a:solidFill>
                  <a:srgbClr val="6C7C74"/>
                </a:solidFill>
                <a:latin typeface="Calibri" pitchFamily="34" charset="0"/>
                <a:ea typeface="Calibri" pitchFamily="34" charset="-122"/>
                <a:cs typeface="Calibri" pitchFamily="34" charset="-120"/>
              </a:rPr>
              <a:t>comparable score</a:t>
            </a:r>
            <a:endParaRPr lang="en-US" sz="1000" dirty="0"/>
          </a:p>
        </p:txBody>
      </p:sp>
      <p:sp>
        <p:nvSpPr>
          <p:cNvPr id="13" name="Text 11"/>
          <p:cNvSpPr/>
          <p:nvPr/>
        </p:nvSpPr>
        <p:spPr>
          <a:xfrm>
            <a:off x="658368" y="6126480"/>
            <a:ext cx="6400800" cy="219456"/>
          </a:xfrm>
          <a:prstGeom prst="rect">
            <a:avLst/>
          </a:prstGeom>
          <a:noFill/>
          <a:ln/>
        </p:spPr>
        <p:txBody>
          <a:bodyPr wrap="square" lIns="0" tIns="0" rIns="0" bIns="0" rtlCol="0" anchor="ctr"/>
          <a:lstStyle/>
          <a:p>
            <a:pPr indent="0" marL="0">
              <a:buNone/>
            </a:pPr>
            <a:r>
              <a:rPr lang="en-US" sz="850" b="1" spc="180" kern="0" dirty="0">
                <a:solidFill>
                  <a:srgbClr val="94A29B"/>
                </a:solidFill>
                <a:latin typeface="Calibri" pitchFamily="34" charset="0"/>
                <a:ea typeface="Calibri" pitchFamily="34" charset="-122"/>
                <a:cs typeface="Calibri" pitchFamily="34" charset="-120"/>
              </a:rPr>
              <a:t>INVESTOR OVERVIEW  ·  AUGUST 2026  ·  CONFIDENTIAL</a:t>
            </a:r>
            <a:endParaRPr lang="en-US" sz="850" dirty="0"/>
          </a:p>
        </p:txBody>
      </p:sp>
      <p:sp>
        <p:nvSpPr>
          <p:cNvPr id="14" name="Shape 12"/>
          <p:cNvSpPr/>
          <p:nvPr/>
        </p:nvSpPr>
        <p:spPr>
          <a:xfrm>
            <a:off x="8275320" y="868680"/>
            <a:ext cx="2514600" cy="5120640"/>
          </a:xfrm>
          <a:prstGeom prst="roundRect">
            <a:avLst>
              <a:gd name="adj" fmla="val 9455"/>
            </a:avLst>
          </a:prstGeom>
          <a:solidFill>
            <a:srgbClr val="16211C"/>
          </a:solidFill>
          <a:ln/>
        </p:spPr>
      </p:sp>
      <p:sp>
        <p:nvSpPr>
          <p:cNvPr id="15" name="Shape 13"/>
          <p:cNvSpPr/>
          <p:nvPr/>
        </p:nvSpPr>
        <p:spPr>
          <a:xfrm>
            <a:off x="8353044" y="946404"/>
            <a:ext cx="2359152" cy="4965192"/>
          </a:xfrm>
          <a:prstGeom prst="roundRect">
            <a:avLst>
              <a:gd name="adj" fmla="val 7752"/>
            </a:avLst>
          </a:prstGeom>
          <a:solidFill>
            <a:srgbClr val="0F1714"/>
          </a:solidFill>
          <a:ln/>
        </p:spPr>
      </p:sp>
      <p:sp>
        <p:nvSpPr>
          <p:cNvPr id="16" name="Text 14"/>
          <p:cNvSpPr/>
          <p:nvPr/>
        </p:nvSpPr>
        <p:spPr>
          <a:xfrm>
            <a:off x="8275320" y="3044952"/>
            <a:ext cx="2514600" cy="182880"/>
          </a:xfrm>
          <a:prstGeom prst="rect">
            <a:avLst/>
          </a:prstGeom>
          <a:noFill/>
          <a:ln/>
        </p:spPr>
        <p:txBody>
          <a:bodyPr wrap="square" lIns="0" tIns="0" rIns="0" bIns="0" rtlCol="0" anchor="ctr"/>
          <a:lstStyle/>
          <a:p>
            <a:pPr algn="ctr" indent="0" marL="0">
              <a:buNone/>
            </a:pPr>
            <a:r>
              <a:rPr lang="en-US" sz="750" b="1" spc="140" kern="0" dirty="0">
                <a:solidFill>
                  <a:srgbClr val="94A29B"/>
                </a:solidFill>
                <a:latin typeface="Calibri" pitchFamily="34" charset="0"/>
                <a:ea typeface="Calibri" pitchFamily="34" charset="-122"/>
                <a:cs typeface="Calibri" pitchFamily="34" charset="-120"/>
              </a:rPr>
              <a:t>DROP SCREENSHOT</a:t>
            </a:r>
            <a:endParaRPr lang="en-US" sz="750" dirty="0"/>
          </a:p>
        </p:txBody>
      </p:sp>
      <p:sp>
        <p:nvSpPr>
          <p:cNvPr id="17" name="Text 15"/>
          <p:cNvSpPr/>
          <p:nvPr/>
        </p:nvSpPr>
        <p:spPr>
          <a:xfrm>
            <a:off x="8403336" y="3246120"/>
            <a:ext cx="2258568" cy="365760"/>
          </a:xfrm>
          <a:prstGeom prst="rect">
            <a:avLst/>
          </a:prstGeom>
          <a:noFill/>
          <a:ln/>
        </p:spPr>
        <p:txBody>
          <a:bodyPr wrap="square" lIns="0" tIns="0" rIns="0" bIns="0" rtlCol="0" anchor="ctr"/>
          <a:lstStyle/>
          <a:p>
            <a:pPr algn="ctr" indent="0" marL="0">
              <a:lnSpc>
                <a:spcPct val="105000"/>
              </a:lnSpc>
              <a:buNone/>
            </a:pPr>
            <a:r>
              <a:rPr lang="en-US" sz="1200" b="1" dirty="0">
                <a:solidFill>
                  <a:srgbClr val="D9E2DC"/>
                </a:solidFill>
                <a:latin typeface="Cambria" pitchFamily="34" charset="0"/>
                <a:ea typeface="Cambria" pitchFamily="34" charset="-122"/>
                <a:cs typeface="Cambria" pitchFamily="34" charset="-120"/>
              </a:rPr>
              <a:t>The ranked list</a:t>
            </a:r>
            <a:endParaRPr lang="en-US" sz="1200" dirty="0"/>
          </a:p>
        </p:txBody>
      </p:sp>
      <p:sp>
        <p:nvSpPr>
          <p:cNvPr id="18" name="Text 16"/>
          <p:cNvSpPr/>
          <p:nvPr/>
        </p:nvSpPr>
        <p:spPr>
          <a:xfrm>
            <a:off x="8403336" y="3648456"/>
            <a:ext cx="2258568" cy="457200"/>
          </a:xfrm>
          <a:prstGeom prst="rect">
            <a:avLst/>
          </a:prstGeom>
          <a:noFill/>
          <a:ln/>
        </p:spPr>
        <p:txBody>
          <a:bodyPr wrap="square" lIns="0" tIns="0" rIns="0" bIns="0" rtlCol="0" anchor="ctr"/>
          <a:lstStyle/>
          <a:p>
            <a:pPr algn="ctr" indent="0" marL="0">
              <a:lnSpc>
                <a:spcPct val="115000"/>
              </a:lnSpc>
              <a:buNone/>
            </a:pPr>
            <a:r>
              <a:rPr lang="en-US" sz="950" dirty="0">
                <a:solidFill>
                  <a:srgbClr val="6C7C74"/>
                </a:solidFill>
                <a:latin typeface="Calibri" pitchFamily="34" charset="0"/>
                <a:ea typeface="Calibri" pitchFamily="34" charset="-122"/>
                <a:cs typeface="Calibri" pitchFamily="34" charset="-120"/>
              </a:rPr>
              <a:t>Home screen, routes sorted safest-first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02</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01  ·  THE PROBLEM</a:t>
            </a:r>
            <a:endParaRPr lang="en-US" sz="950" dirty="0"/>
          </a:p>
        </p:txBody>
      </p:sp>
      <p:sp>
        <p:nvSpPr>
          <p:cNvPr id="5" name="Text 3"/>
          <p:cNvSpPr/>
          <p:nvPr/>
        </p:nvSpPr>
        <p:spPr>
          <a:xfrm>
            <a:off x="658368" y="658368"/>
            <a:ext cx="10872216" cy="100584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Every money app optimises something</a:t>
            </a:r>
            <a:endParaRPr lang="en-US" sz="3000" dirty="0"/>
          </a:p>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that is not your outcome.</a:t>
            </a:r>
            <a:endParaRPr lang="en-US" sz="3000" dirty="0"/>
          </a:p>
        </p:txBody>
      </p:sp>
      <p:sp>
        <p:nvSpPr>
          <p:cNvPr id="6" name="Text 4"/>
          <p:cNvSpPr/>
          <p:nvPr/>
        </p:nvSpPr>
        <p:spPr>
          <a:xfrm>
            <a:off x="658368" y="1755648"/>
            <a:ext cx="9692640" cy="548640"/>
          </a:xfrm>
          <a:prstGeom prst="rect">
            <a:avLst/>
          </a:prstGeom>
          <a:noFill/>
          <a:ln/>
        </p:spPr>
        <p:txBody>
          <a:bodyPr wrap="square" lIns="0" tIns="0" rIns="0" bIns="0" rtlCol="0" anchor="t"/>
          <a:lstStyle/>
          <a:p>
            <a:pPr indent="0" marL="0">
              <a:lnSpc>
                <a:spcPct val="122000"/>
              </a:lnSpc>
              <a:buNone/>
            </a:pPr>
            <a:r>
              <a:rPr lang="en-US" sz="1300" dirty="0">
                <a:solidFill>
                  <a:srgbClr val="44534C"/>
                </a:solidFill>
                <a:latin typeface="Calibri" pitchFamily="34" charset="0"/>
                <a:ea typeface="Calibri" pitchFamily="34" charset="-122"/>
                <a:cs typeface="Calibri" pitchFamily="34" charset="-120"/>
              </a:rPr>
              <a:t>A person with $5,000 and a goal has to be their own analyst — reconciling five tools that were each built to maximise something other than the number in their bank account.</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58368" y="2615184"/>
          <a:ext cx="10872216" cy="914400"/>
        </p:xfrm>
        <a:graphic>
          <a:graphicData uri="http://schemas.openxmlformats.org/drawingml/2006/table">
            <a:tbl>
              <a:tblPr/>
              <a:tblGrid>
                <a:gridCol w="3017520"/>
                <a:gridCol w="3931920"/>
                <a:gridCol w="3959352"/>
              </a:tblGrid>
              <a:tr h="457200">
                <a:tc>
                  <a:txBody>
                    <a:bodyPr/>
                    <a:lstStyle/>
                    <a:p>
                      <a:pPr algn="l" indent="0" marL="0">
                        <a:buNone/>
                      </a:pP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l" indent="0" marL="0">
                        <a:buNone/>
                      </a:pPr>
                      <a:r>
                        <a:rPr lang="en-US" sz="800" b="1" spc="110" kern="0" dirty="0">
                          <a:solidFill>
                            <a:srgbClr val="FFFFFF"/>
                          </a:solidFill>
                          <a:latin typeface="Calibri" pitchFamily="34" charset="0"/>
                          <a:ea typeface="Calibri" pitchFamily="34" charset="-122"/>
                          <a:cs typeface="Calibri" pitchFamily="34" charset="-120"/>
                        </a:rPr>
                        <a:t>OPTIMISES FOR</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l" indent="0" marL="0">
                        <a:buNone/>
                      </a:pPr>
                      <a:r>
                        <a:rPr lang="en-US" sz="800" b="1" spc="110" kern="0" dirty="0">
                          <a:solidFill>
                            <a:srgbClr val="FFFFFF"/>
                          </a:solidFill>
                          <a:latin typeface="Calibri" pitchFamily="34" charset="0"/>
                          <a:ea typeface="Calibri" pitchFamily="34" charset="-122"/>
                          <a:cs typeface="Calibri" pitchFamily="34" charset="-120"/>
                        </a:rPr>
                        <a:t>NEVER ANSWERS</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r>
              <a:tr h="457200">
                <a:tc>
                  <a:txBody>
                    <a:bodyPr/>
                    <a:lstStyle/>
                    <a:p>
                      <a:pPr algn="l" indent="0" marL="0">
                        <a:buNone/>
                      </a:pPr>
                      <a:r>
                        <a:rPr lang="en-US" sz="1050" b="1" dirty="0">
                          <a:solidFill>
                            <a:srgbClr val="0B1210"/>
                          </a:solidFill>
                          <a:latin typeface="Calibri" pitchFamily="34" charset="0"/>
                          <a:ea typeface="Calibri" pitchFamily="34" charset="-122"/>
                          <a:cs typeface="Calibri" pitchFamily="34" charset="-120"/>
                        </a:rPr>
                        <a:t>Budget apps</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50" dirty="0">
                          <a:solidFill>
                            <a:srgbClr val="44534C"/>
                          </a:solidFill>
                          <a:latin typeface="Calibri" pitchFamily="34" charset="0"/>
                          <a:ea typeface="Calibri" pitchFamily="34" charset="-122"/>
                          <a:cs typeface="Calibri" pitchFamily="34" charset="-120"/>
                        </a:rPr>
                        <a:t>Categorising money that has already left</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50" dirty="0">
                          <a:solidFill>
                            <a:srgbClr val="44534C"/>
                          </a:solidFill>
                          <a:latin typeface="Calibri" pitchFamily="34" charset="0"/>
                          <a:ea typeface="Calibri" pitchFamily="34" charset="-122"/>
                          <a:cs typeface="Calibri" pitchFamily="34" charset="-120"/>
                        </a:rPr>
                        <a:t>What to do next with what is left</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r>
              <a:tr h="457200">
                <a:tc>
                  <a:txBody>
                    <a:bodyPr/>
                    <a:lstStyle/>
                    <a:p>
                      <a:pPr algn="l" indent="0" marL="0">
                        <a:buNone/>
                      </a:pPr>
                      <a:r>
                        <a:rPr lang="en-US" sz="1050" b="1" dirty="0">
                          <a:solidFill>
                            <a:srgbClr val="0B1210"/>
                          </a:solidFill>
                          <a:latin typeface="Calibri" pitchFamily="34" charset="0"/>
                          <a:ea typeface="Calibri" pitchFamily="34" charset="-122"/>
                          <a:cs typeface="Calibri" pitchFamily="34" charset="-120"/>
                        </a:rPr>
                        <a:t>Brokerages &amp; exchanges</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4534C"/>
                          </a:solidFill>
                          <a:latin typeface="Calibri" pitchFamily="34" charset="0"/>
                          <a:ea typeface="Calibri" pitchFamily="34" charset="-122"/>
                          <a:cs typeface="Calibri" pitchFamily="34" charset="-120"/>
                        </a:rPr>
                        <a:t>Trades placed and time spent in the app</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4534C"/>
                          </a:solidFill>
                          <a:latin typeface="Calibri" pitchFamily="34" charset="0"/>
                          <a:ea typeface="Calibri" pitchFamily="34" charset="-122"/>
                          <a:cs typeface="Calibri" pitchFamily="34" charset="-120"/>
                        </a:rPr>
                        <a:t>Whether this is the best use of your $5,000</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0B1210"/>
                          </a:solidFill>
                          <a:latin typeface="Calibri" pitchFamily="34" charset="0"/>
                          <a:ea typeface="Calibri" pitchFamily="34" charset="-122"/>
                          <a:cs typeface="Calibri" pitchFamily="34" charset="-120"/>
                        </a:rPr>
                        <a:t>Card marketplaces</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50" dirty="0">
                          <a:solidFill>
                            <a:srgbClr val="44534C"/>
                          </a:solidFill>
                          <a:latin typeface="Calibri" pitchFamily="34" charset="0"/>
                          <a:ea typeface="Calibri" pitchFamily="34" charset="-122"/>
                          <a:cs typeface="Calibri" pitchFamily="34" charset="-120"/>
                        </a:rPr>
                        <a:t>The card that pays the biggest referral</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50" dirty="0">
                          <a:solidFill>
                            <a:srgbClr val="44534C"/>
                          </a:solidFill>
                          <a:latin typeface="Calibri" pitchFamily="34" charset="0"/>
                          <a:ea typeface="Calibri" pitchFamily="34" charset="-122"/>
                          <a:cs typeface="Calibri" pitchFamily="34" charset="-120"/>
                        </a:rPr>
                        <a:t>Which card fits the purchases you actually make</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r>
              <a:tr h="457200">
                <a:tc>
                  <a:txBody>
                    <a:bodyPr/>
                    <a:lstStyle/>
                    <a:p>
                      <a:pPr algn="l" indent="0" marL="0">
                        <a:buNone/>
                      </a:pPr>
                      <a:r>
                        <a:rPr lang="en-US" sz="1050" b="1" dirty="0">
                          <a:solidFill>
                            <a:srgbClr val="0B1210"/>
                          </a:solidFill>
                          <a:latin typeface="Calibri" pitchFamily="34" charset="0"/>
                          <a:ea typeface="Calibri" pitchFamily="34" charset="-122"/>
                          <a:cs typeface="Calibri" pitchFamily="34" charset="-120"/>
                        </a:rPr>
                        <a:t>Robo-advisors</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4534C"/>
                          </a:solidFill>
                          <a:latin typeface="Calibri" pitchFamily="34" charset="0"/>
                          <a:ea typeface="Calibri" pitchFamily="34" charset="-122"/>
                          <a:cs typeface="Calibri" pitchFamily="34" charset="-120"/>
                        </a:rPr>
                        <a:t>Assets under management, in one asset class</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4534C"/>
                          </a:solidFill>
                          <a:latin typeface="Calibri" pitchFamily="34" charset="0"/>
                          <a:ea typeface="Calibri" pitchFamily="34" charset="-122"/>
                          <a:cs typeface="Calibri" pitchFamily="34" charset="-120"/>
                        </a:rPr>
                        <a:t>Anything outside the products they custody</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0B1210"/>
                          </a:solidFill>
                          <a:latin typeface="Calibri" pitchFamily="34" charset="0"/>
                          <a:ea typeface="Calibri" pitchFamily="34" charset="-122"/>
                          <a:cs typeface="Calibri" pitchFamily="34" charset="-120"/>
                        </a:rPr>
                        <a:t>Social feeds &amp; touts</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50" dirty="0">
                          <a:solidFill>
                            <a:srgbClr val="44534C"/>
                          </a:solidFill>
                          <a:latin typeface="Calibri" pitchFamily="34" charset="0"/>
                          <a:ea typeface="Calibri" pitchFamily="34" charset="-122"/>
                          <a:cs typeface="Calibri" pitchFamily="34" charset="-120"/>
                        </a:rPr>
                        <a:t>Engagement on the loudest claim</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50" dirty="0">
                          <a:solidFill>
                            <a:srgbClr val="44534C"/>
                          </a:solidFill>
                          <a:latin typeface="Calibri" pitchFamily="34" charset="0"/>
                          <a:ea typeface="Calibri" pitchFamily="34" charset="-122"/>
                          <a:cs typeface="Calibri" pitchFamily="34" charset="-120"/>
                        </a:rPr>
                        <a:t>Anything at all, with accountability attached</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r>
            </a:tbl>
          </a:graphicData>
        </a:graphic>
      </p:graphicFrame>
      <p:sp>
        <p:nvSpPr>
          <p:cNvPr id="8" name="Text 5"/>
          <p:cNvSpPr/>
          <p:nvPr/>
        </p:nvSpPr>
        <p:spPr>
          <a:xfrm>
            <a:off x="658368" y="5504688"/>
            <a:ext cx="10872216" cy="420624"/>
          </a:xfrm>
          <a:prstGeom prst="rect">
            <a:avLst/>
          </a:prstGeom>
          <a:noFill/>
          <a:ln/>
        </p:spPr>
        <p:txBody>
          <a:bodyPr wrap="square" lIns="0" tIns="0" rIns="0" bIns="0" rtlCol="0" anchor="t"/>
          <a:lstStyle/>
          <a:p>
            <a:pPr indent="0" marL="0">
              <a:lnSpc>
                <a:spcPct val="118000"/>
              </a:lnSpc>
              <a:buNone/>
            </a:pPr>
            <a:r>
              <a:rPr lang="en-US" sz="1150" dirty="0">
                <a:solidFill>
                  <a:srgbClr val="0B1210"/>
                </a:solidFill>
                <a:latin typeface="Calibri" pitchFamily="34" charset="0"/>
                <a:ea typeface="Calibri" pitchFamily="34" charset="-122"/>
                <a:cs typeface="Calibri" pitchFamily="34" charset="-120"/>
              </a:rPr>
              <a:t>Five tools, five objective functions, none of them the user's. So the ranking gets done by hand, badly — or, far more often, not at all.</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03</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02  ·  THE INSIGHT</a:t>
            </a:r>
            <a:endParaRPr lang="en-US" sz="950" dirty="0"/>
          </a:p>
        </p:txBody>
      </p:sp>
      <p:sp>
        <p:nvSpPr>
          <p:cNvPr id="5" name="Text 3"/>
          <p:cNvSpPr/>
          <p:nvPr/>
        </p:nvSpPr>
        <p:spPr>
          <a:xfrm>
            <a:off x="658368" y="658368"/>
            <a:ext cx="10872216" cy="96012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A money goal is one equation,</a:t>
            </a:r>
            <a:endParaRPr lang="en-US" sz="3000" dirty="0"/>
          </a:p>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not five product categories.</a:t>
            </a:r>
            <a:endParaRPr lang="en-US" sz="3000" dirty="0"/>
          </a:p>
        </p:txBody>
      </p:sp>
      <p:sp>
        <p:nvSpPr>
          <p:cNvPr id="6" name="Shape 4"/>
          <p:cNvSpPr/>
          <p:nvPr/>
        </p:nvSpPr>
        <p:spPr>
          <a:xfrm>
            <a:off x="658368" y="1737360"/>
            <a:ext cx="10872216" cy="749808"/>
          </a:xfrm>
          <a:prstGeom prst="roundRect">
            <a:avLst>
              <a:gd name="adj" fmla="val 12195"/>
            </a:avLst>
          </a:prstGeom>
          <a:solidFill>
            <a:srgbClr val="0B1210"/>
          </a:solidFill>
          <a:ln/>
        </p:spPr>
      </p:sp>
      <p:sp>
        <p:nvSpPr>
          <p:cNvPr id="7" name="Text 5"/>
          <p:cNvSpPr/>
          <p:nvPr/>
        </p:nvSpPr>
        <p:spPr>
          <a:xfrm>
            <a:off x="658368" y="1737360"/>
            <a:ext cx="10872216" cy="749808"/>
          </a:xfrm>
          <a:prstGeom prst="rect">
            <a:avLst/>
          </a:prstGeom>
          <a:noFill/>
          <a:ln/>
        </p:spPr>
        <p:txBody>
          <a:bodyPr wrap="square" lIns="0" tIns="0" rIns="0" bIns="0" rtlCol="0" anchor="ctr"/>
          <a:lstStyle/>
          <a:p>
            <a:pPr algn="ctr" indent="0" marL="0">
              <a:buNone/>
            </a:pPr>
            <a:r>
              <a:rPr lang="en-US" sz="1900" b="1" spc="60" kern="0" dirty="0">
                <a:solidFill>
                  <a:srgbClr val="FFFFFF"/>
                </a:solidFill>
                <a:latin typeface="Cambria" pitchFamily="34" charset="0"/>
                <a:ea typeface="Cambria" pitchFamily="34" charset="-122"/>
                <a:cs typeface="Cambria" pitchFamily="34" charset="-120"/>
              </a:rPr>
              <a:t>MORE MONEY IN THE BANK</a:t>
            </a:r>
            <a:pPr algn="ctr" indent="0" marL="0">
              <a:buNone/>
            </a:pPr>
            <a:r>
              <a:rPr lang="en-US" sz="1900" b="1" spc="60" kern="0" dirty="0">
                <a:solidFill>
                  <a:srgbClr val="2ECC7F"/>
                </a:solidFill>
                <a:latin typeface="Cambria" pitchFamily="34" charset="0"/>
                <a:ea typeface="Cambria" pitchFamily="34" charset="-122"/>
                <a:cs typeface="Cambria" pitchFamily="34" charset="-120"/>
              </a:rPr>
              <a:t>   =   </a:t>
            </a:r>
            <a:pPr algn="ctr" indent="0" marL="0">
              <a:buNone/>
            </a:pPr>
            <a:r>
              <a:rPr lang="en-US" sz="1900" b="1" spc="60" kern="0" dirty="0">
                <a:solidFill>
                  <a:srgbClr val="9CE6C0"/>
                </a:solidFill>
                <a:latin typeface="Cambria" pitchFamily="34" charset="0"/>
                <a:ea typeface="Cambria" pitchFamily="34" charset="-122"/>
                <a:cs typeface="Cambria" pitchFamily="34" charset="-120"/>
              </a:rPr>
              <a:t>WHAT YOU EARN</a:t>
            </a:r>
            <a:pPr algn="ctr" indent="0" marL="0">
              <a:buNone/>
            </a:pPr>
            <a:r>
              <a:rPr lang="en-US" sz="1900" b="1" spc="60" kern="0" dirty="0">
                <a:solidFill>
                  <a:srgbClr val="2ECC7F"/>
                </a:solidFill>
                <a:latin typeface="Cambria" pitchFamily="34" charset="0"/>
                <a:ea typeface="Cambria" pitchFamily="34" charset="-122"/>
                <a:cs typeface="Cambria" pitchFamily="34" charset="-120"/>
              </a:rPr>
              <a:t>   +   </a:t>
            </a:r>
            <a:pPr algn="ctr" indent="0" marL="0">
              <a:buNone/>
            </a:pPr>
            <a:r>
              <a:rPr lang="en-US" sz="1900" b="1" spc="60" kern="0" dirty="0">
                <a:solidFill>
                  <a:srgbClr val="9CE6C0"/>
                </a:solidFill>
                <a:latin typeface="Cambria" pitchFamily="34" charset="0"/>
                <a:ea typeface="Cambria" pitchFamily="34" charset="-122"/>
                <a:cs typeface="Cambria" pitchFamily="34" charset="-120"/>
              </a:rPr>
              <a:t>WHAT YOU STOP LOSING</a:t>
            </a:r>
            <a:endParaRPr lang="en-US" sz="1900" dirty="0"/>
          </a:p>
        </p:txBody>
      </p:sp>
      <p:sp>
        <p:nvSpPr>
          <p:cNvPr id="8" name="Shape 6"/>
          <p:cNvSpPr/>
          <p:nvPr/>
        </p:nvSpPr>
        <p:spPr>
          <a:xfrm>
            <a:off x="658368" y="2761488"/>
            <a:ext cx="2286000" cy="228600"/>
          </a:xfrm>
          <a:prstGeom prst="roundRect">
            <a:avLst>
              <a:gd name="adj" fmla="val 50000"/>
            </a:avLst>
          </a:prstGeom>
          <a:solidFill>
            <a:srgbClr val="E6F4EE"/>
          </a:solidFill>
          <a:ln/>
        </p:spPr>
      </p:sp>
      <p:sp>
        <p:nvSpPr>
          <p:cNvPr id="9" name="Text 7"/>
          <p:cNvSpPr/>
          <p:nvPr/>
        </p:nvSpPr>
        <p:spPr>
          <a:xfrm>
            <a:off x="658368" y="2761488"/>
            <a:ext cx="2286000" cy="228600"/>
          </a:xfrm>
          <a:prstGeom prst="rect">
            <a:avLst/>
          </a:prstGeom>
          <a:noFill/>
          <a:ln/>
        </p:spPr>
        <p:txBody>
          <a:bodyPr wrap="square" lIns="0" tIns="0" rIns="0" bIns="0" rtlCol="0" anchor="ctr"/>
          <a:lstStyle/>
          <a:p>
            <a:pPr algn="ctr" indent="0" marL="0">
              <a:buNone/>
            </a:pPr>
            <a:r>
              <a:rPr lang="en-US" sz="800" b="1" spc="130" kern="0" dirty="0">
                <a:solidFill>
                  <a:srgbClr val="0A5C3E"/>
                </a:solidFill>
                <a:latin typeface="Calibri" pitchFamily="34" charset="0"/>
                <a:ea typeface="Calibri" pitchFamily="34" charset="-122"/>
                <a:cs typeface="Calibri" pitchFamily="34" charset="-120"/>
              </a:rPr>
              <a:t>SHIPPED, SCORING TODAY</a:t>
            </a:r>
            <a:endParaRPr lang="en-US" sz="800" dirty="0"/>
          </a:p>
        </p:txBody>
      </p:sp>
      <p:sp>
        <p:nvSpPr>
          <p:cNvPr id="10" name="Text 8"/>
          <p:cNvSpPr/>
          <p:nvPr/>
        </p:nvSpPr>
        <p:spPr>
          <a:xfrm>
            <a:off x="658368" y="3127248"/>
            <a:ext cx="3657600" cy="365760"/>
          </a:xfrm>
          <a:prstGeom prst="rect">
            <a:avLst/>
          </a:prstGeom>
          <a:noFill/>
          <a:ln/>
        </p:spPr>
        <p:txBody>
          <a:bodyPr wrap="square" lIns="0" tIns="0" rIns="0" bIns="0" rtlCol="0" anchor="ctr"/>
          <a:lstStyle/>
          <a:p>
            <a:pPr algn="l" indent="0" marL="0">
              <a:buNone/>
            </a:pPr>
            <a:r>
              <a:rPr lang="en-US" sz="2000" b="1" dirty="0">
                <a:solidFill>
                  <a:srgbClr val="0B1210"/>
                </a:solidFill>
                <a:latin typeface="Cambria" pitchFamily="34" charset="0"/>
                <a:ea typeface="Cambria" pitchFamily="34" charset="-122"/>
                <a:cs typeface="Cambria" pitchFamily="34" charset="-120"/>
              </a:rPr>
              <a:t>Make more</a:t>
            </a:r>
            <a:endParaRPr lang="en-US" sz="2000" dirty="0"/>
          </a:p>
        </p:txBody>
      </p:sp>
      <p:sp>
        <p:nvSpPr>
          <p:cNvPr id="11" name="Shape 9"/>
          <p:cNvSpPr/>
          <p:nvPr/>
        </p:nvSpPr>
        <p:spPr>
          <a:xfrm>
            <a:off x="658368" y="3703320"/>
            <a:ext cx="201168" cy="201168"/>
          </a:xfrm>
          <a:prstGeom prst="roundRect">
            <a:avLst>
              <a:gd name="adj" fmla="val 25000"/>
            </a:avLst>
          </a:prstGeom>
          <a:solidFill>
            <a:srgbClr val="12855A"/>
          </a:solidFill>
          <a:ln/>
        </p:spPr>
      </p:sp>
      <p:sp>
        <p:nvSpPr>
          <p:cNvPr id="12" name="Text 10"/>
          <p:cNvSpPr/>
          <p:nvPr/>
        </p:nvSpPr>
        <p:spPr>
          <a:xfrm>
            <a:off x="658368" y="370332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1</a:t>
            </a:r>
            <a:endParaRPr lang="en-US" sz="900" dirty="0"/>
          </a:p>
        </p:txBody>
      </p:sp>
      <p:sp>
        <p:nvSpPr>
          <p:cNvPr id="13" name="Text 11"/>
          <p:cNvSpPr/>
          <p:nvPr/>
        </p:nvSpPr>
        <p:spPr>
          <a:xfrm>
            <a:off x="987552" y="3666744"/>
            <a:ext cx="2286000" cy="219456"/>
          </a:xfrm>
          <a:prstGeom prst="rect">
            <a:avLst/>
          </a:prstGeom>
          <a:noFill/>
          <a:ln/>
        </p:spPr>
        <p:txBody>
          <a:bodyPr wrap="square" lIns="0" tIns="0" rIns="0" bIns="0" rtlCol="0" anchor="ctr"/>
          <a:lstStyle/>
          <a:p>
            <a:pPr algn="l" indent="0" marL="0">
              <a:buNone/>
            </a:pPr>
            <a:r>
              <a:rPr lang="en-US" sz="1150" b="1" dirty="0">
                <a:solidFill>
                  <a:srgbClr val="0B1210"/>
                </a:solidFill>
                <a:latin typeface="Cambria" pitchFamily="34" charset="0"/>
                <a:ea typeface="Cambria" pitchFamily="34" charset="-122"/>
                <a:cs typeface="Cambria" pitchFamily="34" charset="-120"/>
              </a:rPr>
              <a:t>Savings &amp; Treasuries</a:t>
            </a:r>
            <a:endParaRPr lang="en-US" sz="1150" dirty="0"/>
          </a:p>
        </p:txBody>
      </p:sp>
      <p:sp>
        <p:nvSpPr>
          <p:cNvPr id="14" name="Text 12"/>
          <p:cNvSpPr/>
          <p:nvPr/>
        </p:nvSpPr>
        <p:spPr>
          <a:xfrm>
            <a:off x="987552" y="3886200"/>
            <a:ext cx="4919472" cy="274320"/>
          </a:xfrm>
          <a:prstGeom prst="rect">
            <a:avLst/>
          </a:prstGeom>
          <a:noFill/>
          <a:ln/>
        </p:spPr>
        <p:txBody>
          <a:bodyPr wrap="square" lIns="0" tIns="0" rIns="0" bIns="0" rtlCol="0" anchor="t"/>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Contractual yield — the return is known if held</a:t>
            </a:r>
            <a:endParaRPr lang="en-US" sz="1000" dirty="0"/>
          </a:p>
        </p:txBody>
      </p:sp>
      <p:sp>
        <p:nvSpPr>
          <p:cNvPr id="15" name="Shape 13"/>
          <p:cNvSpPr/>
          <p:nvPr/>
        </p:nvSpPr>
        <p:spPr>
          <a:xfrm>
            <a:off x="658368" y="4270248"/>
            <a:ext cx="201168" cy="201168"/>
          </a:xfrm>
          <a:prstGeom prst="roundRect">
            <a:avLst>
              <a:gd name="adj" fmla="val 25000"/>
            </a:avLst>
          </a:prstGeom>
          <a:solidFill>
            <a:srgbClr val="12855A"/>
          </a:solidFill>
          <a:ln/>
        </p:spPr>
      </p:sp>
      <p:sp>
        <p:nvSpPr>
          <p:cNvPr id="16" name="Text 14"/>
          <p:cNvSpPr/>
          <p:nvPr/>
        </p:nvSpPr>
        <p:spPr>
          <a:xfrm>
            <a:off x="658368" y="4270248"/>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2</a:t>
            </a:r>
            <a:endParaRPr lang="en-US" sz="900" dirty="0"/>
          </a:p>
        </p:txBody>
      </p:sp>
      <p:sp>
        <p:nvSpPr>
          <p:cNvPr id="17" name="Text 15"/>
          <p:cNvSpPr/>
          <p:nvPr/>
        </p:nvSpPr>
        <p:spPr>
          <a:xfrm>
            <a:off x="987552" y="4233672"/>
            <a:ext cx="2286000" cy="219456"/>
          </a:xfrm>
          <a:prstGeom prst="rect">
            <a:avLst/>
          </a:prstGeom>
          <a:noFill/>
          <a:ln/>
        </p:spPr>
        <p:txBody>
          <a:bodyPr wrap="square" lIns="0" tIns="0" rIns="0" bIns="0" rtlCol="0" anchor="ctr"/>
          <a:lstStyle/>
          <a:p>
            <a:pPr algn="l" indent="0" marL="0">
              <a:buNone/>
            </a:pPr>
            <a:r>
              <a:rPr lang="en-US" sz="1150" b="1" dirty="0">
                <a:solidFill>
                  <a:srgbClr val="0B1210"/>
                </a:solidFill>
                <a:latin typeface="Cambria" pitchFamily="34" charset="0"/>
                <a:ea typeface="Cambria" pitchFamily="34" charset="-122"/>
                <a:cs typeface="Cambria" pitchFamily="34" charset="-120"/>
              </a:rPr>
              <a:t>Stocks &amp; ETFs</a:t>
            </a:r>
            <a:endParaRPr lang="en-US" sz="1150" dirty="0"/>
          </a:p>
        </p:txBody>
      </p:sp>
      <p:sp>
        <p:nvSpPr>
          <p:cNvPr id="18" name="Text 16"/>
          <p:cNvSpPr/>
          <p:nvPr/>
        </p:nvSpPr>
        <p:spPr>
          <a:xfrm>
            <a:off x="987552" y="4453128"/>
            <a:ext cx="4919472" cy="274320"/>
          </a:xfrm>
          <a:prstGeom prst="rect">
            <a:avLst/>
          </a:prstGeom>
          <a:noFill/>
          <a:ln/>
        </p:spPr>
        <p:txBody>
          <a:bodyPr wrap="square" lIns="0" tIns="0" rIns="0" bIns="0" rtlCol="0" anchor="t"/>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Volatility-modelled odds of clearing the target</a:t>
            </a:r>
            <a:endParaRPr lang="en-US" sz="1000" dirty="0"/>
          </a:p>
        </p:txBody>
      </p:sp>
      <p:sp>
        <p:nvSpPr>
          <p:cNvPr id="19" name="Shape 17"/>
          <p:cNvSpPr/>
          <p:nvPr/>
        </p:nvSpPr>
        <p:spPr>
          <a:xfrm>
            <a:off x="658368" y="4837176"/>
            <a:ext cx="201168" cy="201168"/>
          </a:xfrm>
          <a:prstGeom prst="roundRect">
            <a:avLst>
              <a:gd name="adj" fmla="val 25000"/>
            </a:avLst>
          </a:prstGeom>
          <a:solidFill>
            <a:srgbClr val="12855A"/>
          </a:solidFill>
          <a:ln/>
        </p:spPr>
      </p:sp>
      <p:sp>
        <p:nvSpPr>
          <p:cNvPr id="20" name="Text 18"/>
          <p:cNvSpPr/>
          <p:nvPr/>
        </p:nvSpPr>
        <p:spPr>
          <a:xfrm>
            <a:off x="658368" y="4837176"/>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3</a:t>
            </a:r>
            <a:endParaRPr lang="en-US" sz="900" dirty="0"/>
          </a:p>
        </p:txBody>
      </p:sp>
      <p:sp>
        <p:nvSpPr>
          <p:cNvPr id="21" name="Text 19"/>
          <p:cNvSpPr/>
          <p:nvPr/>
        </p:nvSpPr>
        <p:spPr>
          <a:xfrm>
            <a:off x="987552" y="4800600"/>
            <a:ext cx="2286000" cy="219456"/>
          </a:xfrm>
          <a:prstGeom prst="rect">
            <a:avLst/>
          </a:prstGeom>
          <a:noFill/>
          <a:ln/>
        </p:spPr>
        <p:txBody>
          <a:bodyPr wrap="square" lIns="0" tIns="0" rIns="0" bIns="0" rtlCol="0" anchor="ctr"/>
          <a:lstStyle/>
          <a:p>
            <a:pPr algn="l" indent="0" marL="0">
              <a:buNone/>
            </a:pPr>
            <a:r>
              <a:rPr lang="en-US" sz="1150" b="1" dirty="0">
                <a:solidFill>
                  <a:srgbClr val="0B1210"/>
                </a:solidFill>
                <a:latin typeface="Cambria" pitchFamily="34" charset="0"/>
                <a:ea typeface="Cambria" pitchFamily="34" charset="-122"/>
                <a:cs typeface="Cambria" pitchFamily="34" charset="-120"/>
              </a:rPr>
              <a:t>Prediction markets</a:t>
            </a:r>
            <a:endParaRPr lang="en-US" sz="1150" dirty="0"/>
          </a:p>
        </p:txBody>
      </p:sp>
      <p:sp>
        <p:nvSpPr>
          <p:cNvPr id="22" name="Text 20"/>
          <p:cNvSpPr/>
          <p:nvPr/>
        </p:nvSpPr>
        <p:spPr>
          <a:xfrm>
            <a:off x="987552" y="5020056"/>
            <a:ext cx="4919472" cy="274320"/>
          </a:xfrm>
          <a:prstGeom prst="rect">
            <a:avLst/>
          </a:prstGeom>
          <a:noFill/>
          <a:ln/>
        </p:spPr>
        <p:txBody>
          <a:bodyPr wrap="square" lIns="0" tIns="0" rIns="0" bIns="0" rtlCol="0" anchor="t"/>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Live market consensus, house margin removed</a:t>
            </a:r>
            <a:endParaRPr lang="en-US" sz="1000" dirty="0"/>
          </a:p>
        </p:txBody>
      </p:sp>
      <p:sp>
        <p:nvSpPr>
          <p:cNvPr id="23" name="Shape 21"/>
          <p:cNvSpPr/>
          <p:nvPr/>
        </p:nvSpPr>
        <p:spPr>
          <a:xfrm>
            <a:off x="658368" y="5404104"/>
            <a:ext cx="201168" cy="201168"/>
          </a:xfrm>
          <a:prstGeom prst="roundRect">
            <a:avLst>
              <a:gd name="adj" fmla="val 25000"/>
            </a:avLst>
          </a:prstGeom>
          <a:solidFill>
            <a:srgbClr val="12855A"/>
          </a:solidFill>
          <a:ln/>
        </p:spPr>
      </p:sp>
      <p:sp>
        <p:nvSpPr>
          <p:cNvPr id="24" name="Text 22"/>
          <p:cNvSpPr/>
          <p:nvPr/>
        </p:nvSpPr>
        <p:spPr>
          <a:xfrm>
            <a:off x="658368" y="5404104"/>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4</a:t>
            </a:r>
            <a:endParaRPr lang="en-US" sz="900" dirty="0"/>
          </a:p>
        </p:txBody>
      </p:sp>
      <p:sp>
        <p:nvSpPr>
          <p:cNvPr id="25" name="Text 23"/>
          <p:cNvSpPr/>
          <p:nvPr/>
        </p:nvSpPr>
        <p:spPr>
          <a:xfrm>
            <a:off x="987552" y="5367528"/>
            <a:ext cx="2286000" cy="219456"/>
          </a:xfrm>
          <a:prstGeom prst="rect">
            <a:avLst/>
          </a:prstGeom>
          <a:noFill/>
          <a:ln/>
        </p:spPr>
        <p:txBody>
          <a:bodyPr wrap="square" lIns="0" tIns="0" rIns="0" bIns="0" rtlCol="0" anchor="ctr"/>
          <a:lstStyle/>
          <a:p>
            <a:pPr algn="l" indent="0" marL="0">
              <a:buNone/>
            </a:pPr>
            <a:r>
              <a:rPr lang="en-US" sz="1150" b="1" dirty="0">
                <a:solidFill>
                  <a:srgbClr val="0B1210"/>
                </a:solidFill>
                <a:latin typeface="Cambria" pitchFamily="34" charset="0"/>
                <a:ea typeface="Cambria" pitchFamily="34" charset="-122"/>
                <a:cs typeface="Cambria" pitchFamily="34" charset="-120"/>
              </a:rPr>
              <a:t>Cross-venue pricing</a:t>
            </a:r>
            <a:endParaRPr lang="en-US" sz="1150" dirty="0"/>
          </a:p>
        </p:txBody>
      </p:sp>
      <p:sp>
        <p:nvSpPr>
          <p:cNvPr id="26" name="Text 24"/>
          <p:cNvSpPr/>
          <p:nvPr/>
        </p:nvSpPr>
        <p:spPr>
          <a:xfrm>
            <a:off x="987552" y="5586984"/>
            <a:ext cx="4919472" cy="274320"/>
          </a:xfrm>
          <a:prstGeom prst="rect">
            <a:avLst/>
          </a:prstGeom>
          <a:noFill/>
          <a:ln/>
        </p:spPr>
        <p:txBody>
          <a:bodyPr wrap="square" lIns="0" tIns="0" rIns="0" bIns="0" rtlCol="0" anchor="t"/>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Same contract on two venues, net of each fee</a:t>
            </a:r>
            <a:endParaRPr lang="en-US" sz="1000" dirty="0"/>
          </a:p>
        </p:txBody>
      </p:sp>
      <p:sp>
        <p:nvSpPr>
          <p:cNvPr id="27" name="Shape 25"/>
          <p:cNvSpPr/>
          <p:nvPr/>
        </p:nvSpPr>
        <p:spPr>
          <a:xfrm>
            <a:off x="6245352" y="2761488"/>
            <a:ext cx="2286000" cy="228600"/>
          </a:xfrm>
          <a:prstGeom prst="roundRect">
            <a:avLst>
              <a:gd name="adj" fmla="val 50000"/>
            </a:avLst>
          </a:prstGeom>
          <a:solidFill>
            <a:srgbClr val="FAF1DF"/>
          </a:solidFill>
          <a:ln/>
        </p:spPr>
      </p:sp>
      <p:sp>
        <p:nvSpPr>
          <p:cNvPr id="28" name="Text 26"/>
          <p:cNvSpPr/>
          <p:nvPr/>
        </p:nvSpPr>
        <p:spPr>
          <a:xfrm>
            <a:off x="6245352" y="2761488"/>
            <a:ext cx="2286000" cy="228600"/>
          </a:xfrm>
          <a:prstGeom prst="rect">
            <a:avLst/>
          </a:prstGeom>
          <a:noFill/>
          <a:ln/>
        </p:spPr>
        <p:txBody>
          <a:bodyPr wrap="square" lIns="0" tIns="0" rIns="0" bIns="0" rtlCol="0" anchor="ctr"/>
          <a:lstStyle/>
          <a:p>
            <a:pPr algn="ctr" indent="0" marL="0">
              <a:buNone/>
            </a:pPr>
            <a:r>
              <a:rPr lang="en-US" sz="800" b="1" spc="130" kern="0" dirty="0">
                <a:solidFill>
                  <a:srgbClr val="94600A"/>
                </a:solidFill>
                <a:latin typeface="Calibri" pitchFamily="34" charset="0"/>
                <a:ea typeface="Calibri" pitchFamily="34" charset="-122"/>
                <a:cs typeface="Calibri" pitchFamily="34" charset="-120"/>
              </a:rPr>
              <a:t>ROADMAP — SECTIONS 05 &amp; 06</a:t>
            </a:r>
            <a:endParaRPr lang="en-US" sz="800" dirty="0"/>
          </a:p>
        </p:txBody>
      </p:sp>
      <p:sp>
        <p:nvSpPr>
          <p:cNvPr id="29" name="Text 27"/>
          <p:cNvSpPr/>
          <p:nvPr/>
        </p:nvSpPr>
        <p:spPr>
          <a:xfrm>
            <a:off x="6245352" y="3127248"/>
            <a:ext cx="3657600" cy="365760"/>
          </a:xfrm>
          <a:prstGeom prst="rect">
            <a:avLst/>
          </a:prstGeom>
          <a:noFill/>
          <a:ln/>
        </p:spPr>
        <p:txBody>
          <a:bodyPr wrap="square" lIns="0" tIns="0" rIns="0" bIns="0" rtlCol="0" anchor="ctr"/>
          <a:lstStyle/>
          <a:p>
            <a:pPr algn="l" indent="0" marL="0">
              <a:buNone/>
            </a:pPr>
            <a:r>
              <a:rPr lang="en-US" sz="2000" b="1" dirty="0">
                <a:solidFill>
                  <a:srgbClr val="0B1210"/>
                </a:solidFill>
                <a:latin typeface="Cambria" pitchFamily="34" charset="0"/>
                <a:ea typeface="Cambria" pitchFamily="34" charset="-122"/>
                <a:cs typeface="Cambria" pitchFamily="34" charset="-120"/>
              </a:rPr>
              <a:t>Keep more</a:t>
            </a:r>
            <a:endParaRPr lang="en-US" sz="2000" dirty="0"/>
          </a:p>
        </p:txBody>
      </p:sp>
      <p:sp>
        <p:nvSpPr>
          <p:cNvPr id="30" name="Shape 28"/>
          <p:cNvSpPr/>
          <p:nvPr/>
        </p:nvSpPr>
        <p:spPr>
          <a:xfrm>
            <a:off x="6245352" y="3703320"/>
            <a:ext cx="201168" cy="201168"/>
          </a:xfrm>
          <a:prstGeom prst="roundRect">
            <a:avLst>
              <a:gd name="adj" fmla="val 25000"/>
            </a:avLst>
          </a:prstGeom>
          <a:solidFill>
            <a:srgbClr val="F2B23C"/>
          </a:solidFill>
          <a:ln/>
        </p:spPr>
      </p:sp>
      <p:sp>
        <p:nvSpPr>
          <p:cNvPr id="31" name="Text 29"/>
          <p:cNvSpPr/>
          <p:nvPr/>
        </p:nvSpPr>
        <p:spPr>
          <a:xfrm>
            <a:off x="6245352" y="3703320"/>
            <a:ext cx="201168" cy="201168"/>
          </a:xfrm>
          <a:prstGeom prst="rect">
            <a:avLst/>
          </a:prstGeom>
          <a:noFill/>
          <a:ln/>
        </p:spPr>
        <p:txBody>
          <a:bodyPr wrap="square" lIns="0" tIns="0" rIns="0" bIns="0" rtlCol="0" anchor="ctr"/>
          <a:lstStyle/>
          <a:p>
            <a:pPr algn="ctr" indent="0" marL="0">
              <a:buNone/>
            </a:pPr>
            <a:r>
              <a:rPr lang="en-US" sz="900" b="1" dirty="0">
                <a:solidFill>
                  <a:srgbClr val="2B1C00"/>
                </a:solidFill>
                <a:latin typeface="Cambria" pitchFamily="34" charset="0"/>
                <a:ea typeface="Cambria" pitchFamily="34" charset="-122"/>
                <a:cs typeface="Cambria" pitchFamily="34" charset="-120"/>
              </a:rPr>
              <a:t>1</a:t>
            </a:r>
            <a:endParaRPr lang="en-US" sz="900" dirty="0"/>
          </a:p>
        </p:txBody>
      </p:sp>
      <p:sp>
        <p:nvSpPr>
          <p:cNvPr id="32" name="Text 30"/>
          <p:cNvSpPr/>
          <p:nvPr/>
        </p:nvSpPr>
        <p:spPr>
          <a:xfrm>
            <a:off x="6574536" y="3666744"/>
            <a:ext cx="2286000" cy="219456"/>
          </a:xfrm>
          <a:prstGeom prst="rect">
            <a:avLst/>
          </a:prstGeom>
          <a:noFill/>
          <a:ln/>
        </p:spPr>
        <p:txBody>
          <a:bodyPr wrap="square" lIns="0" tIns="0" rIns="0" bIns="0" rtlCol="0" anchor="ctr"/>
          <a:lstStyle/>
          <a:p>
            <a:pPr algn="l" indent="0" marL="0">
              <a:buNone/>
            </a:pPr>
            <a:r>
              <a:rPr lang="en-US" sz="1150" b="1" dirty="0">
                <a:solidFill>
                  <a:srgbClr val="0B1210"/>
                </a:solidFill>
                <a:latin typeface="Cambria" pitchFamily="34" charset="0"/>
                <a:ea typeface="Cambria" pitchFamily="34" charset="-122"/>
                <a:cs typeface="Cambria" pitchFamily="34" charset="-120"/>
              </a:rPr>
              <a:t>Recurring spend</a:t>
            </a:r>
            <a:endParaRPr lang="en-US" sz="1150" dirty="0"/>
          </a:p>
        </p:txBody>
      </p:sp>
      <p:sp>
        <p:nvSpPr>
          <p:cNvPr id="33" name="Text 31"/>
          <p:cNvSpPr/>
          <p:nvPr/>
        </p:nvSpPr>
        <p:spPr>
          <a:xfrm>
            <a:off x="6574536" y="3886200"/>
            <a:ext cx="4919472" cy="274320"/>
          </a:xfrm>
          <a:prstGeom prst="rect">
            <a:avLst/>
          </a:prstGeom>
          <a:noFill/>
          <a:ln/>
        </p:spPr>
        <p:txBody>
          <a:bodyPr wrap="square" lIns="0" tIns="0" rIns="0" bIns="0" rtlCol="0" anchor="t"/>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Find, rank and cancel the subscriptions that leak</a:t>
            </a:r>
            <a:endParaRPr lang="en-US" sz="1000" dirty="0"/>
          </a:p>
        </p:txBody>
      </p:sp>
      <p:sp>
        <p:nvSpPr>
          <p:cNvPr id="34" name="Shape 32"/>
          <p:cNvSpPr/>
          <p:nvPr/>
        </p:nvSpPr>
        <p:spPr>
          <a:xfrm>
            <a:off x="6245352" y="4270248"/>
            <a:ext cx="201168" cy="201168"/>
          </a:xfrm>
          <a:prstGeom prst="roundRect">
            <a:avLst>
              <a:gd name="adj" fmla="val 25000"/>
            </a:avLst>
          </a:prstGeom>
          <a:solidFill>
            <a:srgbClr val="F2B23C"/>
          </a:solidFill>
          <a:ln/>
        </p:spPr>
      </p:sp>
      <p:sp>
        <p:nvSpPr>
          <p:cNvPr id="35" name="Text 33"/>
          <p:cNvSpPr/>
          <p:nvPr/>
        </p:nvSpPr>
        <p:spPr>
          <a:xfrm>
            <a:off x="6245352" y="4270248"/>
            <a:ext cx="201168" cy="201168"/>
          </a:xfrm>
          <a:prstGeom prst="rect">
            <a:avLst/>
          </a:prstGeom>
          <a:noFill/>
          <a:ln/>
        </p:spPr>
        <p:txBody>
          <a:bodyPr wrap="square" lIns="0" tIns="0" rIns="0" bIns="0" rtlCol="0" anchor="ctr"/>
          <a:lstStyle/>
          <a:p>
            <a:pPr algn="ctr" indent="0" marL="0">
              <a:buNone/>
            </a:pPr>
            <a:r>
              <a:rPr lang="en-US" sz="900" b="1" dirty="0">
                <a:solidFill>
                  <a:srgbClr val="2B1C00"/>
                </a:solidFill>
                <a:latin typeface="Cambria" pitchFamily="34" charset="0"/>
                <a:ea typeface="Cambria" pitchFamily="34" charset="-122"/>
                <a:cs typeface="Cambria" pitchFamily="34" charset="-120"/>
              </a:rPr>
              <a:t>2</a:t>
            </a:r>
            <a:endParaRPr lang="en-US" sz="900" dirty="0"/>
          </a:p>
        </p:txBody>
      </p:sp>
      <p:sp>
        <p:nvSpPr>
          <p:cNvPr id="36" name="Text 34"/>
          <p:cNvSpPr/>
          <p:nvPr/>
        </p:nvSpPr>
        <p:spPr>
          <a:xfrm>
            <a:off x="6574536" y="4233672"/>
            <a:ext cx="2286000" cy="219456"/>
          </a:xfrm>
          <a:prstGeom prst="rect">
            <a:avLst/>
          </a:prstGeom>
          <a:noFill/>
          <a:ln/>
        </p:spPr>
        <p:txBody>
          <a:bodyPr wrap="square" lIns="0" tIns="0" rIns="0" bIns="0" rtlCol="0" anchor="ctr"/>
          <a:lstStyle/>
          <a:p>
            <a:pPr algn="l" indent="0" marL="0">
              <a:buNone/>
            </a:pPr>
            <a:r>
              <a:rPr lang="en-US" sz="1150" b="1" dirty="0">
                <a:solidFill>
                  <a:srgbClr val="0B1210"/>
                </a:solidFill>
                <a:latin typeface="Cambria" pitchFamily="34" charset="0"/>
                <a:ea typeface="Cambria" pitchFamily="34" charset="-122"/>
                <a:cs typeface="Cambria" pitchFamily="34" charset="-120"/>
              </a:rPr>
              <a:t>Card rewards fit</a:t>
            </a:r>
            <a:endParaRPr lang="en-US" sz="1150" dirty="0"/>
          </a:p>
        </p:txBody>
      </p:sp>
      <p:sp>
        <p:nvSpPr>
          <p:cNvPr id="37" name="Text 35"/>
          <p:cNvSpPr/>
          <p:nvPr/>
        </p:nvSpPr>
        <p:spPr>
          <a:xfrm>
            <a:off x="6574536" y="4453128"/>
            <a:ext cx="4919472" cy="274320"/>
          </a:xfrm>
          <a:prstGeom prst="rect">
            <a:avLst/>
          </a:prstGeom>
          <a:noFill/>
          <a:ln/>
        </p:spPr>
        <p:txBody>
          <a:bodyPr wrap="square" lIns="0" tIns="0" rIns="0" bIns="0" rtlCol="0" anchor="t"/>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The right card for the purchases actually made</a:t>
            </a:r>
            <a:endParaRPr lang="en-US" sz="1000" dirty="0"/>
          </a:p>
        </p:txBody>
      </p:sp>
      <p:sp>
        <p:nvSpPr>
          <p:cNvPr id="38" name="Shape 36"/>
          <p:cNvSpPr/>
          <p:nvPr/>
        </p:nvSpPr>
        <p:spPr>
          <a:xfrm>
            <a:off x="6245352" y="4837176"/>
            <a:ext cx="201168" cy="201168"/>
          </a:xfrm>
          <a:prstGeom prst="roundRect">
            <a:avLst>
              <a:gd name="adj" fmla="val 25000"/>
            </a:avLst>
          </a:prstGeom>
          <a:solidFill>
            <a:srgbClr val="F2B23C"/>
          </a:solidFill>
          <a:ln/>
        </p:spPr>
      </p:sp>
      <p:sp>
        <p:nvSpPr>
          <p:cNvPr id="39" name="Text 37"/>
          <p:cNvSpPr/>
          <p:nvPr/>
        </p:nvSpPr>
        <p:spPr>
          <a:xfrm>
            <a:off x="6245352" y="4837176"/>
            <a:ext cx="201168" cy="201168"/>
          </a:xfrm>
          <a:prstGeom prst="rect">
            <a:avLst/>
          </a:prstGeom>
          <a:noFill/>
          <a:ln/>
        </p:spPr>
        <p:txBody>
          <a:bodyPr wrap="square" lIns="0" tIns="0" rIns="0" bIns="0" rtlCol="0" anchor="ctr"/>
          <a:lstStyle/>
          <a:p>
            <a:pPr algn="ctr" indent="0" marL="0">
              <a:buNone/>
            </a:pPr>
            <a:r>
              <a:rPr lang="en-US" sz="900" b="1" dirty="0">
                <a:solidFill>
                  <a:srgbClr val="2B1C00"/>
                </a:solidFill>
                <a:latin typeface="Cambria" pitchFamily="34" charset="0"/>
                <a:ea typeface="Cambria" pitchFamily="34" charset="-122"/>
                <a:cs typeface="Cambria" pitchFamily="34" charset="-120"/>
              </a:rPr>
              <a:t>3</a:t>
            </a:r>
            <a:endParaRPr lang="en-US" sz="900" dirty="0"/>
          </a:p>
        </p:txBody>
      </p:sp>
      <p:sp>
        <p:nvSpPr>
          <p:cNvPr id="40" name="Text 38"/>
          <p:cNvSpPr/>
          <p:nvPr/>
        </p:nvSpPr>
        <p:spPr>
          <a:xfrm>
            <a:off x="6574536" y="4800600"/>
            <a:ext cx="2286000" cy="219456"/>
          </a:xfrm>
          <a:prstGeom prst="rect">
            <a:avLst/>
          </a:prstGeom>
          <a:noFill/>
          <a:ln/>
        </p:spPr>
        <p:txBody>
          <a:bodyPr wrap="square" lIns="0" tIns="0" rIns="0" bIns="0" rtlCol="0" anchor="ctr"/>
          <a:lstStyle/>
          <a:p>
            <a:pPr algn="l" indent="0" marL="0">
              <a:buNone/>
            </a:pPr>
            <a:r>
              <a:rPr lang="en-US" sz="1150" b="1" dirty="0">
                <a:solidFill>
                  <a:srgbClr val="0B1210"/>
                </a:solidFill>
                <a:latin typeface="Cambria" pitchFamily="34" charset="0"/>
                <a:ea typeface="Cambria" pitchFamily="34" charset="-122"/>
                <a:cs typeface="Cambria" pitchFamily="34" charset="-120"/>
              </a:rPr>
              <a:t>Fees &amp; idle cash</a:t>
            </a:r>
            <a:endParaRPr lang="en-US" sz="1150" dirty="0"/>
          </a:p>
        </p:txBody>
      </p:sp>
      <p:sp>
        <p:nvSpPr>
          <p:cNvPr id="41" name="Text 39"/>
          <p:cNvSpPr/>
          <p:nvPr/>
        </p:nvSpPr>
        <p:spPr>
          <a:xfrm>
            <a:off x="6574536" y="5020056"/>
            <a:ext cx="4919472" cy="274320"/>
          </a:xfrm>
          <a:prstGeom prst="rect">
            <a:avLst/>
          </a:prstGeom>
          <a:noFill/>
          <a:ln/>
        </p:spPr>
        <p:txBody>
          <a:bodyPr wrap="square" lIns="0" tIns="0" rIns="0" bIns="0" rtlCol="0" anchor="t"/>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Overdraft, FX, revolving interest, cash left flat</a:t>
            </a:r>
            <a:endParaRPr lang="en-US" sz="1000" dirty="0"/>
          </a:p>
        </p:txBody>
      </p:sp>
      <p:sp>
        <p:nvSpPr>
          <p:cNvPr id="42" name="Shape 40"/>
          <p:cNvSpPr/>
          <p:nvPr/>
        </p:nvSpPr>
        <p:spPr>
          <a:xfrm>
            <a:off x="6245352" y="5404104"/>
            <a:ext cx="201168" cy="201168"/>
          </a:xfrm>
          <a:prstGeom prst="roundRect">
            <a:avLst>
              <a:gd name="adj" fmla="val 25000"/>
            </a:avLst>
          </a:prstGeom>
          <a:solidFill>
            <a:srgbClr val="F2B23C"/>
          </a:solidFill>
          <a:ln/>
        </p:spPr>
      </p:sp>
      <p:sp>
        <p:nvSpPr>
          <p:cNvPr id="43" name="Text 41"/>
          <p:cNvSpPr/>
          <p:nvPr/>
        </p:nvSpPr>
        <p:spPr>
          <a:xfrm>
            <a:off x="6245352" y="5404104"/>
            <a:ext cx="201168" cy="201168"/>
          </a:xfrm>
          <a:prstGeom prst="rect">
            <a:avLst/>
          </a:prstGeom>
          <a:noFill/>
          <a:ln/>
        </p:spPr>
        <p:txBody>
          <a:bodyPr wrap="square" lIns="0" tIns="0" rIns="0" bIns="0" rtlCol="0" anchor="ctr"/>
          <a:lstStyle/>
          <a:p>
            <a:pPr algn="ctr" indent="0" marL="0">
              <a:buNone/>
            </a:pPr>
            <a:r>
              <a:rPr lang="en-US" sz="900" b="1" dirty="0">
                <a:solidFill>
                  <a:srgbClr val="2B1C00"/>
                </a:solidFill>
                <a:latin typeface="Cambria" pitchFamily="34" charset="0"/>
                <a:ea typeface="Cambria" pitchFamily="34" charset="-122"/>
                <a:cs typeface="Cambria" pitchFamily="34" charset="-120"/>
              </a:rPr>
              <a:t>4</a:t>
            </a:r>
            <a:endParaRPr lang="en-US" sz="900" dirty="0"/>
          </a:p>
        </p:txBody>
      </p:sp>
      <p:sp>
        <p:nvSpPr>
          <p:cNvPr id="44" name="Text 42"/>
          <p:cNvSpPr/>
          <p:nvPr/>
        </p:nvSpPr>
        <p:spPr>
          <a:xfrm>
            <a:off x="6574536" y="5367528"/>
            <a:ext cx="2286000" cy="219456"/>
          </a:xfrm>
          <a:prstGeom prst="rect">
            <a:avLst/>
          </a:prstGeom>
          <a:noFill/>
          <a:ln/>
        </p:spPr>
        <p:txBody>
          <a:bodyPr wrap="square" lIns="0" tIns="0" rIns="0" bIns="0" rtlCol="0" anchor="ctr"/>
          <a:lstStyle/>
          <a:p>
            <a:pPr algn="l" indent="0" marL="0">
              <a:buNone/>
            </a:pPr>
            <a:r>
              <a:rPr lang="en-US" sz="1150" b="1" dirty="0">
                <a:solidFill>
                  <a:srgbClr val="0B1210"/>
                </a:solidFill>
                <a:latin typeface="Cambria" pitchFamily="34" charset="0"/>
                <a:ea typeface="Cambria" pitchFamily="34" charset="-122"/>
                <a:cs typeface="Cambria" pitchFamily="34" charset="-120"/>
              </a:rPr>
              <a:t>Automated action</a:t>
            </a:r>
            <a:endParaRPr lang="en-US" sz="1150" dirty="0"/>
          </a:p>
        </p:txBody>
      </p:sp>
      <p:sp>
        <p:nvSpPr>
          <p:cNvPr id="45" name="Text 43"/>
          <p:cNvSpPr/>
          <p:nvPr/>
        </p:nvSpPr>
        <p:spPr>
          <a:xfrm>
            <a:off x="6574536" y="5586984"/>
            <a:ext cx="4919472" cy="274320"/>
          </a:xfrm>
          <a:prstGeom prst="rect">
            <a:avLst/>
          </a:prstGeom>
          <a:noFill/>
          <a:ln/>
        </p:spPr>
        <p:txBody>
          <a:bodyPr wrap="square" lIns="0" tIns="0" rIns="0" bIns="0" rtlCol="0" anchor="t"/>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Move the money, don't just recommend the move</a:t>
            </a:r>
            <a:endParaRPr lang="en-US" sz="1000" dirty="0"/>
          </a:p>
        </p:txBody>
      </p:sp>
      <p:sp>
        <p:nvSpPr>
          <p:cNvPr id="46" name="Text 44"/>
          <p:cNvSpPr/>
          <p:nvPr/>
        </p:nvSpPr>
        <p:spPr>
          <a:xfrm>
            <a:off x="658368" y="5943600"/>
            <a:ext cx="10872216" cy="420624"/>
          </a:xfrm>
          <a:prstGeom prst="rect">
            <a:avLst/>
          </a:prstGeom>
          <a:noFill/>
          <a:ln/>
        </p:spPr>
        <p:txBody>
          <a:bodyPr wrap="square" lIns="0" tIns="0" rIns="0" bIns="0" rtlCol="0" anchor="t"/>
          <a:lstStyle/>
          <a:p>
            <a:pPr indent="0" marL="0">
              <a:lnSpc>
                <a:spcPct val="118000"/>
              </a:lnSpc>
              <a:buNone/>
            </a:pPr>
            <a:r>
              <a:rPr lang="en-US" sz="1100" dirty="0">
                <a:solidFill>
                  <a:srgbClr val="0B1210"/>
                </a:solidFill>
                <a:latin typeface="Calibri" pitchFamily="34" charset="0"/>
                <a:ea typeface="Calibri" pitchFamily="34" charset="-122"/>
                <a:cs typeface="Calibri" pitchFamily="34" charset="-120"/>
              </a:rPr>
              <a:t>The right-hand column is not a second product. It runs on the same scoring engine, because a dollar you stop losing is scored exactly like a dollar you earn — and it is worth more, because it carries no risk and no tax.</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04</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03  ·  THE PRODUCT</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Shipped: a goal in, an honest ranked answer out.</a:t>
            </a:r>
            <a:endParaRPr lang="en-US" sz="3000" dirty="0"/>
          </a:p>
        </p:txBody>
      </p:sp>
      <p:sp>
        <p:nvSpPr>
          <p:cNvPr id="6" name="Text 4"/>
          <p:cNvSpPr/>
          <p:nvPr/>
        </p:nvSpPr>
        <p:spPr>
          <a:xfrm>
            <a:off x="658368" y="1417320"/>
            <a:ext cx="10872216" cy="292608"/>
          </a:xfrm>
          <a:prstGeom prst="rect">
            <a:avLst/>
          </a:prstGeom>
          <a:noFill/>
          <a:ln/>
        </p:spPr>
        <p:txBody>
          <a:bodyPr wrap="square" lIns="0" tIns="0" rIns="0" bIns="0" rtlCol="0" anchor="t"/>
          <a:lstStyle/>
          <a:p>
            <a:pPr indent="0" marL="0">
              <a:lnSpc>
                <a:spcPct val="122000"/>
              </a:lnSpc>
              <a:buNone/>
            </a:pPr>
            <a:r>
              <a:rPr lang="en-US" sz="1300" dirty="0">
                <a:solidFill>
                  <a:srgbClr val="44534C"/>
                </a:solidFill>
                <a:latin typeface="Calibri" pitchFamily="34" charset="0"/>
                <a:ea typeface="Calibri" pitchFamily="34" charset="-122"/>
                <a:cs typeface="Calibri" pitchFamily="34" charset="-120"/>
              </a:rPr>
              <a:t>Built, live, and charging today. Not a prototype and not a waitlist.</a:t>
            </a:r>
            <a:endParaRPr lang="en-US" sz="1300" dirty="0"/>
          </a:p>
        </p:txBody>
      </p:sp>
      <p:sp>
        <p:nvSpPr>
          <p:cNvPr id="7" name="Shape 5"/>
          <p:cNvSpPr/>
          <p:nvPr/>
        </p:nvSpPr>
        <p:spPr>
          <a:xfrm>
            <a:off x="658368" y="1975104"/>
            <a:ext cx="420624" cy="310896"/>
          </a:xfrm>
          <a:prstGeom prst="roundRect">
            <a:avLst>
              <a:gd name="adj" fmla="val 16176"/>
            </a:avLst>
          </a:prstGeom>
          <a:solidFill>
            <a:srgbClr val="0B1210"/>
          </a:solidFill>
          <a:ln/>
        </p:spPr>
      </p:sp>
      <p:sp>
        <p:nvSpPr>
          <p:cNvPr id="8" name="Text 6"/>
          <p:cNvSpPr/>
          <p:nvPr/>
        </p:nvSpPr>
        <p:spPr>
          <a:xfrm>
            <a:off x="658368" y="1975104"/>
            <a:ext cx="42062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01</a:t>
            </a:r>
            <a:endParaRPr lang="en-US" sz="1100" dirty="0"/>
          </a:p>
        </p:txBody>
      </p:sp>
      <p:sp>
        <p:nvSpPr>
          <p:cNvPr id="9" name="Text 7"/>
          <p:cNvSpPr/>
          <p:nvPr/>
        </p:nvSpPr>
        <p:spPr>
          <a:xfrm>
            <a:off x="1225296" y="1993392"/>
            <a:ext cx="3657600" cy="274320"/>
          </a:xfrm>
          <a:prstGeom prst="rect">
            <a:avLst/>
          </a:prstGeom>
          <a:noFill/>
          <a:ln/>
        </p:spPr>
        <p:txBody>
          <a:bodyPr wrap="square" lIns="0" tIns="0" rIns="0" bIns="0" rtlCol="0" anchor="ctr"/>
          <a:lstStyle/>
          <a:p>
            <a:pPr algn="l" indent="0" marL="0">
              <a:buNone/>
            </a:pPr>
            <a:r>
              <a:rPr lang="en-US" sz="1500" b="1" dirty="0">
                <a:solidFill>
                  <a:srgbClr val="0B1210"/>
                </a:solidFill>
                <a:latin typeface="Cambria" pitchFamily="34" charset="0"/>
                <a:ea typeface="Cambria" pitchFamily="34" charset="-122"/>
                <a:cs typeface="Cambria" pitchFamily="34" charset="-120"/>
              </a:rPr>
              <a:t>Set the outcome</a:t>
            </a:r>
            <a:endParaRPr lang="en-US" sz="1500" dirty="0"/>
          </a:p>
        </p:txBody>
      </p:sp>
      <p:sp>
        <p:nvSpPr>
          <p:cNvPr id="10" name="Text 8"/>
          <p:cNvSpPr/>
          <p:nvPr/>
        </p:nvSpPr>
        <p:spPr>
          <a:xfrm>
            <a:off x="1225296" y="2359152"/>
            <a:ext cx="4754880" cy="731520"/>
          </a:xfrm>
          <a:prstGeom prst="rect">
            <a:avLst/>
          </a:prstGeom>
          <a:noFill/>
          <a:ln/>
        </p:spPr>
        <p:txBody>
          <a:bodyPr wrap="square" lIns="0" tIns="0" rIns="0" bIns="0" rtlCol="0" anchor="t"/>
          <a:lstStyle/>
          <a:p>
            <a:pPr algn="l" indent="0" marL="0">
              <a:lnSpc>
                <a:spcPct val="120000"/>
              </a:lnSpc>
              <a:buNone/>
            </a:pPr>
            <a:r>
              <a:rPr lang="en-US" sz="1100" dirty="0">
                <a:solidFill>
                  <a:srgbClr val="44534C"/>
                </a:solidFill>
                <a:latin typeface="Calibri" pitchFamily="34" charset="0"/>
                <a:ea typeface="Calibri" pitchFamily="34" charset="-122"/>
                <a:cs typeface="Calibri" pitchFamily="34" charset="-120"/>
              </a:rPr>
              <a:t>Amount, deadline, capital available, and the risk the user will genuinely tolerate. Four numbers — no personality quiz standing in for them.</a:t>
            </a:r>
            <a:endParaRPr lang="en-US" sz="1100" dirty="0"/>
          </a:p>
        </p:txBody>
      </p:sp>
      <p:sp>
        <p:nvSpPr>
          <p:cNvPr id="11" name="Shape 9"/>
          <p:cNvSpPr/>
          <p:nvPr/>
        </p:nvSpPr>
        <p:spPr>
          <a:xfrm>
            <a:off x="658368" y="3218688"/>
            <a:ext cx="420624" cy="310896"/>
          </a:xfrm>
          <a:prstGeom prst="roundRect">
            <a:avLst>
              <a:gd name="adj" fmla="val 16176"/>
            </a:avLst>
          </a:prstGeom>
          <a:solidFill>
            <a:srgbClr val="0B1210"/>
          </a:solidFill>
          <a:ln/>
        </p:spPr>
      </p:sp>
      <p:sp>
        <p:nvSpPr>
          <p:cNvPr id="12" name="Text 10"/>
          <p:cNvSpPr/>
          <p:nvPr/>
        </p:nvSpPr>
        <p:spPr>
          <a:xfrm>
            <a:off x="658368" y="3218688"/>
            <a:ext cx="42062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02</a:t>
            </a:r>
            <a:endParaRPr lang="en-US" sz="1100" dirty="0"/>
          </a:p>
        </p:txBody>
      </p:sp>
      <p:sp>
        <p:nvSpPr>
          <p:cNvPr id="13" name="Text 11"/>
          <p:cNvSpPr/>
          <p:nvPr/>
        </p:nvSpPr>
        <p:spPr>
          <a:xfrm>
            <a:off x="1225296" y="3236976"/>
            <a:ext cx="3657600" cy="274320"/>
          </a:xfrm>
          <a:prstGeom prst="rect">
            <a:avLst/>
          </a:prstGeom>
          <a:noFill/>
          <a:ln/>
        </p:spPr>
        <p:txBody>
          <a:bodyPr wrap="square" lIns="0" tIns="0" rIns="0" bIns="0" rtlCol="0" anchor="ctr"/>
          <a:lstStyle/>
          <a:p>
            <a:pPr algn="l" indent="0" marL="0">
              <a:buNone/>
            </a:pPr>
            <a:r>
              <a:rPr lang="en-US" sz="1500" b="1" dirty="0">
                <a:solidFill>
                  <a:srgbClr val="0B1210"/>
                </a:solidFill>
                <a:latin typeface="Cambria" pitchFamily="34" charset="0"/>
                <a:ea typeface="Cambria" pitchFamily="34" charset="-122"/>
                <a:cs typeface="Cambria" pitchFamily="34" charset="-120"/>
              </a:rPr>
              <a:t>Rank every route</a:t>
            </a:r>
            <a:endParaRPr lang="en-US" sz="1500" dirty="0"/>
          </a:p>
        </p:txBody>
      </p:sp>
      <p:sp>
        <p:nvSpPr>
          <p:cNvPr id="14" name="Text 12"/>
          <p:cNvSpPr/>
          <p:nvPr/>
        </p:nvSpPr>
        <p:spPr>
          <a:xfrm>
            <a:off x="1225296" y="3602736"/>
            <a:ext cx="4754880" cy="731520"/>
          </a:xfrm>
          <a:prstGeom prst="rect">
            <a:avLst/>
          </a:prstGeom>
          <a:noFill/>
          <a:ln/>
        </p:spPr>
        <p:txBody>
          <a:bodyPr wrap="square" lIns="0" tIns="0" rIns="0" bIns="0" rtlCol="0" anchor="t"/>
          <a:lstStyle/>
          <a:p>
            <a:pPr algn="l" indent="0" marL="0">
              <a:lnSpc>
                <a:spcPct val="120000"/>
              </a:lnSpc>
              <a:buNone/>
            </a:pPr>
            <a:r>
              <a:rPr lang="en-US" sz="1100" dirty="0">
                <a:solidFill>
                  <a:srgbClr val="44534C"/>
                </a:solidFill>
                <a:latin typeface="Calibri" pitchFamily="34" charset="0"/>
                <a:ea typeface="Calibri" pitchFamily="34" charset="-122"/>
                <a:cs typeface="Calibri" pitchFamily="34" charset="-120"/>
              </a:rPr>
              <a:t>Savings, Treasuries, ETFs and live prediction markets, all scored against that one goal and sorted safest-first by default.</a:t>
            </a:r>
            <a:endParaRPr lang="en-US" sz="1100" dirty="0"/>
          </a:p>
        </p:txBody>
      </p:sp>
      <p:sp>
        <p:nvSpPr>
          <p:cNvPr id="15" name="Shape 13"/>
          <p:cNvSpPr/>
          <p:nvPr/>
        </p:nvSpPr>
        <p:spPr>
          <a:xfrm>
            <a:off x="658368" y="4462272"/>
            <a:ext cx="420624" cy="310896"/>
          </a:xfrm>
          <a:prstGeom prst="roundRect">
            <a:avLst>
              <a:gd name="adj" fmla="val 16176"/>
            </a:avLst>
          </a:prstGeom>
          <a:solidFill>
            <a:srgbClr val="0B1210"/>
          </a:solidFill>
          <a:ln/>
        </p:spPr>
      </p:sp>
      <p:sp>
        <p:nvSpPr>
          <p:cNvPr id="16" name="Text 14"/>
          <p:cNvSpPr/>
          <p:nvPr/>
        </p:nvSpPr>
        <p:spPr>
          <a:xfrm>
            <a:off x="658368" y="4462272"/>
            <a:ext cx="42062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03</a:t>
            </a:r>
            <a:endParaRPr lang="en-US" sz="1100" dirty="0"/>
          </a:p>
        </p:txBody>
      </p:sp>
      <p:sp>
        <p:nvSpPr>
          <p:cNvPr id="17" name="Text 15"/>
          <p:cNvSpPr/>
          <p:nvPr/>
        </p:nvSpPr>
        <p:spPr>
          <a:xfrm>
            <a:off x="1225296" y="4480560"/>
            <a:ext cx="3657600" cy="274320"/>
          </a:xfrm>
          <a:prstGeom prst="rect">
            <a:avLst/>
          </a:prstGeom>
          <a:noFill/>
          <a:ln/>
        </p:spPr>
        <p:txBody>
          <a:bodyPr wrap="square" lIns="0" tIns="0" rIns="0" bIns="0" rtlCol="0" anchor="ctr"/>
          <a:lstStyle/>
          <a:p>
            <a:pPr algn="l" indent="0" marL="0">
              <a:buNone/>
            </a:pPr>
            <a:r>
              <a:rPr lang="en-US" sz="1500" b="1" dirty="0">
                <a:solidFill>
                  <a:srgbClr val="0B1210"/>
                </a:solidFill>
                <a:latin typeface="Cambria" pitchFamily="34" charset="0"/>
                <a:ea typeface="Cambria" pitchFamily="34" charset="-122"/>
                <a:cs typeface="Cambria" pitchFamily="34" charset="-120"/>
              </a:rPr>
              <a:t>Show the receipts</a:t>
            </a:r>
            <a:endParaRPr lang="en-US" sz="1500" dirty="0"/>
          </a:p>
        </p:txBody>
      </p:sp>
      <p:sp>
        <p:nvSpPr>
          <p:cNvPr id="18" name="Text 16"/>
          <p:cNvSpPr/>
          <p:nvPr/>
        </p:nvSpPr>
        <p:spPr>
          <a:xfrm>
            <a:off x="1225296" y="4846320"/>
            <a:ext cx="4754880" cy="731520"/>
          </a:xfrm>
          <a:prstGeom prst="rect">
            <a:avLst/>
          </a:prstGeom>
          <a:noFill/>
          <a:ln/>
        </p:spPr>
        <p:txBody>
          <a:bodyPr wrap="square" lIns="0" tIns="0" rIns="0" bIns="0" rtlCol="0" anchor="t"/>
          <a:lstStyle/>
          <a:p>
            <a:pPr algn="l" indent="0" marL="0">
              <a:lnSpc>
                <a:spcPct val="120000"/>
              </a:lnSpc>
              <a:buNone/>
            </a:pPr>
            <a:r>
              <a:rPr lang="en-US" sz="1100" dirty="0">
                <a:solidFill>
                  <a:srgbClr val="44534C"/>
                </a:solidFill>
                <a:latin typeface="Calibri" pitchFamily="34" charset="0"/>
                <a:ea typeface="Calibri" pitchFamily="34" charset="-122"/>
                <a:cs typeface="Calibri" pitchFamily="34" charset="-120"/>
              </a:rPr>
              <a:t>Live price, source, downside, which probability method produced the number, and the score arithmetic — on the route, not in a footer.</a:t>
            </a:r>
            <a:endParaRPr lang="en-US" sz="1100" dirty="0"/>
          </a:p>
        </p:txBody>
      </p:sp>
      <p:sp>
        <p:nvSpPr>
          <p:cNvPr id="19" name="Shape 17"/>
          <p:cNvSpPr/>
          <p:nvPr/>
        </p:nvSpPr>
        <p:spPr>
          <a:xfrm>
            <a:off x="658368" y="5687568"/>
            <a:ext cx="5577840" cy="566928"/>
          </a:xfrm>
          <a:prstGeom prst="roundRect">
            <a:avLst>
              <a:gd name="adj" fmla="val 14516"/>
            </a:avLst>
          </a:prstGeom>
          <a:solidFill>
            <a:srgbClr val="E6F4EE"/>
          </a:solidFill>
          <a:ln/>
        </p:spPr>
      </p:sp>
      <p:sp>
        <p:nvSpPr>
          <p:cNvPr id="20" name="Text 18"/>
          <p:cNvSpPr/>
          <p:nvPr/>
        </p:nvSpPr>
        <p:spPr>
          <a:xfrm>
            <a:off x="841248" y="5779008"/>
            <a:ext cx="1828800" cy="182880"/>
          </a:xfrm>
          <a:prstGeom prst="rect">
            <a:avLst/>
          </a:prstGeom>
          <a:noFill/>
          <a:ln/>
        </p:spPr>
        <p:txBody>
          <a:bodyPr wrap="square" lIns="0" tIns="0" rIns="0" bIns="0" rtlCol="0" anchor="ctr"/>
          <a:lstStyle/>
          <a:p>
            <a:pPr algn="l" indent="0" marL="0">
              <a:buNone/>
            </a:pPr>
            <a:r>
              <a:rPr lang="en-US" sz="800" b="1" spc="140" kern="0" dirty="0">
                <a:solidFill>
                  <a:srgbClr val="0A5C3E"/>
                </a:solidFill>
                <a:latin typeface="Calibri" pitchFamily="34" charset="0"/>
                <a:ea typeface="Calibri" pitchFamily="34" charset="-122"/>
                <a:cs typeface="Calibri" pitchFamily="34" charset="-120"/>
              </a:rPr>
              <a:t>ALSO SHIPPED</a:t>
            </a:r>
            <a:endParaRPr lang="en-US" sz="800" dirty="0"/>
          </a:p>
        </p:txBody>
      </p:sp>
      <p:sp>
        <p:nvSpPr>
          <p:cNvPr id="21" name="Text 19"/>
          <p:cNvSpPr/>
          <p:nvPr/>
        </p:nvSpPr>
        <p:spPr>
          <a:xfrm>
            <a:off x="841248" y="5943600"/>
            <a:ext cx="5212080" cy="274320"/>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Authentication · $9.99/mo subscription · share-to-unlock · portfolio tracking · biometric lock</a:t>
            </a:r>
            <a:endParaRPr lang="en-US" sz="950" dirty="0"/>
          </a:p>
        </p:txBody>
      </p:sp>
      <p:sp>
        <p:nvSpPr>
          <p:cNvPr id="22" name="Shape 20"/>
          <p:cNvSpPr/>
          <p:nvPr/>
        </p:nvSpPr>
        <p:spPr>
          <a:xfrm>
            <a:off x="6766560" y="1737360"/>
            <a:ext cx="2084832" cy="4224528"/>
          </a:xfrm>
          <a:prstGeom prst="roundRect">
            <a:avLst>
              <a:gd name="adj" fmla="val 11404"/>
            </a:avLst>
          </a:prstGeom>
          <a:solidFill>
            <a:srgbClr val="0B1210"/>
          </a:solidFill>
          <a:ln/>
          <a:effectLst>
            <a:outerShdw sx="100000" sy="100000" kx="0" ky="0" algn="bl" rotWithShape="0" blurRad="177800" dist="12700" dir="5400000">
              <a:srgbClr val="0B1210">
                <a:alpha val="7000"/>
              </a:srgbClr>
            </a:outerShdw>
          </a:effectLst>
        </p:spPr>
      </p:sp>
      <p:sp>
        <p:nvSpPr>
          <p:cNvPr id="23" name="Shape 21"/>
          <p:cNvSpPr/>
          <p:nvPr/>
        </p:nvSpPr>
        <p:spPr>
          <a:xfrm>
            <a:off x="6844284" y="1815084"/>
            <a:ext cx="1929384" cy="4069080"/>
          </a:xfrm>
          <a:prstGeom prst="roundRect">
            <a:avLst>
              <a:gd name="adj" fmla="val 9479"/>
            </a:avLst>
          </a:prstGeom>
          <a:solidFill>
            <a:srgbClr val="F2F5F3"/>
          </a:solidFill>
          <a:ln/>
        </p:spPr>
      </p:sp>
      <p:sp>
        <p:nvSpPr>
          <p:cNvPr id="24" name="Text 22"/>
          <p:cNvSpPr/>
          <p:nvPr/>
        </p:nvSpPr>
        <p:spPr>
          <a:xfrm>
            <a:off x="6766560" y="3465576"/>
            <a:ext cx="2084832" cy="182880"/>
          </a:xfrm>
          <a:prstGeom prst="rect">
            <a:avLst/>
          </a:prstGeom>
          <a:noFill/>
          <a:ln/>
        </p:spPr>
        <p:txBody>
          <a:bodyPr wrap="square" lIns="0" tIns="0" rIns="0" bIns="0" rtlCol="0" anchor="ctr"/>
          <a:lstStyle/>
          <a:p>
            <a:pPr algn="ctr" indent="0" marL="0">
              <a:buNone/>
            </a:pPr>
            <a:r>
              <a:rPr lang="en-US" sz="750" b="1" spc="140" kern="0" dirty="0">
                <a:solidFill>
                  <a:srgbClr val="6C7C74"/>
                </a:solidFill>
                <a:latin typeface="Calibri" pitchFamily="34" charset="0"/>
                <a:ea typeface="Calibri" pitchFamily="34" charset="-122"/>
                <a:cs typeface="Calibri" pitchFamily="34" charset="-120"/>
              </a:rPr>
              <a:t>DROP SCREENSHOT</a:t>
            </a:r>
            <a:endParaRPr lang="en-US" sz="750" dirty="0"/>
          </a:p>
        </p:txBody>
      </p:sp>
      <p:sp>
        <p:nvSpPr>
          <p:cNvPr id="25" name="Text 23"/>
          <p:cNvSpPr/>
          <p:nvPr/>
        </p:nvSpPr>
        <p:spPr>
          <a:xfrm>
            <a:off x="6894576" y="3666744"/>
            <a:ext cx="1828800" cy="365760"/>
          </a:xfrm>
          <a:prstGeom prst="rect">
            <a:avLst/>
          </a:prstGeom>
          <a:noFill/>
          <a:ln/>
        </p:spPr>
        <p:txBody>
          <a:bodyPr wrap="square" lIns="0" tIns="0" rIns="0" bIns="0" rtlCol="0" anchor="ctr"/>
          <a:lstStyle/>
          <a:p>
            <a:pPr algn="ctr" indent="0" marL="0">
              <a:lnSpc>
                <a:spcPct val="105000"/>
              </a:lnSpc>
              <a:buNone/>
            </a:pPr>
            <a:r>
              <a:rPr lang="en-US" sz="1200" b="1" dirty="0">
                <a:solidFill>
                  <a:srgbClr val="0B1210"/>
                </a:solidFill>
                <a:latin typeface="Cambria" pitchFamily="34" charset="0"/>
                <a:ea typeface="Cambria" pitchFamily="34" charset="-122"/>
                <a:cs typeface="Cambria" pitchFamily="34" charset="-120"/>
              </a:rPr>
              <a:t>Goal setup</a:t>
            </a:r>
            <a:endParaRPr lang="en-US" sz="1200" dirty="0"/>
          </a:p>
        </p:txBody>
      </p:sp>
      <p:sp>
        <p:nvSpPr>
          <p:cNvPr id="26" name="Text 24"/>
          <p:cNvSpPr/>
          <p:nvPr/>
        </p:nvSpPr>
        <p:spPr>
          <a:xfrm>
            <a:off x="6894576" y="4069080"/>
            <a:ext cx="1828800" cy="457200"/>
          </a:xfrm>
          <a:prstGeom prst="rect">
            <a:avLst/>
          </a:prstGeom>
          <a:noFill/>
          <a:ln/>
        </p:spPr>
        <p:txBody>
          <a:bodyPr wrap="square" lIns="0" tIns="0" rIns="0" bIns="0" rtlCol="0" anchor="ctr"/>
          <a:lstStyle/>
          <a:p>
            <a:pPr algn="ctr" indent="0" marL="0">
              <a:lnSpc>
                <a:spcPct val="115000"/>
              </a:lnSpc>
              <a:buNone/>
            </a:pPr>
            <a:r>
              <a:rPr lang="en-US" sz="950" dirty="0">
                <a:solidFill>
                  <a:srgbClr val="94A29B"/>
                </a:solidFill>
                <a:latin typeface="Calibri" pitchFamily="34" charset="0"/>
                <a:ea typeface="Calibri" pitchFamily="34" charset="-122"/>
                <a:cs typeface="Calibri" pitchFamily="34" charset="-120"/>
              </a:rPr>
              <a:t>The four inputs</a:t>
            </a:r>
            <a:endParaRPr lang="en-US" sz="950" dirty="0"/>
          </a:p>
        </p:txBody>
      </p:sp>
      <p:sp>
        <p:nvSpPr>
          <p:cNvPr id="27" name="Shape 25"/>
          <p:cNvSpPr/>
          <p:nvPr/>
        </p:nvSpPr>
        <p:spPr>
          <a:xfrm>
            <a:off x="9125712" y="1737360"/>
            <a:ext cx="2084832" cy="4224528"/>
          </a:xfrm>
          <a:prstGeom prst="roundRect">
            <a:avLst>
              <a:gd name="adj" fmla="val 11404"/>
            </a:avLst>
          </a:prstGeom>
          <a:solidFill>
            <a:srgbClr val="0B1210"/>
          </a:solidFill>
          <a:ln/>
          <a:effectLst>
            <a:outerShdw sx="100000" sy="100000" kx="0" ky="0" algn="bl" rotWithShape="0" blurRad="177800" dist="12700" dir="5400000">
              <a:srgbClr val="0B1210">
                <a:alpha val="7000"/>
              </a:srgbClr>
            </a:outerShdw>
          </a:effectLst>
        </p:spPr>
      </p:sp>
      <p:sp>
        <p:nvSpPr>
          <p:cNvPr id="28" name="Shape 26"/>
          <p:cNvSpPr/>
          <p:nvPr/>
        </p:nvSpPr>
        <p:spPr>
          <a:xfrm>
            <a:off x="9203436" y="1815084"/>
            <a:ext cx="1929384" cy="4069080"/>
          </a:xfrm>
          <a:prstGeom prst="roundRect">
            <a:avLst>
              <a:gd name="adj" fmla="val 9479"/>
            </a:avLst>
          </a:prstGeom>
          <a:solidFill>
            <a:srgbClr val="F2F5F3"/>
          </a:solidFill>
          <a:ln/>
        </p:spPr>
      </p:sp>
      <p:sp>
        <p:nvSpPr>
          <p:cNvPr id="29" name="Text 27"/>
          <p:cNvSpPr/>
          <p:nvPr/>
        </p:nvSpPr>
        <p:spPr>
          <a:xfrm>
            <a:off x="9125712" y="3465576"/>
            <a:ext cx="2084832" cy="182880"/>
          </a:xfrm>
          <a:prstGeom prst="rect">
            <a:avLst/>
          </a:prstGeom>
          <a:noFill/>
          <a:ln/>
        </p:spPr>
        <p:txBody>
          <a:bodyPr wrap="square" lIns="0" tIns="0" rIns="0" bIns="0" rtlCol="0" anchor="ctr"/>
          <a:lstStyle/>
          <a:p>
            <a:pPr algn="ctr" indent="0" marL="0">
              <a:buNone/>
            </a:pPr>
            <a:r>
              <a:rPr lang="en-US" sz="750" b="1" spc="140" kern="0" dirty="0">
                <a:solidFill>
                  <a:srgbClr val="6C7C74"/>
                </a:solidFill>
                <a:latin typeface="Calibri" pitchFamily="34" charset="0"/>
                <a:ea typeface="Calibri" pitchFamily="34" charset="-122"/>
                <a:cs typeface="Calibri" pitchFamily="34" charset="-120"/>
              </a:rPr>
              <a:t>DROP SCREENSHOT</a:t>
            </a:r>
            <a:endParaRPr lang="en-US" sz="750" dirty="0"/>
          </a:p>
        </p:txBody>
      </p:sp>
      <p:sp>
        <p:nvSpPr>
          <p:cNvPr id="30" name="Text 28"/>
          <p:cNvSpPr/>
          <p:nvPr/>
        </p:nvSpPr>
        <p:spPr>
          <a:xfrm>
            <a:off x="9253728" y="3666744"/>
            <a:ext cx="1828800" cy="365760"/>
          </a:xfrm>
          <a:prstGeom prst="rect">
            <a:avLst/>
          </a:prstGeom>
          <a:noFill/>
          <a:ln/>
        </p:spPr>
        <p:txBody>
          <a:bodyPr wrap="square" lIns="0" tIns="0" rIns="0" bIns="0" rtlCol="0" anchor="ctr"/>
          <a:lstStyle/>
          <a:p>
            <a:pPr algn="ctr" indent="0" marL="0">
              <a:lnSpc>
                <a:spcPct val="105000"/>
              </a:lnSpc>
              <a:buNone/>
            </a:pPr>
            <a:r>
              <a:rPr lang="en-US" sz="1200" b="1" dirty="0">
                <a:solidFill>
                  <a:srgbClr val="0B1210"/>
                </a:solidFill>
                <a:latin typeface="Cambria" pitchFamily="34" charset="0"/>
                <a:ea typeface="Cambria" pitchFamily="34" charset="-122"/>
                <a:cs typeface="Cambria" pitchFamily="34" charset="-120"/>
              </a:rPr>
              <a:t>Score breakdown</a:t>
            </a:r>
            <a:endParaRPr lang="en-US" sz="1200" dirty="0"/>
          </a:p>
        </p:txBody>
      </p:sp>
      <p:sp>
        <p:nvSpPr>
          <p:cNvPr id="31" name="Text 29"/>
          <p:cNvSpPr/>
          <p:nvPr/>
        </p:nvSpPr>
        <p:spPr>
          <a:xfrm>
            <a:off x="9253728" y="4069080"/>
            <a:ext cx="1828800" cy="457200"/>
          </a:xfrm>
          <a:prstGeom prst="rect">
            <a:avLst/>
          </a:prstGeom>
          <a:noFill/>
          <a:ln/>
        </p:spPr>
        <p:txBody>
          <a:bodyPr wrap="square" lIns="0" tIns="0" rIns="0" bIns="0" rtlCol="0" anchor="ctr"/>
          <a:lstStyle/>
          <a:p>
            <a:pPr algn="ctr" indent="0" marL="0">
              <a:lnSpc>
                <a:spcPct val="115000"/>
              </a:lnSpc>
              <a:buNone/>
            </a:pPr>
            <a:r>
              <a:rPr lang="en-US" sz="950" dirty="0">
                <a:solidFill>
                  <a:srgbClr val="94A29B"/>
                </a:solidFill>
                <a:latin typeface="Calibri" pitchFamily="34" charset="0"/>
                <a:ea typeface="Calibri" pitchFamily="34" charset="-122"/>
                <a:cs typeface="Calibri" pitchFamily="34" charset="-120"/>
              </a:rPr>
              <a:t>Component arithmetic</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10"/>
        </a:solidFill>
      </p:bgPr>
    </p:bg>
    <p:spTree>
      <p:nvGrpSpPr>
        <p:cNvPr id="1" name=""/>
        <p:cNvGrpSpPr/>
        <p:nvPr/>
      </p:nvGrpSpPr>
      <p:grpSpPr>
        <a:xfrm>
          <a:off x="0" y="0"/>
          <a:ext cx="0" cy="0"/>
          <a:chOff x="0" y="0"/>
          <a:chExt cx="0" cy="0"/>
        </a:xfrm>
      </p:grpSpPr>
      <p:sp>
        <p:nvSpPr>
          <p:cNvPr id="2" name="Text 0"/>
          <p:cNvSpPr/>
          <p:nvPr/>
        </p:nvSpPr>
        <p:spPr>
          <a:xfrm>
            <a:off x="658368" y="1225296"/>
            <a:ext cx="2743200" cy="1645920"/>
          </a:xfrm>
          <a:prstGeom prst="rect">
            <a:avLst/>
          </a:prstGeom>
          <a:noFill/>
          <a:ln/>
        </p:spPr>
        <p:txBody>
          <a:bodyPr wrap="square" lIns="0" tIns="0" rIns="0" bIns="0" rtlCol="0" anchor="ctr"/>
          <a:lstStyle/>
          <a:p>
            <a:pPr indent="0" marL="0">
              <a:buNone/>
            </a:pPr>
            <a:r>
              <a:rPr lang="en-US" sz="10400" b="1" dirty="0">
                <a:solidFill>
                  <a:srgbClr val="1F2C26"/>
                </a:solidFill>
                <a:latin typeface="Cambria" pitchFamily="34" charset="0"/>
                <a:ea typeface="Cambria" pitchFamily="34" charset="-122"/>
                <a:cs typeface="Cambria" pitchFamily="34" charset="-120"/>
              </a:rPr>
              <a:t>04</a:t>
            </a:r>
            <a:endParaRPr lang="en-US" sz="10400" dirty="0"/>
          </a:p>
        </p:txBody>
      </p:sp>
      <p:sp>
        <p:nvSpPr>
          <p:cNvPr id="3" name="Text 1"/>
          <p:cNvSpPr/>
          <p:nvPr/>
        </p:nvSpPr>
        <p:spPr>
          <a:xfrm>
            <a:off x="658368" y="1097280"/>
            <a:ext cx="10872216" cy="201168"/>
          </a:xfrm>
          <a:prstGeom prst="rect">
            <a:avLst/>
          </a:prstGeom>
          <a:noFill/>
          <a:ln/>
        </p:spPr>
        <p:txBody>
          <a:bodyPr wrap="square" lIns="0" tIns="0" rIns="0" bIns="0" rtlCol="0" anchor="ctr"/>
          <a:lstStyle/>
          <a:p>
            <a:pPr indent="0" marL="0">
              <a:buNone/>
            </a:pPr>
            <a:r>
              <a:rPr lang="en-US" sz="950" b="1" spc="220" kern="0" dirty="0">
                <a:solidFill>
                  <a:srgbClr val="2ECC7F"/>
                </a:solidFill>
                <a:latin typeface="Calibri" pitchFamily="34" charset="0"/>
                <a:ea typeface="Calibri" pitchFamily="34" charset="-122"/>
                <a:cs typeface="Calibri" pitchFamily="34" charset="-120"/>
              </a:rPr>
              <a:t>SECTION 04</a:t>
            </a:r>
            <a:endParaRPr lang="en-US" sz="950" dirty="0"/>
          </a:p>
        </p:txBody>
      </p:sp>
      <p:sp>
        <p:nvSpPr>
          <p:cNvPr id="4" name="Text 2"/>
          <p:cNvSpPr/>
          <p:nvPr/>
        </p:nvSpPr>
        <p:spPr>
          <a:xfrm>
            <a:off x="658368" y="3163824"/>
            <a:ext cx="731520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math.</a:t>
            </a:r>
            <a:endParaRPr lang="en-US" sz="4400" dirty="0"/>
          </a:p>
        </p:txBody>
      </p:sp>
      <p:sp>
        <p:nvSpPr>
          <p:cNvPr id="5" name="Text 3"/>
          <p:cNvSpPr/>
          <p:nvPr/>
        </p:nvSpPr>
        <p:spPr>
          <a:xfrm>
            <a:off x="658368" y="4187952"/>
            <a:ext cx="6766560" cy="1005840"/>
          </a:xfrm>
          <a:prstGeom prst="rect">
            <a:avLst/>
          </a:prstGeom>
          <a:noFill/>
          <a:ln/>
        </p:spPr>
        <p:txBody>
          <a:bodyPr wrap="square" lIns="0" tIns="0" rIns="0" bIns="0" rtlCol="0" anchor="t"/>
          <a:lstStyle/>
          <a:p>
            <a:pPr indent="0" marL="0">
              <a:lnSpc>
                <a:spcPct val="125000"/>
              </a:lnSpc>
              <a:buNone/>
            </a:pPr>
            <a:r>
              <a:rPr lang="en-US" sz="1400" dirty="0">
                <a:solidFill>
                  <a:srgbClr val="9FADA6"/>
                </a:solidFill>
                <a:latin typeface="Calibri" pitchFamily="34" charset="0"/>
                <a:ea typeface="Calibri" pitchFamily="34" charset="-122"/>
                <a:cs typeface="Calibri" pitchFamily="34" charset="-120"/>
              </a:rPr>
              <a:t>Nothing is comparable until it is the same number. Three route types earn that number three different ways, one equation orders them, and three corrections stop the model from flattering risk.</a:t>
            </a:r>
            <a:endParaRPr lang="en-US" sz="1400" dirty="0"/>
          </a:p>
        </p:txBody>
      </p:sp>
      <p:sp>
        <p:nvSpPr>
          <p:cNvPr id="6" name="Text 4"/>
          <p:cNvSpPr/>
          <p:nvPr/>
        </p:nvSpPr>
        <p:spPr>
          <a:xfrm>
            <a:off x="8229600" y="1417320"/>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01</a:t>
            </a:r>
            <a:endParaRPr lang="en-US" sz="900" dirty="0"/>
          </a:p>
        </p:txBody>
      </p:sp>
      <p:sp>
        <p:nvSpPr>
          <p:cNvPr id="7" name="Text 5"/>
          <p:cNvSpPr/>
          <p:nvPr/>
        </p:nvSpPr>
        <p:spPr>
          <a:xfrm>
            <a:off x="8686800" y="1417320"/>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A common unit</a:t>
            </a:r>
            <a:endParaRPr lang="en-US" sz="1150" dirty="0"/>
          </a:p>
        </p:txBody>
      </p:sp>
      <p:sp>
        <p:nvSpPr>
          <p:cNvPr id="8" name="Text 6"/>
          <p:cNvSpPr/>
          <p:nvPr/>
        </p:nvSpPr>
        <p:spPr>
          <a:xfrm>
            <a:off x="8229600" y="1920240"/>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02</a:t>
            </a:r>
            <a:endParaRPr lang="en-US" sz="900" dirty="0"/>
          </a:p>
        </p:txBody>
      </p:sp>
      <p:sp>
        <p:nvSpPr>
          <p:cNvPr id="9" name="Text 7"/>
          <p:cNvSpPr/>
          <p:nvPr/>
        </p:nvSpPr>
        <p:spPr>
          <a:xfrm>
            <a:off x="8686800" y="1920240"/>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The volatility model</a:t>
            </a:r>
            <a:endParaRPr lang="en-US" sz="1150" dirty="0"/>
          </a:p>
        </p:txBody>
      </p:sp>
      <p:sp>
        <p:nvSpPr>
          <p:cNvPr id="10" name="Text 8"/>
          <p:cNvSpPr/>
          <p:nvPr/>
        </p:nvSpPr>
        <p:spPr>
          <a:xfrm>
            <a:off x="8229600" y="2423160"/>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03</a:t>
            </a:r>
            <a:endParaRPr lang="en-US" sz="900" dirty="0"/>
          </a:p>
        </p:txBody>
      </p:sp>
      <p:sp>
        <p:nvSpPr>
          <p:cNvPr id="11" name="Text 9"/>
          <p:cNvSpPr/>
          <p:nvPr/>
        </p:nvSpPr>
        <p:spPr>
          <a:xfrm>
            <a:off x="8686800" y="2423160"/>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Market consensus &amp; venue fees</a:t>
            </a:r>
            <a:endParaRPr lang="en-US" sz="1150" dirty="0"/>
          </a:p>
        </p:txBody>
      </p:sp>
      <p:sp>
        <p:nvSpPr>
          <p:cNvPr id="12" name="Text 10"/>
          <p:cNvSpPr/>
          <p:nvPr/>
        </p:nvSpPr>
        <p:spPr>
          <a:xfrm>
            <a:off x="8229600" y="2926080"/>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04</a:t>
            </a:r>
            <a:endParaRPr lang="en-US" sz="900" dirty="0"/>
          </a:p>
        </p:txBody>
      </p:sp>
      <p:sp>
        <p:nvSpPr>
          <p:cNvPr id="13" name="Text 11"/>
          <p:cNvSpPr/>
          <p:nvPr/>
        </p:nvSpPr>
        <p:spPr>
          <a:xfrm>
            <a:off x="8686800" y="2926080"/>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The score equation</a:t>
            </a:r>
            <a:endParaRPr lang="en-US" sz="1150" dirty="0"/>
          </a:p>
        </p:txBody>
      </p:sp>
      <p:sp>
        <p:nvSpPr>
          <p:cNvPr id="14" name="Text 12"/>
          <p:cNvSpPr/>
          <p:nvPr/>
        </p:nvSpPr>
        <p:spPr>
          <a:xfrm>
            <a:off x="8229600" y="3429000"/>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05</a:t>
            </a:r>
            <a:endParaRPr lang="en-US" sz="900" dirty="0"/>
          </a:p>
        </p:txBody>
      </p:sp>
      <p:sp>
        <p:nvSpPr>
          <p:cNvPr id="15" name="Text 13"/>
          <p:cNvSpPr/>
          <p:nvPr/>
        </p:nvSpPr>
        <p:spPr>
          <a:xfrm>
            <a:off x="8686800" y="3429000"/>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The three corrections</a:t>
            </a:r>
            <a:endParaRPr lang="en-US" sz="1150" dirty="0"/>
          </a:p>
        </p:txBody>
      </p:sp>
      <p:sp>
        <p:nvSpPr>
          <p:cNvPr id="16" name="Text 14"/>
          <p:cNvSpPr/>
          <p:nvPr/>
        </p:nvSpPr>
        <p:spPr>
          <a:xfrm>
            <a:off x="8229600" y="3931920"/>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06</a:t>
            </a:r>
            <a:endParaRPr lang="en-US" sz="900" dirty="0"/>
          </a:p>
        </p:txBody>
      </p:sp>
      <p:sp>
        <p:nvSpPr>
          <p:cNvPr id="17" name="Text 15"/>
          <p:cNvSpPr/>
          <p:nvPr/>
        </p:nvSpPr>
        <p:spPr>
          <a:xfrm>
            <a:off x="8686800" y="3931920"/>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A worked example</a:t>
            </a:r>
            <a:endParaRPr lang="en-US" sz="1150" dirty="0"/>
          </a:p>
        </p:txBody>
      </p:sp>
      <p:sp>
        <p:nvSpPr>
          <p:cNvPr id="18" name="Text 16"/>
          <p:cNvSpPr/>
          <p:nvPr/>
        </p:nvSpPr>
        <p:spPr>
          <a:xfrm>
            <a:off x="8229600" y="4434840"/>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07</a:t>
            </a:r>
            <a:endParaRPr lang="en-US" sz="900" dirty="0"/>
          </a:p>
        </p:txBody>
      </p:sp>
      <p:sp>
        <p:nvSpPr>
          <p:cNvPr id="19" name="Text 17"/>
          <p:cNvSpPr/>
          <p:nvPr/>
        </p:nvSpPr>
        <p:spPr>
          <a:xfrm>
            <a:off x="8686800" y="4434840"/>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What the model refuses to do</a:t>
            </a:r>
            <a:endParaRPr lang="en-US" sz="1150" dirty="0"/>
          </a:p>
        </p:txBody>
      </p:sp>
      <p:sp>
        <p:nvSpPr>
          <p:cNvPr id="20" name="Text 18"/>
          <p:cNvSpPr/>
          <p:nvPr/>
        </p:nvSpPr>
        <p:spPr>
          <a:xfrm>
            <a:off x="8229600" y="4937760"/>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08</a:t>
            </a:r>
            <a:endParaRPr lang="en-US" sz="900" dirty="0"/>
          </a:p>
        </p:txBody>
      </p:sp>
      <p:sp>
        <p:nvSpPr>
          <p:cNvPr id="21" name="Text 19"/>
          <p:cNvSpPr/>
          <p:nvPr/>
        </p:nvSpPr>
        <p:spPr>
          <a:xfrm>
            <a:off x="8686800" y="4937760"/>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The data layer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06</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04.01  ·  A COMMON UNIT</a:t>
            </a:r>
            <a:endParaRPr lang="en-US" sz="950" dirty="0"/>
          </a:p>
        </p:txBody>
      </p:sp>
      <p:sp>
        <p:nvSpPr>
          <p:cNvPr id="5" name="Text 3"/>
          <p:cNvSpPr/>
          <p:nvPr/>
        </p:nvSpPr>
        <p:spPr>
          <a:xfrm>
            <a:off x="658368" y="658368"/>
            <a:ext cx="10872216" cy="96012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One quantity makes a T-bill and a 92¢ contract</a:t>
            </a:r>
            <a:endParaRPr lang="en-US" sz="3000" dirty="0"/>
          </a:p>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comparable: P(hit this goal).</a:t>
            </a:r>
            <a:endParaRPr lang="en-US" sz="3000" dirty="0"/>
          </a:p>
        </p:txBody>
      </p:sp>
      <p:sp>
        <p:nvSpPr>
          <p:cNvPr id="6" name="Text 4"/>
          <p:cNvSpPr/>
          <p:nvPr/>
        </p:nvSpPr>
        <p:spPr>
          <a:xfrm>
            <a:off x="658368" y="1719072"/>
            <a:ext cx="10424160" cy="658368"/>
          </a:xfrm>
          <a:prstGeom prst="rect">
            <a:avLst/>
          </a:prstGeom>
          <a:noFill/>
          <a:ln/>
        </p:spPr>
        <p:txBody>
          <a:bodyPr wrap="square" lIns="0" tIns="0" rIns="0" bIns="0" rtlCol="0" anchor="t"/>
          <a:lstStyle/>
          <a:p>
            <a:pPr indent="0" marL="0">
              <a:lnSpc>
                <a:spcPct val="122000"/>
              </a:lnSpc>
              <a:buNone/>
            </a:pPr>
            <a:r>
              <a:rPr lang="en-US" sz="1300" dirty="0">
                <a:solidFill>
                  <a:srgbClr val="44534C"/>
                </a:solidFill>
                <a:latin typeface="Calibri" pitchFamily="34" charset="0"/>
                <a:ea typeface="Calibri" pitchFamily="34" charset="-122"/>
                <a:cs typeface="Calibri" pitchFamily="34" charset="-120"/>
              </a:rPr>
              <a:t>A Treasury bill, an index fund and a prediction contract have nothing in common until they are all expressed as the probability of clearing this user's target inside this user's deadline. Three route types earn that probability three different ways — and the product labels which one it used, every time.</a:t>
            </a:r>
            <a:endParaRPr lang="en-US" sz="1300" dirty="0"/>
          </a:p>
        </p:txBody>
      </p:sp>
      <p:sp>
        <p:nvSpPr>
          <p:cNvPr id="7" name="Shape 5"/>
          <p:cNvSpPr/>
          <p:nvPr/>
        </p:nvSpPr>
        <p:spPr>
          <a:xfrm>
            <a:off x="658368" y="2615184"/>
            <a:ext cx="10872216" cy="914400"/>
          </a:xfrm>
          <a:prstGeom prst="roundRect">
            <a:avLst>
              <a:gd name="adj" fmla="val 9000"/>
            </a:avLst>
          </a:prstGeom>
          <a:solidFill>
            <a:srgbClr val="FFFFFF"/>
          </a:solidFill>
          <a:ln w="9525">
            <a:solidFill>
              <a:srgbClr val="DCE3DF"/>
            </a:solidFill>
            <a:prstDash val="solid"/>
          </a:ln>
        </p:spPr>
      </p:sp>
      <p:sp>
        <p:nvSpPr>
          <p:cNvPr id="8" name="Shape 6"/>
          <p:cNvSpPr/>
          <p:nvPr/>
        </p:nvSpPr>
        <p:spPr>
          <a:xfrm>
            <a:off x="877824" y="2788920"/>
            <a:ext cx="1572768" cy="228600"/>
          </a:xfrm>
          <a:prstGeom prst="roundRect">
            <a:avLst>
              <a:gd name="adj" fmla="val 50000"/>
            </a:avLst>
          </a:prstGeom>
          <a:solidFill>
            <a:srgbClr val="E6F4EE"/>
          </a:solidFill>
          <a:ln/>
        </p:spPr>
      </p:sp>
      <p:sp>
        <p:nvSpPr>
          <p:cNvPr id="9" name="Text 7"/>
          <p:cNvSpPr/>
          <p:nvPr/>
        </p:nvSpPr>
        <p:spPr>
          <a:xfrm>
            <a:off x="877824" y="2788920"/>
            <a:ext cx="1572768" cy="228600"/>
          </a:xfrm>
          <a:prstGeom prst="rect">
            <a:avLst/>
          </a:prstGeom>
          <a:noFill/>
          <a:ln/>
        </p:spPr>
        <p:txBody>
          <a:bodyPr wrap="square" lIns="0" tIns="0" rIns="0" bIns="0" rtlCol="0" anchor="ctr"/>
          <a:lstStyle/>
          <a:p>
            <a:pPr algn="ctr" indent="0" marL="0">
              <a:buNone/>
            </a:pPr>
            <a:r>
              <a:rPr lang="en-US" sz="750" b="1" spc="130" kern="0" dirty="0">
                <a:solidFill>
                  <a:srgbClr val="0A5C3E"/>
                </a:solidFill>
                <a:latin typeface="Calibri" pitchFamily="34" charset="0"/>
                <a:ea typeface="Calibri" pitchFamily="34" charset="-122"/>
                <a:cs typeface="Calibri" pitchFamily="34" charset="-120"/>
              </a:rPr>
              <a:t>CONTRACTUAL YIELD</a:t>
            </a:r>
            <a:endParaRPr lang="en-US" sz="750" dirty="0"/>
          </a:p>
        </p:txBody>
      </p:sp>
      <p:sp>
        <p:nvSpPr>
          <p:cNvPr id="10" name="Text 8"/>
          <p:cNvSpPr/>
          <p:nvPr/>
        </p:nvSpPr>
        <p:spPr>
          <a:xfrm>
            <a:off x="877824" y="3145536"/>
            <a:ext cx="2834640" cy="237744"/>
          </a:xfrm>
          <a:prstGeom prst="rect">
            <a:avLst/>
          </a:prstGeom>
          <a:noFill/>
          <a:ln/>
        </p:spPr>
        <p:txBody>
          <a:bodyPr wrap="square" lIns="0" tIns="0" rIns="0" bIns="0" rtlCol="0" anchor="ctr"/>
          <a:lstStyle/>
          <a:p>
            <a:pPr algn="l" indent="0" marL="0">
              <a:buNone/>
            </a:pPr>
            <a:r>
              <a:rPr lang="en-US" sz="1200" b="1" dirty="0">
                <a:solidFill>
                  <a:srgbClr val="0B1210"/>
                </a:solidFill>
                <a:latin typeface="Cambria" pitchFamily="34" charset="0"/>
                <a:ea typeface="Cambria" pitchFamily="34" charset="-122"/>
                <a:cs typeface="Cambria" pitchFamily="34" charset="-120"/>
              </a:rPr>
              <a:t>Treasuries · HYSA · CDs</a:t>
            </a:r>
            <a:endParaRPr lang="en-US" sz="1200" dirty="0"/>
          </a:p>
        </p:txBody>
      </p:sp>
      <p:sp>
        <p:nvSpPr>
          <p:cNvPr id="11" name="Text 9"/>
          <p:cNvSpPr/>
          <p:nvPr/>
        </p:nvSpPr>
        <p:spPr>
          <a:xfrm>
            <a:off x="2670048" y="2761488"/>
            <a:ext cx="3200400" cy="621792"/>
          </a:xfrm>
          <a:prstGeom prst="rect">
            <a:avLst/>
          </a:prstGeom>
          <a:noFill/>
          <a:ln/>
        </p:spPr>
        <p:txBody>
          <a:bodyPr wrap="square" lIns="0" tIns="0" rIns="0" bIns="0" rtlCol="0" anchor="ctr"/>
          <a:lstStyle/>
          <a:p>
            <a:pPr algn="l" indent="0" marL="0">
              <a:lnSpc>
                <a:spcPct val="130000"/>
              </a:lnSpc>
              <a:buNone/>
            </a:pPr>
            <a:r>
              <a:rPr lang="en-US" sz="1150" dirty="0">
                <a:solidFill>
                  <a:srgbClr val="0A5C3E"/>
                </a:solidFill>
                <a:latin typeface="Courier New" pitchFamily="34" charset="0"/>
                <a:ea typeface="Courier New" pitchFamily="34" charset="-122"/>
                <a:cs typeface="Courier New" pitchFamily="34" charset="-120"/>
              </a:rPr>
              <a:t>P  ≈  1 − issuer / settlement risk</a:t>
            </a:r>
            <a:endParaRPr lang="en-US" sz="1150" dirty="0"/>
          </a:p>
        </p:txBody>
      </p:sp>
      <p:sp>
        <p:nvSpPr>
          <p:cNvPr id="12" name="Text 10"/>
          <p:cNvSpPr/>
          <p:nvPr/>
        </p:nvSpPr>
        <p:spPr>
          <a:xfrm>
            <a:off x="6144768" y="2752344"/>
            <a:ext cx="5120640" cy="640080"/>
          </a:xfrm>
          <a:prstGeom prst="rect">
            <a:avLst/>
          </a:prstGeom>
          <a:noFill/>
          <a:ln/>
        </p:spPr>
        <p:txBody>
          <a:bodyPr wrap="square" lIns="0" tIns="0" rIns="0" bIns="0" rtlCol="0" anchor="ctr"/>
          <a:lstStyle/>
          <a:p>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Not an estimate at all. Held to maturity the return is known in advance, so this is the only honest source of a 99%.</a:t>
            </a:r>
            <a:endParaRPr lang="en-US" sz="1050" dirty="0"/>
          </a:p>
        </p:txBody>
      </p:sp>
      <p:sp>
        <p:nvSpPr>
          <p:cNvPr id="13" name="Shape 11"/>
          <p:cNvSpPr/>
          <p:nvPr/>
        </p:nvSpPr>
        <p:spPr>
          <a:xfrm>
            <a:off x="658368" y="3675888"/>
            <a:ext cx="10872216" cy="914400"/>
          </a:xfrm>
          <a:prstGeom prst="roundRect">
            <a:avLst>
              <a:gd name="adj" fmla="val 9000"/>
            </a:avLst>
          </a:prstGeom>
          <a:solidFill>
            <a:srgbClr val="FFFFFF"/>
          </a:solidFill>
          <a:ln w="9525">
            <a:solidFill>
              <a:srgbClr val="DCE3DF"/>
            </a:solidFill>
            <a:prstDash val="solid"/>
          </a:ln>
        </p:spPr>
      </p:sp>
      <p:sp>
        <p:nvSpPr>
          <p:cNvPr id="14" name="Shape 12"/>
          <p:cNvSpPr/>
          <p:nvPr/>
        </p:nvSpPr>
        <p:spPr>
          <a:xfrm>
            <a:off x="877824" y="3849624"/>
            <a:ext cx="1572768" cy="228600"/>
          </a:xfrm>
          <a:prstGeom prst="roundRect">
            <a:avLst>
              <a:gd name="adj" fmla="val 50000"/>
            </a:avLst>
          </a:prstGeom>
          <a:solidFill>
            <a:srgbClr val="F2F5F3"/>
          </a:solidFill>
          <a:ln/>
        </p:spPr>
      </p:sp>
      <p:sp>
        <p:nvSpPr>
          <p:cNvPr id="15" name="Text 13"/>
          <p:cNvSpPr/>
          <p:nvPr/>
        </p:nvSpPr>
        <p:spPr>
          <a:xfrm>
            <a:off x="877824" y="3849624"/>
            <a:ext cx="1572768" cy="228600"/>
          </a:xfrm>
          <a:prstGeom prst="rect">
            <a:avLst/>
          </a:prstGeom>
          <a:noFill/>
          <a:ln/>
        </p:spPr>
        <p:txBody>
          <a:bodyPr wrap="square" lIns="0" tIns="0" rIns="0" bIns="0" rtlCol="0" anchor="ctr"/>
          <a:lstStyle/>
          <a:p>
            <a:pPr algn="ctr" indent="0" marL="0">
              <a:buNone/>
            </a:pPr>
            <a:r>
              <a:rPr lang="en-US" sz="750" b="1" spc="130" kern="0" dirty="0">
                <a:solidFill>
                  <a:srgbClr val="0B1210"/>
                </a:solidFill>
                <a:latin typeface="Calibri" pitchFamily="34" charset="0"/>
                <a:ea typeface="Calibri" pitchFamily="34" charset="-122"/>
                <a:cs typeface="Calibri" pitchFamily="34" charset="-120"/>
              </a:rPr>
              <a:t>MARKET CONSENSUS</a:t>
            </a:r>
            <a:endParaRPr lang="en-US" sz="750" dirty="0"/>
          </a:p>
        </p:txBody>
      </p:sp>
      <p:sp>
        <p:nvSpPr>
          <p:cNvPr id="16" name="Text 14"/>
          <p:cNvSpPr/>
          <p:nvPr/>
        </p:nvSpPr>
        <p:spPr>
          <a:xfrm>
            <a:off x="877824" y="4206240"/>
            <a:ext cx="2834640" cy="237744"/>
          </a:xfrm>
          <a:prstGeom prst="rect">
            <a:avLst/>
          </a:prstGeom>
          <a:noFill/>
          <a:ln/>
        </p:spPr>
        <p:txBody>
          <a:bodyPr wrap="square" lIns="0" tIns="0" rIns="0" bIns="0" rtlCol="0" anchor="ctr"/>
          <a:lstStyle/>
          <a:p>
            <a:pPr algn="l" indent="0" marL="0">
              <a:buNone/>
            </a:pPr>
            <a:r>
              <a:rPr lang="en-US" sz="1200" b="1" dirty="0">
                <a:solidFill>
                  <a:srgbClr val="0B1210"/>
                </a:solidFill>
                <a:latin typeface="Cambria" pitchFamily="34" charset="0"/>
                <a:ea typeface="Cambria" pitchFamily="34" charset="-122"/>
                <a:cs typeface="Cambria" pitchFamily="34" charset="-120"/>
              </a:rPr>
              <a:t>Polymarket · Kalshi · sportsbook lines</a:t>
            </a:r>
            <a:endParaRPr lang="en-US" sz="1200" dirty="0"/>
          </a:p>
        </p:txBody>
      </p:sp>
      <p:sp>
        <p:nvSpPr>
          <p:cNvPr id="17" name="Text 15"/>
          <p:cNvSpPr/>
          <p:nvPr/>
        </p:nvSpPr>
        <p:spPr>
          <a:xfrm>
            <a:off x="2670048" y="3822192"/>
            <a:ext cx="3200400" cy="621792"/>
          </a:xfrm>
          <a:prstGeom prst="rect">
            <a:avLst/>
          </a:prstGeom>
          <a:noFill/>
          <a:ln/>
        </p:spPr>
        <p:txBody>
          <a:bodyPr wrap="square" lIns="0" tIns="0" rIns="0" bIns="0" rtlCol="0" anchor="ctr"/>
          <a:lstStyle/>
          <a:p>
            <a:pPr algn="l" indent="0" marL="0">
              <a:lnSpc>
                <a:spcPct val="130000"/>
              </a:lnSpc>
              <a:buNone/>
            </a:pPr>
            <a:r>
              <a:rPr lang="en-US" sz="1150" dirty="0">
                <a:solidFill>
                  <a:srgbClr val="0A5C3E"/>
                </a:solidFill>
                <a:latin typeface="Courier New" pitchFamily="34" charset="0"/>
                <a:ea typeface="Courier New" pitchFamily="34" charset="-122"/>
                <a:cs typeface="Courier New" pitchFamily="34" charset="-120"/>
              </a:rPr>
              <a:t>p  =  pᵢ  /  Σp</a:t>
            </a:r>
            <a:endParaRPr lang="en-US" sz="1150" dirty="0"/>
          </a:p>
        </p:txBody>
      </p:sp>
      <p:sp>
        <p:nvSpPr>
          <p:cNvPr id="18" name="Text 16"/>
          <p:cNvSpPr/>
          <p:nvPr/>
        </p:nvSpPr>
        <p:spPr>
          <a:xfrm>
            <a:off x="6144768" y="3813048"/>
            <a:ext cx="5120640" cy="640080"/>
          </a:xfrm>
          <a:prstGeom prst="rect">
            <a:avLst/>
          </a:prstGeom>
          <a:noFill/>
          <a:ln/>
        </p:spPr>
        <p:txBody>
          <a:bodyPr wrap="square" lIns="0" tIns="0" rIns="0" bIns="0" rtlCol="0" anchor="ctr"/>
          <a:lstStyle/>
          <a:p>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The market's own price with the house margin stripped back out. It is the crowd's number, not ours — and it updates continuously.</a:t>
            </a:r>
            <a:endParaRPr lang="en-US" sz="1050" dirty="0"/>
          </a:p>
        </p:txBody>
      </p:sp>
      <p:sp>
        <p:nvSpPr>
          <p:cNvPr id="19" name="Shape 17"/>
          <p:cNvSpPr/>
          <p:nvPr/>
        </p:nvSpPr>
        <p:spPr>
          <a:xfrm>
            <a:off x="658368" y="4736592"/>
            <a:ext cx="10872216" cy="914400"/>
          </a:xfrm>
          <a:prstGeom prst="roundRect">
            <a:avLst>
              <a:gd name="adj" fmla="val 9000"/>
            </a:avLst>
          </a:prstGeom>
          <a:solidFill>
            <a:srgbClr val="FFFFFF"/>
          </a:solidFill>
          <a:ln w="9525">
            <a:solidFill>
              <a:srgbClr val="DCE3DF"/>
            </a:solidFill>
            <a:prstDash val="solid"/>
          </a:ln>
        </p:spPr>
      </p:sp>
      <p:sp>
        <p:nvSpPr>
          <p:cNvPr id="20" name="Shape 18"/>
          <p:cNvSpPr/>
          <p:nvPr/>
        </p:nvSpPr>
        <p:spPr>
          <a:xfrm>
            <a:off x="877824" y="4910328"/>
            <a:ext cx="1572768" cy="228600"/>
          </a:xfrm>
          <a:prstGeom prst="roundRect">
            <a:avLst>
              <a:gd name="adj" fmla="val 50000"/>
            </a:avLst>
          </a:prstGeom>
          <a:solidFill>
            <a:srgbClr val="FAF1DF"/>
          </a:solidFill>
          <a:ln/>
        </p:spPr>
      </p:sp>
      <p:sp>
        <p:nvSpPr>
          <p:cNvPr id="21" name="Text 19"/>
          <p:cNvSpPr/>
          <p:nvPr/>
        </p:nvSpPr>
        <p:spPr>
          <a:xfrm>
            <a:off x="877824" y="4910328"/>
            <a:ext cx="1572768" cy="228600"/>
          </a:xfrm>
          <a:prstGeom prst="rect">
            <a:avLst/>
          </a:prstGeom>
          <a:noFill/>
          <a:ln/>
        </p:spPr>
        <p:txBody>
          <a:bodyPr wrap="square" lIns="0" tIns="0" rIns="0" bIns="0" rtlCol="0" anchor="ctr"/>
          <a:lstStyle/>
          <a:p>
            <a:pPr algn="ctr" indent="0" marL="0">
              <a:buNone/>
            </a:pPr>
            <a:r>
              <a:rPr lang="en-US" sz="750" b="1" spc="130" kern="0" dirty="0">
                <a:solidFill>
                  <a:srgbClr val="94600A"/>
                </a:solidFill>
                <a:latin typeface="Calibri" pitchFamily="34" charset="0"/>
                <a:ea typeface="Calibri" pitchFamily="34" charset="-122"/>
                <a:cs typeface="Calibri" pitchFamily="34" charset="-120"/>
              </a:rPr>
              <a:t>VOLATILITY MODEL</a:t>
            </a:r>
            <a:endParaRPr lang="en-US" sz="750" dirty="0"/>
          </a:p>
        </p:txBody>
      </p:sp>
      <p:sp>
        <p:nvSpPr>
          <p:cNvPr id="22" name="Text 20"/>
          <p:cNvSpPr/>
          <p:nvPr/>
        </p:nvSpPr>
        <p:spPr>
          <a:xfrm>
            <a:off x="877824" y="5266944"/>
            <a:ext cx="2834640" cy="237744"/>
          </a:xfrm>
          <a:prstGeom prst="rect">
            <a:avLst/>
          </a:prstGeom>
          <a:noFill/>
          <a:ln/>
        </p:spPr>
        <p:txBody>
          <a:bodyPr wrap="square" lIns="0" tIns="0" rIns="0" bIns="0" rtlCol="0" anchor="ctr"/>
          <a:lstStyle/>
          <a:p>
            <a:pPr algn="l" indent="0" marL="0">
              <a:buNone/>
            </a:pPr>
            <a:r>
              <a:rPr lang="en-US" sz="1200" b="1" dirty="0">
                <a:solidFill>
                  <a:srgbClr val="0B1210"/>
                </a:solidFill>
                <a:latin typeface="Cambria" pitchFamily="34" charset="0"/>
                <a:ea typeface="Cambria" pitchFamily="34" charset="-122"/>
                <a:cs typeface="Cambria" pitchFamily="34" charset="-120"/>
              </a:rPr>
              <a:t>Stocks · ETFs</a:t>
            </a:r>
            <a:endParaRPr lang="en-US" sz="1200" dirty="0"/>
          </a:p>
        </p:txBody>
      </p:sp>
      <p:sp>
        <p:nvSpPr>
          <p:cNvPr id="23" name="Text 21"/>
          <p:cNvSpPr/>
          <p:nvPr/>
        </p:nvSpPr>
        <p:spPr>
          <a:xfrm>
            <a:off x="2670048" y="4882896"/>
            <a:ext cx="3200400" cy="621792"/>
          </a:xfrm>
          <a:prstGeom prst="rect">
            <a:avLst/>
          </a:prstGeom>
          <a:noFill/>
          <a:ln/>
        </p:spPr>
        <p:txBody>
          <a:bodyPr wrap="square" lIns="0" tIns="0" rIns="0" bIns="0" rtlCol="0" anchor="ctr"/>
          <a:lstStyle/>
          <a:p>
            <a:pPr algn="l" indent="0" marL="0">
              <a:lnSpc>
                <a:spcPct val="130000"/>
              </a:lnSpc>
              <a:buNone/>
            </a:pPr>
            <a:r>
              <a:rPr lang="en-US" sz="1150" dirty="0">
                <a:solidFill>
                  <a:srgbClr val="94600A"/>
                </a:solidFill>
                <a:latin typeface="Courier New" pitchFamily="34" charset="0"/>
                <a:ea typeface="Courier New" pitchFamily="34" charset="-122"/>
                <a:cs typeface="Courier New" pitchFamily="34" charset="-120"/>
              </a:rPr>
              <a:t>P = 1 − Φ( [ln(1+t) − μT] / σ√T )</a:t>
            </a:r>
            <a:endParaRPr lang="en-US" sz="1150" dirty="0"/>
          </a:p>
        </p:txBody>
      </p:sp>
      <p:sp>
        <p:nvSpPr>
          <p:cNvPr id="24" name="Text 22"/>
          <p:cNvSpPr/>
          <p:nvPr/>
        </p:nvSpPr>
        <p:spPr>
          <a:xfrm>
            <a:off x="6144768" y="4873752"/>
            <a:ext cx="5120640" cy="640080"/>
          </a:xfrm>
          <a:prstGeom prst="rect">
            <a:avLst/>
          </a:prstGeom>
          <a:noFill/>
          <a:ln/>
        </p:spPr>
        <p:txBody>
          <a:bodyPr wrap="square" lIns="0" tIns="0" rIns="0" bIns="0" rtlCol="0" anchor="ctr"/>
          <a:lstStyle/>
          <a:p>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The chance the price moves far enough, fast enough, to clear the target. The only one of the three that is our model — and it is labelled as such.</a:t>
            </a:r>
            <a:endParaRPr lang="en-US" sz="1050" dirty="0"/>
          </a:p>
        </p:txBody>
      </p:sp>
      <p:sp>
        <p:nvSpPr>
          <p:cNvPr id="25" name="Text 23"/>
          <p:cNvSpPr/>
          <p:nvPr/>
        </p:nvSpPr>
        <p:spPr>
          <a:xfrm>
            <a:off x="658368" y="5870448"/>
            <a:ext cx="10872216" cy="420624"/>
          </a:xfrm>
          <a:prstGeom prst="rect">
            <a:avLst/>
          </a:prstGeom>
          <a:noFill/>
          <a:ln/>
        </p:spPr>
        <p:txBody>
          <a:bodyPr wrap="square" lIns="0" tIns="0" rIns="0" bIns="0" rtlCol="0" anchor="t"/>
          <a:lstStyle/>
          <a:p>
            <a:pPr indent="0" marL="0">
              <a:lnSpc>
                <a:spcPct val="118000"/>
              </a:lnSpc>
              <a:buNone/>
            </a:pPr>
            <a:r>
              <a:rPr lang="en-US" sz="1050" dirty="0">
                <a:solidFill>
                  <a:srgbClr val="44534C"/>
                </a:solidFill>
                <a:latin typeface="Calibri" pitchFamily="34" charset="0"/>
                <a:ea typeface="Calibri" pitchFamily="34" charset="-122"/>
                <a:cs typeface="Calibri" pitchFamily="34" charset="-120"/>
              </a:rPr>
              <a:t>Three methods, three badges in the product, three separate sets of caveats. Passing a model estimate off as a market truth is the one mistake that would invert the honesty wedge into a liability — so the code cannot do it.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07</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04.02  ·  THE VOLATILITY MODEL</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The model that could flatter us the most</a:t>
            </a:r>
            <a:endParaRPr lang="en-US" sz="3000" dirty="0"/>
          </a:p>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is the one we cap the hardest.</a:t>
            </a:r>
            <a:endParaRPr lang="en-US" sz="3000" dirty="0"/>
          </a:p>
        </p:txBody>
      </p:sp>
      <p:sp>
        <p:nvSpPr>
          <p:cNvPr id="6" name="Shape 4"/>
          <p:cNvSpPr/>
          <p:nvPr/>
        </p:nvSpPr>
        <p:spPr>
          <a:xfrm>
            <a:off x="658368" y="1773936"/>
            <a:ext cx="5029200" cy="713232"/>
          </a:xfrm>
          <a:prstGeom prst="roundRect">
            <a:avLst>
              <a:gd name="adj" fmla="val 11538"/>
            </a:avLst>
          </a:prstGeom>
          <a:solidFill>
            <a:srgbClr val="0B1210"/>
          </a:solidFill>
          <a:ln/>
        </p:spPr>
      </p:sp>
      <p:sp>
        <p:nvSpPr>
          <p:cNvPr id="7" name="Text 5"/>
          <p:cNvSpPr/>
          <p:nvPr/>
        </p:nvSpPr>
        <p:spPr>
          <a:xfrm>
            <a:off x="841248" y="1773936"/>
            <a:ext cx="4663440" cy="713232"/>
          </a:xfrm>
          <a:prstGeom prst="rect">
            <a:avLst/>
          </a:prstGeom>
          <a:noFill/>
          <a:ln/>
        </p:spPr>
        <p:txBody>
          <a:bodyPr wrap="square" lIns="0" tIns="0" rIns="0" bIns="0" rtlCol="0" anchor="ctr"/>
          <a:lstStyle/>
          <a:p>
            <a:pPr algn="ctr" indent="0" marL="0">
              <a:lnSpc>
                <a:spcPct val="130000"/>
              </a:lnSpc>
              <a:buNone/>
            </a:pPr>
            <a:r>
              <a:rPr lang="en-US" sz="1300" dirty="0">
                <a:solidFill>
                  <a:srgbClr val="9CE6C0"/>
                </a:solidFill>
                <a:latin typeface="Courier New" pitchFamily="34" charset="0"/>
                <a:ea typeface="Courier New" pitchFamily="34" charset="-122"/>
                <a:cs typeface="Courier New" pitchFamily="34" charset="-120"/>
              </a:rPr>
              <a:t>P  =  1 − Φ( [ ln(1+t) − μT ] / σ√T )</a:t>
            </a:r>
            <a:endParaRPr lang="en-US" sz="1300" dirty="0"/>
          </a:p>
        </p:txBody>
      </p:sp>
      <p:sp>
        <p:nvSpPr>
          <p:cNvPr id="8" name="Text 6"/>
          <p:cNvSpPr/>
          <p:nvPr/>
        </p:nvSpPr>
        <p:spPr>
          <a:xfrm>
            <a:off x="658368" y="2743200"/>
            <a:ext cx="548640" cy="237744"/>
          </a:xfrm>
          <a:prstGeom prst="rect">
            <a:avLst/>
          </a:prstGeom>
          <a:noFill/>
          <a:ln/>
        </p:spPr>
        <p:txBody>
          <a:bodyPr wrap="square" lIns="0" tIns="0" rIns="0" bIns="0" rtlCol="0" anchor="ctr"/>
          <a:lstStyle/>
          <a:p>
            <a:pPr algn="l" indent="0" marL="0">
              <a:lnSpc>
                <a:spcPct val="130000"/>
              </a:lnSpc>
              <a:buNone/>
            </a:pPr>
            <a:r>
              <a:rPr lang="en-US" sz="1300" b="1" dirty="0">
                <a:solidFill>
                  <a:srgbClr val="12855A"/>
                </a:solidFill>
                <a:latin typeface="Courier New" pitchFamily="34" charset="0"/>
                <a:ea typeface="Courier New" pitchFamily="34" charset="-122"/>
                <a:cs typeface="Courier New" pitchFamily="34" charset="-120"/>
              </a:rPr>
              <a:t>σ</a:t>
            </a:r>
            <a:endParaRPr lang="en-US" sz="1300" dirty="0"/>
          </a:p>
        </p:txBody>
      </p:sp>
      <p:sp>
        <p:nvSpPr>
          <p:cNvPr id="9" name="Text 7"/>
          <p:cNvSpPr/>
          <p:nvPr/>
        </p:nvSpPr>
        <p:spPr>
          <a:xfrm>
            <a:off x="1261872" y="2724912"/>
            <a:ext cx="4434840" cy="786384"/>
          </a:xfrm>
          <a:prstGeom prst="rect">
            <a:avLst/>
          </a:prstGeom>
          <a:noFill/>
          <a:ln/>
        </p:spPr>
        <p:txBody>
          <a:bodyPr wrap="square" lIns="0" tIns="0" rIns="0" bIns="0" rtlCol="0" anchor="t"/>
          <a:lstStyle/>
          <a:p>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Standard deviation of the last 90 daily log returns. Fewer than 10 closes and the route is dropped, not estimated.</a:t>
            </a:r>
            <a:endParaRPr lang="en-US" sz="1050" dirty="0"/>
          </a:p>
        </p:txBody>
      </p:sp>
      <p:sp>
        <p:nvSpPr>
          <p:cNvPr id="10" name="Text 8"/>
          <p:cNvSpPr/>
          <p:nvPr/>
        </p:nvSpPr>
        <p:spPr>
          <a:xfrm>
            <a:off x="658368" y="3602736"/>
            <a:ext cx="548640" cy="237744"/>
          </a:xfrm>
          <a:prstGeom prst="rect">
            <a:avLst/>
          </a:prstGeom>
          <a:noFill/>
          <a:ln/>
        </p:spPr>
        <p:txBody>
          <a:bodyPr wrap="square" lIns="0" tIns="0" rIns="0" bIns="0" rtlCol="0" anchor="ctr"/>
          <a:lstStyle/>
          <a:p>
            <a:pPr algn="l" indent="0" marL="0">
              <a:lnSpc>
                <a:spcPct val="130000"/>
              </a:lnSpc>
              <a:buNone/>
            </a:pPr>
            <a:r>
              <a:rPr lang="en-US" sz="1300" b="1" dirty="0">
                <a:solidFill>
                  <a:srgbClr val="12855A"/>
                </a:solidFill>
                <a:latin typeface="Courier New" pitchFamily="34" charset="0"/>
                <a:ea typeface="Courier New" pitchFamily="34" charset="-122"/>
                <a:cs typeface="Courier New" pitchFamily="34" charset="-120"/>
              </a:rPr>
              <a:t>μ</a:t>
            </a:r>
            <a:endParaRPr lang="en-US" sz="1300" dirty="0"/>
          </a:p>
        </p:txBody>
      </p:sp>
      <p:sp>
        <p:nvSpPr>
          <p:cNvPr id="11" name="Text 9"/>
          <p:cNvSpPr/>
          <p:nvPr/>
        </p:nvSpPr>
        <p:spPr>
          <a:xfrm>
            <a:off x="1261872" y="3584448"/>
            <a:ext cx="4434840" cy="786384"/>
          </a:xfrm>
          <a:prstGeom prst="rect">
            <a:avLst/>
          </a:prstGeom>
          <a:noFill/>
          <a:ln/>
        </p:spPr>
        <p:txBody>
          <a:bodyPr wrap="square" lIns="0" tIns="0" rIns="0" bIns="0" rtlCol="0" anchor="t"/>
          <a:lstStyle/>
          <a:p>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The fund's own long-run trend, hard-capped at 8%/yr. A bond fund is credited less than an equity fund, automatically.</a:t>
            </a:r>
            <a:endParaRPr lang="en-US" sz="1050" dirty="0"/>
          </a:p>
        </p:txBody>
      </p:sp>
      <p:sp>
        <p:nvSpPr>
          <p:cNvPr id="12" name="Text 10"/>
          <p:cNvSpPr/>
          <p:nvPr/>
        </p:nvSpPr>
        <p:spPr>
          <a:xfrm>
            <a:off x="658368" y="4462272"/>
            <a:ext cx="548640" cy="237744"/>
          </a:xfrm>
          <a:prstGeom prst="rect">
            <a:avLst/>
          </a:prstGeom>
          <a:noFill/>
          <a:ln/>
        </p:spPr>
        <p:txBody>
          <a:bodyPr wrap="square" lIns="0" tIns="0" rIns="0" bIns="0" rtlCol="0" anchor="ctr"/>
          <a:lstStyle/>
          <a:p>
            <a:pPr algn="l" indent="0" marL="0">
              <a:lnSpc>
                <a:spcPct val="130000"/>
              </a:lnSpc>
              <a:buNone/>
            </a:pPr>
            <a:r>
              <a:rPr lang="en-US" sz="1300" b="1" dirty="0">
                <a:solidFill>
                  <a:srgbClr val="12855A"/>
                </a:solidFill>
                <a:latin typeface="Courier New" pitchFamily="34" charset="0"/>
                <a:ea typeface="Courier New" pitchFamily="34" charset="-122"/>
                <a:cs typeface="Courier New" pitchFamily="34" charset="-120"/>
              </a:rPr>
              <a:t>t, T</a:t>
            </a:r>
            <a:endParaRPr lang="en-US" sz="1300" dirty="0"/>
          </a:p>
        </p:txBody>
      </p:sp>
      <p:sp>
        <p:nvSpPr>
          <p:cNvPr id="13" name="Text 11"/>
          <p:cNvSpPr/>
          <p:nvPr/>
        </p:nvSpPr>
        <p:spPr>
          <a:xfrm>
            <a:off x="1261872" y="4443984"/>
            <a:ext cx="4434840" cy="786384"/>
          </a:xfrm>
          <a:prstGeom prst="rect">
            <a:avLst/>
          </a:prstGeom>
          <a:noFill/>
          <a:ln/>
        </p:spPr>
        <p:txBody>
          <a:bodyPr wrap="square" lIns="0" tIns="0" rIns="0" bIns="0" rtlCol="0" anchor="t"/>
          <a:lstStyle/>
          <a:p>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The user's own target return and horizon in trading days — not a generic "annual return".</a:t>
            </a:r>
            <a:endParaRPr lang="en-US" sz="1050" dirty="0"/>
          </a:p>
        </p:txBody>
      </p:sp>
      <p:graphicFrame>
        <p:nvGraphicFramePr>
          <p:cNvPr id="14" name="Chart 0" descr=""/>
          <p:cNvGraphicFramePr/>
          <p:nvPr/>
        </p:nvGraphicFramePr>
        <p:xfrm>
          <a:off x="5943600" y="1627632"/>
          <a:ext cx="5623560" cy="370332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5943600" y="5440680"/>
            <a:ext cx="5623560" cy="658368"/>
          </a:xfrm>
          <a:prstGeom prst="roundRect">
            <a:avLst>
              <a:gd name="adj" fmla="val 12500"/>
            </a:avLst>
          </a:prstGeom>
          <a:solidFill>
            <a:srgbClr val="F2F5F3"/>
          </a:solidFill>
          <a:ln/>
        </p:spPr>
      </p:sp>
      <p:sp>
        <p:nvSpPr>
          <p:cNvPr id="16" name="Text 13"/>
          <p:cNvSpPr/>
          <p:nvPr/>
        </p:nvSpPr>
        <p:spPr>
          <a:xfrm>
            <a:off x="6126480" y="5532120"/>
            <a:ext cx="5257800" cy="512064"/>
          </a:xfrm>
          <a:prstGeom prst="rect">
            <a:avLst/>
          </a:prstGeom>
          <a:noFill/>
          <a:ln/>
        </p:spPr>
        <p:txBody>
          <a:bodyPr wrap="square" lIns="0" tIns="0" rIns="0" bIns="0" rtlCol="0" anchor="t"/>
          <a:lstStyle/>
          <a:p>
            <a:pPr algn="l" indent="0" marL="0">
              <a:lnSpc>
                <a:spcPct val="120000"/>
              </a:lnSpc>
              <a:buNone/>
            </a:pPr>
            <a:r>
              <a:rPr lang="en-US" sz="1000" b="1" dirty="0">
                <a:solidFill>
                  <a:srgbClr val="0B1210"/>
                </a:solidFill>
                <a:latin typeface="Calibri" pitchFamily="34" charset="0"/>
                <a:ea typeface="Calibri" pitchFamily="34" charset="-122"/>
                <a:cs typeface="Calibri" pitchFamily="34" charset="-120"/>
              </a:rPr>
              <a:t>Read the middle line. </a:t>
            </a:r>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A broad-market ETF has roughly a 50% chance of a +2% quarter and about 18% of a +8% one. The curve falls away fast, and it is supposed to.</a:t>
            </a:r>
            <a:endParaRPr lang="en-US" sz="1000" dirty="0"/>
          </a:p>
        </p:txBody>
      </p:sp>
      <p:sp>
        <p:nvSpPr>
          <p:cNvPr id="17" name="Text 14"/>
          <p:cNvSpPr/>
          <p:nvPr/>
        </p:nvSpPr>
        <p:spPr>
          <a:xfrm>
            <a:off x="658368" y="5504688"/>
            <a:ext cx="5120640" cy="329184"/>
          </a:xfrm>
          <a:prstGeom prst="rect">
            <a:avLst/>
          </a:prstGeom>
          <a:noFill/>
          <a:ln/>
        </p:spPr>
        <p:txBody>
          <a:bodyPr wrap="square" lIns="0" tIns="0" rIns="0" bIns="0" rtlCol="0" anchor="t"/>
          <a:lstStyle/>
          <a:p>
            <a:pPr indent="0" marL="0">
              <a:lnSpc>
                <a:spcPct val="115000"/>
              </a:lnSpc>
              <a:buNone/>
            </a:pPr>
            <a:r>
              <a:rPr lang="en-US" sz="950" dirty="0">
                <a:solidFill>
                  <a:srgbClr val="94A29B"/>
                </a:solidFill>
                <a:latin typeface="Calibri" pitchFamily="34" charset="0"/>
                <a:ea typeface="Calibri" pitchFamily="34" charset="-122"/>
                <a:cs typeface="Calibri" pitchFamily="34" charset="-120"/>
              </a:rPr>
              <a:t>σ = 0.3% / 0.8% / 2.5% daily are illustrative regimes; the shipped function reads each fund's own 90 closes. Assumed return fixed at the 8%/yr cap for all three lines. Normal-tail assumption understates rare crashes and sharp rallies — that caveat ships in the app.</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08</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04.03  ·  MARKET CONSENSUS &amp; VENUE COST</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Two things stand between a quoted price</a:t>
            </a:r>
            <a:endParaRPr lang="en-US" sz="3000" dirty="0"/>
          </a:p>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and a true probability.</a:t>
            </a:r>
            <a:endParaRPr lang="en-US" sz="3000" dirty="0"/>
          </a:p>
        </p:txBody>
      </p:sp>
      <p:sp>
        <p:nvSpPr>
          <p:cNvPr id="6" name="Text 4"/>
          <p:cNvSpPr/>
          <p:nvPr/>
        </p:nvSpPr>
        <p:spPr>
          <a:xfrm>
            <a:off x="658368" y="1700784"/>
            <a:ext cx="4937760" cy="256032"/>
          </a:xfrm>
          <a:prstGeom prst="rect">
            <a:avLst/>
          </a:prstGeom>
          <a:noFill/>
          <a:ln/>
        </p:spPr>
        <p:txBody>
          <a:bodyPr wrap="square" lIns="0" tIns="0" rIns="0" bIns="0" rtlCol="0" anchor="ctr"/>
          <a:lstStyle/>
          <a:p>
            <a:pPr algn="l" indent="0" marL="0">
              <a:buNone/>
            </a:pPr>
            <a:r>
              <a:rPr lang="en-US" sz="1300" b="1" dirty="0">
                <a:solidFill>
                  <a:srgbClr val="0B1210"/>
                </a:solidFill>
                <a:latin typeface="Cambria" pitchFamily="34" charset="0"/>
                <a:ea typeface="Cambria" pitchFamily="34" charset="-122"/>
                <a:cs typeface="Cambria" pitchFamily="34" charset="-120"/>
              </a:rPr>
              <a:t>1 · Remove the house margin</a:t>
            </a:r>
            <a:endParaRPr lang="en-US" sz="1300" dirty="0"/>
          </a:p>
        </p:txBody>
      </p:sp>
      <p:sp>
        <p:nvSpPr>
          <p:cNvPr id="7" name="Text 5"/>
          <p:cNvSpPr/>
          <p:nvPr/>
        </p:nvSpPr>
        <p:spPr>
          <a:xfrm>
            <a:off x="658368" y="1975104"/>
            <a:ext cx="4937760" cy="310896"/>
          </a:xfrm>
          <a:prstGeom prst="rect">
            <a:avLst/>
          </a:prstGeom>
          <a:noFill/>
          <a:ln/>
        </p:spPr>
        <p:txBody>
          <a:bodyPr wrap="square" lIns="0" tIns="0" rIns="0" bIns="0" rtlCol="0" anchor="t"/>
          <a:lstStyle/>
          <a:p>
            <a:pPr algn="l" indent="0" marL="0">
              <a:lnSpc>
                <a:spcPct val="120000"/>
              </a:lnSpc>
              <a:buNone/>
            </a:pPr>
            <a:r>
              <a:rPr lang="en-US" sz="1050" dirty="0">
                <a:solidFill>
                  <a:srgbClr val="6C7C74"/>
                </a:solidFill>
                <a:latin typeface="Calibri" pitchFamily="34" charset="0"/>
                <a:ea typeface="Calibri" pitchFamily="34" charset="-122"/>
                <a:cs typeface="Calibri" pitchFamily="34" charset="-120"/>
              </a:rPr>
              <a:t>A pair of prices that sums to more than 100% is the book's profit, not a probability.</a:t>
            </a:r>
            <a:endParaRPr lang="en-US" sz="1050" dirty="0"/>
          </a:p>
        </p:txBody>
      </p:sp>
      <p:sp>
        <p:nvSpPr>
          <p:cNvPr id="8" name="Shape 6"/>
          <p:cNvSpPr/>
          <p:nvPr/>
        </p:nvSpPr>
        <p:spPr>
          <a:xfrm>
            <a:off x="658368" y="2395728"/>
            <a:ext cx="4937760" cy="402336"/>
          </a:xfrm>
          <a:prstGeom prst="roundRect">
            <a:avLst>
              <a:gd name="adj" fmla="val 15909"/>
            </a:avLst>
          </a:prstGeom>
          <a:solidFill>
            <a:srgbClr val="F2F5F3"/>
          </a:solidFill>
          <a:ln/>
        </p:spPr>
      </p:sp>
      <p:sp>
        <p:nvSpPr>
          <p:cNvPr id="9" name="Text 7"/>
          <p:cNvSpPr/>
          <p:nvPr/>
        </p:nvSpPr>
        <p:spPr>
          <a:xfrm>
            <a:off x="804672" y="2505456"/>
            <a:ext cx="1051560" cy="182880"/>
          </a:xfrm>
          <a:prstGeom prst="rect">
            <a:avLst/>
          </a:prstGeom>
          <a:noFill/>
          <a:ln/>
        </p:spPr>
        <p:txBody>
          <a:bodyPr wrap="square" lIns="0" tIns="0" rIns="0" bIns="0" rtlCol="0" anchor="ctr"/>
          <a:lstStyle/>
          <a:p>
            <a:pPr algn="l" indent="0" marL="0">
              <a:buNone/>
            </a:pPr>
            <a:r>
              <a:rPr lang="en-US" sz="750" b="1" spc="140" kern="0" dirty="0">
                <a:solidFill>
                  <a:srgbClr val="6C7C74"/>
                </a:solidFill>
                <a:latin typeface="Calibri" pitchFamily="34" charset="0"/>
                <a:ea typeface="Calibri" pitchFamily="34" charset="-122"/>
                <a:cs typeface="Calibri" pitchFamily="34" charset="-120"/>
              </a:rPr>
              <a:t>QUOTED</a:t>
            </a:r>
            <a:endParaRPr lang="en-US" sz="750" dirty="0"/>
          </a:p>
        </p:txBody>
      </p:sp>
      <p:sp>
        <p:nvSpPr>
          <p:cNvPr id="10" name="Text 8"/>
          <p:cNvSpPr/>
          <p:nvPr/>
        </p:nvSpPr>
        <p:spPr>
          <a:xfrm>
            <a:off x="1938528" y="2395728"/>
            <a:ext cx="3520440" cy="402336"/>
          </a:xfrm>
          <a:prstGeom prst="rect">
            <a:avLst/>
          </a:prstGeom>
          <a:noFill/>
          <a:ln/>
        </p:spPr>
        <p:txBody>
          <a:bodyPr wrap="square" lIns="0" tIns="0" rIns="0" bIns="0" rtlCol="0" anchor="ctr"/>
          <a:lstStyle/>
          <a:p>
            <a:pPr algn="l" indent="0" marL="0">
              <a:lnSpc>
                <a:spcPct val="130000"/>
              </a:lnSpc>
              <a:buNone/>
            </a:pPr>
            <a:r>
              <a:rPr lang="en-US" sz="1100" dirty="0">
                <a:solidFill>
                  <a:srgbClr val="44534C"/>
                </a:solidFill>
                <a:latin typeface="Courier New" pitchFamily="34" charset="0"/>
                <a:ea typeface="Courier New" pitchFamily="34" charset="-122"/>
                <a:cs typeface="Courier New" pitchFamily="34" charset="-120"/>
              </a:rPr>
              <a:t>−155  /  +135</a:t>
            </a:r>
            <a:endParaRPr lang="en-US" sz="1100" dirty="0"/>
          </a:p>
        </p:txBody>
      </p:sp>
      <p:sp>
        <p:nvSpPr>
          <p:cNvPr id="11" name="Shape 9"/>
          <p:cNvSpPr/>
          <p:nvPr/>
        </p:nvSpPr>
        <p:spPr>
          <a:xfrm>
            <a:off x="658368" y="2871216"/>
            <a:ext cx="4937760" cy="402336"/>
          </a:xfrm>
          <a:prstGeom prst="roundRect">
            <a:avLst>
              <a:gd name="adj" fmla="val 15909"/>
            </a:avLst>
          </a:prstGeom>
          <a:solidFill>
            <a:srgbClr val="F2F5F3"/>
          </a:solidFill>
          <a:ln/>
        </p:spPr>
      </p:sp>
      <p:sp>
        <p:nvSpPr>
          <p:cNvPr id="12" name="Text 10"/>
          <p:cNvSpPr/>
          <p:nvPr/>
        </p:nvSpPr>
        <p:spPr>
          <a:xfrm>
            <a:off x="804672" y="2980944"/>
            <a:ext cx="1051560" cy="182880"/>
          </a:xfrm>
          <a:prstGeom prst="rect">
            <a:avLst/>
          </a:prstGeom>
          <a:noFill/>
          <a:ln/>
        </p:spPr>
        <p:txBody>
          <a:bodyPr wrap="square" lIns="0" tIns="0" rIns="0" bIns="0" rtlCol="0" anchor="ctr"/>
          <a:lstStyle/>
          <a:p>
            <a:pPr algn="l" indent="0" marL="0">
              <a:buNone/>
            </a:pPr>
            <a:r>
              <a:rPr lang="en-US" sz="750" b="1" spc="140" kern="0" dirty="0">
                <a:solidFill>
                  <a:srgbClr val="6C7C74"/>
                </a:solidFill>
                <a:latin typeface="Calibri" pitchFamily="34" charset="0"/>
                <a:ea typeface="Calibri" pitchFamily="34" charset="-122"/>
                <a:cs typeface="Calibri" pitchFamily="34" charset="-120"/>
              </a:rPr>
              <a:t>IMPLIED</a:t>
            </a:r>
            <a:endParaRPr lang="en-US" sz="750" dirty="0"/>
          </a:p>
        </p:txBody>
      </p:sp>
      <p:sp>
        <p:nvSpPr>
          <p:cNvPr id="13" name="Text 11"/>
          <p:cNvSpPr/>
          <p:nvPr/>
        </p:nvSpPr>
        <p:spPr>
          <a:xfrm>
            <a:off x="1938528" y="2871216"/>
            <a:ext cx="3520440" cy="402336"/>
          </a:xfrm>
          <a:prstGeom prst="rect">
            <a:avLst/>
          </a:prstGeom>
          <a:noFill/>
          <a:ln/>
        </p:spPr>
        <p:txBody>
          <a:bodyPr wrap="square" lIns="0" tIns="0" rIns="0" bIns="0" rtlCol="0" anchor="ctr"/>
          <a:lstStyle/>
          <a:p>
            <a:pPr algn="l" indent="0" marL="0">
              <a:lnSpc>
                <a:spcPct val="130000"/>
              </a:lnSpc>
              <a:buNone/>
            </a:pPr>
            <a:r>
              <a:rPr lang="en-US" sz="1100" dirty="0">
                <a:solidFill>
                  <a:srgbClr val="44534C"/>
                </a:solidFill>
                <a:latin typeface="Courier New" pitchFamily="34" charset="0"/>
                <a:ea typeface="Courier New" pitchFamily="34" charset="-122"/>
                <a:cs typeface="Courier New" pitchFamily="34" charset="-120"/>
              </a:rPr>
              <a:t>60.8%  +  42.6%  =  103.3%</a:t>
            </a:r>
            <a:endParaRPr lang="en-US" sz="1100" dirty="0"/>
          </a:p>
        </p:txBody>
      </p:sp>
      <p:sp>
        <p:nvSpPr>
          <p:cNvPr id="14" name="Shape 12"/>
          <p:cNvSpPr/>
          <p:nvPr/>
        </p:nvSpPr>
        <p:spPr>
          <a:xfrm>
            <a:off x="658368" y="3346704"/>
            <a:ext cx="4937760" cy="402336"/>
          </a:xfrm>
          <a:prstGeom prst="roundRect">
            <a:avLst>
              <a:gd name="adj" fmla="val 15909"/>
            </a:avLst>
          </a:prstGeom>
          <a:solidFill>
            <a:srgbClr val="F2F5F3"/>
          </a:solidFill>
          <a:ln/>
        </p:spPr>
      </p:sp>
      <p:sp>
        <p:nvSpPr>
          <p:cNvPr id="15" name="Text 13"/>
          <p:cNvSpPr/>
          <p:nvPr/>
        </p:nvSpPr>
        <p:spPr>
          <a:xfrm>
            <a:off x="804672" y="3456432"/>
            <a:ext cx="1051560" cy="182880"/>
          </a:xfrm>
          <a:prstGeom prst="rect">
            <a:avLst/>
          </a:prstGeom>
          <a:noFill/>
          <a:ln/>
        </p:spPr>
        <p:txBody>
          <a:bodyPr wrap="square" lIns="0" tIns="0" rIns="0" bIns="0" rtlCol="0" anchor="ctr"/>
          <a:lstStyle/>
          <a:p>
            <a:pPr algn="l" indent="0" marL="0">
              <a:buNone/>
            </a:pPr>
            <a:r>
              <a:rPr lang="en-US" sz="750" b="1" spc="140" kern="0" dirty="0">
                <a:solidFill>
                  <a:srgbClr val="6C7C74"/>
                </a:solidFill>
                <a:latin typeface="Calibri" pitchFamily="34" charset="0"/>
                <a:ea typeface="Calibri" pitchFamily="34" charset="-122"/>
                <a:cs typeface="Calibri" pitchFamily="34" charset="-120"/>
              </a:rPr>
              <a:t>THE VIG</a:t>
            </a:r>
            <a:endParaRPr lang="en-US" sz="750" dirty="0"/>
          </a:p>
        </p:txBody>
      </p:sp>
      <p:sp>
        <p:nvSpPr>
          <p:cNvPr id="16" name="Text 14"/>
          <p:cNvSpPr/>
          <p:nvPr/>
        </p:nvSpPr>
        <p:spPr>
          <a:xfrm>
            <a:off x="1938528" y="3346704"/>
            <a:ext cx="3520440" cy="402336"/>
          </a:xfrm>
          <a:prstGeom prst="rect">
            <a:avLst/>
          </a:prstGeom>
          <a:noFill/>
          <a:ln/>
        </p:spPr>
        <p:txBody>
          <a:bodyPr wrap="square" lIns="0" tIns="0" rIns="0" bIns="0" rtlCol="0" anchor="ctr"/>
          <a:lstStyle/>
          <a:p>
            <a:pPr algn="l" indent="0" marL="0">
              <a:lnSpc>
                <a:spcPct val="130000"/>
              </a:lnSpc>
              <a:buNone/>
            </a:pPr>
            <a:r>
              <a:rPr lang="en-US" sz="1100" dirty="0">
                <a:solidFill>
                  <a:srgbClr val="A5342C"/>
                </a:solidFill>
                <a:latin typeface="Courier New" pitchFamily="34" charset="0"/>
                <a:ea typeface="Courier New" pitchFamily="34" charset="-122"/>
                <a:cs typeface="Courier New" pitchFamily="34" charset="-120"/>
              </a:rPr>
              <a:t>3.3 points of house margin</a:t>
            </a:r>
            <a:endParaRPr lang="en-US" sz="1100" dirty="0"/>
          </a:p>
        </p:txBody>
      </p:sp>
      <p:sp>
        <p:nvSpPr>
          <p:cNvPr id="17" name="Shape 15"/>
          <p:cNvSpPr/>
          <p:nvPr/>
        </p:nvSpPr>
        <p:spPr>
          <a:xfrm>
            <a:off x="658368" y="3822192"/>
            <a:ext cx="4937760" cy="402336"/>
          </a:xfrm>
          <a:prstGeom prst="roundRect">
            <a:avLst>
              <a:gd name="adj" fmla="val 15909"/>
            </a:avLst>
          </a:prstGeom>
          <a:solidFill>
            <a:srgbClr val="E6F4EE"/>
          </a:solidFill>
          <a:ln/>
        </p:spPr>
      </p:sp>
      <p:sp>
        <p:nvSpPr>
          <p:cNvPr id="18" name="Text 16"/>
          <p:cNvSpPr/>
          <p:nvPr/>
        </p:nvSpPr>
        <p:spPr>
          <a:xfrm>
            <a:off x="804672" y="3931920"/>
            <a:ext cx="1051560" cy="182880"/>
          </a:xfrm>
          <a:prstGeom prst="rect">
            <a:avLst/>
          </a:prstGeom>
          <a:noFill/>
          <a:ln/>
        </p:spPr>
        <p:txBody>
          <a:bodyPr wrap="square" lIns="0" tIns="0" rIns="0" bIns="0" rtlCol="0" anchor="ctr"/>
          <a:lstStyle/>
          <a:p>
            <a:pPr algn="l" indent="0" marL="0">
              <a:buNone/>
            </a:pPr>
            <a:r>
              <a:rPr lang="en-US" sz="750" b="1" spc="140" kern="0" dirty="0">
                <a:solidFill>
                  <a:srgbClr val="6C7C74"/>
                </a:solidFill>
                <a:latin typeface="Calibri" pitchFamily="34" charset="0"/>
                <a:ea typeface="Calibri" pitchFamily="34" charset="-122"/>
                <a:cs typeface="Calibri" pitchFamily="34" charset="-120"/>
              </a:rPr>
              <a:t>DE-VIGGED</a:t>
            </a:r>
            <a:endParaRPr lang="en-US" sz="750" dirty="0"/>
          </a:p>
        </p:txBody>
      </p:sp>
      <p:sp>
        <p:nvSpPr>
          <p:cNvPr id="19" name="Text 17"/>
          <p:cNvSpPr/>
          <p:nvPr/>
        </p:nvSpPr>
        <p:spPr>
          <a:xfrm>
            <a:off x="1938528" y="3822192"/>
            <a:ext cx="3520440" cy="402336"/>
          </a:xfrm>
          <a:prstGeom prst="rect">
            <a:avLst/>
          </a:prstGeom>
          <a:noFill/>
          <a:ln/>
        </p:spPr>
        <p:txBody>
          <a:bodyPr wrap="square" lIns="0" tIns="0" rIns="0" bIns="0" rtlCol="0" anchor="ctr"/>
          <a:lstStyle/>
          <a:p>
            <a:pPr algn="l" indent="0" marL="0">
              <a:lnSpc>
                <a:spcPct val="130000"/>
              </a:lnSpc>
              <a:buNone/>
            </a:pPr>
            <a:r>
              <a:rPr lang="en-US" sz="1100" dirty="0">
                <a:solidFill>
                  <a:srgbClr val="0A5C3E"/>
                </a:solidFill>
                <a:latin typeface="Courier New" pitchFamily="34" charset="0"/>
                <a:ea typeface="Courier New" pitchFamily="34" charset="-122"/>
                <a:cs typeface="Courier New" pitchFamily="34" charset="-120"/>
              </a:rPr>
              <a:t>58.8%  /  41.2%</a:t>
            </a:r>
            <a:endParaRPr lang="en-US" sz="1100" dirty="0"/>
          </a:p>
        </p:txBody>
      </p:sp>
      <p:sp>
        <p:nvSpPr>
          <p:cNvPr id="20" name="Text 18"/>
          <p:cNvSpPr/>
          <p:nvPr/>
        </p:nvSpPr>
        <p:spPr>
          <a:xfrm>
            <a:off x="658368" y="4407408"/>
            <a:ext cx="4937760" cy="274320"/>
          </a:xfrm>
          <a:prstGeom prst="rect">
            <a:avLst/>
          </a:prstGeom>
          <a:noFill/>
          <a:ln/>
        </p:spPr>
        <p:txBody>
          <a:bodyPr wrap="square" lIns="0" tIns="0" rIns="0" bIns="0" rtlCol="0" anchor="ctr"/>
          <a:lstStyle/>
          <a:p>
            <a:pPr algn="l" indent="0" marL="0">
              <a:lnSpc>
                <a:spcPct val="130000"/>
              </a:lnSpc>
              <a:buNone/>
            </a:pPr>
            <a:r>
              <a:rPr lang="en-US" sz="1100" dirty="0">
                <a:solidFill>
                  <a:srgbClr val="12855A"/>
                </a:solidFill>
                <a:latin typeface="Courier New" pitchFamily="34" charset="0"/>
                <a:ea typeface="Courier New" pitchFamily="34" charset="-122"/>
                <a:cs typeface="Courier New" pitchFamily="34" charset="-120"/>
              </a:rPr>
              <a:t>p  =  pᵢ / Σp</a:t>
            </a:r>
            <a:endParaRPr lang="en-US" sz="1100" dirty="0"/>
          </a:p>
        </p:txBody>
      </p:sp>
      <p:sp>
        <p:nvSpPr>
          <p:cNvPr id="21" name="Text 19"/>
          <p:cNvSpPr/>
          <p:nvPr/>
        </p:nvSpPr>
        <p:spPr>
          <a:xfrm>
            <a:off x="6053328" y="1700784"/>
            <a:ext cx="5486400" cy="256032"/>
          </a:xfrm>
          <a:prstGeom prst="rect">
            <a:avLst/>
          </a:prstGeom>
          <a:noFill/>
          <a:ln/>
        </p:spPr>
        <p:txBody>
          <a:bodyPr wrap="square" lIns="0" tIns="0" rIns="0" bIns="0" rtlCol="0" anchor="ctr"/>
          <a:lstStyle/>
          <a:p>
            <a:pPr algn="l" indent="0" marL="0">
              <a:buNone/>
            </a:pPr>
            <a:r>
              <a:rPr lang="en-US" sz="1300" b="1" dirty="0">
                <a:solidFill>
                  <a:srgbClr val="0B1210"/>
                </a:solidFill>
                <a:latin typeface="Cambria" pitchFamily="34" charset="0"/>
                <a:ea typeface="Cambria" pitchFamily="34" charset="-122"/>
                <a:cs typeface="Cambria" pitchFamily="34" charset="-120"/>
              </a:rPr>
              <a:t>2 · Remove the venue's own cost</a:t>
            </a:r>
            <a:endParaRPr lang="en-US" sz="1300" dirty="0"/>
          </a:p>
        </p:txBody>
      </p:sp>
      <p:sp>
        <p:nvSpPr>
          <p:cNvPr id="22" name="Text 20"/>
          <p:cNvSpPr/>
          <p:nvPr/>
        </p:nvSpPr>
        <p:spPr>
          <a:xfrm>
            <a:off x="6053328" y="1975104"/>
            <a:ext cx="5486400" cy="310896"/>
          </a:xfrm>
          <a:prstGeom prst="rect">
            <a:avLst/>
          </a:prstGeom>
          <a:noFill/>
          <a:ln/>
        </p:spPr>
        <p:txBody>
          <a:bodyPr wrap="square" lIns="0" tIns="0" rIns="0" bIns="0" rtlCol="0" anchor="t"/>
          <a:lstStyle/>
          <a:p>
            <a:pPr algn="l" indent="0" marL="0">
              <a:lnSpc>
                <a:spcPct val="120000"/>
              </a:lnSpc>
              <a:buNone/>
            </a:pPr>
            <a:r>
              <a:rPr lang="en-US" sz="1050" dirty="0">
                <a:solidFill>
                  <a:srgbClr val="6C7C74"/>
                </a:solidFill>
                <a:latin typeface="Calibri" pitchFamily="34" charset="0"/>
                <a:ea typeface="Calibri" pitchFamily="34" charset="-122"/>
                <a:cs typeface="Calibri" pitchFamily="34" charset="-120"/>
              </a:rPr>
              <a:t>The same contract on two venues is only comparable after each venue's real cost of execution is netted out.</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53328" y="2395728"/>
          <a:ext cx="5486400" cy="914400"/>
        </p:xfrm>
        <a:graphic>
          <a:graphicData uri="http://schemas.openxmlformats.org/drawingml/2006/table">
            <a:tbl>
              <a:tblPr/>
              <a:tblGrid>
                <a:gridCol w="1554480"/>
                <a:gridCol w="1005840"/>
                <a:gridCol w="1600200"/>
                <a:gridCol w="1325880"/>
              </a:tblGrid>
              <a:tr h="365760">
                <a:tc>
                  <a:txBody>
                    <a:bodyPr/>
                    <a:lstStyle/>
                    <a:p>
                      <a:pPr algn="l" indent="0" marL="0">
                        <a:buNone/>
                      </a:pPr>
                      <a:r>
                        <a:rPr lang="en-US" sz="800" b="1" spc="110" kern="0" dirty="0">
                          <a:solidFill>
                            <a:srgbClr val="FFFFFF"/>
                          </a:solidFill>
                          <a:latin typeface="Calibri" pitchFamily="34" charset="0"/>
                          <a:ea typeface="Calibri" pitchFamily="34" charset="-122"/>
                          <a:cs typeface="Calibri" pitchFamily="34" charset="-120"/>
                        </a:rPr>
                        <a:t>VENUE</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r" indent="0" marL="0">
                        <a:buNone/>
                      </a:pPr>
                      <a:r>
                        <a:rPr lang="en-US" sz="800" b="1" spc="110" kern="0" dirty="0">
                          <a:solidFill>
                            <a:srgbClr val="FFFFFF"/>
                          </a:solidFill>
                          <a:latin typeface="Calibri" pitchFamily="34" charset="0"/>
                          <a:ea typeface="Calibri" pitchFamily="34" charset="-122"/>
                          <a:cs typeface="Calibri" pitchFamily="34" charset="-120"/>
                        </a:rPr>
                        <a:t>QUOTED</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l" indent="0" marL="0">
                        <a:buNone/>
                      </a:pPr>
                      <a:r>
                        <a:rPr lang="en-US" sz="800" b="1" spc="110" kern="0" dirty="0">
                          <a:solidFill>
                            <a:srgbClr val="FFFFFF"/>
                          </a:solidFill>
                          <a:latin typeface="Calibri" pitchFamily="34" charset="0"/>
                          <a:ea typeface="Calibri" pitchFamily="34" charset="-122"/>
                          <a:cs typeface="Calibri" pitchFamily="34" charset="-120"/>
                        </a:rPr>
                        <a:t>REAL COST</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r" indent="0" marL="0">
                        <a:buNone/>
                      </a:pPr>
                      <a:r>
                        <a:rPr lang="en-US" sz="800" b="1" spc="110" kern="0" dirty="0">
                          <a:solidFill>
                            <a:srgbClr val="FFFFFF"/>
                          </a:solidFill>
                          <a:latin typeface="Calibri" pitchFamily="34" charset="0"/>
                          <a:ea typeface="Calibri" pitchFamily="34" charset="-122"/>
                          <a:cs typeface="Calibri" pitchFamily="34" charset="-120"/>
                        </a:rPr>
                        <a:t>NET PRICE</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r>
              <a:tr h="365760">
                <a:tc>
                  <a:txBody>
                    <a:bodyPr/>
                    <a:lstStyle/>
                    <a:p>
                      <a:pPr algn="l" indent="0" marL="0">
                        <a:buNone/>
                      </a:pPr>
                      <a:r>
                        <a:rPr lang="en-US" sz="1050" b="1" dirty="0">
                          <a:solidFill>
                            <a:srgbClr val="0B1210"/>
                          </a:solidFill>
                          <a:latin typeface="Calibri" pitchFamily="34" charset="0"/>
                          <a:ea typeface="Calibri" pitchFamily="34" charset="-122"/>
                          <a:cs typeface="Calibri" pitchFamily="34" charset="-120"/>
                        </a:rPr>
                        <a:t>Polymarket</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1050" dirty="0">
                          <a:solidFill>
                            <a:srgbClr val="44534C"/>
                          </a:solidFill>
                          <a:latin typeface="Calibri" pitchFamily="34" charset="0"/>
                          <a:ea typeface="Calibri" pitchFamily="34" charset="-122"/>
                          <a:cs typeface="Calibri" pitchFamily="34" charset="-120"/>
                        </a:rPr>
                        <a:t>62¢</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50" dirty="0">
                          <a:solidFill>
                            <a:srgbClr val="44534C"/>
                          </a:solidFill>
                          <a:latin typeface="Calibri" pitchFamily="34" charset="0"/>
                          <a:ea typeface="Calibri" pitchFamily="34" charset="-122"/>
                          <a:cs typeface="Calibri" pitchFamily="34" charset="-120"/>
                        </a:rPr>
                        <a:t>spread only</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1050" b="1" dirty="0">
                          <a:solidFill>
                            <a:srgbClr val="0B1210"/>
                          </a:solidFill>
                          <a:latin typeface="Calibri" pitchFamily="34" charset="0"/>
                          <a:ea typeface="Calibri" pitchFamily="34" charset="-122"/>
                          <a:cs typeface="Calibri" pitchFamily="34" charset="-120"/>
                        </a:rPr>
                        <a:t>62¢</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r>
              <a:tr h="365760">
                <a:tc>
                  <a:txBody>
                    <a:bodyPr/>
                    <a:lstStyle/>
                    <a:p>
                      <a:pPr algn="l" indent="0" marL="0">
                        <a:buNone/>
                      </a:pPr>
                      <a:r>
                        <a:rPr lang="en-US" sz="1050" b="1" dirty="0">
                          <a:solidFill>
                            <a:srgbClr val="0B1210"/>
                          </a:solidFill>
                          <a:latin typeface="Calibri" pitchFamily="34" charset="0"/>
                          <a:ea typeface="Calibri" pitchFamily="34" charset="-122"/>
                          <a:cs typeface="Calibri" pitchFamily="34" charset="-120"/>
                        </a:rPr>
                        <a:t>Kalshi</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44534C"/>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4534C"/>
                          </a:solidFill>
                          <a:latin typeface="Calibri" pitchFamily="34" charset="0"/>
                          <a:ea typeface="Calibri" pitchFamily="34" charset="-122"/>
                          <a:cs typeface="Calibri" pitchFamily="34" charset="-120"/>
                        </a:rPr>
                        <a:t>+$1.69 fee / 100</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0B1210"/>
                          </a:solidFill>
                          <a:latin typeface="Calibri" pitchFamily="34" charset="0"/>
                          <a:ea typeface="Calibri" pitchFamily="34" charset="-122"/>
                          <a:cs typeface="Calibri" pitchFamily="34" charset="-120"/>
                        </a:rPr>
                        <a:t>61.7¢</a:t>
                      </a:r>
                      <a:endParaRPr lang="en-US" sz="10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r>
            </a:tbl>
          </a:graphicData>
        </a:graphic>
      </p:graphicFrame>
      <p:sp>
        <p:nvSpPr>
          <p:cNvPr id="24" name="Shape 21"/>
          <p:cNvSpPr/>
          <p:nvPr/>
        </p:nvSpPr>
        <p:spPr>
          <a:xfrm>
            <a:off x="6053328" y="3584448"/>
            <a:ext cx="5486400" cy="822960"/>
          </a:xfrm>
          <a:prstGeom prst="roundRect">
            <a:avLst>
              <a:gd name="adj" fmla="val 10000"/>
            </a:avLst>
          </a:prstGeom>
          <a:solidFill>
            <a:srgbClr val="F2F5F3"/>
          </a:solidFill>
          <a:ln/>
        </p:spPr>
      </p:sp>
      <p:sp>
        <p:nvSpPr>
          <p:cNvPr id="25" name="Text 22"/>
          <p:cNvSpPr/>
          <p:nvPr/>
        </p:nvSpPr>
        <p:spPr>
          <a:xfrm>
            <a:off x="6236208" y="3675888"/>
            <a:ext cx="5120640" cy="658368"/>
          </a:xfrm>
          <a:prstGeom prst="rect">
            <a:avLst/>
          </a:prstGeom>
          <a:noFill/>
          <a:ln/>
        </p:spPr>
        <p:txBody>
          <a:bodyPr wrap="square" lIns="0" tIns="0" rIns="0" bIns="0" rtlCol="0" anchor="t"/>
          <a:lstStyle/>
          <a:p>
            <a:pPr algn="l" indent="0" marL="0">
              <a:lnSpc>
                <a:spcPct val="120000"/>
              </a:lnSpc>
              <a:buNone/>
            </a:pPr>
            <a:r>
              <a:rPr lang="en-US" sz="1050" b="1" dirty="0">
                <a:solidFill>
                  <a:srgbClr val="0B1210"/>
                </a:solidFill>
                <a:latin typeface="Calibri" pitchFamily="34" charset="0"/>
                <a:ea typeface="Calibri" pitchFamily="34" charset="-122"/>
                <a:cs typeface="Calibri" pitchFamily="34" charset="-120"/>
              </a:rPr>
              <a:t>A 2¢ apparent edge is really 0.3¢. </a:t>
            </a:r>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Kalshi's per-contract fee ≈ 0.07 · p · (1−p) peaks near 50¢, where it costs 1.8¢ a contract — enough to erase a 1½¢ "edge" completely.</a:t>
            </a:r>
            <a:endParaRPr lang="en-US" sz="1050" dirty="0"/>
          </a:p>
        </p:txBody>
      </p:sp>
      <p:sp>
        <p:nvSpPr>
          <p:cNvPr id="26" name="Text 23"/>
          <p:cNvSpPr/>
          <p:nvPr/>
        </p:nvSpPr>
        <p:spPr>
          <a:xfrm>
            <a:off x="6053328" y="4517136"/>
            <a:ext cx="5486400" cy="274320"/>
          </a:xfrm>
          <a:prstGeom prst="rect">
            <a:avLst/>
          </a:prstGeom>
          <a:noFill/>
          <a:ln/>
        </p:spPr>
        <p:txBody>
          <a:bodyPr wrap="square" lIns="0" tIns="0" rIns="0" bIns="0" rtlCol="0" anchor="ctr"/>
          <a:lstStyle/>
          <a:p>
            <a:pPr algn="l" indent="0" marL="0">
              <a:lnSpc>
                <a:spcPct val="130000"/>
              </a:lnSpc>
              <a:buNone/>
            </a:pPr>
            <a:r>
              <a:rPr lang="en-US" sz="1100" dirty="0">
                <a:solidFill>
                  <a:srgbClr val="12855A"/>
                </a:solidFill>
                <a:latin typeface="Courier New" pitchFamily="34" charset="0"/>
                <a:ea typeface="Courier New" pitchFamily="34" charset="-122"/>
                <a:cs typeface="Courier New" pitchFamily="34" charset="-120"/>
              </a:rPr>
              <a:t>net  =  p  +  fee / contracts</a:t>
            </a:r>
            <a:endParaRPr lang="en-US" sz="1100" dirty="0"/>
          </a:p>
        </p:txBody>
      </p:sp>
      <p:sp>
        <p:nvSpPr>
          <p:cNvPr id="27" name="Shape 24"/>
          <p:cNvSpPr/>
          <p:nvPr/>
        </p:nvSpPr>
        <p:spPr>
          <a:xfrm>
            <a:off x="658368" y="4956048"/>
            <a:ext cx="10872216" cy="0"/>
          </a:xfrm>
          <a:prstGeom prst="line">
            <a:avLst/>
          </a:prstGeom>
          <a:noFill/>
          <a:ln w="9525">
            <a:solidFill>
              <a:srgbClr val="DCE3DF"/>
            </a:solidFill>
            <a:prstDash val="solid"/>
          </a:ln>
        </p:spPr>
      </p:sp>
      <p:sp>
        <p:nvSpPr>
          <p:cNvPr id="28" name="Text 25"/>
          <p:cNvSpPr/>
          <p:nvPr/>
        </p:nvSpPr>
        <p:spPr>
          <a:xfrm>
            <a:off x="658368" y="5120640"/>
            <a:ext cx="10872216" cy="914400"/>
          </a:xfrm>
          <a:prstGeom prst="rect">
            <a:avLst/>
          </a:prstGeom>
          <a:noFill/>
          <a:ln/>
        </p:spPr>
        <p:txBody>
          <a:bodyPr wrap="square" lIns="0" tIns="0" rIns="0" bIns="0" rtlCol="0" anchor="t"/>
          <a:lstStyle/>
          <a:p>
            <a:pPr algn="l" indent="0" marL="0">
              <a:lnSpc>
                <a:spcPct val="120000"/>
              </a:lnSpc>
              <a:buNone/>
            </a:pPr>
            <a:r>
              <a:rPr lang="en-US" sz="1100" b="1" dirty="0">
                <a:solidFill>
                  <a:srgbClr val="0B1210"/>
                </a:solidFill>
                <a:latin typeface="Calibri" pitchFamily="34" charset="0"/>
                <a:ea typeface="Calibri" pitchFamily="34" charset="-122"/>
                <a:cs typeface="Calibri" pitchFamily="34" charset="-120"/>
              </a:rPr>
              <a:t>Why this is a feature and not a footnote.  </a:t>
            </a:r>
            <a:pPr algn="l" indent="0" marL="0">
              <a:lnSpc>
                <a:spcPct val="120000"/>
              </a:lnSpc>
              <a:buNone/>
            </a:pPr>
            <a:r>
              <a:rPr lang="en-US" sz="1100" dirty="0">
                <a:solidFill>
                  <a:srgbClr val="44534C"/>
                </a:solidFill>
                <a:latin typeface="Calibri" pitchFamily="34" charset="0"/>
                <a:ea typeface="Calibri" pitchFamily="34" charset="-122"/>
                <a:cs typeface="Calibri" pitchFamily="34" charset="-120"/>
              </a:rPr>
              <a:t>Cross-venue value is one of the few genuinely free lunches in the product: the same event, priced twice, with the difference paid to whoever noticed. It only exists if the fees are netted out first — a naive price comparison manufactures edges that disappear at execution. Metaculus is pulled in as a third, non-financial forecaster to cross-check both venues.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09</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04.04  ·  THE SCORE</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One published equation decides the order</a:t>
            </a:r>
            <a:endParaRPr lang="en-US" sz="3000" dirty="0"/>
          </a:p>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of the list.</a:t>
            </a:r>
            <a:endParaRPr lang="en-US" sz="3000" dirty="0"/>
          </a:p>
        </p:txBody>
      </p:sp>
      <p:sp>
        <p:nvSpPr>
          <p:cNvPr id="6" name="Shape 4"/>
          <p:cNvSpPr/>
          <p:nvPr/>
        </p:nvSpPr>
        <p:spPr>
          <a:xfrm>
            <a:off x="658368" y="1700784"/>
            <a:ext cx="10872216" cy="786384"/>
          </a:xfrm>
          <a:prstGeom prst="roundRect">
            <a:avLst>
              <a:gd name="adj" fmla="val 11628"/>
            </a:avLst>
          </a:prstGeom>
          <a:solidFill>
            <a:srgbClr val="0B1210"/>
          </a:solidFill>
          <a:ln/>
        </p:spPr>
      </p:sp>
      <p:sp>
        <p:nvSpPr>
          <p:cNvPr id="7" name="Text 5"/>
          <p:cNvSpPr/>
          <p:nvPr/>
        </p:nvSpPr>
        <p:spPr>
          <a:xfrm>
            <a:off x="841248" y="1700784"/>
            <a:ext cx="10506456" cy="786384"/>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Score  =  ( </a:t>
            </a:r>
            <a:pPr algn="ctr" indent="0" marL="0">
              <a:buNone/>
            </a:pPr>
            <a:r>
              <a:rPr lang="en-US" sz="1150" dirty="0">
                <a:solidFill>
                  <a:srgbClr val="9CE6C0"/>
                </a:solidFill>
                <a:latin typeface="Courier New" pitchFamily="34" charset="0"/>
                <a:ea typeface="Courier New" pitchFamily="34" charset="-122"/>
                <a:cs typeface="Courier New" pitchFamily="34" charset="-120"/>
              </a:rPr>
              <a:t>0.35·Reliability</a:t>
            </a:r>
            <a:pPr algn="ctr" indent="0" marL="0">
              <a:buNone/>
            </a:pPr>
            <a:r>
              <a:rPr lang="en-US" sz="1150" dirty="0">
                <a:solidFill>
                  <a:srgbClr val="94A29B"/>
                </a:solidFill>
                <a:latin typeface="Courier New" pitchFamily="34" charset="0"/>
                <a:ea typeface="Courier New" pitchFamily="34" charset="-122"/>
                <a:cs typeface="Courier New" pitchFamily="34" charset="-120"/>
              </a:rPr>
              <a:t>  +  </a:t>
            </a:r>
            <a:pPr algn="ctr" indent="0" marL="0">
              <a:buNone/>
            </a:pPr>
            <a:r>
              <a:rPr lang="en-US" sz="1150" dirty="0">
                <a:solidFill>
                  <a:srgbClr val="9CE6C0"/>
                </a:solidFill>
                <a:latin typeface="Courier New" pitchFamily="34" charset="0"/>
                <a:ea typeface="Courier New" pitchFamily="34" charset="-122"/>
                <a:cs typeface="Courier New" pitchFamily="34" charset="-120"/>
              </a:rPr>
              <a:t>0.25·Protection</a:t>
            </a:r>
            <a:pPr algn="ctr" indent="0" marL="0">
              <a:buNone/>
            </a:pPr>
            <a:r>
              <a:rPr lang="en-US" sz="1150" dirty="0">
                <a:solidFill>
                  <a:srgbClr val="94A29B"/>
                </a:solidFill>
                <a:latin typeface="Courier New" pitchFamily="34" charset="0"/>
                <a:ea typeface="Courier New" pitchFamily="34" charset="-122"/>
                <a:cs typeface="Courier New" pitchFamily="34" charset="-120"/>
              </a:rPr>
              <a:t>  +  </a:t>
            </a:r>
            <a:pPr algn="ctr" indent="0" marL="0">
              <a:buNone/>
            </a:pPr>
            <a:r>
              <a:rPr lang="en-US" sz="1150" dirty="0">
                <a:solidFill>
                  <a:srgbClr val="9CE6C0"/>
                </a:solidFill>
                <a:latin typeface="Courier New" pitchFamily="34" charset="0"/>
                <a:ea typeface="Courier New" pitchFamily="34" charset="-122"/>
                <a:cs typeface="Courier New" pitchFamily="34" charset="-120"/>
              </a:rPr>
              <a:t>0.30·Capital</a:t>
            </a:r>
            <a:pPr algn="ctr" indent="0" marL="0">
              <a:buNone/>
            </a:pPr>
            <a:r>
              <a:rPr lang="en-US" sz="1150" dirty="0">
                <a:solidFill>
                  <a:srgbClr val="94A29B"/>
                </a:solidFill>
                <a:latin typeface="Courier New" pitchFamily="34" charset="0"/>
                <a:ea typeface="Courier New" pitchFamily="34" charset="-122"/>
                <a:cs typeface="Courier New" pitchFamily="34" charset="-120"/>
              </a:rPr>
              <a:t>  +  </a:t>
            </a:r>
            <a:pPr algn="ctr" indent="0" marL="0">
              <a:buNone/>
            </a:pPr>
            <a:r>
              <a:rPr lang="en-US" sz="1150" dirty="0">
                <a:solidFill>
                  <a:srgbClr val="9CE6C0"/>
                </a:solidFill>
                <a:latin typeface="Courier New" pitchFamily="34" charset="0"/>
                <a:ea typeface="Courier New" pitchFamily="34" charset="-122"/>
                <a:cs typeface="Courier New" pitchFamily="34" charset="-120"/>
              </a:rPr>
              <a:t>0.10·Time</a:t>
            </a:r>
            <a:pPr algn="ctr" indent="0" marL="0">
              <a:buNone/>
            </a:pPr>
            <a:r>
              <a:rPr lang="en-US" sz="1150" dirty="0">
                <a:solidFill>
                  <a:srgbClr val="FFFFFF"/>
                </a:solidFill>
                <a:latin typeface="Courier New" pitchFamily="34" charset="0"/>
                <a:ea typeface="Courier New" pitchFamily="34" charset="-122"/>
                <a:cs typeface="Courier New" pitchFamily="34" charset="-120"/>
              </a:rPr>
              <a:t> )  ×  </a:t>
            </a:r>
            <a:pPr algn="ctr" indent="0" marL="0">
              <a:buNone/>
            </a:pPr>
            <a:r>
              <a:rPr lang="en-US" sz="1150" dirty="0">
                <a:solidFill>
                  <a:srgbClr val="F2B23C"/>
                </a:solidFill>
                <a:latin typeface="Courier New" pitchFamily="34" charset="0"/>
                <a:ea typeface="Courier New" pitchFamily="34" charset="-122"/>
                <a:cs typeface="Courier New" pitchFamily="34" charset="-120"/>
              </a:rPr>
              <a:t>survival</a:t>
            </a:r>
            <a:pPr algn="ctr" indent="0" marL="0">
              <a:buNone/>
            </a:pPr>
            <a:r>
              <a:rPr lang="en-US" sz="1150" dirty="0">
                <a:solidFill>
                  <a:srgbClr val="94A29B"/>
                </a:solidFill>
                <a:latin typeface="Courier New" pitchFamily="34" charset="0"/>
                <a:ea typeface="Courier New" pitchFamily="34" charset="-122"/>
                <a:cs typeface="Courier New" pitchFamily="34" charset="-120"/>
              </a:rPr>
              <a:t>  ×  </a:t>
            </a:r>
            <a:pPr algn="ctr" indent="0" marL="0">
              <a:buNone/>
            </a:pPr>
            <a:r>
              <a:rPr lang="en-US" sz="1150" dirty="0">
                <a:solidFill>
                  <a:srgbClr val="F2B23C"/>
                </a:solidFill>
                <a:latin typeface="Courier New" pitchFamily="34" charset="0"/>
                <a:ea typeface="Courier New" pitchFamily="34" charset="-122"/>
                <a:cs typeface="Courier New" pitchFamily="34" charset="-120"/>
              </a:rPr>
              <a:t>market quality</a:t>
            </a:r>
            <a:endParaRPr lang="en-US" sz="1150" dirty="0"/>
          </a:p>
        </p:txBody>
      </p:sp>
      <p:sp>
        <p:nvSpPr>
          <p:cNvPr id="8" name="Shape 6"/>
          <p:cNvSpPr/>
          <p:nvPr/>
        </p:nvSpPr>
        <p:spPr>
          <a:xfrm>
            <a:off x="658368" y="2761488"/>
            <a:ext cx="5326380" cy="1371600"/>
          </a:xfrm>
          <a:prstGeom prst="roundRect">
            <a:avLst>
              <a:gd name="adj" fmla="val 6000"/>
            </a:avLst>
          </a:prstGeom>
          <a:solidFill>
            <a:srgbClr val="FFFFFF"/>
          </a:solidFill>
          <a:ln w="9525">
            <a:solidFill>
              <a:srgbClr val="DCE3DF"/>
            </a:solidFill>
            <a:prstDash val="solid"/>
          </a:ln>
          <a:effectLst>
            <a:outerShdw sx="100000" sy="100000" kx="0" ky="0" algn="bl" rotWithShape="0" blurRad="177800" dist="12700" dir="5400000">
              <a:srgbClr val="0B1210">
                <a:alpha val="7000"/>
              </a:srgbClr>
            </a:outerShdw>
          </a:effectLst>
        </p:spPr>
      </p:sp>
      <p:sp>
        <p:nvSpPr>
          <p:cNvPr id="9" name="Text 7"/>
          <p:cNvSpPr/>
          <p:nvPr/>
        </p:nvSpPr>
        <p:spPr>
          <a:xfrm>
            <a:off x="877824" y="2926080"/>
            <a:ext cx="1005840" cy="384048"/>
          </a:xfrm>
          <a:prstGeom prst="rect">
            <a:avLst/>
          </a:prstGeom>
          <a:noFill/>
          <a:ln/>
        </p:spPr>
        <p:txBody>
          <a:bodyPr wrap="square" lIns="0" tIns="0" rIns="0" bIns="0" rtlCol="0" anchor="ctr"/>
          <a:lstStyle/>
          <a:p>
            <a:pPr indent="0" marL="0">
              <a:buNone/>
            </a:pPr>
            <a:r>
              <a:rPr lang="en-US" sz="2200" b="1" dirty="0">
                <a:solidFill>
                  <a:srgbClr val="12855A"/>
                </a:solidFill>
                <a:latin typeface="Cambria" pitchFamily="34" charset="0"/>
                <a:ea typeface="Cambria" pitchFamily="34" charset="-122"/>
                <a:cs typeface="Cambria" pitchFamily="34" charset="-120"/>
              </a:rPr>
              <a:t>35%</a:t>
            </a:r>
            <a:endParaRPr lang="en-US" sz="2200" dirty="0"/>
          </a:p>
        </p:txBody>
      </p:sp>
      <p:sp>
        <p:nvSpPr>
          <p:cNvPr id="10" name="Text 8"/>
          <p:cNvSpPr/>
          <p:nvPr/>
        </p:nvSpPr>
        <p:spPr>
          <a:xfrm>
            <a:off x="1920240" y="2944368"/>
            <a:ext cx="3108960" cy="347472"/>
          </a:xfrm>
          <a:prstGeom prst="rect">
            <a:avLst/>
          </a:prstGeom>
          <a:noFill/>
          <a:ln/>
        </p:spPr>
        <p:txBody>
          <a:bodyPr wrap="square" lIns="0" tIns="0" rIns="0" bIns="0" rtlCol="0" anchor="ctr"/>
          <a:lstStyle/>
          <a:p>
            <a:pPr algn="l" indent="0" marL="0">
              <a:buNone/>
            </a:pPr>
            <a:r>
              <a:rPr lang="en-US" sz="1350" b="1" dirty="0">
                <a:solidFill>
                  <a:srgbClr val="0B1210"/>
                </a:solidFill>
                <a:latin typeface="Cambria" pitchFamily="34" charset="0"/>
                <a:ea typeface="Cambria" pitchFamily="34" charset="-122"/>
                <a:cs typeface="Cambria" pitchFamily="34" charset="-120"/>
              </a:rPr>
              <a:t>Reliability</a:t>
            </a:r>
            <a:endParaRPr lang="en-US" sz="1350" dirty="0"/>
          </a:p>
        </p:txBody>
      </p:sp>
      <p:sp>
        <p:nvSpPr>
          <p:cNvPr id="11" name="Text 9"/>
          <p:cNvSpPr/>
          <p:nvPr/>
        </p:nvSpPr>
        <p:spPr>
          <a:xfrm>
            <a:off x="877824" y="3364992"/>
            <a:ext cx="4887468" cy="274320"/>
          </a:xfrm>
          <a:prstGeom prst="rect">
            <a:avLst/>
          </a:prstGeom>
          <a:noFill/>
          <a:ln/>
        </p:spPr>
        <p:txBody>
          <a:bodyPr wrap="square" lIns="0" tIns="0" rIns="0" bIns="0" rtlCol="0" anchor="t"/>
          <a:lstStyle/>
          <a:p>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How likely is this route to actually clear the goal?</a:t>
            </a:r>
            <a:endParaRPr lang="en-US" sz="1050" dirty="0"/>
          </a:p>
        </p:txBody>
      </p:sp>
      <p:sp>
        <p:nvSpPr>
          <p:cNvPr id="12" name="Shape 10"/>
          <p:cNvSpPr/>
          <p:nvPr/>
        </p:nvSpPr>
        <p:spPr>
          <a:xfrm>
            <a:off x="877824" y="3657600"/>
            <a:ext cx="2377440" cy="310896"/>
          </a:xfrm>
          <a:prstGeom prst="roundRect">
            <a:avLst>
              <a:gd name="adj" fmla="val 17647"/>
            </a:avLst>
          </a:prstGeom>
          <a:solidFill>
            <a:srgbClr val="F2F5F3"/>
          </a:solidFill>
          <a:ln/>
        </p:spPr>
      </p:sp>
      <p:sp>
        <p:nvSpPr>
          <p:cNvPr id="13" name="Text 11"/>
          <p:cNvSpPr/>
          <p:nvPr/>
        </p:nvSpPr>
        <p:spPr>
          <a:xfrm>
            <a:off x="969264" y="3657600"/>
            <a:ext cx="2194560" cy="310896"/>
          </a:xfrm>
          <a:prstGeom prst="rect">
            <a:avLst/>
          </a:prstGeom>
          <a:noFill/>
          <a:ln/>
        </p:spPr>
        <p:txBody>
          <a:bodyPr wrap="square" lIns="0" tIns="0" rIns="0" bIns="0" rtlCol="0" anchor="ctr"/>
          <a:lstStyle/>
          <a:p>
            <a:pPr algn="l" indent="0" marL="0">
              <a:lnSpc>
                <a:spcPct val="130000"/>
              </a:lnSpc>
              <a:buNone/>
            </a:pPr>
            <a:r>
              <a:rPr lang="en-US" sz="950" dirty="0">
                <a:solidFill>
                  <a:srgbClr val="0A5C3E"/>
                </a:solidFill>
                <a:latin typeface="Courier New" pitchFamily="34" charset="0"/>
                <a:ea typeface="Courier New" pitchFamily="34" charset="-122"/>
                <a:cs typeface="Courier New" pitchFamily="34" charset="-120"/>
              </a:rPr>
              <a:t>P(hit)  ·  0–100</a:t>
            </a:r>
            <a:endParaRPr lang="en-US" sz="950" dirty="0"/>
          </a:p>
        </p:txBody>
      </p:sp>
      <p:sp>
        <p:nvSpPr>
          <p:cNvPr id="14" name="Text 12"/>
          <p:cNvSpPr/>
          <p:nvPr/>
        </p:nvSpPr>
        <p:spPr>
          <a:xfrm>
            <a:off x="3401568" y="3639312"/>
            <a:ext cx="2363724" cy="365760"/>
          </a:xfrm>
          <a:prstGeom prst="rect">
            <a:avLst/>
          </a:prstGeom>
          <a:noFill/>
          <a:ln/>
        </p:spPr>
        <p:txBody>
          <a:bodyPr wrap="square" lIns="0" tIns="0" rIns="0" bIns="0" rtlCol="0" anchor="t"/>
          <a:lstStyle/>
          <a:p>
            <a:pPr algn="l" indent="0" marL="0">
              <a:lnSpc>
                <a:spcPct val="120000"/>
              </a:lnSpc>
              <a:buNone/>
            </a:pPr>
            <a:r>
              <a:rPr lang="en-US" sz="950" dirty="0">
                <a:solidFill>
                  <a:srgbClr val="6C7C74"/>
                </a:solidFill>
                <a:latin typeface="Calibri" pitchFamily="34" charset="0"/>
                <a:ea typeface="Calibri" pitchFamily="34" charset="-122"/>
                <a:cs typeface="Calibri" pitchFamily="34" charset="-120"/>
              </a:rPr>
              <a:t>The probability from whichever of the three methods applies.</a:t>
            </a:r>
            <a:endParaRPr lang="en-US" sz="950" dirty="0"/>
          </a:p>
        </p:txBody>
      </p:sp>
      <p:sp>
        <p:nvSpPr>
          <p:cNvPr id="15" name="Shape 13"/>
          <p:cNvSpPr/>
          <p:nvPr/>
        </p:nvSpPr>
        <p:spPr>
          <a:xfrm>
            <a:off x="6204204" y="2761488"/>
            <a:ext cx="5326380" cy="1371600"/>
          </a:xfrm>
          <a:prstGeom prst="roundRect">
            <a:avLst>
              <a:gd name="adj" fmla="val 6000"/>
            </a:avLst>
          </a:prstGeom>
          <a:solidFill>
            <a:srgbClr val="FFFFFF"/>
          </a:solidFill>
          <a:ln w="9525">
            <a:solidFill>
              <a:srgbClr val="DCE3DF"/>
            </a:solidFill>
            <a:prstDash val="solid"/>
          </a:ln>
          <a:effectLst>
            <a:outerShdw sx="100000" sy="100000" kx="0" ky="0" algn="bl" rotWithShape="0" blurRad="177800" dist="12700" dir="5400000">
              <a:srgbClr val="0B1210">
                <a:alpha val="7000"/>
              </a:srgbClr>
            </a:outerShdw>
          </a:effectLst>
        </p:spPr>
      </p:sp>
      <p:sp>
        <p:nvSpPr>
          <p:cNvPr id="16" name="Text 14"/>
          <p:cNvSpPr/>
          <p:nvPr/>
        </p:nvSpPr>
        <p:spPr>
          <a:xfrm>
            <a:off x="6423660" y="2926080"/>
            <a:ext cx="1005840" cy="384048"/>
          </a:xfrm>
          <a:prstGeom prst="rect">
            <a:avLst/>
          </a:prstGeom>
          <a:noFill/>
          <a:ln/>
        </p:spPr>
        <p:txBody>
          <a:bodyPr wrap="square" lIns="0" tIns="0" rIns="0" bIns="0" rtlCol="0" anchor="ctr"/>
          <a:lstStyle/>
          <a:p>
            <a:pPr indent="0" marL="0">
              <a:buNone/>
            </a:pPr>
            <a:r>
              <a:rPr lang="en-US" sz="2200" b="1" dirty="0">
                <a:solidFill>
                  <a:srgbClr val="12855A"/>
                </a:solidFill>
                <a:latin typeface="Cambria" pitchFamily="34" charset="0"/>
                <a:ea typeface="Cambria" pitchFamily="34" charset="-122"/>
                <a:cs typeface="Cambria" pitchFamily="34" charset="-120"/>
              </a:rPr>
              <a:t>25%</a:t>
            </a:r>
            <a:endParaRPr lang="en-US" sz="2200" dirty="0"/>
          </a:p>
        </p:txBody>
      </p:sp>
      <p:sp>
        <p:nvSpPr>
          <p:cNvPr id="17" name="Text 15"/>
          <p:cNvSpPr/>
          <p:nvPr/>
        </p:nvSpPr>
        <p:spPr>
          <a:xfrm>
            <a:off x="7466076" y="2944368"/>
            <a:ext cx="3108960" cy="347472"/>
          </a:xfrm>
          <a:prstGeom prst="rect">
            <a:avLst/>
          </a:prstGeom>
          <a:noFill/>
          <a:ln/>
        </p:spPr>
        <p:txBody>
          <a:bodyPr wrap="square" lIns="0" tIns="0" rIns="0" bIns="0" rtlCol="0" anchor="ctr"/>
          <a:lstStyle/>
          <a:p>
            <a:pPr algn="l" indent="0" marL="0">
              <a:buNone/>
            </a:pPr>
            <a:r>
              <a:rPr lang="en-US" sz="1350" b="1" dirty="0">
                <a:solidFill>
                  <a:srgbClr val="0B1210"/>
                </a:solidFill>
                <a:latin typeface="Cambria" pitchFamily="34" charset="0"/>
                <a:ea typeface="Cambria" pitchFamily="34" charset="-122"/>
                <a:cs typeface="Cambria" pitchFamily="34" charset="-120"/>
              </a:rPr>
              <a:t>Principal protection</a:t>
            </a:r>
            <a:endParaRPr lang="en-US" sz="1350" dirty="0"/>
          </a:p>
        </p:txBody>
      </p:sp>
      <p:sp>
        <p:nvSpPr>
          <p:cNvPr id="18" name="Text 16"/>
          <p:cNvSpPr/>
          <p:nvPr/>
        </p:nvSpPr>
        <p:spPr>
          <a:xfrm>
            <a:off x="6423660" y="3364992"/>
            <a:ext cx="4887468" cy="274320"/>
          </a:xfrm>
          <a:prstGeom prst="rect">
            <a:avLst/>
          </a:prstGeom>
          <a:noFill/>
          <a:ln/>
        </p:spPr>
        <p:txBody>
          <a:bodyPr wrap="square" lIns="0" tIns="0" rIns="0" bIns="0" rtlCol="0" anchor="t"/>
          <a:lstStyle/>
          <a:p>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If it misses, how much of the stake survives?</a:t>
            </a:r>
            <a:endParaRPr lang="en-US" sz="1050" dirty="0"/>
          </a:p>
        </p:txBody>
      </p:sp>
      <p:sp>
        <p:nvSpPr>
          <p:cNvPr id="19" name="Shape 17"/>
          <p:cNvSpPr/>
          <p:nvPr/>
        </p:nvSpPr>
        <p:spPr>
          <a:xfrm>
            <a:off x="6423660" y="3657600"/>
            <a:ext cx="2377440" cy="310896"/>
          </a:xfrm>
          <a:prstGeom prst="roundRect">
            <a:avLst>
              <a:gd name="adj" fmla="val 17647"/>
            </a:avLst>
          </a:prstGeom>
          <a:solidFill>
            <a:srgbClr val="F2F5F3"/>
          </a:solidFill>
          <a:ln/>
        </p:spPr>
      </p:sp>
      <p:sp>
        <p:nvSpPr>
          <p:cNvPr id="20" name="Text 18"/>
          <p:cNvSpPr/>
          <p:nvPr/>
        </p:nvSpPr>
        <p:spPr>
          <a:xfrm>
            <a:off x="6515100" y="3657600"/>
            <a:ext cx="2194560" cy="310896"/>
          </a:xfrm>
          <a:prstGeom prst="rect">
            <a:avLst/>
          </a:prstGeom>
          <a:noFill/>
          <a:ln/>
        </p:spPr>
        <p:txBody>
          <a:bodyPr wrap="square" lIns="0" tIns="0" rIns="0" bIns="0" rtlCol="0" anchor="ctr"/>
          <a:lstStyle/>
          <a:p>
            <a:pPr algn="l" indent="0" marL="0">
              <a:lnSpc>
                <a:spcPct val="130000"/>
              </a:lnSpc>
              <a:buNone/>
            </a:pPr>
            <a:r>
              <a:rPr lang="en-US" sz="950" dirty="0">
                <a:solidFill>
                  <a:srgbClr val="0A5C3E"/>
                </a:solidFill>
                <a:latin typeface="Courier New" pitchFamily="34" charset="0"/>
                <a:ea typeface="Courier New" pitchFamily="34" charset="-122"/>
                <a:cs typeface="Courier New" pitchFamily="34" charset="-120"/>
              </a:rPr>
              <a:t>(6 − risk) / 5 × 100</a:t>
            </a:r>
            <a:endParaRPr lang="en-US" sz="950" dirty="0"/>
          </a:p>
        </p:txBody>
      </p:sp>
      <p:sp>
        <p:nvSpPr>
          <p:cNvPr id="21" name="Text 19"/>
          <p:cNvSpPr/>
          <p:nvPr/>
        </p:nvSpPr>
        <p:spPr>
          <a:xfrm>
            <a:off x="8947404" y="3639312"/>
            <a:ext cx="2363724" cy="365760"/>
          </a:xfrm>
          <a:prstGeom prst="rect">
            <a:avLst/>
          </a:prstGeom>
          <a:noFill/>
          <a:ln/>
        </p:spPr>
        <p:txBody>
          <a:bodyPr wrap="square" lIns="0" tIns="0" rIns="0" bIns="0" rtlCol="0" anchor="t"/>
          <a:lstStyle/>
          <a:p>
            <a:pPr algn="l" indent="0" marL="0">
              <a:lnSpc>
                <a:spcPct val="120000"/>
              </a:lnSpc>
              <a:buNone/>
            </a:pPr>
            <a:r>
              <a:rPr lang="en-US" sz="950" dirty="0">
                <a:solidFill>
                  <a:srgbClr val="6C7C74"/>
                </a:solidFill>
                <a:latin typeface="Calibri" pitchFamily="34" charset="0"/>
                <a:ea typeface="Calibri" pitchFamily="34" charset="-122"/>
                <a:cs typeface="Calibri" pitchFamily="34" charset="-120"/>
              </a:rPr>
              <a:t>Zero for any binary route. A miss there is not a shortfall, it is a total loss.</a:t>
            </a:r>
            <a:endParaRPr lang="en-US" sz="950" dirty="0"/>
          </a:p>
        </p:txBody>
      </p:sp>
      <p:sp>
        <p:nvSpPr>
          <p:cNvPr id="22" name="Shape 20"/>
          <p:cNvSpPr/>
          <p:nvPr/>
        </p:nvSpPr>
        <p:spPr>
          <a:xfrm>
            <a:off x="658368" y="4297680"/>
            <a:ext cx="5326380" cy="1371600"/>
          </a:xfrm>
          <a:prstGeom prst="roundRect">
            <a:avLst>
              <a:gd name="adj" fmla="val 6000"/>
            </a:avLst>
          </a:prstGeom>
          <a:solidFill>
            <a:srgbClr val="FFFFFF"/>
          </a:solidFill>
          <a:ln w="9525">
            <a:solidFill>
              <a:srgbClr val="DCE3DF"/>
            </a:solidFill>
            <a:prstDash val="solid"/>
          </a:ln>
          <a:effectLst>
            <a:outerShdw sx="100000" sy="100000" kx="0" ky="0" algn="bl" rotWithShape="0" blurRad="177800" dist="12700" dir="5400000">
              <a:srgbClr val="0B1210">
                <a:alpha val="7000"/>
              </a:srgbClr>
            </a:outerShdw>
          </a:effectLst>
        </p:spPr>
      </p:sp>
      <p:sp>
        <p:nvSpPr>
          <p:cNvPr id="23" name="Text 21"/>
          <p:cNvSpPr/>
          <p:nvPr/>
        </p:nvSpPr>
        <p:spPr>
          <a:xfrm>
            <a:off x="877824" y="4462272"/>
            <a:ext cx="1005840" cy="384048"/>
          </a:xfrm>
          <a:prstGeom prst="rect">
            <a:avLst/>
          </a:prstGeom>
          <a:noFill/>
          <a:ln/>
        </p:spPr>
        <p:txBody>
          <a:bodyPr wrap="square" lIns="0" tIns="0" rIns="0" bIns="0" rtlCol="0" anchor="ctr"/>
          <a:lstStyle/>
          <a:p>
            <a:pPr indent="0" marL="0">
              <a:buNone/>
            </a:pPr>
            <a:r>
              <a:rPr lang="en-US" sz="2200" b="1" dirty="0">
                <a:solidFill>
                  <a:srgbClr val="12855A"/>
                </a:solidFill>
                <a:latin typeface="Cambria" pitchFamily="34" charset="0"/>
                <a:ea typeface="Cambria" pitchFamily="34" charset="-122"/>
                <a:cs typeface="Cambria" pitchFamily="34" charset="-120"/>
              </a:rPr>
              <a:t>30%</a:t>
            </a:r>
            <a:endParaRPr lang="en-US" sz="2200" dirty="0"/>
          </a:p>
        </p:txBody>
      </p:sp>
      <p:sp>
        <p:nvSpPr>
          <p:cNvPr id="24" name="Text 22"/>
          <p:cNvSpPr/>
          <p:nvPr/>
        </p:nvSpPr>
        <p:spPr>
          <a:xfrm>
            <a:off x="1920240" y="4480560"/>
            <a:ext cx="3108960" cy="347472"/>
          </a:xfrm>
          <a:prstGeom prst="rect">
            <a:avLst/>
          </a:prstGeom>
          <a:noFill/>
          <a:ln/>
        </p:spPr>
        <p:txBody>
          <a:bodyPr wrap="square" lIns="0" tIns="0" rIns="0" bIns="0" rtlCol="0" anchor="ctr"/>
          <a:lstStyle/>
          <a:p>
            <a:pPr algn="l" indent="0" marL="0">
              <a:buNone/>
            </a:pPr>
            <a:r>
              <a:rPr lang="en-US" sz="1350" b="1" dirty="0">
                <a:solidFill>
                  <a:srgbClr val="0B1210"/>
                </a:solidFill>
                <a:latin typeface="Cambria" pitchFamily="34" charset="0"/>
                <a:ea typeface="Cambria" pitchFamily="34" charset="-122"/>
                <a:cs typeface="Cambria" pitchFamily="34" charset="-120"/>
              </a:rPr>
              <a:t>Capital efficiency</a:t>
            </a:r>
            <a:endParaRPr lang="en-US" sz="1350" dirty="0"/>
          </a:p>
        </p:txBody>
      </p:sp>
      <p:sp>
        <p:nvSpPr>
          <p:cNvPr id="25" name="Text 23"/>
          <p:cNvSpPr/>
          <p:nvPr/>
        </p:nvSpPr>
        <p:spPr>
          <a:xfrm>
            <a:off x="877824" y="4901184"/>
            <a:ext cx="4887468" cy="274320"/>
          </a:xfrm>
          <a:prstGeom prst="rect">
            <a:avLst/>
          </a:prstGeom>
          <a:noFill/>
          <a:ln/>
        </p:spPr>
        <p:txBody>
          <a:bodyPr wrap="square" lIns="0" tIns="0" rIns="0" bIns="0" rtlCol="0" anchor="t"/>
          <a:lstStyle/>
          <a:p>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How little money does it tie up for the same result?</a:t>
            </a:r>
            <a:endParaRPr lang="en-US" sz="1050" dirty="0"/>
          </a:p>
        </p:txBody>
      </p:sp>
      <p:sp>
        <p:nvSpPr>
          <p:cNvPr id="26" name="Shape 24"/>
          <p:cNvSpPr/>
          <p:nvPr/>
        </p:nvSpPr>
        <p:spPr>
          <a:xfrm>
            <a:off x="877824" y="5193792"/>
            <a:ext cx="2377440" cy="310896"/>
          </a:xfrm>
          <a:prstGeom prst="roundRect">
            <a:avLst>
              <a:gd name="adj" fmla="val 17647"/>
            </a:avLst>
          </a:prstGeom>
          <a:solidFill>
            <a:srgbClr val="F2F5F3"/>
          </a:solidFill>
          <a:ln/>
        </p:spPr>
      </p:sp>
      <p:sp>
        <p:nvSpPr>
          <p:cNvPr id="27" name="Text 25"/>
          <p:cNvSpPr/>
          <p:nvPr/>
        </p:nvSpPr>
        <p:spPr>
          <a:xfrm>
            <a:off x="969264" y="5193792"/>
            <a:ext cx="2194560" cy="310896"/>
          </a:xfrm>
          <a:prstGeom prst="rect">
            <a:avLst/>
          </a:prstGeom>
          <a:noFill/>
          <a:ln/>
        </p:spPr>
        <p:txBody>
          <a:bodyPr wrap="square" lIns="0" tIns="0" rIns="0" bIns="0" rtlCol="0" anchor="ctr"/>
          <a:lstStyle/>
          <a:p>
            <a:pPr algn="l" indent="0" marL="0">
              <a:lnSpc>
                <a:spcPct val="130000"/>
              </a:lnSpc>
              <a:buNone/>
            </a:pPr>
            <a:r>
              <a:rPr lang="en-US" sz="950" dirty="0">
                <a:solidFill>
                  <a:srgbClr val="0A5C3E"/>
                </a:solidFill>
                <a:latin typeface="Courier New" pitchFamily="34" charset="0"/>
                <a:ea typeface="Courier New" pitchFamily="34" charset="-122"/>
                <a:cs typeface="Courier New" pitchFamily="34" charset="-120"/>
              </a:rPr>
              <a:t>target / (target + capital)</a:t>
            </a:r>
            <a:endParaRPr lang="en-US" sz="950" dirty="0"/>
          </a:p>
        </p:txBody>
      </p:sp>
      <p:sp>
        <p:nvSpPr>
          <p:cNvPr id="28" name="Text 26"/>
          <p:cNvSpPr/>
          <p:nvPr/>
        </p:nvSpPr>
        <p:spPr>
          <a:xfrm>
            <a:off x="3401568" y="5175504"/>
            <a:ext cx="2363724" cy="365760"/>
          </a:xfrm>
          <a:prstGeom prst="rect">
            <a:avLst/>
          </a:prstGeom>
          <a:noFill/>
          <a:ln/>
        </p:spPr>
        <p:txBody>
          <a:bodyPr wrap="square" lIns="0" tIns="0" rIns="0" bIns="0" rtlCol="0" anchor="t"/>
          <a:lstStyle/>
          <a:p>
            <a:pPr algn="l" indent="0" marL="0">
              <a:lnSpc>
                <a:spcPct val="120000"/>
              </a:lnSpc>
              <a:buNone/>
            </a:pPr>
            <a:r>
              <a:rPr lang="en-US" sz="950" dirty="0">
                <a:solidFill>
                  <a:srgbClr val="6C7C74"/>
                </a:solidFill>
                <a:latin typeface="Calibri" pitchFamily="34" charset="0"/>
                <a:ea typeface="Calibri" pitchFamily="34" charset="-122"/>
                <a:cs typeface="Calibri" pitchFamily="34" charset="-120"/>
              </a:rPr>
              <a:t>Why a $5,000 T-bill for $50 of profit scores about 1 on this component.</a:t>
            </a:r>
            <a:endParaRPr lang="en-US" sz="950" dirty="0"/>
          </a:p>
        </p:txBody>
      </p:sp>
      <p:sp>
        <p:nvSpPr>
          <p:cNvPr id="29" name="Shape 27"/>
          <p:cNvSpPr/>
          <p:nvPr/>
        </p:nvSpPr>
        <p:spPr>
          <a:xfrm>
            <a:off x="6204204" y="4297680"/>
            <a:ext cx="5326380" cy="1371600"/>
          </a:xfrm>
          <a:prstGeom prst="roundRect">
            <a:avLst>
              <a:gd name="adj" fmla="val 6000"/>
            </a:avLst>
          </a:prstGeom>
          <a:solidFill>
            <a:srgbClr val="FFFFFF"/>
          </a:solidFill>
          <a:ln w="9525">
            <a:solidFill>
              <a:srgbClr val="DCE3DF"/>
            </a:solidFill>
            <a:prstDash val="solid"/>
          </a:ln>
          <a:effectLst>
            <a:outerShdw sx="100000" sy="100000" kx="0" ky="0" algn="bl" rotWithShape="0" blurRad="177800" dist="12700" dir="5400000">
              <a:srgbClr val="0B1210">
                <a:alpha val="7000"/>
              </a:srgbClr>
            </a:outerShdw>
          </a:effectLst>
        </p:spPr>
      </p:sp>
      <p:sp>
        <p:nvSpPr>
          <p:cNvPr id="30" name="Text 28"/>
          <p:cNvSpPr/>
          <p:nvPr/>
        </p:nvSpPr>
        <p:spPr>
          <a:xfrm>
            <a:off x="6423660" y="4462272"/>
            <a:ext cx="1005840" cy="384048"/>
          </a:xfrm>
          <a:prstGeom prst="rect">
            <a:avLst/>
          </a:prstGeom>
          <a:noFill/>
          <a:ln/>
        </p:spPr>
        <p:txBody>
          <a:bodyPr wrap="square" lIns="0" tIns="0" rIns="0" bIns="0" rtlCol="0" anchor="ctr"/>
          <a:lstStyle/>
          <a:p>
            <a:pPr indent="0" marL="0">
              <a:buNone/>
            </a:pPr>
            <a:r>
              <a:rPr lang="en-US" sz="2200" b="1" dirty="0">
                <a:solidFill>
                  <a:srgbClr val="12855A"/>
                </a:solidFill>
                <a:latin typeface="Cambria" pitchFamily="34" charset="0"/>
                <a:ea typeface="Cambria" pitchFamily="34" charset="-122"/>
                <a:cs typeface="Cambria" pitchFamily="34" charset="-120"/>
              </a:rPr>
              <a:t>10%</a:t>
            </a:r>
            <a:endParaRPr lang="en-US" sz="2200" dirty="0"/>
          </a:p>
        </p:txBody>
      </p:sp>
      <p:sp>
        <p:nvSpPr>
          <p:cNvPr id="31" name="Text 29"/>
          <p:cNvSpPr/>
          <p:nvPr/>
        </p:nvSpPr>
        <p:spPr>
          <a:xfrm>
            <a:off x="7466076" y="4480560"/>
            <a:ext cx="3108960" cy="347472"/>
          </a:xfrm>
          <a:prstGeom prst="rect">
            <a:avLst/>
          </a:prstGeom>
          <a:noFill/>
          <a:ln/>
        </p:spPr>
        <p:txBody>
          <a:bodyPr wrap="square" lIns="0" tIns="0" rIns="0" bIns="0" rtlCol="0" anchor="ctr"/>
          <a:lstStyle/>
          <a:p>
            <a:pPr algn="l" indent="0" marL="0">
              <a:buNone/>
            </a:pPr>
            <a:r>
              <a:rPr lang="en-US" sz="1350" b="1" dirty="0">
                <a:solidFill>
                  <a:srgbClr val="0B1210"/>
                </a:solidFill>
                <a:latin typeface="Cambria" pitchFamily="34" charset="0"/>
                <a:ea typeface="Cambria" pitchFamily="34" charset="-122"/>
                <a:cs typeface="Cambria" pitchFamily="34" charset="-120"/>
              </a:rPr>
              <a:t>Time efficiency</a:t>
            </a:r>
            <a:endParaRPr lang="en-US" sz="1350" dirty="0"/>
          </a:p>
        </p:txBody>
      </p:sp>
      <p:sp>
        <p:nvSpPr>
          <p:cNvPr id="32" name="Text 30"/>
          <p:cNvSpPr/>
          <p:nvPr/>
        </p:nvSpPr>
        <p:spPr>
          <a:xfrm>
            <a:off x="6423660" y="4901184"/>
            <a:ext cx="4887468" cy="274320"/>
          </a:xfrm>
          <a:prstGeom prst="rect">
            <a:avLst/>
          </a:prstGeom>
          <a:noFill/>
          <a:ln/>
        </p:spPr>
        <p:txBody>
          <a:bodyPr wrap="square" lIns="0" tIns="0" rIns="0" bIns="0" rtlCol="0" anchor="t"/>
          <a:lstStyle/>
          <a:p>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How early inside the deadline does it pay out?</a:t>
            </a:r>
            <a:endParaRPr lang="en-US" sz="1050" dirty="0"/>
          </a:p>
        </p:txBody>
      </p:sp>
      <p:sp>
        <p:nvSpPr>
          <p:cNvPr id="33" name="Shape 31"/>
          <p:cNvSpPr/>
          <p:nvPr/>
        </p:nvSpPr>
        <p:spPr>
          <a:xfrm>
            <a:off x="6423660" y="5193792"/>
            <a:ext cx="2377440" cy="310896"/>
          </a:xfrm>
          <a:prstGeom prst="roundRect">
            <a:avLst>
              <a:gd name="adj" fmla="val 17647"/>
            </a:avLst>
          </a:prstGeom>
          <a:solidFill>
            <a:srgbClr val="F2F5F3"/>
          </a:solidFill>
          <a:ln/>
        </p:spPr>
      </p:sp>
      <p:sp>
        <p:nvSpPr>
          <p:cNvPr id="34" name="Text 32"/>
          <p:cNvSpPr/>
          <p:nvPr/>
        </p:nvSpPr>
        <p:spPr>
          <a:xfrm>
            <a:off x="6515100" y="5193792"/>
            <a:ext cx="2194560" cy="310896"/>
          </a:xfrm>
          <a:prstGeom prst="rect">
            <a:avLst/>
          </a:prstGeom>
          <a:noFill/>
          <a:ln/>
        </p:spPr>
        <p:txBody>
          <a:bodyPr wrap="square" lIns="0" tIns="0" rIns="0" bIns="0" rtlCol="0" anchor="ctr"/>
          <a:lstStyle/>
          <a:p>
            <a:pPr algn="l" indent="0" marL="0">
              <a:lnSpc>
                <a:spcPct val="130000"/>
              </a:lnSpc>
              <a:buNone/>
            </a:pPr>
            <a:r>
              <a:rPr lang="en-US" sz="950" dirty="0">
                <a:solidFill>
                  <a:srgbClr val="0A5C3E"/>
                </a:solidFill>
                <a:latin typeface="Courier New" pitchFamily="34" charset="0"/>
                <a:ea typeface="Courier New" pitchFamily="34" charset="-122"/>
                <a:cs typeface="Courier New" pitchFamily="34" charset="-120"/>
              </a:rPr>
              <a:t>100 − 50 · (matures / deadline)</a:t>
            </a:r>
            <a:endParaRPr lang="en-US" sz="950" dirty="0"/>
          </a:p>
        </p:txBody>
      </p:sp>
      <p:sp>
        <p:nvSpPr>
          <p:cNvPr id="35" name="Text 33"/>
          <p:cNvSpPr/>
          <p:nvPr/>
        </p:nvSpPr>
        <p:spPr>
          <a:xfrm>
            <a:off x="8947404" y="5175504"/>
            <a:ext cx="2363724" cy="365760"/>
          </a:xfrm>
          <a:prstGeom prst="rect">
            <a:avLst/>
          </a:prstGeom>
          <a:noFill/>
          <a:ln/>
        </p:spPr>
        <p:txBody>
          <a:bodyPr wrap="square" lIns="0" tIns="0" rIns="0" bIns="0" rtlCol="0" anchor="t"/>
          <a:lstStyle/>
          <a:p>
            <a:pPr algn="l" indent="0" marL="0">
              <a:lnSpc>
                <a:spcPct val="120000"/>
              </a:lnSpc>
              <a:buNone/>
            </a:pPr>
            <a:r>
              <a:rPr lang="en-US" sz="950" dirty="0">
                <a:solidFill>
                  <a:srgbClr val="6C7C74"/>
                </a:solidFill>
                <a:latin typeface="Calibri" pitchFamily="34" charset="0"/>
                <a:ea typeface="Calibri" pitchFamily="34" charset="-122"/>
                <a:cs typeface="Calibri" pitchFamily="34" charset="-120"/>
              </a:rPr>
              <a:t>Deliberately the smallest weight — early money is nice, not decisive.</a:t>
            </a:r>
            <a:endParaRPr lang="en-US" sz="950" dirty="0"/>
          </a:p>
        </p:txBody>
      </p:sp>
      <p:sp>
        <p:nvSpPr>
          <p:cNvPr id="36" name="Text 34"/>
          <p:cNvSpPr/>
          <p:nvPr/>
        </p:nvSpPr>
        <p:spPr>
          <a:xfrm>
            <a:off x="658368" y="5888736"/>
            <a:ext cx="10872216" cy="420624"/>
          </a:xfrm>
          <a:prstGeom prst="rect">
            <a:avLst/>
          </a:prstGeom>
          <a:noFill/>
          <a:ln/>
        </p:spPr>
        <p:txBody>
          <a:bodyPr wrap="square" lIns="0" tIns="0" rIns="0" bIns="0" rtlCol="0" anchor="t"/>
          <a:lstStyle/>
          <a:p>
            <a:pPr indent="0" marL="0">
              <a:lnSpc>
                <a:spcPct val="118000"/>
              </a:lnSpc>
              <a:buNone/>
            </a:pPr>
            <a:r>
              <a:rPr lang="en-US" sz="1100" dirty="0">
                <a:solidFill>
                  <a:srgbClr val="0B1210"/>
                </a:solidFill>
                <a:latin typeface="Calibri" pitchFamily="34" charset="0"/>
                <a:ea typeface="Calibri" pitchFamily="34" charset="-122"/>
                <a:cs typeface="Calibri" pitchFamily="34" charset="-120"/>
              </a:rPr>
              <a:t>The weights are fixed, published, and visible: every route's detail screen shows what each component contributed. A black box asking for trust is exactly the thing we are competing against.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10</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04.05  ·  THE CORRECTIONS</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Three corrections, and every one of them</a:t>
            </a:r>
            <a:endParaRPr lang="en-US" sz="3000" dirty="0"/>
          </a:p>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only ever subtracts.</a:t>
            </a:r>
            <a:endParaRPr lang="en-US" sz="3000" dirty="0"/>
          </a:p>
        </p:txBody>
      </p:sp>
      <p:sp>
        <p:nvSpPr>
          <p:cNvPr id="6" name="Text 4"/>
          <p:cNvSpPr/>
          <p:nvPr/>
        </p:nvSpPr>
        <p:spPr>
          <a:xfrm>
            <a:off x="658368" y="1737360"/>
            <a:ext cx="9326880" cy="292608"/>
          </a:xfrm>
          <a:prstGeom prst="rect">
            <a:avLst/>
          </a:prstGeom>
          <a:noFill/>
          <a:ln/>
        </p:spPr>
        <p:txBody>
          <a:bodyPr wrap="square" lIns="0" tIns="0" rIns="0" bIns="0" rtlCol="0" anchor="t"/>
          <a:lstStyle/>
          <a:p>
            <a:pPr indent="0" marL="0">
              <a:lnSpc>
                <a:spcPct val="122000"/>
              </a:lnSpc>
              <a:buNone/>
            </a:pPr>
            <a:r>
              <a:rPr lang="en-US" sz="1300" dirty="0">
                <a:solidFill>
                  <a:srgbClr val="44534C"/>
                </a:solidFill>
                <a:latin typeface="Calibri" pitchFamily="34" charset="0"/>
                <a:ea typeface="Calibri" pitchFamily="34" charset="-122"/>
                <a:cs typeface="Calibri" pitchFamily="34" charset="-120"/>
              </a:rPr>
              <a:t>The four weighted components measure how good a route is when it works. These three decide what happens when it doesn't.</a:t>
            </a:r>
            <a:endParaRPr lang="en-US" sz="1300" dirty="0"/>
          </a:p>
        </p:txBody>
      </p:sp>
      <p:sp>
        <p:nvSpPr>
          <p:cNvPr id="7" name="Shape 5"/>
          <p:cNvSpPr/>
          <p:nvPr/>
        </p:nvSpPr>
        <p:spPr>
          <a:xfrm>
            <a:off x="658368" y="2194560"/>
            <a:ext cx="10872216" cy="1298448"/>
          </a:xfrm>
          <a:prstGeom prst="roundRect">
            <a:avLst>
              <a:gd name="adj" fmla="val 6338"/>
            </a:avLst>
          </a:prstGeom>
          <a:solidFill>
            <a:srgbClr val="FFFFFF"/>
          </a:solidFill>
          <a:ln w="9525">
            <a:solidFill>
              <a:srgbClr val="DCE3DF"/>
            </a:solidFill>
            <a:prstDash val="solid"/>
          </a:ln>
        </p:spPr>
      </p:sp>
      <p:sp>
        <p:nvSpPr>
          <p:cNvPr id="8" name="Shape 6"/>
          <p:cNvSpPr/>
          <p:nvPr/>
        </p:nvSpPr>
        <p:spPr>
          <a:xfrm>
            <a:off x="859536" y="2377440"/>
            <a:ext cx="384048" cy="274320"/>
          </a:xfrm>
          <a:prstGeom prst="roundRect">
            <a:avLst>
              <a:gd name="adj" fmla="val 18333"/>
            </a:avLst>
          </a:prstGeom>
          <a:solidFill>
            <a:srgbClr val="0B1210"/>
          </a:solidFill>
          <a:ln/>
        </p:spPr>
      </p:sp>
      <p:sp>
        <p:nvSpPr>
          <p:cNvPr id="9" name="Text 7"/>
          <p:cNvSpPr/>
          <p:nvPr/>
        </p:nvSpPr>
        <p:spPr>
          <a:xfrm>
            <a:off x="859536" y="2377440"/>
            <a:ext cx="3840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01</a:t>
            </a:r>
            <a:endParaRPr lang="en-US" sz="1000" dirty="0"/>
          </a:p>
        </p:txBody>
      </p:sp>
      <p:sp>
        <p:nvSpPr>
          <p:cNvPr id="10" name="Text 8"/>
          <p:cNvSpPr/>
          <p:nvPr/>
        </p:nvSpPr>
        <p:spPr>
          <a:xfrm>
            <a:off x="1353312" y="2377440"/>
            <a:ext cx="2194560" cy="274320"/>
          </a:xfrm>
          <a:prstGeom prst="rect">
            <a:avLst/>
          </a:prstGeom>
          <a:noFill/>
          <a:ln/>
        </p:spPr>
        <p:txBody>
          <a:bodyPr wrap="square" lIns="0" tIns="0" rIns="0" bIns="0" rtlCol="0" anchor="ctr"/>
          <a:lstStyle/>
          <a:p>
            <a:pPr algn="l" indent="0" marL="0">
              <a:buNone/>
            </a:pPr>
            <a:r>
              <a:rPr lang="en-US" sz="1350" b="1" dirty="0">
                <a:solidFill>
                  <a:srgbClr val="0B1210"/>
                </a:solidFill>
                <a:latin typeface="Cambria" pitchFamily="34" charset="0"/>
                <a:ea typeface="Cambria" pitchFamily="34" charset="-122"/>
                <a:cs typeface="Cambria" pitchFamily="34" charset="-120"/>
              </a:rPr>
              <a:t>Survival drag</a:t>
            </a:r>
            <a:endParaRPr lang="en-US" sz="1350" dirty="0"/>
          </a:p>
        </p:txBody>
      </p:sp>
      <p:sp>
        <p:nvSpPr>
          <p:cNvPr id="11" name="Text 9"/>
          <p:cNvSpPr/>
          <p:nvPr/>
        </p:nvSpPr>
        <p:spPr>
          <a:xfrm>
            <a:off x="859536" y="2724912"/>
            <a:ext cx="2286000" cy="237744"/>
          </a:xfrm>
          <a:prstGeom prst="rect">
            <a:avLst/>
          </a:prstGeom>
          <a:noFill/>
          <a:ln/>
        </p:spPr>
        <p:txBody>
          <a:bodyPr wrap="square" lIns="0" tIns="0" rIns="0" bIns="0" rtlCol="0" anchor="ctr"/>
          <a:lstStyle/>
          <a:p>
            <a:pPr algn="l" indent="0" marL="0">
              <a:lnSpc>
                <a:spcPct val="130000"/>
              </a:lnSpc>
              <a:buNone/>
            </a:pPr>
            <a:r>
              <a:rPr lang="en-US" sz="1000" dirty="0">
                <a:solidFill>
                  <a:srgbClr val="12855A"/>
                </a:solidFill>
                <a:latin typeface="Courier New" pitchFamily="34" charset="0"/>
                <a:ea typeface="Courier New" pitchFamily="34" charset="-122"/>
                <a:cs typeface="Courier New" pitchFamily="34" charset="-120"/>
              </a:rPr>
              <a:t>score × P(success)</a:t>
            </a:r>
            <a:endParaRPr lang="en-US" sz="1000" dirty="0"/>
          </a:p>
        </p:txBody>
      </p:sp>
      <p:sp>
        <p:nvSpPr>
          <p:cNvPr id="12" name="Text 10"/>
          <p:cNvSpPr/>
          <p:nvPr/>
        </p:nvSpPr>
        <p:spPr>
          <a:xfrm>
            <a:off x="859536" y="2962656"/>
            <a:ext cx="4572000" cy="457200"/>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A binary miss is not a shortfall — the whole stake is gone. So probability counts twice: as reliability, and again as a multiplier on the whole score. Capital-preserving routes are untouched.</a:t>
            </a:r>
            <a:endParaRPr lang="en-US" sz="950" dirty="0"/>
          </a:p>
        </p:txBody>
      </p:sp>
      <p:sp>
        <p:nvSpPr>
          <p:cNvPr id="13" name="Shape 11"/>
          <p:cNvSpPr/>
          <p:nvPr/>
        </p:nvSpPr>
        <p:spPr>
          <a:xfrm>
            <a:off x="5577840" y="2414016"/>
            <a:ext cx="1737360" cy="731520"/>
          </a:xfrm>
          <a:prstGeom prst="roundRect">
            <a:avLst>
              <a:gd name="adj" fmla="val 8750"/>
            </a:avLst>
          </a:prstGeom>
          <a:solidFill>
            <a:srgbClr val="F2F5F3"/>
          </a:solidFill>
          <a:ln/>
        </p:spPr>
      </p:sp>
      <p:sp>
        <p:nvSpPr>
          <p:cNvPr id="14" name="Text 12"/>
          <p:cNvSpPr/>
          <p:nvPr/>
        </p:nvSpPr>
        <p:spPr>
          <a:xfrm>
            <a:off x="5705856" y="2487168"/>
            <a:ext cx="1463040" cy="219456"/>
          </a:xfrm>
          <a:prstGeom prst="rect">
            <a:avLst/>
          </a:prstGeom>
          <a:noFill/>
          <a:ln/>
        </p:spPr>
        <p:txBody>
          <a:bodyPr wrap="square" lIns="0" tIns="0" rIns="0" bIns="0" rtlCol="0" anchor="t"/>
          <a:lstStyle/>
          <a:p>
            <a:pPr algn="l" indent="0" marL="0">
              <a:lnSpc>
                <a:spcPct val="120000"/>
              </a:lnSpc>
              <a:buNone/>
            </a:pPr>
            <a:r>
              <a:rPr lang="en-US" sz="1000" b="1" dirty="0">
                <a:solidFill>
                  <a:srgbClr val="0B1210"/>
                </a:solidFill>
                <a:latin typeface="Calibri" pitchFamily="34" charset="0"/>
                <a:ea typeface="Calibri" pitchFamily="34" charset="-122"/>
                <a:cs typeface="Calibri" pitchFamily="34" charset="-120"/>
              </a:rPr>
              <a:t>P = 95%</a:t>
            </a:r>
            <a:endParaRPr lang="en-US" sz="1000" dirty="0"/>
          </a:p>
        </p:txBody>
      </p:sp>
      <p:sp>
        <p:nvSpPr>
          <p:cNvPr id="15" name="Text 13"/>
          <p:cNvSpPr/>
          <p:nvPr/>
        </p:nvSpPr>
        <p:spPr>
          <a:xfrm>
            <a:off x="5705856" y="2688336"/>
            <a:ext cx="1463040" cy="219456"/>
          </a:xfrm>
          <a:prstGeom prst="rect">
            <a:avLst/>
          </a:prstGeom>
          <a:noFill/>
          <a:ln/>
        </p:spPr>
        <p:txBody>
          <a:bodyPr wrap="square" lIns="0" tIns="0" rIns="0" bIns="0" rtlCol="0" anchor="ctr"/>
          <a:lstStyle/>
          <a:p>
            <a:pPr algn="l" indent="0" marL="0">
              <a:lnSpc>
                <a:spcPct val="130000"/>
              </a:lnSpc>
              <a:buNone/>
            </a:pPr>
            <a:r>
              <a:rPr lang="en-US" sz="1150" b="1" dirty="0">
                <a:solidFill>
                  <a:srgbClr val="0A5C3E"/>
                </a:solidFill>
                <a:latin typeface="Courier New" pitchFamily="34" charset="0"/>
                <a:ea typeface="Courier New" pitchFamily="34" charset="-122"/>
                <a:cs typeface="Courier New" pitchFamily="34" charset="-120"/>
              </a:rPr>
              <a:t>×0.95</a:t>
            </a:r>
            <a:endParaRPr lang="en-US" sz="1150" dirty="0"/>
          </a:p>
        </p:txBody>
      </p:sp>
      <p:sp>
        <p:nvSpPr>
          <p:cNvPr id="16" name="Text 14"/>
          <p:cNvSpPr/>
          <p:nvPr/>
        </p:nvSpPr>
        <p:spPr>
          <a:xfrm>
            <a:off x="5705856" y="2907792"/>
            <a:ext cx="1463040" cy="201168"/>
          </a:xfrm>
          <a:prstGeom prst="rect">
            <a:avLst/>
          </a:prstGeom>
          <a:noFill/>
          <a:ln/>
        </p:spPr>
        <p:txBody>
          <a:bodyPr wrap="square" lIns="0" tIns="0" rIns="0" bIns="0" rtlCol="0" anchor="t"/>
          <a:lstStyle/>
          <a:p>
            <a:pPr algn="l" indent="0" marL="0">
              <a:lnSpc>
                <a:spcPct val="120000"/>
              </a:lnSpc>
              <a:buNone/>
            </a:pPr>
            <a:r>
              <a:rPr lang="en-US" sz="900" dirty="0">
                <a:solidFill>
                  <a:srgbClr val="6C7C74"/>
                </a:solidFill>
                <a:latin typeface="Calibri" pitchFamily="34" charset="0"/>
                <a:ea typeface="Calibri" pitchFamily="34" charset="-122"/>
                <a:cs typeface="Calibri" pitchFamily="34" charset="-120"/>
              </a:rPr>
              <a:t>keeps 95%</a:t>
            </a:r>
            <a:endParaRPr lang="en-US" sz="900" dirty="0"/>
          </a:p>
        </p:txBody>
      </p:sp>
      <p:sp>
        <p:nvSpPr>
          <p:cNvPr id="17" name="Shape 15"/>
          <p:cNvSpPr/>
          <p:nvPr/>
        </p:nvSpPr>
        <p:spPr>
          <a:xfrm>
            <a:off x="7461504" y="2414016"/>
            <a:ext cx="1737360" cy="731520"/>
          </a:xfrm>
          <a:prstGeom prst="roundRect">
            <a:avLst>
              <a:gd name="adj" fmla="val 8750"/>
            </a:avLst>
          </a:prstGeom>
          <a:solidFill>
            <a:srgbClr val="F2F5F3"/>
          </a:solidFill>
          <a:ln/>
        </p:spPr>
      </p:sp>
      <p:sp>
        <p:nvSpPr>
          <p:cNvPr id="18" name="Text 16"/>
          <p:cNvSpPr/>
          <p:nvPr/>
        </p:nvSpPr>
        <p:spPr>
          <a:xfrm>
            <a:off x="7589520" y="2487168"/>
            <a:ext cx="1463040" cy="219456"/>
          </a:xfrm>
          <a:prstGeom prst="rect">
            <a:avLst/>
          </a:prstGeom>
          <a:noFill/>
          <a:ln/>
        </p:spPr>
        <p:txBody>
          <a:bodyPr wrap="square" lIns="0" tIns="0" rIns="0" bIns="0" rtlCol="0" anchor="t"/>
          <a:lstStyle/>
          <a:p>
            <a:pPr algn="l" indent="0" marL="0">
              <a:lnSpc>
                <a:spcPct val="120000"/>
              </a:lnSpc>
              <a:buNone/>
            </a:pPr>
            <a:r>
              <a:rPr lang="en-US" sz="1000" b="1" dirty="0">
                <a:solidFill>
                  <a:srgbClr val="0B1210"/>
                </a:solidFill>
                <a:latin typeface="Calibri" pitchFamily="34" charset="0"/>
                <a:ea typeface="Calibri" pitchFamily="34" charset="-122"/>
                <a:cs typeface="Calibri" pitchFamily="34" charset="-120"/>
              </a:rPr>
              <a:t>P = 50%</a:t>
            </a:r>
            <a:endParaRPr lang="en-US" sz="1000" dirty="0"/>
          </a:p>
        </p:txBody>
      </p:sp>
      <p:sp>
        <p:nvSpPr>
          <p:cNvPr id="19" name="Text 17"/>
          <p:cNvSpPr/>
          <p:nvPr/>
        </p:nvSpPr>
        <p:spPr>
          <a:xfrm>
            <a:off x="7589520" y="2688336"/>
            <a:ext cx="1463040" cy="219456"/>
          </a:xfrm>
          <a:prstGeom prst="rect">
            <a:avLst/>
          </a:prstGeom>
          <a:noFill/>
          <a:ln/>
        </p:spPr>
        <p:txBody>
          <a:bodyPr wrap="square" lIns="0" tIns="0" rIns="0" bIns="0" rtlCol="0" anchor="ctr"/>
          <a:lstStyle/>
          <a:p>
            <a:pPr algn="l" indent="0" marL="0">
              <a:lnSpc>
                <a:spcPct val="130000"/>
              </a:lnSpc>
              <a:buNone/>
            </a:pPr>
            <a:r>
              <a:rPr lang="en-US" sz="1150" b="1" dirty="0">
                <a:solidFill>
                  <a:srgbClr val="0A5C3E"/>
                </a:solidFill>
                <a:latin typeface="Courier New" pitchFamily="34" charset="0"/>
                <a:ea typeface="Courier New" pitchFamily="34" charset="-122"/>
                <a:cs typeface="Courier New" pitchFamily="34" charset="-120"/>
              </a:rPr>
              <a:t>×0.50</a:t>
            </a:r>
            <a:endParaRPr lang="en-US" sz="1150" dirty="0"/>
          </a:p>
        </p:txBody>
      </p:sp>
      <p:sp>
        <p:nvSpPr>
          <p:cNvPr id="20" name="Text 18"/>
          <p:cNvSpPr/>
          <p:nvPr/>
        </p:nvSpPr>
        <p:spPr>
          <a:xfrm>
            <a:off x="7589520" y="2907792"/>
            <a:ext cx="1463040" cy="201168"/>
          </a:xfrm>
          <a:prstGeom prst="rect">
            <a:avLst/>
          </a:prstGeom>
          <a:noFill/>
          <a:ln/>
        </p:spPr>
        <p:txBody>
          <a:bodyPr wrap="square" lIns="0" tIns="0" rIns="0" bIns="0" rtlCol="0" anchor="t"/>
          <a:lstStyle/>
          <a:p>
            <a:pPr algn="l" indent="0" marL="0">
              <a:lnSpc>
                <a:spcPct val="120000"/>
              </a:lnSpc>
              <a:buNone/>
            </a:pPr>
            <a:r>
              <a:rPr lang="en-US" sz="900" dirty="0">
                <a:solidFill>
                  <a:srgbClr val="6C7C74"/>
                </a:solidFill>
                <a:latin typeface="Calibri" pitchFamily="34" charset="0"/>
                <a:ea typeface="Calibri" pitchFamily="34" charset="-122"/>
                <a:cs typeface="Calibri" pitchFamily="34" charset="-120"/>
              </a:rPr>
              <a:t>halved</a:t>
            </a:r>
            <a:endParaRPr lang="en-US" sz="900" dirty="0"/>
          </a:p>
        </p:txBody>
      </p:sp>
      <p:sp>
        <p:nvSpPr>
          <p:cNvPr id="21" name="Shape 19"/>
          <p:cNvSpPr/>
          <p:nvPr/>
        </p:nvSpPr>
        <p:spPr>
          <a:xfrm>
            <a:off x="9345168" y="2414016"/>
            <a:ext cx="1737360" cy="731520"/>
          </a:xfrm>
          <a:prstGeom prst="roundRect">
            <a:avLst>
              <a:gd name="adj" fmla="val 8750"/>
            </a:avLst>
          </a:prstGeom>
          <a:solidFill>
            <a:srgbClr val="FAECEB"/>
          </a:solidFill>
          <a:ln/>
        </p:spPr>
      </p:sp>
      <p:sp>
        <p:nvSpPr>
          <p:cNvPr id="22" name="Text 20"/>
          <p:cNvSpPr/>
          <p:nvPr/>
        </p:nvSpPr>
        <p:spPr>
          <a:xfrm>
            <a:off x="9473184" y="2487168"/>
            <a:ext cx="1463040" cy="219456"/>
          </a:xfrm>
          <a:prstGeom prst="rect">
            <a:avLst/>
          </a:prstGeom>
          <a:noFill/>
          <a:ln/>
        </p:spPr>
        <p:txBody>
          <a:bodyPr wrap="square" lIns="0" tIns="0" rIns="0" bIns="0" rtlCol="0" anchor="t"/>
          <a:lstStyle/>
          <a:p>
            <a:pPr algn="l" indent="0" marL="0">
              <a:lnSpc>
                <a:spcPct val="120000"/>
              </a:lnSpc>
              <a:buNone/>
            </a:pPr>
            <a:r>
              <a:rPr lang="en-US" sz="1000" b="1" dirty="0">
                <a:solidFill>
                  <a:srgbClr val="0B1210"/>
                </a:solidFill>
                <a:latin typeface="Calibri" pitchFamily="34" charset="0"/>
                <a:ea typeface="Calibri" pitchFamily="34" charset="-122"/>
                <a:cs typeface="Calibri" pitchFamily="34" charset="-120"/>
              </a:rPr>
              <a:t>P = 12%</a:t>
            </a:r>
            <a:endParaRPr lang="en-US" sz="1000" dirty="0"/>
          </a:p>
        </p:txBody>
      </p:sp>
      <p:sp>
        <p:nvSpPr>
          <p:cNvPr id="23" name="Text 21"/>
          <p:cNvSpPr/>
          <p:nvPr/>
        </p:nvSpPr>
        <p:spPr>
          <a:xfrm>
            <a:off x="9473184" y="2688336"/>
            <a:ext cx="1463040" cy="219456"/>
          </a:xfrm>
          <a:prstGeom prst="rect">
            <a:avLst/>
          </a:prstGeom>
          <a:noFill/>
          <a:ln/>
        </p:spPr>
        <p:txBody>
          <a:bodyPr wrap="square" lIns="0" tIns="0" rIns="0" bIns="0" rtlCol="0" anchor="ctr"/>
          <a:lstStyle/>
          <a:p>
            <a:pPr algn="l" indent="0" marL="0">
              <a:lnSpc>
                <a:spcPct val="130000"/>
              </a:lnSpc>
              <a:buNone/>
            </a:pPr>
            <a:r>
              <a:rPr lang="en-US" sz="1150" b="1" dirty="0">
                <a:solidFill>
                  <a:srgbClr val="A5342C"/>
                </a:solidFill>
                <a:latin typeface="Courier New" pitchFamily="34" charset="0"/>
                <a:ea typeface="Courier New" pitchFamily="34" charset="-122"/>
                <a:cs typeface="Courier New" pitchFamily="34" charset="-120"/>
              </a:rPr>
              <a:t>×0.12</a:t>
            </a:r>
            <a:endParaRPr lang="en-US" sz="1150" dirty="0"/>
          </a:p>
        </p:txBody>
      </p:sp>
      <p:sp>
        <p:nvSpPr>
          <p:cNvPr id="24" name="Text 22"/>
          <p:cNvSpPr/>
          <p:nvPr/>
        </p:nvSpPr>
        <p:spPr>
          <a:xfrm>
            <a:off x="9473184" y="2907792"/>
            <a:ext cx="1463040" cy="201168"/>
          </a:xfrm>
          <a:prstGeom prst="rect">
            <a:avLst/>
          </a:prstGeom>
          <a:noFill/>
          <a:ln/>
        </p:spPr>
        <p:txBody>
          <a:bodyPr wrap="square" lIns="0" tIns="0" rIns="0" bIns="0" rtlCol="0" anchor="t"/>
          <a:lstStyle/>
          <a:p>
            <a:pPr algn="l" indent="0" marL="0">
              <a:lnSpc>
                <a:spcPct val="120000"/>
              </a:lnSpc>
              <a:buNone/>
            </a:pPr>
            <a:r>
              <a:rPr lang="en-US" sz="900" dirty="0">
                <a:solidFill>
                  <a:srgbClr val="6C7C74"/>
                </a:solidFill>
                <a:latin typeface="Calibri" pitchFamily="34" charset="0"/>
                <a:ea typeface="Calibri" pitchFamily="34" charset="-122"/>
                <a:cs typeface="Calibri" pitchFamily="34" charset="-120"/>
              </a:rPr>
              <a:t>erased</a:t>
            </a:r>
            <a:endParaRPr lang="en-US" sz="900" dirty="0"/>
          </a:p>
        </p:txBody>
      </p:sp>
      <p:sp>
        <p:nvSpPr>
          <p:cNvPr id="25" name="Shape 23"/>
          <p:cNvSpPr/>
          <p:nvPr/>
        </p:nvSpPr>
        <p:spPr>
          <a:xfrm>
            <a:off x="658368" y="3602736"/>
            <a:ext cx="10872216" cy="1280160"/>
          </a:xfrm>
          <a:prstGeom prst="roundRect">
            <a:avLst>
              <a:gd name="adj" fmla="val 6429"/>
            </a:avLst>
          </a:prstGeom>
          <a:solidFill>
            <a:srgbClr val="FFFFFF"/>
          </a:solidFill>
          <a:ln w="9525">
            <a:solidFill>
              <a:srgbClr val="DCE3DF"/>
            </a:solidFill>
            <a:prstDash val="solid"/>
          </a:ln>
        </p:spPr>
      </p:sp>
      <p:sp>
        <p:nvSpPr>
          <p:cNvPr id="26" name="Shape 24"/>
          <p:cNvSpPr/>
          <p:nvPr/>
        </p:nvSpPr>
        <p:spPr>
          <a:xfrm>
            <a:off x="859536" y="3785616"/>
            <a:ext cx="384048" cy="274320"/>
          </a:xfrm>
          <a:prstGeom prst="roundRect">
            <a:avLst>
              <a:gd name="adj" fmla="val 18333"/>
            </a:avLst>
          </a:prstGeom>
          <a:solidFill>
            <a:srgbClr val="0B1210"/>
          </a:solidFill>
          <a:ln/>
        </p:spPr>
      </p:sp>
      <p:sp>
        <p:nvSpPr>
          <p:cNvPr id="27" name="Text 25"/>
          <p:cNvSpPr/>
          <p:nvPr/>
        </p:nvSpPr>
        <p:spPr>
          <a:xfrm>
            <a:off x="859536" y="3785616"/>
            <a:ext cx="3840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02</a:t>
            </a:r>
            <a:endParaRPr lang="en-US" sz="1000" dirty="0"/>
          </a:p>
        </p:txBody>
      </p:sp>
      <p:sp>
        <p:nvSpPr>
          <p:cNvPr id="28" name="Text 26"/>
          <p:cNvSpPr/>
          <p:nvPr/>
        </p:nvSpPr>
        <p:spPr>
          <a:xfrm>
            <a:off x="1353312" y="3785616"/>
            <a:ext cx="2743200" cy="274320"/>
          </a:xfrm>
          <a:prstGeom prst="rect">
            <a:avLst/>
          </a:prstGeom>
          <a:noFill/>
          <a:ln/>
        </p:spPr>
        <p:txBody>
          <a:bodyPr wrap="square" lIns="0" tIns="0" rIns="0" bIns="0" rtlCol="0" anchor="ctr"/>
          <a:lstStyle/>
          <a:p>
            <a:pPr algn="l" indent="0" marL="0">
              <a:buNone/>
            </a:pPr>
            <a:r>
              <a:rPr lang="en-US" sz="1350" b="1" dirty="0">
                <a:solidFill>
                  <a:srgbClr val="0B1210"/>
                </a:solidFill>
                <a:latin typeface="Cambria" pitchFamily="34" charset="0"/>
                <a:ea typeface="Cambria" pitchFamily="34" charset="-122"/>
                <a:cs typeface="Cambria" pitchFamily="34" charset="-120"/>
              </a:rPr>
              <a:t>Market-quality haircut</a:t>
            </a:r>
            <a:endParaRPr lang="en-US" sz="1350" dirty="0"/>
          </a:p>
        </p:txBody>
      </p:sp>
      <p:sp>
        <p:nvSpPr>
          <p:cNvPr id="29" name="Text 27"/>
          <p:cNvSpPr/>
          <p:nvPr/>
        </p:nvSpPr>
        <p:spPr>
          <a:xfrm>
            <a:off x="859536" y="4133088"/>
            <a:ext cx="3931920" cy="237744"/>
          </a:xfrm>
          <a:prstGeom prst="rect">
            <a:avLst/>
          </a:prstGeom>
          <a:noFill/>
          <a:ln/>
        </p:spPr>
        <p:txBody>
          <a:bodyPr wrap="square" lIns="0" tIns="0" rIns="0" bIns="0" rtlCol="0" anchor="ctr"/>
          <a:lstStyle/>
          <a:p>
            <a:pPr algn="l" indent="0" marL="0">
              <a:lnSpc>
                <a:spcPct val="130000"/>
              </a:lnSpc>
              <a:buNone/>
            </a:pPr>
            <a:r>
              <a:rPr lang="en-US" sz="1000" dirty="0">
                <a:solidFill>
                  <a:srgbClr val="12855A"/>
                </a:solidFill>
                <a:latin typeface="Courier New" pitchFamily="34" charset="0"/>
                <a:ea typeface="Courier New" pitchFamily="34" charset="-122"/>
                <a:cs typeface="Courier New" pitchFamily="34" charset="-120"/>
              </a:rPr>
              <a:t>1 − 0.10(1−E) − 0.05(1−S),  floor 0.85</a:t>
            </a:r>
            <a:endParaRPr lang="en-US" sz="1000" dirty="0"/>
          </a:p>
        </p:txBody>
      </p:sp>
      <p:sp>
        <p:nvSpPr>
          <p:cNvPr id="30" name="Text 28"/>
          <p:cNvSpPr/>
          <p:nvPr/>
        </p:nvSpPr>
        <p:spPr>
          <a:xfrm>
            <a:off x="859536" y="4389120"/>
            <a:ext cx="4572000" cy="457200"/>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Live markets are scored on execution — bid-ask spread and liquidity — and on price stability across the last day, week and month. A deep, tight, steady book keeps its full score.</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532120" y="3785616"/>
          <a:ext cx="5468112" cy="914400"/>
        </p:xfrm>
        <a:graphic>
          <a:graphicData uri="http://schemas.openxmlformats.org/drawingml/2006/table">
            <a:tbl>
              <a:tblPr/>
              <a:tblGrid>
                <a:gridCol w="2514600"/>
                <a:gridCol w="868680"/>
                <a:gridCol w="868680"/>
                <a:gridCol w="1216152"/>
              </a:tblGrid>
              <a:tr h="265176">
                <a:tc>
                  <a:txBody>
                    <a:bodyPr/>
                    <a:lstStyle/>
                    <a:p>
                      <a:pPr algn="l" indent="0" marL="0">
                        <a:buNone/>
                      </a:pPr>
                      <a:r>
                        <a:rPr lang="en-US" sz="800" b="1" spc="110" kern="0" dirty="0">
                          <a:solidFill>
                            <a:srgbClr val="FFFFFF"/>
                          </a:solidFill>
                          <a:latin typeface="Calibri" pitchFamily="34" charset="0"/>
                          <a:ea typeface="Calibri" pitchFamily="34" charset="-122"/>
                          <a:cs typeface="Calibri" pitchFamily="34" charset="-120"/>
                        </a:rPr>
                        <a:t>ORDER BOOK</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ctr" indent="0" marL="0">
                        <a:buNone/>
                      </a:pPr>
                      <a:r>
                        <a:rPr lang="en-US" sz="800" b="1" spc="110" kern="0" dirty="0">
                          <a:solidFill>
                            <a:srgbClr val="FFFFFF"/>
                          </a:solidFill>
                          <a:latin typeface="Calibri" pitchFamily="34" charset="0"/>
                          <a:ea typeface="Calibri" pitchFamily="34" charset="-122"/>
                          <a:cs typeface="Calibri" pitchFamily="34" charset="-120"/>
                        </a:rPr>
                        <a:t>EXEC</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ctr" indent="0" marL="0">
                        <a:buNone/>
                      </a:pPr>
                      <a:r>
                        <a:rPr lang="en-US" sz="800" b="1" spc="110" kern="0" dirty="0">
                          <a:solidFill>
                            <a:srgbClr val="FFFFFF"/>
                          </a:solidFill>
                          <a:latin typeface="Calibri" pitchFamily="34" charset="0"/>
                          <a:ea typeface="Calibri" pitchFamily="34" charset="-122"/>
                          <a:cs typeface="Calibri" pitchFamily="34" charset="-120"/>
                        </a:rPr>
                        <a:t>STAB</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r" indent="0" marL="0">
                        <a:buNone/>
                      </a:pPr>
                      <a:r>
                        <a:rPr lang="en-US" sz="800" b="1" spc="110" kern="0" dirty="0">
                          <a:solidFill>
                            <a:srgbClr val="FFFFFF"/>
                          </a:solidFill>
                          <a:latin typeface="Calibri" pitchFamily="34" charset="0"/>
                          <a:ea typeface="Calibri" pitchFamily="34" charset="-122"/>
                          <a:cs typeface="Calibri" pitchFamily="34" charset="-120"/>
                        </a:rPr>
                        <a:t>FACTOR</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r>
              <a:tr h="265176">
                <a:tc>
                  <a:txBody>
                    <a:bodyPr/>
                    <a:lstStyle/>
                    <a:p>
                      <a:pPr algn="l" indent="0" marL="0">
                        <a:buNone/>
                      </a:pPr>
                      <a:r>
                        <a:rPr lang="en-US" sz="950" b="1" dirty="0">
                          <a:solidFill>
                            <a:srgbClr val="0B1210"/>
                          </a:solidFill>
                          <a:latin typeface="Calibri" pitchFamily="34" charset="0"/>
                          <a:ea typeface="Calibri" pitchFamily="34" charset="-122"/>
                          <a:cs typeface="Calibri" pitchFamily="34" charset="-120"/>
                        </a:rPr>
                        <a:t>1¢ spread, $100k liquidity</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950" b="1" dirty="0">
                          <a:solidFill>
                            <a:srgbClr val="0B1210"/>
                          </a:solidFill>
                          <a:latin typeface="Courier New" pitchFamily="34" charset="0"/>
                          <a:ea typeface="Courier New" pitchFamily="34" charset="-122"/>
                          <a:cs typeface="Courier New" pitchFamily="34" charset="-120"/>
                        </a:rPr>
                        <a:t>×1</a:t>
                      </a:r>
                      <a:endParaRPr lang="en-US" sz="950" dirty="0">
                        <a:latin typeface="Courier New" charset="0"/>
                        <a:ea typeface="Courier New" charset="0"/>
                        <a:cs typeface="Courier New"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r>
              <a:tr h="265176">
                <a:tc>
                  <a:txBody>
                    <a:bodyPr/>
                    <a:lstStyle/>
                    <a:p>
                      <a:pPr algn="l" indent="0" marL="0">
                        <a:buNone/>
                      </a:pPr>
                      <a:r>
                        <a:rPr lang="en-US" sz="950" b="1" dirty="0">
                          <a:solidFill>
                            <a:srgbClr val="0B1210"/>
                          </a:solidFill>
                          <a:latin typeface="Calibri" pitchFamily="34" charset="0"/>
                          <a:ea typeface="Calibri" pitchFamily="34" charset="-122"/>
                          <a:cs typeface="Calibri" pitchFamily="34" charset="-120"/>
                        </a:rPr>
                        <a:t>3¢ spread, $10k liquidity</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63</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79</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B1210"/>
                          </a:solidFill>
                          <a:latin typeface="Courier New" pitchFamily="34" charset="0"/>
                          <a:ea typeface="Courier New" pitchFamily="34" charset="-122"/>
                          <a:cs typeface="Courier New" pitchFamily="34" charset="-120"/>
                        </a:rPr>
                        <a:t>×0.953</a:t>
                      </a:r>
                      <a:endParaRPr lang="en-US" sz="950" dirty="0">
                        <a:latin typeface="Courier New" charset="0"/>
                        <a:ea typeface="Courier New" charset="0"/>
                        <a:cs typeface="Courier New"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r>
              <a:tr h="265176">
                <a:tc>
                  <a:txBody>
                    <a:bodyPr/>
                    <a:lstStyle/>
                    <a:p>
                      <a:pPr algn="l" indent="0" marL="0">
                        <a:buNone/>
                      </a:pPr>
                      <a:r>
                        <a:rPr lang="en-US" sz="950" b="1" dirty="0">
                          <a:solidFill>
                            <a:srgbClr val="0B1210"/>
                          </a:solidFill>
                          <a:latin typeface="Calibri" pitchFamily="34" charset="0"/>
                          <a:ea typeface="Calibri" pitchFamily="34" charset="-122"/>
                          <a:cs typeface="Calibri" pitchFamily="34" charset="-120"/>
                        </a:rPr>
                        <a:t>6¢ spread, $2k liquidity</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22</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42</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950" b="1" dirty="0">
                          <a:solidFill>
                            <a:srgbClr val="A5342C"/>
                          </a:solidFill>
                          <a:latin typeface="Courier New" pitchFamily="34" charset="0"/>
                          <a:ea typeface="Courier New" pitchFamily="34" charset="-122"/>
                          <a:cs typeface="Courier New" pitchFamily="34" charset="-120"/>
                        </a:rPr>
                        <a:t>×0.893</a:t>
                      </a:r>
                      <a:endParaRPr lang="en-US" sz="950" dirty="0">
                        <a:latin typeface="Courier New" charset="0"/>
                        <a:ea typeface="Courier New" charset="0"/>
                        <a:cs typeface="Courier New"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r>
            </a:tbl>
          </a:graphicData>
        </a:graphic>
      </p:graphicFrame>
      <p:sp>
        <p:nvSpPr>
          <p:cNvPr id="32" name="Shape 29"/>
          <p:cNvSpPr/>
          <p:nvPr/>
        </p:nvSpPr>
        <p:spPr>
          <a:xfrm>
            <a:off x="658368" y="5010912"/>
            <a:ext cx="10872216" cy="896112"/>
          </a:xfrm>
          <a:prstGeom prst="roundRect">
            <a:avLst>
              <a:gd name="adj" fmla="val 9184"/>
            </a:avLst>
          </a:prstGeom>
          <a:solidFill>
            <a:srgbClr val="FFFFFF"/>
          </a:solidFill>
          <a:ln w="9525">
            <a:solidFill>
              <a:srgbClr val="DCE3DF"/>
            </a:solidFill>
            <a:prstDash val="solid"/>
          </a:ln>
        </p:spPr>
      </p:sp>
      <p:sp>
        <p:nvSpPr>
          <p:cNvPr id="33" name="Shape 30"/>
          <p:cNvSpPr/>
          <p:nvPr/>
        </p:nvSpPr>
        <p:spPr>
          <a:xfrm>
            <a:off x="859536" y="5193792"/>
            <a:ext cx="384048" cy="274320"/>
          </a:xfrm>
          <a:prstGeom prst="roundRect">
            <a:avLst>
              <a:gd name="adj" fmla="val 18333"/>
            </a:avLst>
          </a:prstGeom>
          <a:solidFill>
            <a:srgbClr val="0B1210"/>
          </a:solidFill>
          <a:ln/>
        </p:spPr>
      </p:sp>
      <p:sp>
        <p:nvSpPr>
          <p:cNvPr id="34" name="Text 31"/>
          <p:cNvSpPr/>
          <p:nvPr/>
        </p:nvSpPr>
        <p:spPr>
          <a:xfrm>
            <a:off x="859536" y="5193792"/>
            <a:ext cx="3840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03</a:t>
            </a:r>
            <a:endParaRPr lang="en-US" sz="1000" dirty="0"/>
          </a:p>
        </p:txBody>
      </p:sp>
      <p:sp>
        <p:nvSpPr>
          <p:cNvPr id="35" name="Text 32"/>
          <p:cNvSpPr/>
          <p:nvPr/>
        </p:nvSpPr>
        <p:spPr>
          <a:xfrm>
            <a:off x="1353312" y="5193792"/>
            <a:ext cx="2194560" cy="274320"/>
          </a:xfrm>
          <a:prstGeom prst="rect">
            <a:avLst/>
          </a:prstGeom>
          <a:noFill/>
          <a:ln/>
        </p:spPr>
        <p:txBody>
          <a:bodyPr wrap="square" lIns="0" tIns="0" rIns="0" bIns="0" rtlCol="0" anchor="ctr"/>
          <a:lstStyle/>
          <a:p>
            <a:pPr algn="l" indent="0" marL="0">
              <a:buNone/>
            </a:pPr>
            <a:r>
              <a:rPr lang="en-US" sz="1350" b="1" dirty="0">
                <a:solidFill>
                  <a:srgbClr val="0B1210"/>
                </a:solidFill>
                <a:latin typeface="Cambria" pitchFamily="34" charset="0"/>
                <a:ea typeface="Cambria" pitchFamily="34" charset="-122"/>
                <a:cs typeface="Cambria" pitchFamily="34" charset="-120"/>
              </a:rPr>
              <a:t>Hard gates</a:t>
            </a:r>
            <a:endParaRPr lang="en-US" sz="1350" dirty="0"/>
          </a:p>
        </p:txBody>
      </p:sp>
      <p:sp>
        <p:nvSpPr>
          <p:cNvPr id="36" name="Text 33"/>
          <p:cNvSpPr/>
          <p:nvPr/>
        </p:nvSpPr>
        <p:spPr>
          <a:xfrm>
            <a:off x="859536" y="5522976"/>
            <a:ext cx="4572000" cy="365760"/>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Ceilings, not extra weights — precisely so that a 95% probability can never average away the fact that the user cannot afford the route, or will not be paid in time.</a:t>
            </a:r>
            <a:endParaRPr lang="en-US" sz="950" dirty="0"/>
          </a:p>
        </p:txBody>
      </p:sp>
      <p:sp>
        <p:nvSpPr>
          <p:cNvPr id="37" name="Text 34"/>
          <p:cNvSpPr/>
          <p:nvPr/>
        </p:nvSpPr>
        <p:spPr>
          <a:xfrm>
            <a:off x="5577840" y="5193792"/>
            <a:ext cx="1737360" cy="365760"/>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Costs more than the user has</a:t>
            </a:r>
            <a:endParaRPr lang="en-US" sz="950" dirty="0"/>
          </a:p>
        </p:txBody>
      </p:sp>
      <p:sp>
        <p:nvSpPr>
          <p:cNvPr id="38" name="Text 35"/>
          <p:cNvSpPr/>
          <p:nvPr/>
        </p:nvSpPr>
        <p:spPr>
          <a:xfrm>
            <a:off x="5577840" y="5577840"/>
            <a:ext cx="1737360" cy="237744"/>
          </a:xfrm>
          <a:prstGeom prst="rect">
            <a:avLst/>
          </a:prstGeom>
          <a:noFill/>
          <a:ln/>
        </p:spPr>
        <p:txBody>
          <a:bodyPr wrap="square" lIns="0" tIns="0" rIns="0" bIns="0" rtlCol="0" anchor="ctr"/>
          <a:lstStyle/>
          <a:p>
            <a:pPr algn="l" indent="0" marL="0">
              <a:lnSpc>
                <a:spcPct val="130000"/>
              </a:lnSpc>
              <a:buNone/>
            </a:pPr>
            <a:r>
              <a:rPr lang="en-US" sz="1100" b="1" dirty="0">
                <a:solidFill>
                  <a:srgbClr val="A5342C"/>
                </a:solidFill>
                <a:latin typeface="Courier New" pitchFamily="34" charset="0"/>
                <a:ea typeface="Courier New" pitchFamily="34" charset="-122"/>
                <a:cs typeface="Courier New" pitchFamily="34" charset="-120"/>
              </a:rPr>
              <a:t>cap 49</a:t>
            </a:r>
            <a:endParaRPr lang="en-US" sz="1100" dirty="0"/>
          </a:p>
        </p:txBody>
      </p:sp>
      <p:sp>
        <p:nvSpPr>
          <p:cNvPr id="39" name="Text 36"/>
          <p:cNvSpPr/>
          <p:nvPr/>
        </p:nvSpPr>
        <p:spPr>
          <a:xfrm>
            <a:off x="7461504" y="5193792"/>
            <a:ext cx="1737360" cy="365760"/>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Resolves after the deadline</a:t>
            </a:r>
            <a:endParaRPr lang="en-US" sz="950" dirty="0"/>
          </a:p>
        </p:txBody>
      </p:sp>
      <p:sp>
        <p:nvSpPr>
          <p:cNvPr id="40" name="Text 37"/>
          <p:cNvSpPr/>
          <p:nvPr/>
        </p:nvSpPr>
        <p:spPr>
          <a:xfrm>
            <a:off x="7461504" y="5577840"/>
            <a:ext cx="1737360" cy="237744"/>
          </a:xfrm>
          <a:prstGeom prst="rect">
            <a:avLst/>
          </a:prstGeom>
          <a:noFill/>
          <a:ln/>
        </p:spPr>
        <p:txBody>
          <a:bodyPr wrap="square" lIns="0" tIns="0" rIns="0" bIns="0" rtlCol="0" anchor="ctr"/>
          <a:lstStyle/>
          <a:p>
            <a:pPr algn="l" indent="0" marL="0">
              <a:lnSpc>
                <a:spcPct val="130000"/>
              </a:lnSpc>
              <a:buNone/>
            </a:pPr>
            <a:r>
              <a:rPr lang="en-US" sz="1100" b="1" dirty="0">
                <a:solidFill>
                  <a:srgbClr val="A5342C"/>
                </a:solidFill>
                <a:latin typeface="Courier New" pitchFamily="34" charset="0"/>
                <a:ea typeface="Courier New" pitchFamily="34" charset="-122"/>
                <a:cs typeface="Courier New" pitchFamily="34" charset="-120"/>
              </a:rPr>
              <a:t>cap 39</a:t>
            </a:r>
            <a:endParaRPr lang="en-US" sz="1100" dirty="0"/>
          </a:p>
        </p:txBody>
      </p:sp>
      <p:sp>
        <p:nvSpPr>
          <p:cNvPr id="41" name="Text 38"/>
          <p:cNvSpPr/>
          <p:nvPr/>
        </p:nvSpPr>
        <p:spPr>
          <a:xfrm>
            <a:off x="9345168" y="5193792"/>
            <a:ext cx="1737360" cy="365760"/>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No volatility history</a:t>
            </a:r>
            <a:endParaRPr lang="en-US" sz="950" dirty="0"/>
          </a:p>
        </p:txBody>
      </p:sp>
      <p:sp>
        <p:nvSpPr>
          <p:cNvPr id="42" name="Text 39"/>
          <p:cNvSpPr/>
          <p:nvPr/>
        </p:nvSpPr>
        <p:spPr>
          <a:xfrm>
            <a:off x="9345168" y="5577840"/>
            <a:ext cx="1737360" cy="237744"/>
          </a:xfrm>
          <a:prstGeom prst="rect">
            <a:avLst/>
          </a:prstGeom>
          <a:noFill/>
          <a:ln/>
        </p:spPr>
        <p:txBody>
          <a:bodyPr wrap="square" lIns="0" tIns="0" rIns="0" bIns="0" rtlCol="0" anchor="ctr"/>
          <a:lstStyle/>
          <a:p>
            <a:pPr algn="l" indent="0" marL="0">
              <a:lnSpc>
                <a:spcPct val="130000"/>
              </a:lnSpc>
              <a:buNone/>
            </a:pPr>
            <a:r>
              <a:rPr lang="en-US" sz="1100" b="1" dirty="0">
                <a:solidFill>
                  <a:srgbClr val="A5342C"/>
                </a:solidFill>
                <a:latin typeface="Courier New" pitchFamily="34" charset="0"/>
                <a:ea typeface="Courier New" pitchFamily="34" charset="-122"/>
                <a:cs typeface="Courier New" pitchFamily="34" charset="-120"/>
              </a:rPr>
              <a:t>no route at all</a:t>
            </a:r>
            <a:endParaRPr lang="en-US" sz="1100" dirty="0"/>
          </a:p>
        </p:txBody>
      </p:sp>
      <p:sp>
        <p:nvSpPr>
          <p:cNvPr id="43" name="Text 40"/>
          <p:cNvSpPr/>
          <p:nvPr/>
        </p:nvSpPr>
        <p:spPr>
          <a:xfrm>
            <a:off x="658368" y="5998464"/>
            <a:ext cx="10872216" cy="329184"/>
          </a:xfrm>
          <a:prstGeom prst="rect">
            <a:avLst/>
          </a:prstGeom>
          <a:noFill/>
          <a:ln/>
        </p:spPr>
        <p:txBody>
          <a:bodyPr wrap="square" lIns="0" tIns="0" rIns="0" bIns="0" rtlCol="0" anchor="t"/>
          <a:lstStyle/>
          <a:p>
            <a:pPr indent="0" marL="0">
              <a:lnSpc>
                <a:spcPct val="115000"/>
              </a:lnSpc>
              <a:buNone/>
            </a:pPr>
            <a:r>
              <a:rPr lang="en-US" sz="950" dirty="0">
                <a:solidFill>
                  <a:srgbClr val="94A29B"/>
                </a:solidFill>
                <a:latin typeface="Calibri" pitchFamily="34" charset="0"/>
                <a:ea typeface="Calibri" pitchFamily="34" charset="-122"/>
                <a:cs typeface="Calibri" pitchFamily="34" charset="-120"/>
              </a:rPr>
              <a:t>Nothing in the model can manufacture an edge the market data does not already contain. Every adjustment removes confidence; none add it. That asymmetry is what makes the number defensible when a route loses.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11</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04.06  ·  A WORKED EXAMPLE</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Same goal, six routes, one honest ranking.</a:t>
            </a:r>
            <a:endParaRPr lang="en-US" sz="3000" dirty="0"/>
          </a:p>
        </p:txBody>
      </p:sp>
      <p:sp>
        <p:nvSpPr>
          <p:cNvPr id="6" name="Shape 4"/>
          <p:cNvSpPr/>
          <p:nvPr/>
        </p:nvSpPr>
        <p:spPr>
          <a:xfrm>
            <a:off x="658368" y="1389888"/>
            <a:ext cx="10872216" cy="420624"/>
          </a:xfrm>
          <a:prstGeom prst="roundRect">
            <a:avLst>
              <a:gd name="adj" fmla="val 15217"/>
            </a:avLst>
          </a:prstGeom>
          <a:solidFill>
            <a:srgbClr val="0B1210"/>
          </a:solidFill>
          <a:ln/>
        </p:spPr>
      </p:sp>
      <p:sp>
        <p:nvSpPr>
          <p:cNvPr id="7" name="Text 5"/>
          <p:cNvSpPr/>
          <p:nvPr/>
        </p:nvSpPr>
        <p:spPr>
          <a:xfrm>
            <a:off x="877824" y="1389888"/>
            <a:ext cx="10433304" cy="420624"/>
          </a:xfrm>
          <a:prstGeom prst="rect">
            <a:avLst/>
          </a:prstGeom>
          <a:noFill/>
          <a:ln/>
        </p:spPr>
        <p:txBody>
          <a:bodyPr wrap="square" lIns="0" tIns="0" rIns="0" bIns="0" rtlCol="0" anchor="ctr"/>
          <a:lstStyle/>
          <a:p>
            <a:pPr indent="0" marL="0">
              <a:buNone/>
            </a:pPr>
            <a:r>
              <a:rPr lang="en-US" sz="900" b="1" spc="160" kern="0" dirty="0">
                <a:solidFill>
                  <a:srgbClr val="94A29B"/>
                </a:solidFill>
                <a:latin typeface="Calibri" pitchFamily="34" charset="0"/>
                <a:ea typeface="Calibri" pitchFamily="34" charset="-122"/>
                <a:cs typeface="Calibri" pitchFamily="34" charset="-120"/>
              </a:rPr>
              <a:t>GOAL      </a:t>
            </a:r>
            <a:pPr indent="0" marL="0">
              <a:buNone/>
            </a:pPr>
            <a:r>
              <a:rPr lang="en-US" sz="1200" dirty="0">
                <a:solidFill>
                  <a:srgbClr val="FFFFFF"/>
                </a:solidFill>
                <a:latin typeface="Calibri" pitchFamily="34" charset="0"/>
                <a:ea typeface="Calibri" pitchFamily="34" charset="-122"/>
                <a:cs typeface="Calibri" pitchFamily="34" charset="-120"/>
              </a:rPr>
              <a:t>$5,000 available      ·      +$50 profit      ·      91 days</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 y="1993392"/>
          <a:ext cx="6903720" cy="914400"/>
        </p:xfrm>
        <a:graphic>
          <a:graphicData uri="http://schemas.openxmlformats.org/drawingml/2006/table">
            <a:tbl>
              <a:tblPr/>
              <a:tblGrid>
                <a:gridCol w="2084832"/>
                <a:gridCol w="749808"/>
                <a:gridCol w="548640"/>
                <a:gridCol w="475488"/>
                <a:gridCol w="457200"/>
                <a:gridCol w="475488"/>
                <a:gridCol w="502920"/>
                <a:gridCol w="914400"/>
                <a:gridCol w="694944"/>
              </a:tblGrid>
              <a:tr h="402336">
                <a:tc>
                  <a:txBody>
                    <a:bodyPr/>
                    <a:lstStyle/>
                    <a:p>
                      <a:pPr algn="l" indent="0" marL="0">
                        <a:buNone/>
                      </a:pPr>
                      <a:r>
                        <a:rPr lang="en-US" sz="800" b="1" spc="110" kern="0" dirty="0">
                          <a:solidFill>
                            <a:srgbClr val="FFFFFF"/>
                          </a:solidFill>
                          <a:latin typeface="Calibri" pitchFamily="34" charset="0"/>
                          <a:ea typeface="Calibri" pitchFamily="34" charset="-122"/>
                          <a:cs typeface="Calibri" pitchFamily="34" charset="-120"/>
                        </a:rPr>
                        <a:t>ROUTE</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l" indent="0" marL="0">
                        <a:buNone/>
                      </a:pPr>
                      <a:r>
                        <a:rPr lang="en-US" sz="800" b="1" spc="110" kern="0" dirty="0">
                          <a:solidFill>
                            <a:srgbClr val="FFFFFF"/>
                          </a:solidFill>
                          <a:latin typeface="Calibri" pitchFamily="34" charset="0"/>
                          <a:ea typeface="Calibri" pitchFamily="34" charset="-122"/>
                          <a:cs typeface="Calibri" pitchFamily="34" charset="-120"/>
                        </a:rPr>
                        <a:t>METHOD</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ctr" indent="0" marL="0">
                        <a:buNone/>
                      </a:pPr>
                      <a:r>
                        <a:rPr lang="en-US" sz="800" b="1" spc="110" kern="0" dirty="0">
                          <a:solidFill>
                            <a:srgbClr val="FFFFFF"/>
                          </a:solidFill>
                          <a:latin typeface="Calibri" pitchFamily="34" charset="0"/>
                          <a:ea typeface="Calibri" pitchFamily="34" charset="-122"/>
                          <a:cs typeface="Calibri" pitchFamily="34" charset="-120"/>
                        </a:rPr>
                        <a:t>P(HIT)</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ctr" indent="0" marL="0">
                        <a:buNone/>
                      </a:pPr>
                      <a:r>
                        <a:rPr lang="en-US" sz="800" b="1" spc="110" kern="0" dirty="0">
                          <a:solidFill>
                            <a:srgbClr val="FFFFFF"/>
                          </a:solidFill>
                          <a:latin typeface="Calibri" pitchFamily="34" charset="0"/>
                          <a:ea typeface="Calibri" pitchFamily="34" charset="-122"/>
                          <a:cs typeface="Calibri" pitchFamily="34" charset="-120"/>
                        </a:rPr>
                        <a:t>PROT</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ctr" indent="0" marL="0">
                        <a:buNone/>
                      </a:pPr>
                      <a:r>
                        <a:rPr lang="en-US" sz="800" b="1" spc="110" kern="0" dirty="0">
                          <a:solidFill>
                            <a:srgbClr val="FFFFFF"/>
                          </a:solidFill>
                          <a:latin typeface="Calibri" pitchFamily="34" charset="0"/>
                          <a:ea typeface="Calibri" pitchFamily="34" charset="-122"/>
                          <a:cs typeface="Calibri" pitchFamily="34" charset="-120"/>
                        </a:rPr>
                        <a:t>CAP</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ctr" indent="0" marL="0">
                        <a:buNone/>
                      </a:pPr>
                      <a:r>
                        <a:rPr lang="en-US" sz="800" b="1" spc="110" kern="0" dirty="0">
                          <a:solidFill>
                            <a:srgbClr val="FFFFFF"/>
                          </a:solidFill>
                          <a:latin typeface="Calibri" pitchFamily="34" charset="0"/>
                          <a:ea typeface="Calibri" pitchFamily="34" charset="-122"/>
                          <a:cs typeface="Calibri" pitchFamily="34" charset="-120"/>
                        </a:rPr>
                        <a:t>TIME</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r" indent="0" marL="0">
                        <a:buNone/>
                      </a:pPr>
                      <a:r>
                        <a:rPr lang="en-US" sz="800" b="1" spc="110" kern="0" dirty="0">
                          <a:solidFill>
                            <a:srgbClr val="FFFFFF"/>
                          </a:solidFill>
                          <a:latin typeface="Calibri" pitchFamily="34" charset="0"/>
                          <a:ea typeface="Calibri" pitchFamily="34" charset="-122"/>
                          <a:cs typeface="Calibri" pitchFamily="34" charset="-120"/>
                        </a:rPr>
                        <a:t>RAW</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l" indent="0" marL="0">
                        <a:buNone/>
                      </a:pPr>
                      <a:r>
                        <a:rPr lang="en-US" sz="800" b="1" spc="110" kern="0" dirty="0">
                          <a:solidFill>
                            <a:srgbClr val="FFFFFF"/>
                          </a:solidFill>
                          <a:latin typeface="Calibri" pitchFamily="34" charset="0"/>
                          <a:ea typeface="Calibri" pitchFamily="34" charset="-122"/>
                          <a:cs typeface="Calibri" pitchFamily="34" charset="-120"/>
                        </a:rPr>
                        <a:t>CORRECTION</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r" indent="0" marL="0">
                        <a:buNone/>
                      </a:pPr>
                      <a:r>
                        <a:rPr lang="en-US" sz="800" b="1" spc="110" kern="0" dirty="0">
                          <a:solidFill>
                            <a:srgbClr val="FFFFFF"/>
                          </a:solidFill>
                          <a:latin typeface="Calibri" pitchFamily="34" charset="0"/>
                          <a:ea typeface="Calibri" pitchFamily="34" charset="-122"/>
                          <a:cs typeface="Calibri" pitchFamily="34" charset="-120"/>
                        </a:rPr>
                        <a:t>SCORE</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r>
              <a:tr h="402336">
                <a:tc>
                  <a:txBody>
                    <a:bodyPr/>
                    <a:lstStyle/>
                    <a:p>
                      <a:pPr algn="l" indent="0" marL="0">
                        <a:buNone/>
                      </a:pPr>
                      <a:r>
                        <a:rPr lang="en-US" sz="950" b="1" dirty="0">
                          <a:solidFill>
                            <a:srgbClr val="0B1210"/>
                          </a:solidFill>
                          <a:latin typeface="Calibri" pitchFamily="34" charset="0"/>
                          <a:ea typeface="Calibri" pitchFamily="34" charset="-122"/>
                          <a:cs typeface="Calibri" pitchFamily="34" charset="-120"/>
                        </a:rPr>
                        <a:t>13-week Treasury bill</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950" dirty="0">
                          <a:solidFill>
                            <a:srgbClr val="44534C"/>
                          </a:solidFill>
                          <a:latin typeface="Calibri" pitchFamily="34" charset="0"/>
                          <a:ea typeface="Calibri" pitchFamily="34" charset="-122"/>
                          <a:cs typeface="Calibri" pitchFamily="34" charset="-120"/>
                        </a:rPr>
                        <a:t>Contractual</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99</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950" dirty="0">
                          <a:solidFill>
                            <a:srgbClr val="44534C"/>
                          </a:solidFill>
                          <a:latin typeface="Calibri" pitchFamily="34" charset="0"/>
                          <a:ea typeface="Calibri" pitchFamily="34" charset="-122"/>
                          <a:cs typeface="Calibri" pitchFamily="34" charset="-120"/>
                        </a:rPr>
                        <a:t>65.0</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900" dirty="0">
                          <a:solidFill>
                            <a:srgbClr val="6C7C74"/>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1300" b="1" dirty="0">
                          <a:solidFill>
                            <a:srgbClr val="12855A"/>
                          </a:solidFill>
                          <a:latin typeface="Cambria" pitchFamily="34" charset="0"/>
                          <a:ea typeface="Cambria" pitchFamily="34" charset="-122"/>
                          <a:cs typeface="Cambria" pitchFamily="34" charset="-120"/>
                        </a:rPr>
                        <a:t>65</a:t>
                      </a:r>
                      <a:endParaRPr lang="en-US" sz="1300" dirty="0">
                        <a:latin typeface="Cambria" charset="0"/>
                        <a:ea typeface="Cambria" charset="0"/>
                        <a:cs typeface="Cambria"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r>
              <a:tr h="402336">
                <a:tc>
                  <a:txBody>
                    <a:bodyPr/>
                    <a:lstStyle/>
                    <a:p>
                      <a:pPr algn="l" indent="0" marL="0">
                        <a:buNone/>
                      </a:pPr>
                      <a:r>
                        <a:rPr lang="en-US" sz="950" b="1" dirty="0">
                          <a:solidFill>
                            <a:srgbClr val="0B1210"/>
                          </a:solidFill>
                          <a:latin typeface="Calibri" pitchFamily="34" charset="0"/>
                          <a:ea typeface="Calibri" pitchFamily="34" charset="-122"/>
                          <a:cs typeface="Calibri" pitchFamily="34" charset="-120"/>
                        </a:rPr>
                        <a:t>6-month CD, $8,000 minimum</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44534C"/>
                          </a:solidFill>
                          <a:latin typeface="Calibri" pitchFamily="34" charset="0"/>
                          <a:ea typeface="Calibri" pitchFamily="34" charset="-122"/>
                          <a:cs typeface="Calibri" pitchFamily="34" charset="-120"/>
                        </a:rPr>
                        <a:t>Contractual</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99</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950" dirty="0">
                          <a:solidFill>
                            <a:srgbClr val="44534C"/>
                          </a:solidFill>
                          <a:latin typeface="Calibri" pitchFamily="34" charset="0"/>
                          <a:ea typeface="Calibri" pitchFamily="34" charset="-122"/>
                          <a:cs typeface="Calibri" pitchFamily="34" charset="-120"/>
                        </a:rPr>
                        <a:t>64.9</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00" dirty="0">
                          <a:solidFill>
                            <a:srgbClr val="A5342C"/>
                          </a:solidFill>
                          <a:latin typeface="Calibri" pitchFamily="34" charset="0"/>
                          <a:ea typeface="Calibri" pitchFamily="34" charset="-122"/>
                          <a:cs typeface="Calibri" pitchFamily="34" charset="-120"/>
                        </a:rPr>
                        <a:t>gate → 49</a:t>
                      </a:r>
                      <a:endParaRPr lang="en-US" sz="9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94600A"/>
                          </a:solidFill>
                          <a:latin typeface="Cambria" pitchFamily="34" charset="0"/>
                          <a:ea typeface="Cambria" pitchFamily="34" charset="-122"/>
                          <a:cs typeface="Cambria" pitchFamily="34" charset="-120"/>
                        </a:rPr>
                        <a:t>49</a:t>
                      </a:r>
                      <a:endParaRPr lang="en-US" sz="1300" dirty="0">
                        <a:latin typeface="Cambria" charset="0"/>
                        <a:ea typeface="Cambria" charset="0"/>
                        <a:cs typeface="Cambria"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r>
              <a:tr h="402336">
                <a:tc>
                  <a:txBody>
                    <a:bodyPr/>
                    <a:lstStyle/>
                    <a:p>
                      <a:pPr algn="l" indent="0" marL="0">
                        <a:buNone/>
                      </a:pPr>
                      <a:r>
                        <a:rPr lang="en-US" sz="950" b="1" dirty="0">
                          <a:solidFill>
                            <a:srgbClr val="0B1210"/>
                          </a:solidFill>
                          <a:latin typeface="Calibri" pitchFamily="34" charset="0"/>
                          <a:ea typeface="Calibri" pitchFamily="34" charset="-122"/>
                          <a:cs typeface="Calibri" pitchFamily="34" charset="-120"/>
                        </a:rPr>
                        <a:t>Broad-market ETF, held 91 days</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950" dirty="0">
                          <a:solidFill>
                            <a:srgbClr val="44534C"/>
                          </a:solidFill>
                          <a:latin typeface="Calibri" pitchFamily="34" charset="0"/>
                          <a:ea typeface="Calibri" pitchFamily="34" charset="-122"/>
                          <a:cs typeface="Calibri" pitchFamily="34" charset="-120"/>
                        </a:rPr>
                        <a:t>Volatility</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56</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60</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950" dirty="0">
                          <a:solidFill>
                            <a:srgbClr val="44534C"/>
                          </a:solidFill>
                          <a:latin typeface="Calibri" pitchFamily="34" charset="0"/>
                          <a:ea typeface="Calibri" pitchFamily="34" charset="-122"/>
                          <a:cs typeface="Calibri" pitchFamily="34" charset="-120"/>
                        </a:rPr>
                        <a:t>39.8</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900" dirty="0">
                          <a:solidFill>
                            <a:srgbClr val="6C7C74"/>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1300" b="1" dirty="0">
                          <a:solidFill>
                            <a:srgbClr val="94600A"/>
                          </a:solidFill>
                          <a:latin typeface="Cambria" pitchFamily="34" charset="0"/>
                          <a:ea typeface="Cambria" pitchFamily="34" charset="-122"/>
                          <a:cs typeface="Cambria" pitchFamily="34" charset="-120"/>
                        </a:rPr>
                        <a:t>40</a:t>
                      </a:r>
                      <a:endParaRPr lang="en-US" sz="1300" dirty="0">
                        <a:latin typeface="Cambria" charset="0"/>
                        <a:ea typeface="Cambria" charset="0"/>
                        <a:cs typeface="Cambria"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r>
              <a:tr h="402336">
                <a:tc>
                  <a:txBody>
                    <a:bodyPr/>
                    <a:lstStyle/>
                    <a:p>
                      <a:pPr algn="l" indent="0" marL="0">
                        <a:buNone/>
                      </a:pPr>
                      <a:r>
                        <a:rPr lang="en-US" sz="950" b="1" dirty="0">
                          <a:solidFill>
                            <a:srgbClr val="0B1210"/>
                          </a:solidFill>
                          <a:latin typeface="Calibri" pitchFamily="34" charset="0"/>
                          <a:ea typeface="Calibri" pitchFamily="34" charset="-122"/>
                          <a:cs typeface="Calibri" pitchFamily="34" charset="-120"/>
                        </a:rPr>
                        <a:t>Prediction contract at 92¢, deep book</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44534C"/>
                          </a:solidFill>
                          <a:latin typeface="Calibri" pitchFamily="34" charset="0"/>
                          <a:ea typeface="Calibri" pitchFamily="34" charset="-122"/>
                          <a:cs typeface="Calibri" pitchFamily="34" charset="-120"/>
                        </a:rPr>
                        <a:t>Consensus</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92</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84</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950" dirty="0">
                          <a:solidFill>
                            <a:srgbClr val="44534C"/>
                          </a:solidFill>
                          <a:latin typeface="Calibri" pitchFamily="34" charset="0"/>
                          <a:ea typeface="Calibri" pitchFamily="34" charset="-122"/>
                          <a:cs typeface="Calibri" pitchFamily="34" charset="-120"/>
                        </a:rPr>
                        <a:t>43.0</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00" dirty="0">
                          <a:solidFill>
                            <a:srgbClr val="6C7C74"/>
                          </a:solidFill>
                          <a:latin typeface="Calibri" pitchFamily="34" charset="0"/>
                          <a:ea typeface="Calibri" pitchFamily="34" charset="-122"/>
                          <a:cs typeface="Calibri" pitchFamily="34" charset="-120"/>
                        </a:rPr>
                        <a:t>survival ×0.92</a:t>
                      </a:r>
                      <a:endParaRPr lang="en-US" sz="9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94600A"/>
                          </a:solidFill>
                          <a:latin typeface="Cambria" pitchFamily="34" charset="0"/>
                          <a:ea typeface="Cambria" pitchFamily="34" charset="-122"/>
                          <a:cs typeface="Cambria" pitchFamily="34" charset="-120"/>
                        </a:rPr>
                        <a:t>40</a:t>
                      </a:r>
                      <a:endParaRPr lang="en-US" sz="1300" dirty="0">
                        <a:latin typeface="Cambria" charset="0"/>
                        <a:ea typeface="Cambria" charset="0"/>
                        <a:cs typeface="Cambria"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r>
              <a:tr h="402336">
                <a:tc>
                  <a:txBody>
                    <a:bodyPr/>
                    <a:lstStyle/>
                    <a:p>
                      <a:pPr algn="l" indent="0" marL="0">
                        <a:buNone/>
                      </a:pPr>
                      <a:r>
                        <a:rPr lang="en-US" sz="950" b="1" dirty="0">
                          <a:solidFill>
                            <a:srgbClr val="0B1210"/>
                          </a:solidFill>
                          <a:latin typeface="Calibri" pitchFamily="34" charset="0"/>
                          <a:ea typeface="Calibri" pitchFamily="34" charset="-122"/>
                          <a:cs typeface="Calibri" pitchFamily="34" charset="-120"/>
                        </a:rPr>
                        <a:t>The same contract, thin and repricing</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950" dirty="0">
                          <a:solidFill>
                            <a:srgbClr val="44534C"/>
                          </a:solidFill>
                          <a:latin typeface="Calibri" pitchFamily="34" charset="0"/>
                          <a:ea typeface="Calibri" pitchFamily="34" charset="-122"/>
                          <a:cs typeface="Calibri" pitchFamily="34" charset="-120"/>
                        </a:rPr>
                        <a:t>Consensus</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92</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84</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950" dirty="0">
                          <a:solidFill>
                            <a:srgbClr val="44534C"/>
                          </a:solidFill>
                          <a:latin typeface="Calibri" pitchFamily="34" charset="0"/>
                          <a:ea typeface="Calibri" pitchFamily="34" charset="-122"/>
                          <a:cs typeface="Calibri" pitchFamily="34" charset="-120"/>
                        </a:rPr>
                        <a:t>43.0</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900" dirty="0">
                          <a:solidFill>
                            <a:srgbClr val="6C7C74"/>
                          </a:solidFill>
                          <a:latin typeface="Calibri" pitchFamily="34" charset="0"/>
                          <a:ea typeface="Calibri" pitchFamily="34" charset="-122"/>
                          <a:cs typeface="Calibri" pitchFamily="34" charset="-120"/>
                        </a:rPr>
                        <a:t>survival ×0.92, quality ×0.893</a:t>
                      </a:r>
                      <a:endParaRPr lang="en-US" sz="9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1300" b="1" dirty="0">
                          <a:solidFill>
                            <a:srgbClr val="A5342C"/>
                          </a:solidFill>
                          <a:latin typeface="Cambria" pitchFamily="34" charset="0"/>
                          <a:ea typeface="Cambria" pitchFamily="34" charset="-122"/>
                          <a:cs typeface="Cambria" pitchFamily="34" charset="-120"/>
                        </a:rPr>
                        <a:t>35</a:t>
                      </a:r>
                      <a:endParaRPr lang="en-US" sz="1300" dirty="0">
                        <a:latin typeface="Cambria" charset="0"/>
                        <a:ea typeface="Cambria" charset="0"/>
                        <a:cs typeface="Cambria"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r>
              <a:tr h="402336">
                <a:tc>
                  <a:txBody>
                    <a:bodyPr/>
                    <a:lstStyle/>
                    <a:p>
                      <a:pPr algn="l" indent="0" marL="0">
                        <a:buNone/>
                      </a:pPr>
                      <a:r>
                        <a:rPr lang="en-US" sz="950" b="1" dirty="0">
                          <a:solidFill>
                            <a:srgbClr val="0B1210"/>
                          </a:solidFill>
                          <a:latin typeface="Calibri" pitchFamily="34" charset="0"/>
                          <a:ea typeface="Calibri" pitchFamily="34" charset="-122"/>
                          <a:cs typeface="Calibri" pitchFamily="34" charset="-120"/>
                        </a:rPr>
                        <a:t>Four-leg parlay of de-vigged favourites</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44534C"/>
                          </a:solidFill>
                          <a:latin typeface="Calibri" pitchFamily="34" charset="0"/>
                          <a:ea typeface="Calibri" pitchFamily="34" charset="-122"/>
                          <a:cs typeface="Calibri" pitchFamily="34" charset="-120"/>
                        </a:rPr>
                        <a:t>Consensus</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88</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98</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950" dirty="0">
                          <a:solidFill>
                            <a:srgbClr val="44534C"/>
                          </a:solidFill>
                          <a:latin typeface="Calibri" pitchFamily="34" charset="0"/>
                          <a:ea typeface="Calibri" pitchFamily="34" charset="-122"/>
                          <a:cs typeface="Calibri" pitchFamily="34" charset="-120"/>
                        </a:rPr>
                        <a:t>40.4</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00" dirty="0">
                          <a:solidFill>
                            <a:srgbClr val="6C7C74"/>
                          </a:solidFill>
                          <a:latin typeface="Calibri" pitchFamily="34" charset="0"/>
                          <a:ea typeface="Calibri" pitchFamily="34" charset="-122"/>
                          <a:cs typeface="Calibri" pitchFamily="34" charset="-120"/>
                        </a:rPr>
                        <a:t>survival ×0.12</a:t>
                      </a:r>
                      <a:endParaRPr lang="en-US" sz="9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A5342C"/>
                          </a:solidFill>
                          <a:latin typeface="Cambria" pitchFamily="34" charset="0"/>
                          <a:ea typeface="Cambria" pitchFamily="34" charset="-122"/>
                          <a:cs typeface="Cambria" pitchFamily="34" charset="-120"/>
                        </a:rPr>
                        <a:t>5</a:t>
                      </a:r>
                      <a:endParaRPr lang="en-US" sz="1300" dirty="0">
                        <a:latin typeface="Cambria" charset="0"/>
                        <a:ea typeface="Cambria" charset="0"/>
                        <a:cs typeface="Cambria"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r>
            </a:tbl>
          </a:graphicData>
        </a:graphic>
      </p:graphicFrame>
      <p:graphicFrame>
        <p:nvGraphicFramePr>
          <p:cNvPr id="9" name="Chart 0" descr=""/>
          <p:cNvGraphicFramePr/>
          <p:nvPr/>
        </p:nvGraphicFramePr>
        <p:xfrm>
          <a:off x="7699248" y="1810512"/>
          <a:ext cx="3840480" cy="356616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p:nvPr/>
        </p:nvSpPr>
        <p:spPr>
          <a:xfrm>
            <a:off x="658368" y="5047488"/>
            <a:ext cx="6903720" cy="420624"/>
          </a:xfrm>
          <a:prstGeom prst="rect">
            <a:avLst/>
          </a:prstGeom>
          <a:noFill/>
          <a:ln/>
        </p:spPr>
        <p:txBody>
          <a:bodyPr wrap="square" lIns="0" tIns="0" rIns="0" bIns="0" rtlCol="0" anchor="t"/>
          <a:lstStyle/>
          <a:p>
            <a:pPr indent="0" marL="0">
              <a:lnSpc>
                <a:spcPct val="118000"/>
              </a:lnSpc>
              <a:buNone/>
            </a:pPr>
            <a:r>
              <a:rPr lang="en-US" sz="1100" b="1" dirty="0">
                <a:solidFill>
                  <a:srgbClr val="0B1210"/>
                </a:solidFill>
                <a:latin typeface="Calibri" pitchFamily="34" charset="0"/>
                <a:ea typeface="Calibri" pitchFamily="34" charset="-122"/>
                <a:cs typeface="Calibri" pitchFamily="34" charset="-120"/>
              </a:rPr>
              <a:t>The parlay wins two components outright </a:t>
            </a:r>
            <a:pPr indent="0" marL="0">
              <a:lnSpc>
                <a:spcPct val="118000"/>
              </a:lnSpc>
              <a:buNone/>
            </a:pPr>
            <a:r>
              <a:rPr lang="en-US" sz="1100" dirty="0">
                <a:solidFill>
                  <a:srgbClr val="0B1210"/>
                </a:solidFill>
                <a:latin typeface="Calibri" pitchFamily="34" charset="0"/>
                <a:ea typeface="Calibri" pitchFamily="34" charset="-122"/>
                <a:cs typeface="Calibri" pitchFamily="34" charset="-120"/>
              </a:rPr>
              <a:t>— best capital efficiency on the board (88 against the T-bill's 1) and the fastest payout (98) — and still finishes last, at 5. Its raw score is 40.4. Survival drag does the rest. That inversion is the product.</a:t>
            </a:r>
            <a:endParaRPr lang="en-US" sz="1100" dirty="0"/>
          </a:p>
        </p:txBody>
      </p:sp>
      <p:sp>
        <p:nvSpPr>
          <p:cNvPr id="11" name="Text 7"/>
          <p:cNvSpPr/>
          <p:nvPr/>
        </p:nvSpPr>
        <p:spPr>
          <a:xfrm>
            <a:off x="658368" y="5797296"/>
            <a:ext cx="6903720" cy="329184"/>
          </a:xfrm>
          <a:prstGeom prst="rect">
            <a:avLst/>
          </a:prstGeom>
          <a:noFill/>
          <a:ln/>
        </p:spPr>
        <p:txBody>
          <a:bodyPr wrap="square" lIns="0" tIns="0" rIns="0" bIns="0" rtlCol="0" anchor="t"/>
          <a:lstStyle/>
          <a:p>
            <a:pPr indent="0" marL="0">
              <a:lnSpc>
                <a:spcPct val="115000"/>
              </a:lnSpc>
              <a:buNone/>
            </a:pPr>
            <a:r>
              <a:rPr lang="en-US" sz="900" dirty="0">
                <a:solidFill>
                  <a:srgbClr val="94A29B"/>
                </a:solidFill>
                <a:latin typeface="Calibri" pitchFamily="34" charset="0"/>
                <a:ea typeface="Calibri" pitchFamily="34" charset="-122"/>
                <a:cs typeface="Calibri" pitchFamily="34" charset="-120"/>
              </a:rPr>
              <a:t>Component values are the engine's own 0–100 sub-scores. Inputs are illustrative; the arithmetic is the shipped function in src/lib/score.ts, run at build time. ETF probability 55.8% from σ 0.8%/day over 63 trading days with the 8% drift cap. Parlay = four de-vigged 58.8% favourites, P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12</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04.07  ·  THE REFUSALS</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What the model refuses to produce</a:t>
            </a:r>
            <a:endParaRPr lang="en-US" sz="3000" dirty="0"/>
          </a:p>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is the part that is hard to copy.</a:t>
            </a:r>
            <a:endParaRPr lang="en-US" sz="3000" dirty="0"/>
          </a:p>
        </p:txBody>
      </p:sp>
      <p:sp>
        <p:nvSpPr>
          <p:cNvPr id="6" name="Text 4"/>
          <p:cNvSpPr/>
          <p:nvPr/>
        </p:nvSpPr>
        <p:spPr>
          <a:xfrm>
            <a:off x="658368" y="1737360"/>
            <a:ext cx="10872216" cy="274320"/>
          </a:xfrm>
          <a:prstGeom prst="rect">
            <a:avLst/>
          </a:prstGeom>
          <a:noFill/>
          <a:ln/>
        </p:spPr>
        <p:txBody>
          <a:bodyPr wrap="square" lIns="0" tIns="0" rIns="0" bIns="0" rtlCol="0" anchor="t"/>
          <a:lstStyle/>
          <a:p>
            <a:pPr indent="0" marL="0">
              <a:lnSpc>
                <a:spcPct val="122000"/>
              </a:lnSpc>
              <a:buNone/>
            </a:pPr>
            <a:r>
              <a:rPr lang="en-US" sz="1300" dirty="0">
                <a:solidFill>
                  <a:srgbClr val="44534C"/>
                </a:solidFill>
                <a:latin typeface="Calibri" pitchFamily="34" charset="0"/>
                <a:ea typeface="Calibri" pitchFamily="34" charset="-122"/>
                <a:cs typeface="Calibri" pitchFamily="34" charset="-120"/>
              </a:rPr>
              <a:t>Anyone can ship a number. The defensible asset is the list of numbers we decline to generate.</a:t>
            </a:r>
            <a:endParaRPr lang="en-US" sz="1300" dirty="0"/>
          </a:p>
        </p:txBody>
      </p:sp>
      <p:sp>
        <p:nvSpPr>
          <p:cNvPr id="7" name="Shape 5"/>
          <p:cNvSpPr/>
          <p:nvPr/>
        </p:nvSpPr>
        <p:spPr>
          <a:xfrm>
            <a:off x="658368" y="2286000"/>
            <a:ext cx="3514344" cy="1536192"/>
          </a:xfrm>
          <a:prstGeom prst="roundRect">
            <a:avLst>
              <a:gd name="adj" fmla="val 5357"/>
            </a:avLst>
          </a:prstGeom>
          <a:solidFill>
            <a:srgbClr val="F2F5F3"/>
          </a:solidFill>
          <a:ln/>
        </p:spPr>
      </p:sp>
      <p:sp>
        <p:nvSpPr>
          <p:cNvPr id="8" name="Shape 6"/>
          <p:cNvSpPr/>
          <p:nvPr/>
        </p:nvSpPr>
        <p:spPr>
          <a:xfrm>
            <a:off x="877824" y="2505456"/>
            <a:ext cx="256032" cy="256032"/>
          </a:xfrm>
          <a:prstGeom prst="roundRect">
            <a:avLst>
              <a:gd name="adj" fmla="val 19643"/>
            </a:avLst>
          </a:prstGeom>
          <a:solidFill>
            <a:srgbClr val="0B1210"/>
          </a:solidFill>
          <a:ln/>
        </p:spPr>
      </p:sp>
      <p:sp>
        <p:nvSpPr>
          <p:cNvPr id="9" name="Text 7"/>
          <p:cNvSpPr/>
          <p:nvPr/>
        </p:nvSpPr>
        <p:spPr>
          <a:xfrm>
            <a:off x="877824" y="25054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 name="Text 8"/>
          <p:cNvSpPr/>
          <p:nvPr/>
        </p:nvSpPr>
        <p:spPr>
          <a:xfrm>
            <a:off x="877824" y="2852928"/>
            <a:ext cx="3075432" cy="457200"/>
          </a:xfrm>
          <a:prstGeom prst="rect">
            <a:avLst/>
          </a:prstGeom>
          <a:noFill/>
          <a:ln/>
        </p:spPr>
        <p:txBody>
          <a:bodyPr wrap="square" lIns="0" tIns="0" rIns="0" bIns="0" rtlCol="0" anchor="ctr"/>
          <a:lstStyle/>
          <a:p>
            <a:pPr algn="l" indent="0" marL="0">
              <a:buNone/>
            </a:pPr>
            <a:r>
              <a:rPr lang="en-US" sz="1250" b="1" dirty="0">
                <a:solidFill>
                  <a:srgbClr val="0B1210"/>
                </a:solidFill>
                <a:latin typeface="Cambria" pitchFamily="34" charset="0"/>
                <a:ea typeface="Cambria" pitchFamily="34" charset="-122"/>
                <a:cs typeface="Cambria" pitchFamily="34" charset="-120"/>
              </a:rPr>
              <a:t>No history, no route</a:t>
            </a:r>
            <a:endParaRPr lang="en-US" sz="1250" dirty="0"/>
          </a:p>
        </p:txBody>
      </p:sp>
      <p:sp>
        <p:nvSpPr>
          <p:cNvPr id="11" name="Text 9"/>
          <p:cNvSpPr/>
          <p:nvPr/>
        </p:nvSpPr>
        <p:spPr>
          <a:xfrm>
            <a:off x="877824" y="3255264"/>
            <a:ext cx="3075432"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Fewer than ten usable closes and the route is dropped — never given a confident-looking estimate built on a missing input.</a:t>
            </a:r>
            <a:endParaRPr lang="en-US" sz="1000" dirty="0"/>
          </a:p>
        </p:txBody>
      </p:sp>
      <p:sp>
        <p:nvSpPr>
          <p:cNvPr id="12" name="Shape 10"/>
          <p:cNvSpPr/>
          <p:nvPr/>
        </p:nvSpPr>
        <p:spPr>
          <a:xfrm>
            <a:off x="4337304" y="2286000"/>
            <a:ext cx="3514344" cy="1536192"/>
          </a:xfrm>
          <a:prstGeom prst="roundRect">
            <a:avLst>
              <a:gd name="adj" fmla="val 5357"/>
            </a:avLst>
          </a:prstGeom>
          <a:solidFill>
            <a:srgbClr val="F2F5F3"/>
          </a:solidFill>
          <a:ln/>
        </p:spPr>
      </p:sp>
      <p:sp>
        <p:nvSpPr>
          <p:cNvPr id="13" name="Shape 11"/>
          <p:cNvSpPr/>
          <p:nvPr/>
        </p:nvSpPr>
        <p:spPr>
          <a:xfrm>
            <a:off x="4556760" y="2505456"/>
            <a:ext cx="256032" cy="256032"/>
          </a:xfrm>
          <a:prstGeom prst="roundRect">
            <a:avLst>
              <a:gd name="adj" fmla="val 19643"/>
            </a:avLst>
          </a:prstGeom>
          <a:solidFill>
            <a:srgbClr val="0B1210"/>
          </a:solidFill>
          <a:ln/>
        </p:spPr>
      </p:sp>
      <p:sp>
        <p:nvSpPr>
          <p:cNvPr id="14" name="Text 12"/>
          <p:cNvSpPr/>
          <p:nvPr/>
        </p:nvSpPr>
        <p:spPr>
          <a:xfrm>
            <a:off x="4556760" y="25054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5" name="Text 13"/>
          <p:cNvSpPr/>
          <p:nvPr/>
        </p:nvSpPr>
        <p:spPr>
          <a:xfrm>
            <a:off x="4556760" y="2852928"/>
            <a:ext cx="3075432" cy="457200"/>
          </a:xfrm>
          <a:prstGeom prst="rect">
            <a:avLst/>
          </a:prstGeom>
          <a:noFill/>
          <a:ln/>
        </p:spPr>
        <p:txBody>
          <a:bodyPr wrap="square" lIns="0" tIns="0" rIns="0" bIns="0" rtlCol="0" anchor="ctr"/>
          <a:lstStyle/>
          <a:p>
            <a:pPr algn="l" indent="0" marL="0">
              <a:buNone/>
            </a:pPr>
            <a:r>
              <a:rPr lang="en-US" sz="1250" b="1" dirty="0">
                <a:solidFill>
                  <a:srgbClr val="0B1210"/>
                </a:solidFill>
                <a:latin typeface="Cambria" pitchFamily="34" charset="0"/>
                <a:ea typeface="Cambria" pitchFamily="34" charset="-122"/>
                <a:cs typeface="Cambria" pitchFamily="34" charset="-120"/>
              </a:rPr>
              <a:t>Assumed return capped at 8%/yr</a:t>
            </a:r>
            <a:endParaRPr lang="en-US" sz="1250" dirty="0"/>
          </a:p>
        </p:txBody>
      </p:sp>
      <p:sp>
        <p:nvSpPr>
          <p:cNvPr id="16" name="Text 14"/>
          <p:cNvSpPr/>
          <p:nvPr/>
        </p:nvSpPr>
        <p:spPr>
          <a:xfrm>
            <a:off x="4556760" y="3255264"/>
            <a:ext cx="3075432"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A fund is credited with its own long-run trend and never with a hot streak. Bond funds are credited less than equity funds, automatically.</a:t>
            </a:r>
            <a:endParaRPr lang="en-US" sz="1000" dirty="0"/>
          </a:p>
        </p:txBody>
      </p:sp>
      <p:sp>
        <p:nvSpPr>
          <p:cNvPr id="17" name="Shape 15"/>
          <p:cNvSpPr/>
          <p:nvPr/>
        </p:nvSpPr>
        <p:spPr>
          <a:xfrm>
            <a:off x="8016240" y="2286000"/>
            <a:ext cx="3514344" cy="1536192"/>
          </a:xfrm>
          <a:prstGeom prst="roundRect">
            <a:avLst>
              <a:gd name="adj" fmla="val 5357"/>
            </a:avLst>
          </a:prstGeom>
          <a:solidFill>
            <a:srgbClr val="F2F5F3"/>
          </a:solidFill>
          <a:ln/>
        </p:spPr>
      </p:sp>
      <p:sp>
        <p:nvSpPr>
          <p:cNvPr id="18" name="Shape 16"/>
          <p:cNvSpPr/>
          <p:nvPr/>
        </p:nvSpPr>
        <p:spPr>
          <a:xfrm>
            <a:off x="8235696" y="2505456"/>
            <a:ext cx="256032" cy="256032"/>
          </a:xfrm>
          <a:prstGeom prst="roundRect">
            <a:avLst>
              <a:gd name="adj" fmla="val 19643"/>
            </a:avLst>
          </a:prstGeom>
          <a:solidFill>
            <a:srgbClr val="0B1210"/>
          </a:solidFill>
          <a:ln/>
        </p:spPr>
      </p:sp>
      <p:sp>
        <p:nvSpPr>
          <p:cNvPr id="19" name="Text 17"/>
          <p:cNvSpPr/>
          <p:nvPr/>
        </p:nvSpPr>
        <p:spPr>
          <a:xfrm>
            <a:off x="8235696" y="25054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8235696" y="2852928"/>
            <a:ext cx="3075432" cy="457200"/>
          </a:xfrm>
          <a:prstGeom prst="rect">
            <a:avLst/>
          </a:prstGeom>
          <a:noFill/>
          <a:ln/>
        </p:spPr>
        <p:txBody>
          <a:bodyPr wrap="square" lIns="0" tIns="0" rIns="0" bIns="0" rtlCol="0" anchor="ctr"/>
          <a:lstStyle/>
          <a:p>
            <a:pPr algn="l" indent="0" marL="0">
              <a:buNone/>
            </a:pPr>
            <a:r>
              <a:rPr lang="en-US" sz="1250" b="1" dirty="0">
                <a:solidFill>
                  <a:srgbClr val="0B1210"/>
                </a:solidFill>
                <a:latin typeface="Cambria" pitchFamily="34" charset="0"/>
                <a:ea typeface="Cambria" pitchFamily="34" charset="-122"/>
                <a:cs typeface="Cambria" pitchFamily="34" charset="-120"/>
              </a:rPr>
              <a:t>Probability counts twice for binaries</a:t>
            </a:r>
            <a:endParaRPr lang="en-US" sz="1250" dirty="0"/>
          </a:p>
        </p:txBody>
      </p:sp>
      <p:sp>
        <p:nvSpPr>
          <p:cNvPr id="21" name="Text 19"/>
          <p:cNvSpPr/>
          <p:nvPr/>
        </p:nvSpPr>
        <p:spPr>
          <a:xfrm>
            <a:off x="8235696" y="3255264"/>
            <a:ext cx="3075432"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Deliberate double-counting. When the downside is the entire stake, likelihood should not be one weighted input among four.</a:t>
            </a:r>
            <a:endParaRPr lang="en-US" sz="1000" dirty="0"/>
          </a:p>
        </p:txBody>
      </p:sp>
      <p:sp>
        <p:nvSpPr>
          <p:cNvPr id="22" name="Shape 20"/>
          <p:cNvSpPr/>
          <p:nvPr/>
        </p:nvSpPr>
        <p:spPr>
          <a:xfrm>
            <a:off x="658368" y="4041648"/>
            <a:ext cx="3514344" cy="1536192"/>
          </a:xfrm>
          <a:prstGeom prst="roundRect">
            <a:avLst>
              <a:gd name="adj" fmla="val 5357"/>
            </a:avLst>
          </a:prstGeom>
          <a:solidFill>
            <a:srgbClr val="F2F5F3"/>
          </a:solidFill>
          <a:ln/>
        </p:spPr>
      </p:sp>
      <p:sp>
        <p:nvSpPr>
          <p:cNvPr id="23" name="Shape 21"/>
          <p:cNvSpPr/>
          <p:nvPr/>
        </p:nvSpPr>
        <p:spPr>
          <a:xfrm>
            <a:off x="877824" y="4261104"/>
            <a:ext cx="256032" cy="256032"/>
          </a:xfrm>
          <a:prstGeom prst="roundRect">
            <a:avLst>
              <a:gd name="adj" fmla="val 19643"/>
            </a:avLst>
          </a:prstGeom>
          <a:solidFill>
            <a:srgbClr val="0B1210"/>
          </a:solidFill>
          <a:ln/>
        </p:spPr>
      </p:sp>
      <p:sp>
        <p:nvSpPr>
          <p:cNvPr id="24" name="Text 22"/>
          <p:cNvSpPr/>
          <p:nvPr/>
        </p:nvSpPr>
        <p:spPr>
          <a:xfrm>
            <a:off x="877824" y="426110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5" name="Text 23"/>
          <p:cNvSpPr/>
          <p:nvPr/>
        </p:nvSpPr>
        <p:spPr>
          <a:xfrm>
            <a:off x="877824" y="4608576"/>
            <a:ext cx="3075432" cy="457200"/>
          </a:xfrm>
          <a:prstGeom prst="rect">
            <a:avLst/>
          </a:prstGeom>
          <a:noFill/>
          <a:ln/>
        </p:spPr>
        <p:txBody>
          <a:bodyPr wrap="square" lIns="0" tIns="0" rIns="0" bIns="0" rtlCol="0" anchor="ctr"/>
          <a:lstStyle/>
          <a:p>
            <a:pPr algn="l" indent="0" marL="0">
              <a:buNone/>
            </a:pPr>
            <a:r>
              <a:rPr lang="en-US" sz="1250" b="1" dirty="0">
                <a:solidFill>
                  <a:srgbClr val="0B1210"/>
                </a:solidFill>
                <a:latin typeface="Cambria" pitchFamily="34" charset="0"/>
                <a:ea typeface="Cambria" pitchFamily="34" charset="-122"/>
                <a:cs typeface="Cambria" pitchFamily="34" charset="-120"/>
              </a:rPr>
              <a:t>Cross-venue prices net of fees</a:t>
            </a:r>
            <a:endParaRPr lang="en-US" sz="1250" dirty="0"/>
          </a:p>
        </p:txBody>
      </p:sp>
      <p:sp>
        <p:nvSpPr>
          <p:cNvPr id="26" name="Text 24"/>
          <p:cNvSpPr/>
          <p:nvPr/>
        </p:nvSpPr>
        <p:spPr>
          <a:xfrm>
            <a:off x="877824" y="5010912"/>
            <a:ext cx="3075432"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Kalshi's fee curve and Polymarket's spread are both removed before the two venues are ever compared.</a:t>
            </a:r>
            <a:endParaRPr lang="en-US" sz="1000" dirty="0"/>
          </a:p>
        </p:txBody>
      </p:sp>
      <p:sp>
        <p:nvSpPr>
          <p:cNvPr id="27" name="Shape 25"/>
          <p:cNvSpPr/>
          <p:nvPr/>
        </p:nvSpPr>
        <p:spPr>
          <a:xfrm>
            <a:off x="4337304" y="4041648"/>
            <a:ext cx="3514344" cy="1536192"/>
          </a:xfrm>
          <a:prstGeom prst="roundRect">
            <a:avLst>
              <a:gd name="adj" fmla="val 5357"/>
            </a:avLst>
          </a:prstGeom>
          <a:solidFill>
            <a:srgbClr val="F2F5F3"/>
          </a:solidFill>
          <a:ln/>
        </p:spPr>
      </p:sp>
      <p:sp>
        <p:nvSpPr>
          <p:cNvPr id="28" name="Shape 26"/>
          <p:cNvSpPr/>
          <p:nvPr/>
        </p:nvSpPr>
        <p:spPr>
          <a:xfrm>
            <a:off x="4556760" y="4261104"/>
            <a:ext cx="256032" cy="256032"/>
          </a:xfrm>
          <a:prstGeom prst="roundRect">
            <a:avLst>
              <a:gd name="adj" fmla="val 19643"/>
            </a:avLst>
          </a:prstGeom>
          <a:solidFill>
            <a:srgbClr val="0B1210"/>
          </a:solidFill>
          <a:ln/>
        </p:spPr>
      </p:sp>
      <p:sp>
        <p:nvSpPr>
          <p:cNvPr id="29" name="Text 27"/>
          <p:cNvSpPr/>
          <p:nvPr/>
        </p:nvSpPr>
        <p:spPr>
          <a:xfrm>
            <a:off x="4556760" y="426110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0" name="Text 28"/>
          <p:cNvSpPr/>
          <p:nvPr/>
        </p:nvSpPr>
        <p:spPr>
          <a:xfrm>
            <a:off x="4556760" y="4608576"/>
            <a:ext cx="3075432" cy="457200"/>
          </a:xfrm>
          <a:prstGeom prst="rect">
            <a:avLst/>
          </a:prstGeom>
          <a:noFill/>
          <a:ln/>
        </p:spPr>
        <p:txBody>
          <a:bodyPr wrap="square" lIns="0" tIns="0" rIns="0" bIns="0" rtlCol="0" anchor="ctr"/>
          <a:lstStyle/>
          <a:p>
            <a:pPr algn="l" indent="0" marL="0">
              <a:buNone/>
            </a:pPr>
            <a:r>
              <a:rPr lang="en-US" sz="1250" b="1" dirty="0">
                <a:solidFill>
                  <a:srgbClr val="0B1210"/>
                </a:solidFill>
                <a:latin typeface="Cambria" pitchFamily="34" charset="0"/>
                <a:ea typeface="Cambria" pitchFamily="34" charset="-122"/>
                <a:cs typeface="Cambria" pitchFamily="34" charset="-120"/>
              </a:rPr>
              <a:t>Every number carries its method</a:t>
            </a:r>
            <a:endParaRPr lang="en-US" sz="1250" dirty="0"/>
          </a:p>
        </p:txBody>
      </p:sp>
      <p:sp>
        <p:nvSpPr>
          <p:cNvPr id="31" name="Text 29"/>
          <p:cNvSpPr/>
          <p:nvPr/>
        </p:nvSpPr>
        <p:spPr>
          <a:xfrm>
            <a:off x="4556760" y="5010912"/>
            <a:ext cx="3075432"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Three badges, three caveat sets, shown beside the probability on the route screen — never collapsed into one global footer.</a:t>
            </a:r>
            <a:endParaRPr lang="en-US" sz="1000" dirty="0"/>
          </a:p>
        </p:txBody>
      </p:sp>
      <p:sp>
        <p:nvSpPr>
          <p:cNvPr id="32" name="Shape 30"/>
          <p:cNvSpPr/>
          <p:nvPr/>
        </p:nvSpPr>
        <p:spPr>
          <a:xfrm>
            <a:off x="8016240" y="4041648"/>
            <a:ext cx="3514344" cy="1536192"/>
          </a:xfrm>
          <a:prstGeom prst="roundRect">
            <a:avLst>
              <a:gd name="adj" fmla="val 5357"/>
            </a:avLst>
          </a:prstGeom>
          <a:solidFill>
            <a:srgbClr val="F2F5F3"/>
          </a:solidFill>
          <a:ln/>
        </p:spPr>
      </p:sp>
      <p:sp>
        <p:nvSpPr>
          <p:cNvPr id="33" name="Shape 31"/>
          <p:cNvSpPr/>
          <p:nvPr/>
        </p:nvSpPr>
        <p:spPr>
          <a:xfrm>
            <a:off x="8235696" y="4261104"/>
            <a:ext cx="256032" cy="256032"/>
          </a:xfrm>
          <a:prstGeom prst="roundRect">
            <a:avLst>
              <a:gd name="adj" fmla="val 19643"/>
            </a:avLst>
          </a:prstGeom>
          <a:solidFill>
            <a:srgbClr val="0B1210"/>
          </a:solidFill>
          <a:ln/>
        </p:spPr>
      </p:sp>
      <p:sp>
        <p:nvSpPr>
          <p:cNvPr id="34" name="Text 32"/>
          <p:cNvSpPr/>
          <p:nvPr/>
        </p:nvSpPr>
        <p:spPr>
          <a:xfrm>
            <a:off x="8235696" y="426110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5" name="Text 33"/>
          <p:cNvSpPr/>
          <p:nvPr/>
        </p:nvSpPr>
        <p:spPr>
          <a:xfrm>
            <a:off x="8235696" y="4608576"/>
            <a:ext cx="3075432" cy="457200"/>
          </a:xfrm>
          <a:prstGeom prst="rect">
            <a:avLst/>
          </a:prstGeom>
          <a:noFill/>
          <a:ln/>
        </p:spPr>
        <p:txBody>
          <a:bodyPr wrap="square" lIns="0" tIns="0" rIns="0" bIns="0" rtlCol="0" anchor="ctr"/>
          <a:lstStyle/>
          <a:p>
            <a:pPr algn="l" indent="0" marL="0">
              <a:buNone/>
            </a:pPr>
            <a:r>
              <a:rPr lang="en-US" sz="1250" b="1" dirty="0">
                <a:solidFill>
                  <a:srgbClr val="0B1210"/>
                </a:solidFill>
                <a:latin typeface="Cambria" pitchFamily="34" charset="0"/>
                <a:ea typeface="Cambria" pitchFamily="34" charset="-122"/>
                <a:cs typeface="Cambria" pitchFamily="34" charset="-120"/>
              </a:rPr>
              <a:t>Information, not advice</a:t>
            </a:r>
            <a:endParaRPr lang="en-US" sz="1250" dirty="0"/>
          </a:p>
        </p:txBody>
      </p:sp>
      <p:sp>
        <p:nvSpPr>
          <p:cNvPr id="36" name="Text 34"/>
          <p:cNvSpPr/>
          <p:nvPr/>
        </p:nvSpPr>
        <p:spPr>
          <a:xfrm>
            <a:off x="8235696" y="5010912"/>
            <a:ext cx="3075432"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A verbatim disclosure ships in the app. This is a comparison tool; the decision, and the responsibility, stay with the user.</a:t>
            </a:r>
            <a:endParaRPr lang="en-US" sz="1000" dirty="0"/>
          </a:p>
        </p:txBody>
      </p:sp>
      <p:sp>
        <p:nvSpPr>
          <p:cNvPr id="37" name="Text 35"/>
          <p:cNvSpPr/>
          <p:nvPr/>
        </p:nvSpPr>
        <p:spPr>
          <a:xfrm>
            <a:off x="658368" y="5943600"/>
            <a:ext cx="10872216" cy="329184"/>
          </a:xfrm>
          <a:prstGeom prst="rect">
            <a:avLst/>
          </a:prstGeom>
          <a:noFill/>
          <a:ln/>
        </p:spPr>
        <p:txBody>
          <a:bodyPr wrap="square" lIns="0" tIns="0" rIns="0" bIns="0" rtlCol="0" anchor="t"/>
          <a:lstStyle/>
          <a:p>
            <a:pPr indent="0" marL="0">
              <a:lnSpc>
                <a:spcPct val="115000"/>
              </a:lnSpc>
              <a:buNone/>
            </a:pPr>
            <a:r>
              <a:rPr lang="en-US" sz="950" dirty="0">
                <a:solidFill>
                  <a:srgbClr val="94A29B"/>
                </a:solidFill>
                <a:latin typeface="Calibri" pitchFamily="34" charset="0"/>
                <a:ea typeface="Calibri" pitchFamily="34" charset="-122"/>
                <a:cs typeface="Calibri" pitchFamily="34" charset="-120"/>
              </a:rPr>
              <a:t>Each of these is a line in the shipped code, not a policy document — which is why they hold when the incentive to bend them arrives.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13</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04.08  ·  THE DATA LAYER</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Ten live sources in, one comparable number out.</a:t>
            </a:r>
            <a:endParaRPr lang="en-US" sz="3000" dirty="0"/>
          </a:p>
        </p:txBody>
      </p:sp>
      <p:sp>
        <p:nvSpPr>
          <p:cNvPr id="6" name="Shape 4"/>
          <p:cNvSpPr/>
          <p:nvPr/>
        </p:nvSpPr>
        <p:spPr>
          <a:xfrm>
            <a:off x="658368" y="1572768"/>
            <a:ext cx="2635758" cy="1060704"/>
          </a:xfrm>
          <a:prstGeom prst="roundRect">
            <a:avLst>
              <a:gd name="adj" fmla="val 7759"/>
            </a:avLst>
          </a:prstGeom>
          <a:solidFill>
            <a:srgbClr val="F2F5F3"/>
          </a:solidFill>
          <a:ln/>
        </p:spPr>
      </p:sp>
      <p:sp>
        <p:nvSpPr>
          <p:cNvPr id="7" name="Text 5"/>
          <p:cNvSpPr/>
          <p:nvPr/>
        </p:nvSpPr>
        <p:spPr>
          <a:xfrm>
            <a:off x="841248" y="1737360"/>
            <a:ext cx="457200" cy="164592"/>
          </a:xfrm>
          <a:prstGeom prst="rect">
            <a:avLst/>
          </a:prstGeom>
          <a:noFill/>
          <a:ln/>
        </p:spPr>
        <p:txBody>
          <a:bodyPr wrap="square" lIns="0" tIns="0" rIns="0" bIns="0" rtlCol="0" anchor="ctr"/>
          <a:lstStyle/>
          <a:p>
            <a:pPr algn="l" indent="0" marL="0">
              <a:buNone/>
            </a:pPr>
            <a:r>
              <a:rPr lang="en-US" sz="800" b="1" spc="140" kern="0" dirty="0">
                <a:solidFill>
                  <a:srgbClr val="94A29B"/>
                </a:solidFill>
                <a:latin typeface="Calibri" pitchFamily="34" charset="0"/>
                <a:ea typeface="Calibri" pitchFamily="34" charset="-122"/>
                <a:cs typeface="Calibri" pitchFamily="34" charset="-120"/>
              </a:rPr>
              <a:t>01</a:t>
            </a:r>
            <a:endParaRPr lang="en-US" sz="800" dirty="0"/>
          </a:p>
        </p:txBody>
      </p:sp>
      <p:sp>
        <p:nvSpPr>
          <p:cNvPr id="8" name="Text 6"/>
          <p:cNvSpPr/>
          <p:nvPr/>
        </p:nvSpPr>
        <p:spPr>
          <a:xfrm>
            <a:off x="841248" y="1938528"/>
            <a:ext cx="2269998" cy="237744"/>
          </a:xfrm>
          <a:prstGeom prst="rect">
            <a:avLst/>
          </a:prstGeom>
          <a:noFill/>
          <a:ln/>
        </p:spPr>
        <p:txBody>
          <a:bodyPr wrap="square" lIns="0" tIns="0" rIns="0" bIns="0" rtlCol="0" anchor="ctr"/>
          <a:lstStyle/>
          <a:p>
            <a:pPr algn="l" indent="0" marL="0">
              <a:buNone/>
            </a:pPr>
            <a:r>
              <a:rPr lang="en-US" sz="1250" b="1" dirty="0">
                <a:solidFill>
                  <a:srgbClr val="0B1210"/>
                </a:solidFill>
                <a:latin typeface="Cambria" pitchFamily="34" charset="0"/>
                <a:ea typeface="Cambria" pitchFamily="34" charset="-122"/>
                <a:cs typeface="Cambria" pitchFamily="34" charset="-120"/>
              </a:rPr>
              <a:t>COLLECT</a:t>
            </a:r>
            <a:endParaRPr lang="en-US" sz="1250" dirty="0"/>
          </a:p>
        </p:txBody>
      </p:sp>
      <p:sp>
        <p:nvSpPr>
          <p:cNvPr id="9" name="Text 7"/>
          <p:cNvSpPr/>
          <p:nvPr/>
        </p:nvSpPr>
        <p:spPr>
          <a:xfrm>
            <a:off x="841248" y="2194560"/>
            <a:ext cx="2269998" cy="384048"/>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Live prices, order books, yield curves, 90 days of closes</a:t>
            </a:r>
            <a:endParaRPr lang="en-US" sz="950" dirty="0"/>
          </a:p>
        </p:txBody>
      </p:sp>
      <p:sp>
        <p:nvSpPr>
          <p:cNvPr id="10" name="Shape 8"/>
          <p:cNvSpPr/>
          <p:nvPr/>
        </p:nvSpPr>
        <p:spPr>
          <a:xfrm>
            <a:off x="3403854" y="1572768"/>
            <a:ext cx="2635758" cy="1060704"/>
          </a:xfrm>
          <a:prstGeom prst="roundRect">
            <a:avLst>
              <a:gd name="adj" fmla="val 7759"/>
            </a:avLst>
          </a:prstGeom>
          <a:solidFill>
            <a:srgbClr val="F2F5F3"/>
          </a:solidFill>
          <a:ln/>
        </p:spPr>
      </p:sp>
      <p:sp>
        <p:nvSpPr>
          <p:cNvPr id="11" name="Text 9"/>
          <p:cNvSpPr/>
          <p:nvPr/>
        </p:nvSpPr>
        <p:spPr>
          <a:xfrm>
            <a:off x="3586734" y="1737360"/>
            <a:ext cx="457200" cy="164592"/>
          </a:xfrm>
          <a:prstGeom prst="rect">
            <a:avLst/>
          </a:prstGeom>
          <a:noFill/>
          <a:ln/>
        </p:spPr>
        <p:txBody>
          <a:bodyPr wrap="square" lIns="0" tIns="0" rIns="0" bIns="0" rtlCol="0" anchor="ctr"/>
          <a:lstStyle/>
          <a:p>
            <a:pPr algn="l" indent="0" marL="0">
              <a:buNone/>
            </a:pPr>
            <a:r>
              <a:rPr lang="en-US" sz="800" b="1" spc="140" kern="0" dirty="0">
                <a:solidFill>
                  <a:srgbClr val="94A29B"/>
                </a:solidFill>
                <a:latin typeface="Calibri" pitchFamily="34" charset="0"/>
                <a:ea typeface="Calibri" pitchFamily="34" charset="-122"/>
                <a:cs typeface="Calibri" pitchFamily="34" charset="-120"/>
              </a:rPr>
              <a:t>02</a:t>
            </a:r>
            <a:endParaRPr lang="en-US" sz="800" dirty="0"/>
          </a:p>
        </p:txBody>
      </p:sp>
      <p:sp>
        <p:nvSpPr>
          <p:cNvPr id="12" name="Text 10"/>
          <p:cNvSpPr/>
          <p:nvPr/>
        </p:nvSpPr>
        <p:spPr>
          <a:xfrm>
            <a:off x="3586734" y="1938528"/>
            <a:ext cx="2269998" cy="237744"/>
          </a:xfrm>
          <a:prstGeom prst="rect">
            <a:avLst/>
          </a:prstGeom>
          <a:noFill/>
          <a:ln/>
        </p:spPr>
        <p:txBody>
          <a:bodyPr wrap="square" lIns="0" tIns="0" rIns="0" bIns="0" rtlCol="0" anchor="ctr"/>
          <a:lstStyle/>
          <a:p>
            <a:pPr algn="l" indent="0" marL="0">
              <a:buNone/>
            </a:pPr>
            <a:r>
              <a:rPr lang="en-US" sz="1250" b="1" dirty="0">
                <a:solidFill>
                  <a:srgbClr val="0B1210"/>
                </a:solidFill>
                <a:latin typeface="Cambria" pitchFamily="34" charset="0"/>
                <a:ea typeface="Cambria" pitchFamily="34" charset="-122"/>
                <a:cs typeface="Cambria" pitchFamily="34" charset="-120"/>
              </a:rPr>
              <a:t>NORMALISE</a:t>
            </a:r>
            <a:endParaRPr lang="en-US" sz="1250" dirty="0"/>
          </a:p>
        </p:txBody>
      </p:sp>
      <p:sp>
        <p:nvSpPr>
          <p:cNvPr id="13" name="Text 11"/>
          <p:cNvSpPr/>
          <p:nvPr/>
        </p:nvSpPr>
        <p:spPr>
          <a:xfrm>
            <a:off x="3586734" y="2194560"/>
            <a:ext cx="2269998" cy="384048"/>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Probability, expected gain, capital, downside, time to payout</a:t>
            </a:r>
            <a:endParaRPr lang="en-US" sz="950" dirty="0"/>
          </a:p>
        </p:txBody>
      </p:sp>
      <p:sp>
        <p:nvSpPr>
          <p:cNvPr id="14" name="Shape 12"/>
          <p:cNvSpPr/>
          <p:nvPr/>
        </p:nvSpPr>
        <p:spPr>
          <a:xfrm>
            <a:off x="6149340" y="1572768"/>
            <a:ext cx="2635758" cy="1060704"/>
          </a:xfrm>
          <a:prstGeom prst="roundRect">
            <a:avLst>
              <a:gd name="adj" fmla="val 7759"/>
            </a:avLst>
          </a:prstGeom>
          <a:solidFill>
            <a:srgbClr val="E6F4EE"/>
          </a:solidFill>
          <a:ln/>
        </p:spPr>
      </p:sp>
      <p:sp>
        <p:nvSpPr>
          <p:cNvPr id="15" name="Text 13"/>
          <p:cNvSpPr/>
          <p:nvPr/>
        </p:nvSpPr>
        <p:spPr>
          <a:xfrm>
            <a:off x="6332220" y="1737360"/>
            <a:ext cx="457200" cy="164592"/>
          </a:xfrm>
          <a:prstGeom prst="rect">
            <a:avLst/>
          </a:prstGeom>
          <a:noFill/>
          <a:ln/>
        </p:spPr>
        <p:txBody>
          <a:bodyPr wrap="square" lIns="0" tIns="0" rIns="0" bIns="0" rtlCol="0" anchor="ctr"/>
          <a:lstStyle/>
          <a:p>
            <a:pPr algn="l" indent="0" marL="0">
              <a:buNone/>
            </a:pPr>
            <a:r>
              <a:rPr lang="en-US" sz="800" b="1" spc="140" kern="0" dirty="0">
                <a:solidFill>
                  <a:srgbClr val="0A5C3E"/>
                </a:solidFill>
                <a:latin typeface="Calibri" pitchFamily="34" charset="0"/>
                <a:ea typeface="Calibri" pitchFamily="34" charset="-122"/>
                <a:cs typeface="Calibri" pitchFamily="34" charset="-120"/>
              </a:rPr>
              <a:t>03</a:t>
            </a:r>
            <a:endParaRPr lang="en-US" sz="800" dirty="0"/>
          </a:p>
        </p:txBody>
      </p:sp>
      <p:sp>
        <p:nvSpPr>
          <p:cNvPr id="16" name="Text 14"/>
          <p:cNvSpPr/>
          <p:nvPr/>
        </p:nvSpPr>
        <p:spPr>
          <a:xfrm>
            <a:off x="6332220" y="1938528"/>
            <a:ext cx="2269998" cy="237744"/>
          </a:xfrm>
          <a:prstGeom prst="rect">
            <a:avLst/>
          </a:prstGeom>
          <a:noFill/>
          <a:ln/>
        </p:spPr>
        <p:txBody>
          <a:bodyPr wrap="square" lIns="0" tIns="0" rIns="0" bIns="0" rtlCol="0" anchor="ctr"/>
          <a:lstStyle/>
          <a:p>
            <a:pPr algn="l" indent="0" marL="0">
              <a:buNone/>
            </a:pPr>
            <a:r>
              <a:rPr lang="en-US" sz="1250" b="1" dirty="0">
                <a:solidFill>
                  <a:srgbClr val="0B1210"/>
                </a:solidFill>
                <a:latin typeface="Cambria" pitchFamily="34" charset="0"/>
                <a:ea typeface="Cambria" pitchFamily="34" charset="-122"/>
                <a:cs typeface="Cambria" pitchFamily="34" charset="-120"/>
              </a:rPr>
              <a:t>SCORE</a:t>
            </a:r>
            <a:endParaRPr lang="en-US" sz="1250" dirty="0"/>
          </a:p>
        </p:txBody>
      </p:sp>
      <p:sp>
        <p:nvSpPr>
          <p:cNvPr id="17" name="Text 15"/>
          <p:cNvSpPr/>
          <p:nvPr/>
        </p:nvSpPr>
        <p:spPr>
          <a:xfrm>
            <a:off x="6332220" y="2194560"/>
            <a:ext cx="2269998" cy="384048"/>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Weighted components, then survival, quality and the gates</a:t>
            </a:r>
            <a:endParaRPr lang="en-US" sz="950" dirty="0"/>
          </a:p>
        </p:txBody>
      </p:sp>
      <p:sp>
        <p:nvSpPr>
          <p:cNvPr id="18" name="Shape 16"/>
          <p:cNvSpPr/>
          <p:nvPr/>
        </p:nvSpPr>
        <p:spPr>
          <a:xfrm>
            <a:off x="8894826" y="1572768"/>
            <a:ext cx="2635758" cy="1060704"/>
          </a:xfrm>
          <a:prstGeom prst="roundRect">
            <a:avLst>
              <a:gd name="adj" fmla="val 7759"/>
            </a:avLst>
          </a:prstGeom>
          <a:solidFill>
            <a:srgbClr val="F2F5F3"/>
          </a:solidFill>
          <a:ln/>
        </p:spPr>
      </p:sp>
      <p:sp>
        <p:nvSpPr>
          <p:cNvPr id="19" name="Text 17"/>
          <p:cNvSpPr/>
          <p:nvPr/>
        </p:nvSpPr>
        <p:spPr>
          <a:xfrm>
            <a:off x="9077706" y="1737360"/>
            <a:ext cx="457200" cy="164592"/>
          </a:xfrm>
          <a:prstGeom prst="rect">
            <a:avLst/>
          </a:prstGeom>
          <a:noFill/>
          <a:ln/>
        </p:spPr>
        <p:txBody>
          <a:bodyPr wrap="square" lIns="0" tIns="0" rIns="0" bIns="0" rtlCol="0" anchor="ctr"/>
          <a:lstStyle/>
          <a:p>
            <a:pPr algn="l" indent="0" marL="0">
              <a:buNone/>
            </a:pPr>
            <a:r>
              <a:rPr lang="en-US" sz="800" b="1" spc="140" kern="0" dirty="0">
                <a:solidFill>
                  <a:srgbClr val="94A29B"/>
                </a:solidFill>
                <a:latin typeface="Calibri" pitchFamily="34" charset="0"/>
                <a:ea typeface="Calibri" pitchFamily="34" charset="-122"/>
                <a:cs typeface="Calibri" pitchFamily="34" charset="-120"/>
              </a:rPr>
              <a:t>04</a:t>
            </a:r>
            <a:endParaRPr lang="en-US" sz="800" dirty="0"/>
          </a:p>
        </p:txBody>
      </p:sp>
      <p:sp>
        <p:nvSpPr>
          <p:cNvPr id="20" name="Text 18"/>
          <p:cNvSpPr/>
          <p:nvPr/>
        </p:nvSpPr>
        <p:spPr>
          <a:xfrm>
            <a:off x="9077706" y="1938528"/>
            <a:ext cx="2269998" cy="237744"/>
          </a:xfrm>
          <a:prstGeom prst="rect">
            <a:avLst/>
          </a:prstGeom>
          <a:noFill/>
          <a:ln/>
        </p:spPr>
        <p:txBody>
          <a:bodyPr wrap="square" lIns="0" tIns="0" rIns="0" bIns="0" rtlCol="0" anchor="ctr"/>
          <a:lstStyle/>
          <a:p>
            <a:pPr algn="l" indent="0" marL="0">
              <a:buNone/>
            </a:pPr>
            <a:r>
              <a:rPr lang="en-US" sz="1250" b="1" dirty="0">
                <a:solidFill>
                  <a:srgbClr val="0B1210"/>
                </a:solidFill>
                <a:latin typeface="Cambria" pitchFamily="34" charset="0"/>
                <a:ea typeface="Cambria" pitchFamily="34" charset="-122"/>
                <a:cs typeface="Cambria" pitchFamily="34" charset="-120"/>
              </a:rPr>
              <a:t>RANK</a:t>
            </a:r>
            <a:endParaRPr lang="en-US" sz="1250" dirty="0"/>
          </a:p>
        </p:txBody>
      </p:sp>
      <p:sp>
        <p:nvSpPr>
          <p:cNvPr id="21" name="Text 19"/>
          <p:cNvSpPr/>
          <p:nvPr/>
        </p:nvSpPr>
        <p:spPr>
          <a:xfrm>
            <a:off x="9077706" y="2194560"/>
            <a:ext cx="2269998" cy="384048"/>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Best-fit first, safest by default, breakdown attached</a:t>
            </a:r>
            <a:endParaRPr lang="en-US" sz="950" dirty="0"/>
          </a:p>
        </p:txBody>
      </p:sp>
      <p:sp>
        <p:nvSpPr>
          <p:cNvPr id="22" name="Text 20"/>
          <p:cNvSpPr/>
          <p:nvPr/>
        </p:nvSpPr>
        <p:spPr>
          <a:xfrm>
            <a:off x="658368" y="2889504"/>
            <a:ext cx="3657600" cy="274320"/>
          </a:xfrm>
          <a:prstGeom prst="rect">
            <a:avLst/>
          </a:prstGeom>
          <a:noFill/>
          <a:ln/>
        </p:spPr>
        <p:txBody>
          <a:bodyPr wrap="square" lIns="0" tIns="0" rIns="0" bIns="0" rtlCol="0" anchor="ctr"/>
          <a:lstStyle/>
          <a:p>
            <a:pPr algn="l" indent="0" marL="0">
              <a:buNone/>
            </a:pPr>
            <a:r>
              <a:rPr lang="en-US" sz="1350" b="1" dirty="0">
                <a:solidFill>
                  <a:srgbClr val="0B1210"/>
                </a:solidFill>
                <a:latin typeface="Cambria" pitchFamily="34" charset="0"/>
                <a:ea typeface="Cambria" pitchFamily="34" charset="-122"/>
                <a:cs typeface="Cambria" pitchFamily="34" charset="-120"/>
              </a:rPr>
              <a:t>The sources</a:t>
            </a:r>
            <a:endParaRPr lang="en-US" sz="1350" dirty="0"/>
          </a:p>
        </p:txBody>
      </p:sp>
      <p:sp>
        <p:nvSpPr>
          <p:cNvPr id="23" name="Shape 21"/>
          <p:cNvSpPr/>
          <p:nvPr/>
        </p:nvSpPr>
        <p:spPr>
          <a:xfrm>
            <a:off x="658368" y="3291840"/>
            <a:ext cx="5344668" cy="457200"/>
          </a:xfrm>
          <a:prstGeom prst="roundRect">
            <a:avLst>
              <a:gd name="adj" fmla="val 14000"/>
            </a:avLst>
          </a:prstGeom>
          <a:solidFill>
            <a:srgbClr val="FFFFFF"/>
          </a:solidFill>
          <a:ln w="9525">
            <a:solidFill>
              <a:srgbClr val="DCE3DF"/>
            </a:solidFill>
            <a:prstDash val="solid"/>
          </a:ln>
        </p:spPr>
      </p:sp>
      <p:sp>
        <p:nvSpPr>
          <p:cNvPr id="24" name="Text 22"/>
          <p:cNvSpPr/>
          <p:nvPr/>
        </p:nvSpPr>
        <p:spPr>
          <a:xfrm>
            <a:off x="822960" y="3346704"/>
            <a:ext cx="1737360" cy="347472"/>
          </a:xfrm>
          <a:prstGeom prst="rect">
            <a:avLst/>
          </a:prstGeom>
          <a:noFill/>
          <a:ln/>
        </p:spPr>
        <p:txBody>
          <a:bodyPr wrap="square" lIns="0" tIns="0" rIns="0" bIns="0" rtlCol="0" anchor="ctr"/>
          <a:lstStyle/>
          <a:p>
            <a:pPr algn="l" indent="0" marL="0">
              <a:buNone/>
            </a:pPr>
            <a:r>
              <a:rPr lang="en-US" sz="1050" b="1" dirty="0">
                <a:solidFill>
                  <a:srgbClr val="0B1210"/>
                </a:solidFill>
                <a:latin typeface="Cambria" pitchFamily="34" charset="0"/>
                <a:ea typeface="Cambria" pitchFamily="34" charset="-122"/>
                <a:cs typeface="Cambria" pitchFamily="34" charset="-120"/>
              </a:rPr>
              <a:t>Polymarket</a:t>
            </a:r>
            <a:endParaRPr lang="en-US" sz="1050" dirty="0"/>
          </a:p>
        </p:txBody>
      </p:sp>
      <p:sp>
        <p:nvSpPr>
          <p:cNvPr id="25" name="Text 23"/>
          <p:cNvSpPr/>
          <p:nvPr/>
        </p:nvSpPr>
        <p:spPr>
          <a:xfrm>
            <a:off x="2532888" y="3346704"/>
            <a:ext cx="3287268" cy="347472"/>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Gamma + data API — live prices, spread, liquidity, flow</a:t>
            </a:r>
            <a:endParaRPr lang="en-US" sz="950" dirty="0"/>
          </a:p>
        </p:txBody>
      </p:sp>
      <p:sp>
        <p:nvSpPr>
          <p:cNvPr id="26" name="Shape 24"/>
          <p:cNvSpPr/>
          <p:nvPr/>
        </p:nvSpPr>
        <p:spPr>
          <a:xfrm>
            <a:off x="6185916" y="3291840"/>
            <a:ext cx="5344668" cy="457200"/>
          </a:xfrm>
          <a:prstGeom prst="roundRect">
            <a:avLst>
              <a:gd name="adj" fmla="val 14000"/>
            </a:avLst>
          </a:prstGeom>
          <a:solidFill>
            <a:srgbClr val="FFFFFF"/>
          </a:solidFill>
          <a:ln w="9525">
            <a:solidFill>
              <a:srgbClr val="DCE3DF"/>
            </a:solidFill>
            <a:prstDash val="solid"/>
          </a:ln>
        </p:spPr>
      </p:sp>
      <p:sp>
        <p:nvSpPr>
          <p:cNvPr id="27" name="Text 25"/>
          <p:cNvSpPr/>
          <p:nvPr/>
        </p:nvSpPr>
        <p:spPr>
          <a:xfrm>
            <a:off x="6350508" y="3346704"/>
            <a:ext cx="1737360" cy="347472"/>
          </a:xfrm>
          <a:prstGeom prst="rect">
            <a:avLst/>
          </a:prstGeom>
          <a:noFill/>
          <a:ln/>
        </p:spPr>
        <p:txBody>
          <a:bodyPr wrap="square" lIns="0" tIns="0" rIns="0" bIns="0" rtlCol="0" anchor="ctr"/>
          <a:lstStyle/>
          <a:p>
            <a:pPr algn="l" indent="0" marL="0">
              <a:buNone/>
            </a:pPr>
            <a:r>
              <a:rPr lang="en-US" sz="1050" b="1" dirty="0">
                <a:solidFill>
                  <a:srgbClr val="0B1210"/>
                </a:solidFill>
                <a:latin typeface="Cambria" pitchFamily="34" charset="0"/>
                <a:ea typeface="Cambria" pitchFamily="34" charset="-122"/>
                <a:cs typeface="Cambria" pitchFamily="34" charset="-120"/>
              </a:rPr>
              <a:t>Kalshi</a:t>
            </a:r>
            <a:endParaRPr lang="en-US" sz="1050" dirty="0"/>
          </a:p>
        </p:txBody>
      </p:sp>
      <p:sp>
        <p:nvSpPr>
          <p:cNvPr id="28" name="Text 26"/>
          <p:cNvSpPr/>
          <p:nvPr/>
        </p:nvSpPr>
        <p:spPr>
          <a:xfrm>
            <a:off x="8060436" y="3346704"/>
            <a:ext cx="3287268" cy="347472"/>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The same event priced on a second venue, for cross-venue value</a:t>
            </a:r>
            <a:endParaRPr lang="en-US" sz="950" dirty="0"/>
          </a:p>
        </p:txBody>
      </p:sp>
      <p:sp>
        <p:nvSpPr>
          <p:cNvPr id="29" name="Shape 27"/>
          <p:cNvSpPr/>
          <p:nvPr/>
        </p:nvSpPr>
        <p:spPr>
          <a:xfrm>
            <a:off x="658368" y="3840480"/>
            <a:ext cx="5344668" cy="457200"/>
          </a:xfrm>
          <a:prstGeom prst="roundRect">
            <a:avLst>
              <a:gd name="adj" fmla="val 14000"/>
            </a:avLst>
          </a:prstGeom>
          <a:solidFill>
            <a:srgbClr val="FFFFFF"/>
          </a:solidFill>
          <a:ln w="9525">
            <a:solidFill>
              <a:srgbClr val="DCE3DF"/>
            </a:solidFill>
            <a:prstDash val="solid"/>
          </a:ln>
        </p:spPr>
      </p:sp>
      <p:sp>
        <p:nvSpPr>
          <p:cNvPr id="30" name="Text 28"/>
          <p:cNvSpPr/>
          <p:nvPr/>
        </p:nvSpPr>
        <p:spPr>
          <a:xfrm>
            <a:off x="822960" y="3895344"/>
            <a:ext cx="1737360" cy="347472"/>
          </a:xfrm>
          <a:prstGeom prst="rect">
            <a:avLst/>
          </a:prstGeom>
          <a:noFill/>
          <a:ln/>
        </p:spPr>
        <p:txBody>
          <a:bodyPr wrap="square" lIns="0" tIns="0" rIns="0" bIns="0" rtlCol="0" anchor="ctr"/>
          <a:lstStyle/>
          <a:p>
            <a:pPr algn="l" indent="0" marL="0">
              <a:buNone/>
            </a:pPr>
            <a:r>
              <a:rPr lang="en-US" sz="1050" b="1" dirty="0">
                <a:solidFill>
                  <a:srgbClr val="0B1210"/>
                </a:solidFill>
                <a:latin typeface="Cambria" pitchFamily="34" charset="0"/>
                <a:ea typeface="Cambria" pitchFamily="34" charset="-122"/>
                <a:cs typeface="Cambria" pitchFamily="34" charset="-120"/>
              </a:rPr>
              <a:t>Metaculus</a:t>
            </a:r>
            <a:endParaRPr lang="en-US" sz="1050" dirty="0"/>
          </a:p>
        </p:txBody>
      </p:sp>
      <p:sp>
        <p:nvSpPr>
          <p:cNvPr id="31" name="Text 29"/>
          <p:cNvSpPr/>
          <p:nvPr/>
        </p:nvSpPr>
        <p:spPr>
          <a:xfrm>
            <a:off x="2532888" y="3895344"/>
            <a:ext cx="3287268" cy="347472"/>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An independent forecaster baseline, to cross-check both venues</a:t>
            </a:r>
            <a:endParaRPr lang="en-US" sz="950" dirty="0"/>
          </a:p>
        </p:txBody>
      </p:sp>
      <p:sp>
        <p:nvSpPr>
          <p:cNvPr id="32" name="Shape 30"/>
          <p:cNvSpPr/>
          <p:nvPr/>
        </p:nvSpPr>
        <p:spPr>
          <a:xfrm>
            <a:off x="6185916" y="3840480"/>
            <a:ext cx="5344668" cy="457200"/>
          </a:xfrm>
          <a:prstGeom prst="roundRect">
            <a:avLst>
              <a:gd name="adj" fmla="val 14000"/>
            </a:avLst>
          </a:prstGeom>
          <a:solidFill>
            <a:srgbClr val="FFFFFF"/>
          </a:solidFill>
          <a:ln w="9525">
            <a:solidFill>
              <a:srgbClr val="DCE3DF"/>
            </a:solidFill>
            <a:prstDash val="solid"/>
          </a:ln>
        </p:spPr>
      </p:sp>
      <p:sp>
        <p:nvSpPr>
          <p:cNvPr id="33" name="Text 31"/>
          <p:cNvSpPr/>
          <p:nvPr/>
        </p:nvSpPr>
        <p:spPr>
          <a:xfrm>
            <a:off x="6350508" y="3895344"/>
            <a:ext cx="1737360" cy="347472"/>
          </a:xfrm>
          <a:prstGeom prst="rect">
            <a:avLst/>
          </a:prstGeom>
          <a:noFill/>
          <a:ln/>
        </p:spPr>
        <p:txBody>
          <a:bodyPr wrap="square" lIns="0" tIns="0" rIns="0" bIns="0" rtlCol="0" anchor="ctr"/>
          <a:lstStyle/>
          <a:p>
            <a:pPr algn="l" indent="0" marL="0">
              <a:buNone/>
            </a:pPr>
            <a:r>
              <a:rPr lang="en-US" sz="1050" b="1" dirty="0">
                <a:solidFill>
                  <a:srgbClr val="0B1210"/>
                </a:solidFill>
                <a:latin typeface="Cambria" pitchFamily="34" charset="0"/>
                <a:ea typeface="Cambria" pitchFamily="34" charset="-122"/>
                <a:cs typeface="Cambria" pitchFamily="34" charset="-120"/>
              </a:rPr>
              <a:t>US Treasury</a:t>
            </a:r>
            <a:endParaRPr lang="en-US" sz="1050" dirty="0"/>
          </a:p>
        </p:txBody>
      </p:sp>
      <p:sp>
        <p:nvSpPr>
          <p:cNvPr id="34" name="Text 32"/>
          <p:cNvSpPr/>
          <p:nvPr/>
        </p:nvSpPr>
        <p:spPr>
          <a:xfrm>
            <a:off x="8060436" y="3895344"/>
            <a:ext cx="3287268" cy="347472"/>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The daily yield curve — contractual rates, not estimates</a:t>
            </a:r>
            <a:endParaRPr lang="en-US" sz="950" dirty="0"/>
          </a:p>
        </p:txBody>
      </p:sp>
      <p:sp>
        <p:nvSpPr>
          <p:cNvPr id="35" name="Shape 33"/>
          <p:cNvSpPr/>
          <p:nvPr/>
        </p:nvSpPr>
        <p:spPr>
          <a:xfrm>
            <a:off x="658368" y="4389120"/>
            <a:ext cx="5344668" cy="457200"/>
          </a:xfrm>
          <a:prstGeom prst="roundRect">
            <a:avLst>
              <a:gd name="adj" fmla="val 14000"/>
            </a:avLst>
          </a:prstGeom>
          <a:solidFill>
            <a:srgbClr val="FFFFFF"/>
          </a:solidFill>
          <a:ln w="9525">
            <a:solidFill>
              <a:srgbClr val="DCE3DF"/>
            </a:solidFill>
            <a:prstDash val="solid"/>
          </a:ln>
        </p:spPr>
      </p:sp>
      <p:sp>
        <p:nvSpPr>
          <p:cNvPr id="36" name="Text 34"/>
          <p:cNvSpPr/>
          <p:nvPr/>
        </p:nvSpPr>
        <p:spPr>
          <a:xfrm>
            <a:off x="822960" y="4443984"/>
            <a:ext cx="1737360" cy="347472"/>
          </a:xfrm>
          <a:prstGeom prst="rect">
            <a:avLst/>
          </a:prstGeom>
          <a:noFill/>
          <a:ln/>
        </p:spPr>
        <p:txBody>
          <a:bodyPr wrap="square" lIns="0" tIns="0" rIns="0" bIns="0" rtlCol="0" anchor="ctr"/>
          <a:lstStyle/>
          <a:p>
            <a:pPr algn="l" indent="0" marL="0">
              <a:buNone/>
            </a:pPr>
            <a:r>
              <a:rPr lang="en-US" sz="1050" b="1" dirty="0">
                <a:solidFill>
                  <a:srgbClr val="0B1210"/>
                </a:solidFill>
                <a:latin typeface="Cambria" pitchFamily="34" charset="0"/>
                <a:ea typeface="Cambria" pitchFamily="34" charset="-122"/>
                <a:cs typeface="Cambria" pitchFamily="34" charset="-120"/>
              </a:rPr>
              <a:t>Yahoo Finance</a:t>
            </a:r>
            <a:endParaRPr lang="en-US" sz="1050" dirty="0"/>
          </a:p>
        </p:txBody>
      </p:sp>
      <p:sp>
        <p:nvSpPr>
          <p:cNvPr id="37" name="Text 35"/>
          <p:cNvSpPr/>
          <p:nvPr/>
        </p:nvSpPr>
        <p:spPr>
          <a:xfrm>
            <a:off x="2532888" y="4443984"/>
            <a:ext cx="3287268" cy="347472"/>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90 days of daily closes, the input to every volatility figure</a:t>
            </a:r>
            <a:endParaRPr lang="en-US" sz="950" dirty="0"/>
          </a:p>
        </p:txBody>
      </p:sp>
      <p:sp>
        <p:nvSpPr>
          <p:cNvPr id="38" name="Shape 36"/>
          <p:cNvSpPr/>
          <p:nvPr/>
        </p:nvSpPr>
        <p:spPr>
          <a:xfrm>
            <a:off x="6185916" y="4389120"/>
            <a:ext cx="5344668" cy="457200"/>
          </a:xfrm>
          <a:prstGeom prst="roundRect">
            <a:avLst>
              <a:gd name="adj" fmla="val 14000"/>
            </a:avLst>
          </a:prstGeom>
          <a:solidFill>
            <a:srgbClr val="FFFFFF"/>
          </a:solidFill>
          <a:ln w="9525">
            <a:solidFill>
              <a:srgbClr val="DCE3DF"/>
            </a:solidFill>
            <a:prstDash val="solid"/>
          </a:ln>
        </p:spPr>
      </p:sp>
      <p:sp>
        <p:nvSpPr>
          <p:cNvPr id="39" name="Text 37"/>
          <p:cNvSpPr/>
          <p:nvPr/>
        </p:nvSpPr>
        <p:spPr>
          <a:xfrm>
            <a:off x="6350508" y="4443984"/>
            <a:ext cx="1737360" cy="347472"/>
          </a:xfrm>
          <a:prstGeom prst="rect">
            <a:avLst/>
          </a:prstGeom>
          <a:noFill/>
          <a:ln/>
        </p:spPr>
        <p:txBody>
          <a:bodyPr wrap="square" lIns="0" tIns="0" rIns="0" bIns="0" rtlCol="0" anchor="ctr"/>
          <a:lstStyle/>
          <a:p>
            <a:pPr algn="l" indent="0" marL="0">
              <a:buNone/>
            </a:pPr>
            <a:r>
              <a:rPr lang="en-US" sz="1050" b="1" dirty="0">
                <a:solidFill>
                  <a:srgbClr val="0B1210"/>
                </a:solidFill>
                <a:latin typeface="Cambria" pitchFamily="34" charset="0"/>
                <a:ea typeface="Cambria" pitchFamily="34" charset="-122"/>
                <a:cs typeface="Cambria" pitchFamily="34" charset="-120"/>
              </a:rPr>
              <a:t>iShares</a:t>
            </a:r>
            <a:endParaRPr lang="en-US" sz="1050" dirty="0"/>
          </a:p>
        </p:txBody>
      </p:sp>
      <p:sp>
        <p:nvSpPr>
          <p:cNvPr id="40" name="Text 38"/>
          <p:cNvSpPr/>
          <p:nvPr/>
        </p:nvSpPr>
        <p:spPr>
          <a:xfrm>
            <a:off x="8060436" y="4443984"/>
            <a:ext cx="3287268" cy="347472"/>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ETF fundamentals, expense ratios, holdings</a:t>
            </a:r>
            <a:endParaRPr lang="en-US" sz="950" dirty="0"/>
          </a:p>
        </p:txBody>
      </p:sp>
      <p:sp>
        <p:nvSpPr>
          <p:cNvPr id="41" name="Shape 39"/>
          <p:cNvSpPr/>
          <p:nvPr/>
        </p:nvSpPr>
        <p:spPr>
          <a:xfrm>
            <a:off x="658368" y="4937760"/>
            <a:ext cx="5344668" cy="457200"/>
          </a:xfrm>
          <a:prstGeom prst="roundRect">
            <a:avLst>
              <a:gd name="adj" fmla="val 14000"/>
            </a:avLst>
          </a:prstGeom>
          <a:solidFill>
            <a:srgbClr val="FFFFFF"/>
          </a:solidFill>
          <a:ln w="9525">
            <a:solidFill>
              <a:srgbClr val="DCE3DF"/>
            </a:solidFill>
            <a:prstDash val="solid"/>
          </a:ln>
        </p:spPr>
      </p:sp>
      <p:sp>
        <p:nvSpPr>
          <p:cNvPr id="42" name="Text 40"/>
          <p:cNvSpPr/>
          <p:nvPr/>
        </p:nvSpPr>
        <p:spPr>
          <a:xfrm>
            <a:off x="822960" y="4992624"/>
            <a:ext cx="1737360" cy="347472"/>
          </a:xfrm>
          <a:prstGeom prst="rect">
            <a:avLst/>
          </a:prstGeom>
          <a:noFill/>
          <a:ln/>
        </p:spPr>
        <p:txBody>
          <a:bodyPr wrap="square" lIns="0" tIns="0" rIns="0" bIns="0" rtlCol="0" anchor="ctr"/>
          <a:lstStyle/>
          <a:p>
            <a:pPr algn="l" indent="0" marL="0">
              <a:buNone/>
            </a:pPr>
            <a:r>
              <a:rPr lang="en-US" sz="1050" b="1" dirty="0">
                <a:solidFill>
                  <a:srgbClr val="0B1210"/>
                </a:solidFill>
                <a:latin typeface="Cambria" pitchFamily="34" charset="0"/>
                <a:ea typeface="Cambria" pitchFamily="34" charset="-122"/>
                <a:cs typeface="Cambria" pitchFamily="34" charset="-120"/>
              </a:rPr>
              <a:t>ESPN + odds feeds</a:t>
            </a:r>
            <a:endParaRPr lang="en-US" sz="1050" dirty="0"/>
          </a:p>
        </p:txBody>
      </p:sp>
      <p:sp>
        <p:nvSpPr>
          <p:cNvPr id="43" name="Text 41"/>
          <p:cNvSpPr/>
          <p:nvPr/>
        </p:nvSpPr>
        <p:spPr>
          <a:xfrm>
            <a:off x="2532888" y="4992624"/>
            <a:ext cx="3287268" cy="347472"/>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Event schedules and resolution timing</a:t>
            </a:r>
            <a:endParaRPr lang="en-US" sz="950" dirty="0"/>
          </a:p>
        </p:txBody>
      </p:sp>
      <p:sp>
        <p:nvSpPr>
          <p:cNvPr id="44" name="Shape 42"/>
          <p:cNvSpPr/>
          <p:nvPr/>
        </p:nvSpPr>
        <p:spPr>
          <a:xfrm>
            <a:off x="6185916" y="4937760"/>
            <a:ext cx="5344668" cy="457200"/>
          </a:xfrm>
          <a:prstGeom prst="roundRect">
            <a:avLst>
              <a:gd name="adj" fmla="val 14000"/>
            </a:avLst>
          </a:prstGeom>
          <a:solidFill>
            <a:srgbClr val="FAF1DF"/>
          </a:solidFill>
          <a:ln/>
        </p:spPr>
      </p:sp>
      <p:sp>
        <p:nvSpPr>
          <p:cNvPr id="45" name="Text 43"/>
          <p:cNvSpPr/>
          <p:nvPr/>
        </p:nvSpPr>
        <p:spPr>
          <a:xfrm>
            <a:off x="6350508" y="4992624"/>
            <a:ext cx="1737360" cy="347472"/>
          </a:xfrm>
          <a:prstGeom prst="rect">
            <a:avLst/>
          </a:prstGeom>
          <a:noFill/>
          <a:ln/>
        </p:spPr>
        <p:txBody>
          <a:bodyPr wrap="square" lIns="0" tIns="0" rIns="0" bIns="0" rtlCol="0" anchor="ctr"/>
          <a:lstStyle/>
          <a:p>
            <a:pPr algn="l" indent="0" marL="0">
              <a:buNone/>
            </a:pPr>
            <a:r>
              <a:rPr lang="en-US" sz="1050" b="1" dirty="0">
                <a:solidFill>
                  <a:srgbClr val="94600A"/>
                </a:solidFill>
                <a:latin typeface="Cambria" pitchFamily="34" charset="0"/>
                <a:ea typeface="Cambria" pitchFamily="34" charset="-122"/>
                <a:cs typeface="Cambria" pitchFamily="34" charset="-120"/>
              </a:rPr>
              <a:t>OpenAI · Anthropic</a:t>
            </a:r>
            <a:endParaRPr lang="en-US" sz="1050" dirty="0"/>
          </a:p>
        </p:txBody>
      </p:sp>
      <p:sp>
        <p:nvSpPr>
          <p:cNvPr id="46" name="Text 44"/>
          <p:cNvSpPr/>
          <p:nvPr/>
        </p:nvSpPr>
        <p:spPr>
          <a:xfrm>
            <a:off x="8060436" y="4992624"/>
            <a:ext cx="3287268" cy="347472"/>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Fenced: may only propose prediction-market routes</a:t>
            </a:r>
            <a:endParaRPr lang="en-US" sz="950" dirty="0"/>
          </a:p>
        </p:txBody>
      </p:sp>
      <p:sp>
        <p:nvSpPr>
          <p:cNvPr id="47" name="Shape 45"/>
          <p:cNvSpPr/>
          <p:nvPr/>
        </p:nvSpPr>
        <p:spPr>
          <a:xfrm>
            <a:off x="658368" y="5541264"/>
            <a:ext cx="10872216" cy="658368"/>
          </a:xfrm>
          <a:prstGeom prst="roundRect">
            <a:avLst>
              <a:gd name="adj" fmla="val 12500"/>
            </a:avLst>
          </a:prstGeom>
          <a:solidFill>
            <a:srgbClr val="F2F5F3"/>
          </a:solidFill>
          <a:ln/>
        </p:spPr>
      </p:sp>
      <p:sp>
        <p:nvSpPr>
          <p:cNvPr id="48" name="Text 46"/>
          <p:cNvSpPr/>
          <p:nvPr/>
        </p:nvSpPr>
        <p:spPr>
          <a:xfrm>
            <a:off x="859536" y="5632704"/>
            <a:ext cx="10469880" cy="512064"/>
          </a:xfrm>
          <a:prstGeom prst="rect">
            <a:avLst/>
          </a:prstGeom>
          <a:noFill/>
          <a:ln/>
        </p:spPr>
        <p:txBody>
          <a:bodyPr wrap="square" lIns="0" tIns="0" rIns="0" bIns="0" rtlCol="0" anchor="t"/>
          <a:lstStyle/>
          <a:p>
            <a:pPr algn="l" indent="0" marL="0">
              <a:lnSpc>
                <a:spcPct val="120000"/>
              </a:lnSpc>
              <a:buNone/>
            </a:pPr>
            <a:r>
              <a:rPr lang="en-US" sz="1050" b="1" dirty="0">
                <a:solidFill>
                  <a:srgbClr val="0B1210"/>
                </a:solidFill>
                <a:latin typeface="Calibri" pitchFamily="34" charset="0"/>
                <a:ea typeface="Calibri" pitchFamily="34" charset="-122"/>
                <a:cs typeface="Calibri" pitchFamily="34" charset="-120"/>
              </a:rPr>
              <a:t>The language model is fenced in on purpose. </a:t>
            </a:r>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It may only propose prediction-market routes, and each one must trace to a live contract price. Treasuries and ETFs are generated deterministically, with no model anywhere in the path.</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10"/>
        </a:solidFill>
      </p:bgPr>
    </p:bg>
    <p:spTree>
      <p:nvGrpSpPr>
        <p:cNvPr id="1" name=""/>
        <p:cNvGrpSpPr/>
        <p:nvPr/>
      </p:nvGrpSpPr>
      <p:grpSpPr>
        <a:xfrm>
          <a:off x="0" y="0"/>
          <a:ext cx="0" cy="0"/>
          <a:chOff x="0" y="0"/>
          <a:chExt cx="0" cy="0"/>
        </a:xfrm>
      </p:grpSpPr>
      <p:sp>
        <p:nvSpPr>
          <p:cNvPr id="2" name="Text 0"/>
          <p:cNvSpPr/>
          <p:nvPr/>
        </p:nvSpPr>
        <p:spPr>
          <a:xfrm>
            <a:off x="658368" y="1225296"/>
            <a:ext cx="2743200" cy="1645920"/>
          </a:xfrm>
          <a:prstGeom prst="rect">
            <a:avLst/>
          </a:prstGeom>
          <a:noFill/>
          <a:ln/>
        </p:spPr>
        <p:txBody>
          <a:bodyPr wrap="square" lIns="0" tIns="0" rIns="0" bIns="0" rtlCol="0" anchor="ctr"/>
          <a:lstStyle/>
          <a:p>
            <a:pPr indent="0" marL="0">
              <a:buNone/>
            </a:pPr>
            <a:r>
              <a:rPr lang="en-US" sz="10400" b="1" dirty="0">
                <a:solidFill>
                  <a:srgbClr val="1F2C26"/>
                </a:solidFill>
                <a:latin typeface="Cambria" pitchFamily="34" charset="0"/>
                <a:ea typeface="Cambria" pitchFamily="34" charset="-122"/>
                <a:cs typeface="Cambria" pitchFamily="34" charset="-120"/>
              </a:rPr>
              <a:t>05</a:t>
            </a:r>
            <a:endParaRPr lang="en-US" sz="10400" dirty="0"/>
          </a:p>
        </p:txBody>
      </p:sp>
      <p:sp>
        <p:nvSpPr>
          <p:cNvPr id="3" name="Text 1"/>
          <p:cNvSpPr/>
          <p:nvPr/>
        </p:nvSpPr>
        <p:spPr>
          <a:xfrm>
            <a:off x="658368" y="1097280"/>
            <a:ext cx="10872216" cy="201168"/>
          </a:xfrm>
          <a:prstGeom prst="rect">
            <a:avLst/>
          </a:prstGeom>
          <a:noFill/>
          <a:ln/>
        </p:spPr>
        <p:txBody>
          <a:bodyPr wrap="square" lIns="0" tIns="0" rIns="0" bIns="0" rtlCol="0" anchor="ctr"/>
          <a:lstStyle/>
          <a:p>
            <a:pPr indent="0" marL="0">
              <a:buNone/>
            </a:pPr>
            <a:r>
              <a:rPr lang="en-US" sz="950" b="1" spc="220" kern="0" dirty="0">
                <a:solidFill>
                  <a:srgbClr val="2ECC7F"/>
                </a:solidFill>
                <a:latin typeface="Calibri" pitchFamily="34" charset="0"/>
                <a:ea typeface="Calibri" pitchFamily="34" charset="-122"/>
                <a:cs typeface="Calibri" pitchFamily="34" charset="-120"/>
              </a:rPr>
              <a:t>SECTION 05  ·  THE ROADMAP</a:t>
            </a:r>
            <a:endParaRPr lang="en-US" sz="950" dirty="0"/>
          </a:p>
        </p:txBody>
      </p:sp>
      <p:sp>
        <p:nvSpPr>
          <p:cNvPr id="4" name="Text 2"/>
          <p:cNvSpPr/>
          <p:nvPr/>
        </p:nvSpPr>
        <p:spPr>
          <a:xfrm>
            <a:off x="658368" y="3163824"/>
            <a:ext cx="822960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spend side.</a:t>
            </a:r>
            <a:endParaRPr lang="en-US" sz="4400" dirty="0"/>
          </a:p>
        </p:txBody>
      </p:sp>
      <p:sp>
        <p:nvSpPr>
          <p:cNvPr id="5" name="Text 3"/>
          <p:cNvSpPr/>
          <p:nvPr/>
        </p:nvSpPr>
        <p:spPr>
          <a:xfrm>
            <a:off x="658368" y="4187952"/>
            <a:ext cx="6766560" cy="1005840"/>
          </a:xfrm>
          <a:prstGeom prst="rect">
            <a:avLst/>
          </a:prstGeom>
          <a:noFill/>
          <a:ln/>
        </p:spPr>
        <p:txBody>
          <a:bodyPr wrap="square" lIns="0" tIns="0" rIns="0" bIns="0" rtlCol="0" anchor="t"/>
          <a:lstStyle/>
          <a:p>
            <a:pPr indent="0" marL="0">
              <a:lnSpc>
                <a:spcPct val="125000"/>
              </a:lnSpc>
              <a:buNone/>
            </a:pPr>
            <a:r>
              <a:rPr lang="en-US" sz="1400" dirty="0">
                <a:solidFill>
                  <a:srgbClr val="9FADA6"/>
                </a:solidFill>
                <a:latin typeface="Calibri" pitchFamily="34" charset="0"/>
                <a:ea typeface="Calibri" pitchFamily="34" charset="-122"/>
                <a:cs typeface="Calibri" pitchFamily="34" charset="-120"/>
              </a:rPr>
              <a:t>The engine already knows how to rank a dollar you stop losing. It simply cannot see one yet. Bank data is what makes the right-hand side of the equation visible — and it is what this raise is for.</a:t>
            </a:r>
            <a:endParaRPr lang="en-US" sz="1400" dirty="0"/>
          </a:p>
        </p:txBody>
      </p:sp>
      <p:sp>
        <p:nvSpPr>
          <p:cNvPr id="6" name="Text 4"/>
          <p:cNvSpPr/>
          <p:nvPr/>
        </p:nvSpPr>
        <p:spPr>
          <a:xfrm>
            <a:off x="8229600" y="2194560"/>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01</a:t>
            </a:r>
            <a:endParaRPr lang="en-US" sz="900" dirty="0"/>
          </a:p>
        </p:txBody>
      </p:sp>
      <p:sp>
        <p:nvSpPr>
          <p:cNvPr id="7" name="Text 5"/>
          <p:cNvSpPr/>
          <p:nvPr/>
        </p:nvSpPr>
        <p:spPr>
          <a:xfrm>
            <a:off x="8686800" y="2194560"/>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Why a saved dollar wins</a:t>
            </a:r>
            <a:endParaRPr lang="en-US" sz="1150" dirty="0"/>
          </a:p>
        </p:txBody>
      </p:sp>
      <p:sp>
        <p:nvSpPr>
          <p:cNvPr id="8" name="Text 6"/>
          <p:cNvSpPr/>
          <p:nvPr/>
        </p:nvSpPr>
        <p:spPr>
          <a:xfrm>
            <a:off x="8229600" y="2761488"/>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02</a:t>
            </a:r>
            <a:endParaRPr lang="en-US" sz="900" dirty="0"/>
          </a:p>
        </p:txBody>
      </p:sp>
      <p:sp>
        <p:nvSpPr>
          <p:cNvPr id="9" name="Text 7"/>
          <p:cNvSpPr/>
          <p:nvPr/>
        </p:nvSpPr>
        <p:spPr>
          <a:xfrm>
            <a:off x="8686800" y="2761488"/>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The four leaks, quantified</a:t>
            </a:r>
            <a:endParaRPr lang="en-US" sz="1150" dirty="0"/>
          </a:p>
        </p:txBody>
      </p:sp>
      <p:sp>
        <p:nvSpPr>
          <p:cNvPr id="10" name="Text 8"/>
          <p:cNvSpPr/>
          <p:nvPr/>
        </p:nvSpPr>
        <p:spPr>
          <a:xfrm>
            <a:off x="8229600" y="3328416"/>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03</a:t>
            </a:r>
            <a:endParaRPr lang="en-US" sz="900" dirty="0"/>
          </a:p>
        </p:txBody>
      </p:sp>
      <p:sp>
        <p:nvSpPr>
          <p:cNvPr id="11" name="Text 9"/>
          <p:cNvSpPr/>
          <p:nvPr/>
        </p:nvSpPr>
        <p:spPr>
          <a:xfrm>
            <a:off x="8686800" y="3328416"/>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One list, both sides</a:t>
            </a:r>
            <a:endParaRPr lang="en-US" sz="1150" dirty="0"/>
          </a:p>
        </p:txBody>
      </p:sp>
      <p:sp>
        <p:nvSpPr>
          <p:cNvPr id="12" name="Text 10"/>
          <p:cNvSpPr/>
          <p:nvPr/>
        </p:nvSpPr>
        <p:spPr>
          <a:xfrm>
            <a:off x="8229600" y="3895344"/>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04</a:t>
            </a:r>
            <a:endParaRPr lang="en-US" sz="900" dirty="0"/>
          </a:p>
        </p:txBody>
      </p:sp>
      <p:sp>
        <p:nvSpPr>
          <p:cNvPr id="13" name="Text 11"/>
          <p:cNvSpPr/>
          <p:nvPr/>
        </p:nvSpPr>
        <p:spPr>
          <a:xfrm>
            <a:off x="8686800" y="3895344"/>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What the money buys, in order</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15</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05.01  ·  WHY A SAVED DOLLAR WINS</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Run both sides through the same equation</a:t>
            </a:r>
            <a:endParaRPr lang="en-US" sz="3000" dirty="0"/>
          </a:p>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and the answer is not close.</a:t>
            </a:r>
            <a:endParaRPr lang="en-US" sz="3000" dirty="0"/>
          </a:p>
        </p:txBody>
      </p:sp>
      <p:sp>
        <p:nvSpPr>
          <p:cNvPr id="6" name="Text 4"/>
          <p:cNvSpPr/>
          <p:nvPr/>
        </p:nvSpPr>
        <p:spPr>
          <a:xfrm>
            <a:off x="658368" y="1737360"/>
            <a:ext cx="9692640" cy="292608"/>
          </a:xfrm>
          <a:prstGeom prst="rect">
            <a:avLst/>
          </a:prstGeom>
          <a:noFill/>
          <a:ln/>
        </p:spPr>
        <p:txBody>
          <a:bodyPr wrap="square" lIns="0" tIns="0" rIns="0" bIns="0" rtlCol="0" anchor="t"/>
          <a:lstStyle/>
          <a:p>
            <a:pPr indent="0" marL="0">
              <a:lnSpc>
                <a:spcPct val="122000"/>
              </a:lnSpc>
              <a:buNone/>
            </a:pPr>
            <a:r>
              <a:rPr lang="en-US" sz="1300" dirty="0">
                <a:solidFill>
                  <a:srgbClr val="44534C"/>
                </a:solidFill>
                <a:latin typeface="Calibri" pitchFamily="34" charset="0"/>
                <a:ea typeface="Calibri" pitchFamily="34" charset="-122"/>
                <a:cs typeface="Calibri" pitchFamily="34" charset="-120"/>
              </a:rPr>
              <a:t>“How much more do you want in your bank account this year?” Ask that, and the honest answer almost never starts with an investment.</a:t>
            </a:r>
            <a:endParaRPr lang="en-US" sz="1300" dirty="0"/>
          </a:p>
        </p:txBody>
      </p:sp>
      <p:sp>
        <p:nvSpPr>
          <p:cNvPr id="7" name="Shape 5"/>
          <p:cNvSpPr/>
          <p:nvPr/>
        </p:nvSpPr>
        <p:spPr>
          <a:xfrm>
            <a:off x="658368" y="2212848"/>
            <a:ext cx="5326380" cy="3200400"/>
          </a:xfrm>
          <a:prstGeom prst="roundRect">
            <a:avLst>
              <a:gd name="adj" fmla="val 2571"/>
            </a:avLst>
          </a:prstGeom>
          <a:solidFill>
            <a:srgbClr val="F2F5F3"/>
          </a:solidFill>
          <a:ln/>
        </p:spPr>
      </p:sp>
      <p:sp>
        <p:nvSpPr>
          <p:cNvPr id="8" name="Shape 6"/>
          <p:cNvSpPr/>
          <p:nvPr/>
        </p:nvSpPr>
        <p:spPr>
          <a:xfrm>
            <a:off x="877824" y="2395728"/>
            <a:ext cx="1371600" cy="228600"/>
          </a:xfrm>
          <a:prstGeom prst="roundRect">
            <a:avLst>
              <a:gd name="adj" fmla="val 50000"/>
            </a:avLst>
          </a:prstGeom>
          <a:solidFill>
            <a:srgbClr val="E9EEEB"/>
          </a:solidFill>
          <a:ln/>
        </p:spPr>
      </p:sp>
      <p:sp>
        <p:nvSpPr>
          <p:cNvPr id="9" name="Text 7"/>
          <p:cNvSpPr/>
          <p:nvPr/>
        </p:nvSpPr>
        <p:spPr>
          <a:xfrm>
            <a:off x="877824" y="2395728"/>
            <a:ext cx="1371600" cy="228600"/>
          </a:xfrm>
          <a:prstGeom prst="rect">
            <a:avLst/>
          </a:prstGeom>
          <a:noFill/>
          <a:ln/>
        </p:spPr>
        <p:txBody>
          <a:bodyPr wrap="square" lIns="0" tIns="0" rIns="0" bIns="0" rtlCol="0" anchor="ctr"/>
          <a:lstStyle/>
          <a:p>
            <a:pPr algn="ctr" indent="0" marL="0">
              <a:buNone/>
            </a:pPr>
            <a:r>
              <a:rPr lang="en-US" sz="750" b="1" spc="130" kern="0" dirty="0">
                <a:solidFill>
                  <a:srgbClr val="0B1210"/>
                </a:solidFill>
                <a:latin typeface="Calibri" pitchFamily="34" charset="0"/>
                <a:ea typeface="Calibri" pitchFamily="34" charset="-122"/>
                <a:cs typeface="Calibri" pitchFamily="34" charset="-120"/>
              </a:rPr>
              <a:t>EARN IT</a:t>
            </a:r>
            <a:endParaRPr lang="en-US" sz="750" dirty="0"/>
          </a:p>
        </p:txBody>
      </p:sp>
      <p:sp>
        <p:nvSpPr>
          <p:cNvPr id="10" name="Text 8"/>
          <p:cNvSpPr/>
          <p:nvPr/>
        </p:nvSpPr>
        <p:spPr>
          <a:xfrm>
            <a:off x="877824" y="2743200"/>
            <a:ext cx="4887468" cy="274320"/>
          </a:xfrm>
          <a:prstGeom prst="rect">
            <a:avLst/>
          </a:prstGeom>
          <a:noFill/>
          <a:ln/>
        </p:spPr>
        <p:txBody>
          <a:bodyPr wrap="square" lIns="0" tIns="0" rIns="0" bIns="0" rtlCol="0" anchor="ctr"/>
          <a:lstStyle/>
          <a:p>
            <a:pPr algn="l" indent="0" marL="0">
              <a:buNone/>
            </a:pPr>
            <a:r>
              <a:rPr lang="en-US" sz="1500" b="1" dirty="0">
                <a:solidFill>
                  <a:srgbClr val="0B1210"/>
                </a:solidFill>
                <a:latin typeface="Cambria" pitchFamily="34" charset="0"/>
                <a:ea typeface="Cambria" pitchFamily="34" charset="-122"/>
                <a:cs typeface="Cambria" pitchFamily="34" charset="-120"/>
              </a:rPr>
              <a:t>+$600 from $5,000 invested</a:t>
            </a:r>
            <a:endParaRPr lang="en-US" sz="1500" dirty="0"/>
          </a:p>
        </p:txBody>
      </p:sp>
      <p:sp>
        <p:nvSpPr>
          <p:cNvPr id="11" name="Text 9"/>
          <p:cNvSpPr/>
          <p:nvPr/>
        </p:nvSpPr>
        <p:spPr>
          <a:xfrm>
            <a:off x="877824" y="3017520"/>
            <a:ext cx="4887468" cy="237744"/>
          </a:xfrm>
          <a:prstGeom prst="rect">
            <a:avLst/>
          </a:prstGeom>
          <a:noFill/>
          <a:ln/>
        </p:spPr>
        <p:txBody>
          <a:bodyPr wrap="square" lIns="0" tIns="0" rIns="0" bIns="0" rtlCol="0" anchor="t"/>
          <a:lstStyle/>
          <a:p>
            <a:pPr algn="l" indent="0" marL="0">
              <a:lnSpc>
                <a:spcPct val="120000"/>
              </a:lnSpc>
              <a:buNone/>
            </a:pPr>
            <a:r>
              <a:rPr lang="en-US" sz="1050" i="1" dirty="0">
                <a:solidFill>
                  <a:srgbClr val="6C7C74"/>
                </a:solidFill>
                <a:latin typeface="Calibri" pitchFamily="34" charset="0"/>
                <a:ea typeface="Calibri" pitchFamily="34" charset="-122"/>
                <a:cs typeface="Calibri" pitchFamily="34" charset="-120"/>
              </a:rPr>
              <a:t>= a 12% return, inside twelve months</a:t>
            </a:r>
            <a:endParaRPr lang="en-US" sz="1050" dirty="0"/>
          </a:p>
        </p:txBody>
      </p:sp>
      <p:sp>
        <p:nvSpPr>
          <p:cNvPr id="12" name="Text 10"/>
          <p:cNvSpPr/>
          <p:nvPr/>
        </p:nvSpPr>
        <p:spPr>
          <a:xfrm>
            <a:off x="877824" y="3364992"/>
            <a:ext cx="1005840" cy="237744"/>
          </a:xfrm>
          <a:prstGeom prst="rect">
            <a:avLst/>
          </a:prstGeom>
          <a:noFill/>
          <a:ln/>
        </p:spPr>
        <p:txBody>
          <a:bodyPr wrap="square" lIns="0" tIns="0" rIns="0" bIns="0" rtlCol="0" anchor="ctr"/>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P(hit)</a:t>
            </a:r>
            <a:endParaRPr lang="en-US" sz="1000" dirty="0"/>
          </a:p>
        </p:txBody>
      </p:sp>
      <p:sp>
        <p:nvSpPr>
          <p:cNvPr id="13" name="Text 11"/>
          <p:cNvSpPr/>
          <p:nvPr/>
        </p:nvSpPr>
        <p:spPr>
          <a:xfrm>
            <a:off x="1883664" y="3364992"/>
            <a:ext cx="658368" cy="237744"/>
          </a:xfrm>
          <a:prstGeom prst="rect">
            <a:avLst/>
          </a:prstGeom>
          <a:noFill/>
          <a:ln/>
        </p:spPr>
        <p:txBody>
          <a:bodyPr wrap="square" lIns="0" tIns="0" rIns="0" bIns="0" rtlCol="0" anchor="ctr"/>
          <a:lstStyle/>
          <a:p>
            <a:pPr algn="l" indent="0" marL="0">
              <a:lnSpc>
                <a:spcPct val="130000"/>
              </a:lnSpc>
              <a:buNone/>
            </a:pPr>
            <a:r>
              <a:rPr lang="en-US" sz="1100" b="1" dirty="0">
                <a:solidFill>
                  <a:srgbClr val="0B1210"/>
                </a:solidFill>
                <a:latin typeface="Courier New" pitchFamily="34" charset="0"/>
                <a:ea typeface="Courier New" pitchFamily="34" charset="-122"/>
                <a:cs typeface="Courier New" pitchFamily="34" charset="-120"/>
              </a:rPr>
              <a:t>38.7%</a:t>
            </a:r>
            <a:endParaRPr lang="en-US" sz="1100" dirty="0"/>
          </a:p>
        </p:txBody>
      </p:sp>
      <p:sp>
        <p:nvSpPr>
          <p:cNvPr id="14" name="Text 12"/>
          <p:cNvSpPr/>
          <p:nvPr/>
        </p:nvSpPr>
        <p:spPr>
          <a:xfrm>
            <a:off x="2615184" y="3364992"/>
            <a:ext cx="3131820" cy="237744"/>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volatility model, 8% drift cap</a:t>
            </a:r>
            <a:endParaRPr lang="en-US" sz="950" dirty="0"/>
          </a:p>
        </p:txBody>
      </p:sp>
      <p:sp>
        <p:nvSpPr>
          <p:cNvPr id="15" name="Text 13"/>
          <p:cNvSpPr/>
          <p:nvPr/>
        </p:nvSpPr>
        <p:spPr>
          <a:xfrm>
            <a:off x="877824" y="3749040"/>
            <a:ext cx="1005840" cy="237744"/>
          </a:xfrm>
          <a:prstGeom prst="rect">
            <a:avLst/>
          </a:prstGeom>
          <a:noFill/>
          <a:ln/>
        </p:spPr>
        <p:txBody>
          <a:bodyPr wrap="square" lIns="0" tIns="0" rIns="0" bIns="0" rtlCol="0" anchor="ctr"/>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Protection</a:t>
            </a:r>
            <a:endParaRPr lang="en-US" sz="1000" dirty="0"/>
          </a:p>
        </p:txBody>
      </p:sp>
      <p:sp>
        <p:nvSpPr>
          <p:cNvPr id="16" name="Text 14"/>
          <p:cNvSpPr/>
          <p:nvPr/>
        </p:nvSpPr>
        <p:spPr>
          <a:xfrm>
            <a:off x="1883664" y="3749040"/>
            <a:ext cx="658368" cy="237744"/>
          </a:xfrm>
          <a:prstGeom prst="rect">
            <a:avLst/>
          </a:prstGeom>
          <a:noFill/>
          <a:ln/>
        </p:spPr>
        <p:txBody>
          <a:bodyPr wrap="square" lIns="0" tIns="0" rIns="0" bIns="0" rtlCol="0" anchor="ctr"/>
          <a:lstStyle/>
          <a:p>
            <a:pPr algn="l" indent="0" marL="0">
              <a:lnSpc>
                <a:spcPct val="130000"/>
              </a:lnSpc>
              <a:buNone/>
            </a:pPr>
            <a:r>
              <a:rPr lang="en-US" sz="1100" b="1" dirty="0">
                <a:solidFill>
                  <a:srgbClr val="0B1210"/>
                </a:solidFill>
                <a:latin typeface="Courier New" pitchFamily="34" charset="0"/>
                <a:ea typeface="Courier New" pitchFamily="34" charset="-122"/>
                <a:cs typeface="Courier New" pitchFamily="34" charset="-120"/>
              </a:rPr>
              <a:t>60</a:t>
            </a:r>
            <a:endParaRPr lang="en-US" sz="1100" dirty="0"/>
          </a:p>
        </p:txBody>
      </p:sp>
      <p:sp>
        <p:nvSpPr>
          <p:cNvPr id="17" name="Text 15"/>
          <p:cNvSpPr/>
          <p:nvPr/>
        </p:nvSpPr>
        <p:spPr>
          <a:xfrm>
            <a:off x="2615184" y="3749040"/>
            <a:ext cx="3131820" cy="237744"/>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capital at risk the whole year</a:t>
            </a:r>
            <a:endParaRPr lang="en-US" sz="950" dirty="0"/>
          </a:p>
        </p:txBody>
      </p:sp>
      <p:sp>
        <p:nvSpPr>
          <p:cNvPr id="18" name="Text 16"/>
          <p:cNvSpPr/>
          <p:nvPr/>
        </p:nvSpPr>
        <p:spPr>
          <a:xfrm>
            <a:off x="877824" y="4133088"/>
            <a:ext cx="1005840" cy="237744"/>
          </a:xfrm>
          <a:prstGeom prst="rect">
            <a:avLst/>
          </a:prstGeom>
          <a:noFill/>
          <a:ln/>
        </p:spPr>
        <p:txBody>
          <a:bodyPr wrap="square" lIns="0" tIns="0" rIns="0" bIns="0" rtlCol="0" anchor="ctr"/>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Capital</a:t>
            </a:r>
            <a:endParaRPr lang="en-US" sz="1000" dirty="0"/>
          </a:p>
        </p:txBody>
      </p:sp>
      <p:sp>
        <p:nvSpPr>
          <p:cNvPr id="19" name="Text 17"/>
          <p:cNvSpPr/>
          <p:nvPr/>
        </p:nvSpPr>
        <p:spPr>
          <a:xfrm>
            <a:off x="1883664" y="4133088"/>
            <a:ext cx="658368" cy="237744"/>
          </a:xfrm>
          <a:prstGeom prst="rect">
            <a:avLst/>
          </a:prstGeom>
          <a:noFill/>
          <a:ln/>
        </p:spPr>
        <p:txBody>
          <a:bodyPr wrap="square" lIns="0" tIns="0" rIns="0" bIns="0" rtlCol="0" anchor="ctr"/>
          <a:lstStyle/>
          <a:p>
            <a:pPr algn="l" indent="0" marL="0">
              <a:lnSpc>
                <a:spcPct val="130000"/>
              </a:lnSpc>
              <a:buNone/>
            </a:pPr>
            <a:r>
              <a:rPr lang="en-US" sz="1100" b="1" dirty="0">
                <a:solidFill>
                  <a:srgbClr val="0B1210"/>
                </a:solidFill>
                <a:latin typeface="Courier New" pitchFamily="34" charset="0"/>
                <a:ea typeface="Courier New" pitchFamily="34" charset="-122"/>
                <a:cs typeface="Courier New" pitchFamily="34" charset="-120"/>
              </a:rPr>
              <a:t>11</a:t>
            </a:r>
            <a:endParaRPr lang="en-US" sz="1100" dirty="0"/>
          </a:p>
        </p:txBody>
      </p:sp>
      <p:sp>
        <p:nvSpPr>
          <p:cNvPr id="20" name="Text 18"/>
          <p:cNvSpPr/>
          <p:nvPr/>
        </p:nvSpPr>
        <p:spPr>
          <a:xfrm>
            <a:off x="2615184" y="4133088"/>
            <a:ext cx="3131820" cy="237744"/>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$5,000 tied up to make $600</a:t>
            </a:r>
            <a:endParaRPr lang="en-US" sz="950" dirty="0"/>
          </a:p>
        </p:txBody>
      </p:sp>
      <p:sp>
        <p:nvSpPr>
          <p:cNvPr id="21" name="Text 19"/>
          <p:cNvSpPr/>
          <p:nvPr/>
        </p:nvSpPr>
        <p:spPr>
          <a:xfrm>
            <a:off x="877824" y="4517136"/>
            <a:ext cx="1005840" cy="237744"/>
          </a:xfrm>
          <a:prstGeom prst="rect">
            <a:avLst/>
          </a:prstGeom>
          <a:noFill/>
          <a:ln/>
        </p:spPr>
        <p:txBody>
          <a:bodyPr wrap="square" lIns="0" tIns="0" rIns="0" bIns="0" rtlCol="0" anchor="ctr"/>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Time</a:t>
            </a:r>
            <a:endParaRPr lang="en-US" sz="1000" dirty="0"/>
          </a:p>
        </p:txBody>
      </p:sp>
      <p:sp>
        <p:nvSpPr>
          <p:cNvPr id="22" name="Text 20"/>
          <p:cNvSpPr/>
          <p:nvPr/>
        </p:nvSpPr>
        <p:spPr>
          <a:xfrm>
            <a:off x="1883664" y="4517136"/>
            <a:ext cx="658368" cy="237744"/>
          </a:xfrm>
          <a:prstGeom prst="rect">
            <a:avLst/>
          </a:prstGeom>
          <a:noFill/>
          <a:ln/>
        </p:spPr>
        <p:txBody>
          <a:bodyPr wrap="square" lIns="0" tIns="0" rIns="0" bIns="0" rtlCol="0" anchor="ctr"/>
          <a:lstStyle/>
          <a:p>
            <a:pPr algn="l" indent="0" marL="0">
              <a:lnSpc>
                <a:spcPct val="130000"/>
              </a:lnSpc>
              <a:buNone/>
            </a:pPr>
            <a:r>
              <a:rPr lang="en-US" sz="1100" b="1" dirty="0">
                <a:solidFill>
                  <a:srgbClr val="0B1210"/>
                </a:solidFill>
                <a:latin typeface="Courier New" pitchFamily="34" charset="0"/>
                <a:ea typeface="Courier New" pitchFamily="34" charset="-122"/>
                <a:cs typeface="Courier New" pitchFamily="34" charset="-120"/>
              </a:rPr>
              <a:t>50</a:t>
            </a:r>
            <a:endParaRPr lang="en-US" sz="1100" dirty="0"/>
          </a:p>
        </p:txBody>
      </p:sp>
      <p:sp>
        <p:nvSpPr>
          <p:cNvPr id="23" name="Text 21"/>
          <p:cNvSpPr/>
          <p:nvPr/>
        </p:nvSpPr>
        <p:spPr>
          <a:xfrm>
            <a:off x="2615184" y="4517136"/>
            <a:ext cx="3131820" cy="237744"/>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pays at the deadline, not before</a:t>
            </a:r>
            <a:endParaRPr lang="en-US" sz="950" dirty="0"/>
          </a:p>
        </p:txBody>
      </p:sp>
      <p:sp>
        <p:nvSpPr>
          <p:cNvPr id="24" name="Shape 22"/>
          <p:cNvSpPr/>
          <p:nvPr/>
        </p:nvSpPr>
        <p:spPr>
          <a:xfrm>
            <a:off x="877824" y="4956048"/>
            <a:ext cx="4887468" cy="402336"/>
          </a:xfrm>
          <a:prstGeom prst="roundRect">
            <a:avLst>
              <a:gd name="adj" fmla="val 15909"/>
            </a:avLst>
          </a:prstGeom>
          <a:solidFill>
            <a:srgbClr val="FFFFFF"/>
          </a:solidFill>
          <a:ln/>
        </p:spPr>
      </p:sp>
      <p:sp>
        <p:nvSpPr>
          <p:cNvPr id="25" name="Text 23"/>
          <p:cNvSpPr/>
          <p:nvPr/>
        </p:nvSpPr>
        <p:spPr>
          <a:xfrm>
            <a:off x="1042416" y="4956048"/>
            <a:ext cx="1097280" cy="402336"/>
          </a:xfrm>
          <a:prstGeom prst="rect">
            <a:avLst/>
          </a:prstGeom>
          <a:noFill/>
          <a:ln/>
        </p:spPr>
        <p:txBody>
          <a:bodyPr wrap="square" lIns="0" tIns="0" rIns="0" bIns="0" rtlCol="0" anchor="ctr"/>
          <a:lstStyle/>
          <a:p>
            <a:pPr algn="l" indent="0" marL="0">
              <a:lnSpc>
                <a:spcPct val="120000"/>
              </a:lnSpc>
              <a:buNone/>
            </a:pPr>
            <a:r>
              <a:rPr lang="en-US" sz="800" b="1" dirty="0">
                <a:solidFill>
                  <a:srgbClr val="94A29B"/>
                </a:solidFill>
                <a:latin typeface="Calibri" pitchFamily="34" charset="0"/>
                <a:ea typeface="Calibri" pitchFamily="34" charset="-122"/>
                <a:cs typeface="Calibri" pitchFamily="34" charset="-120"/>
              </a:rPr>
              <a:t>SCORE</a:t>
            </a:r>
            <a:endParaRPr lang="en-US" sz="800" dirty="0"/>
          </a:p>
        </p:txBody>
      </p:sp>
      <p:sp>
        <p:nvSpPr>
          <p:cNvPr id="26" name="Text 24"/>
          <p:cNvSpPr/>
          <p:nvPr/>
        </p:nvSpPr>
        <p:spPr>
          <a:xfrm>
            <a:off x="4613148" y="4956048"/>
            <a:ext cx="1097280" cy="402336"/>
          </a:xfrm>
          <a:prstGeom prst="rect">
            <a:avLst/>
          </a:prstGeom>
          <a:noFill/>
          <a:ln/>
        </p:spPr>
        <p:txBody>
          <a:bodyPr wrap="square" lIns="0" tIns="0" rIns="0" bIns="0" rtlCol="0" anchor="ctr"/>
          <a:lstStyle/>
          <a:p>
            <a:pPr algn="r" indent="0" marL="0">
              <a:buNone/>
            </a:pPr>
            <a:r>
              <a:rPr lang="en-US" sz="1900" b="1" dirty="0">
                <a:solidFill>
                  <a:srgbClr val="94600A"/>
                </a:solidFill>
                <a:latin typeface="Cambria" pitchFamily="34" charset="0"/>
                <a:ea typeface="Cambria" pitchFamily="34" charset="-122"/>
                <a:cs typeface="Cambria" pitchFamily="34" charset="-120"/>
              </a:rPr>
              <a:t>37</a:t>
            </a:r>
            <a:endParaRPr lang="en-US" sz="1900" dirty="0"/>
          </a:p>
        </p:txBody>
      </p:sp>
      <p:sp>
        <p:nvSpPr>
          <p:cNvPr id="27" name="Text 25"/>
          <p:cNvSpPr/>
          <p:nvPr/>
        </p:nvSpPr>
        <p:spPr>
          <a:xfrm>
            <a:off x="877824" y="5486400"/>
            <a:ext cx="4887468" cy="274320"/>
          </a:xfrm>
          <a:prstGeom prst="rect">
            <a:avLst/>
          </a:prstGeom>
          <a:noFill/>
          <a:ln/>
        </p:spPr>
        <p:txBody>
          <a:bodyPr wrap="square" lIns="0" tIns="0" rIns="0" bIns="0" rtlCol="0" anchor="t"/>
          <a:lstStyle/>
          <a:p>
            <a:pPr algn="l" indent="0" marL="0">
              <a:lnSpc>
                <a:spcPct val="120000"/>
              </a:lnSpc>
              <a:buNone/>
            </a:pPr>
            <a:r>
              <a:rPr lang="en-US" sz="950" i="1" dirty="0">
                <a:solidFill>
                  <a:srgbClr val="6C7C74"/>
                </a:solidFill>
                <a:latin typeface="Calibri" pitchFamily="34" charset="0"/>
                <a:ea typeface="Calibri" pitchFamily="34" charset="-122"/>
                <a:cs typeface="Calibri" pitchFamily="34" charset="-120"/>
              </a:rPr>
              <a:t>Taxable on the gain, and it has to be repeated next year.</a:t>
            </a:r>
            <a:endParaRPr lang="en-US" sz="950" dirty="0"/>
          </a:p>
        </p:txBody>
      </p:sp>
      <p:sp>
        <p:nvSpPr>
          <p:cNvPr id="28" name="Shape 26"/>
          <p:cNvSpPr/>
          <p:nvPr/>
        </p:nvSpPr>
        <p:spPr>
          <a:xfrm>
            <a:off x="6204204" y="2212848"/>
            <a:ext cx="5326380" cy="3200400"/>
          </a:xfrm>
          <a:prstGeom prst="roundRect">
            <a:avLst>
              <a:gd name="adj" fmla="val 2571"/>
            </a:avLst>
          </a:prstGeom>
          <a:solidFill>
            <a:srgbClr val="E6F4EE"/>
          </a:solidFill>
          <a:ln/>
        </p:spPr>
      </p:sp>
      <p:sp>
        <p:nvSpPr>
          <p:cNvPr id="29" name="Shape 27"/>
          <p:cNvSpPr/>
          <p:nvPr/>
        </p:nvSpPr>
        <p:spPr>
          <a:xfrm>
            <a:off x="6423660" y="2395728"/>
            <a:ext cx="1371600" cy="228600"/>
          </a:xfrm>
          <a:prstGeom prst="roundRect">
            <a:avLst>
              <a:gd name="adj" fmla="val 50000"/>
            </a:avLst>
          </a:prstGeom>
          <a:solidFill>
            <a:srgbClr val="9CE6C0"/>
          </a:solidFill>
          <a:ln/>
        </p:spPr>
      </p:sp>
      <p:sp>
        <p:nvSpPr>
          <p:cNvPr id="30" name="Text 28"/>
          <p:cNvSpPr/>
          <p:nvPr/>
        </p:nvSpPr>
        <p:spPr>
          <a:xfrm>
            <a:off x="6423660" y="2395728"/>
            <a:ext cx="1371600" cy="228600"/>
          </a:xfrm>
          <a:prstGeom prst="rect">
            <a:avLst/>
          </a:prstGeom>
          <a:noFill/>
          <a:ln/>
        </p:spPr>
        <p:txBody>
          <a:bodyPr wrap="square" lIns="0" tIns="0" rIns="0" bIns="0" rtlCol="0" anchor="ctr"/>
          <a:lstStyle/>
          <a:p>
            <a:pPr algn="ctr" indent="0" marL="0">
              <a:buNone/>
            </a:pPr>
            <a:r>
              <a:rPr lang="en-US" sz="750" b="1" spc="130" kern="0" dirty="0">
                <a:solidFill>
                  <a:srgbClr val="0A5C3E"/>
                </a:solidFill>
                <a:latin typeface="Calibri" pitchFamily="34" charset="0"/>
                <a:ea typeface="Calibri" pitchFamily="34" charset="-122"/>
                <a:cs typeface="Calibri" pitchFamily="34" charset="-120"/>
              </a:rPr>
              <a:t>STOP LOSING IT</a:t>
            </a:r>
            <a:endParaRPr lang="en-US" sz="750" dirty="0"/>
          </a:p>
        </p:txBody>
      </p:sp>
      <p:sp>
        <p:nvSpPr>
          <p:cNvPr id="31" name="Text 29"/>
          <p:cNvSpPr/>
          <p:nvPr/>
        </p:nvSpPr>
        <p:spPr>
          <a:xfrm>
            <a:off x="6423660" y="2743200"/>
            <a:ext cx="4887468" cy="274320"/>
          </a:xfrm>
          <a:prstGeom prst="rect">
            <a:avLst/>
          </a:prstGeom>
          <a:noFill/>
          <a:ln/>
        </p:spPr>
        <p:txBody>
          <a:bodyPr wrap="square" lIns="0" tIns="0" rIns="0" bIns="0" rtlCol="0" anchor="ctr"/>
          <a:lstStyle/>
          <a:p>
            <a:pPr algn="l" indent="0" marL="0">
              <a:buNone/>
            </a:pPr>
            <a:r>
              <a:rPr lang="en-US" sz="1500" b="1" dirty="0">
                <a:solidFill>
                  <a:srgbClr val="0B1210"/>
                </a:solidFill>
                <a:latin typeface="Cambria" pitchFamily="34" charset="0"/>
                <a:ea typeface="Cambria" pitchFamily="34" charset="-122"/>
                <a:cs typeface="Cambria" pitchFamily="34" charset="-120"/>
              </a:rPr>
              <a:t>+$600 from $50/month cancelled</a:t>
            </a:r>
            <a:endParaRPr lang="en-US" sz="1500" dirty="0"/>
          </a:p>
        </p:txBody>
      </p:sp>
      <p:sp>
        <p:nvSpPr>
          <p:cNvPr id="32" name="Text 30"/>
          <p:cNvSpPr/>
          <p:nvPr/>
        </p:nvSpPr>
        <p:spPr>
          <a:xfrm>
            <a:off x="6423660" y="3017520"/>
            <a:ext cx="4887468" cy="237744"/>
          </a:xfrm>
          <a:prstGeom prst="rect">
            <a:avLst/>
          </a:prstGeom>
          <a:noFill/>
          <a:ln/>
        </p:spPr>
        <p:txBody>
          <a:bodyPr wrap="square" lIns="0" tIns="0" rIns="0" bIns="0" rtlCol="0" anchor="t"/>
          <a:lstStyle/>
          <a:p>
            <a:pPr algn="l" indent="0" marL="0">
              <a:lnSpc>
                <a:spcPct val="120000"/>
              </a:lnSpc>
              <a:buNone/>
            </a:pPr>
            <a:r>
              <a:rPr lang="en-US" sz="1050" i="1" dirty="0">
                <a:solidFill>
                  <a:srgbClr val="6C7C74"/>
                </a:solidFill>
                <a:latin typeface="Calibri" pitchFamily="34" charset="0"/>
                <a:ea typeface="Calibri" pitchFamily="34" charset="-122"/>
                <a:cs typeface="Calibri" pitchFamily="34" charset="-120"/>
              </a:rPr>
              <a:t>= a 0% return required</a:t>
            </a:r>
            <a:endParaRPr lang="en-US" sz="1050" dirty="0"/>
          </a:p>
        </p:txBody>
      </p:sp>
      <p:sp>
        <p:nvSpPr>
          <p:cNvPr id="33" name="Text 31"/>
          <p:cNvSpPr/>
          <p:nvPr/>
        </p:nvSpPr>
        <p:spPr>
          <a:xfrm>
            <a:off x="6423660" y="3364992"/>
            <a:ext cx="1005840" cy="237744"/>
          </a:xfrm>
          <a:prstGeom prst="rect">
            <a:avLst/>
          </a:prstGeom>
          <a:noFill/>
          <a:ln/>
        </p:spPr>
        <p:txBody>
          <a:bodyPr wrap="square" lIns="0" tIns="0" rIns="0" bIns="0" rtlCol="0" anchor="ctr"/>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P(hit)</a:t>
            </a:r>
            <a:endParaRPr lang="en-US" sz="1000" dirty="0"/>
          </a:p>
        </p:txBody>
      </p:sp>
      <p:sp>
        <p:nvSpPr>
          <p:cNvPr id="34" name="Text 32"/>
          <p:cNvSpPr/>
          <p:nvPr/>
        </p:nvSpPr>
        <p:spPr>
          <a:xfrm>
            <a:off x="7429500" y="3364992"/>
            <a:ext cx="658368" cy="237744"/>
          </a:xfrm>
          <a:prstGeom prst="rect">
            <a:avLst/>
          </a:prstGeom>
          <a:noFill/>
          <a:ln/>
        </p:spPr>
        <p:txBody>
          <a:bodyPr wrap="square" lIns="0" tIns="0" rIns="0" bIns="0" rtlCol="0" anchor="ctr"/>
          <a:lstStyle/>
          <a:p>
            <a:pPr algn="l" indent="0" marL="0">
              <a:lnSpc>
                <a:spcPct val="130000"/>
              </a:lnSpc>
              <a:buNone/>
            </a:pPr>
            <a:r>
              <a:rPr lang="en-US" sz="1100" b="1" dirty="0">
                <a:solidFill>
                  <a:srgbClr val="0B1210"/>
                </a:solidFill>
                <a:latin typeface="Courier New" pitchFamily="34" charset="0"/>
                <a:ea typeface="Courier New" pitchFamily="34" charset="-122"/>
                <a:cs typeface="Courier New" pitchFamily="34" charset="-120"/>
              </a:rPr>
              <a:t>98%</a:t>
            </a:r>
            <a:endParaRPr lang="en-US" sz="1100" dirty="0"/>
          </a:p>
        </p:txBody>
      </p:sp>
      <p:sp>
        <p:nvSpPr>
          <p:cNvPr id="35" name="Text 33"/>
          <p:cNvSpPr/>
          <p:nvPr/>
        </p:nvSpPr>
        <p:spPr>
          <a:xfrm>
            <a:off x="8161020" y="3364992"/>
            <a:ext cx="3131820" cy="237744"/>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near-certain once the charge is gone</a:t>
            </a:r>
            <a:endParaRPr lang="en-US" sz="950" dirty="0"/>
          </a:p>
        </p:txBody>
      </p:sp>
      <p:sp>
        <p:nvSpPr>
          <p:cNvPr id="36" name="Text 34"/>
          <p:cNvSpPr/>
          <p:nvPr/>
        </p:nvSpPr>
        <p:spPr>
          <a:xfrm>
            <a:off x="6423660" y="3749040"/>
            <a:ext cx="1005840" cy="237744"/>
          </a:xfrm>
          <a:prstGeom prst="rect">
            <a:avLst/>
          </a:prstGeom>
          <a:noFill/>
          <a:ln/>
        </p:spPr>
        <p:txBody>
          <a:bodyPr wrap="square" lIns="0" tIns="0" rIns="0" bIns="0" rtlCol="0" anchor="ctr"/>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Protection</a:t>
            </a:r>
            <a:endParaRPr lang="en-US" sz="1000" dirty="0"/>
          </a:p>
        </p:txBody>
      </p:sp>
      <p:sp>
        <p:nvSpPr>
          <p:cNvPr id="37" name="Text 35"/>
          <p:cNvSpPr/>
          <p:nvPr/>
        </p:nvSpPr>
        <p:spPr>
          <a:xfrm>
            <a:off x="7429500" y="3749040"/>
            <a:ext cx="658368" cy="237744"/>
          </a:xfrm>
          <a:prstGeom prst="rect">
            <a:avLst/>
          </a:prstGeom>
          <a:noFill/>
          <a:ln/>
        </p:spPr>
        <p:txBody>
          <a:bodyPr wrap="square" lIns="0" tIns="0" rIns="0" bIns="0" rtlCol="0" anchor="ctr"/>
          <a:lstStyle/>
          <a:p>
            <a:pPr algn="l" indent="0" marL="0">
              <a:lnSpc>
                <a:spcPct val="130000"/>
              </a:lnSpc>
              <a:buNone/>
            </a:pPr>
            <a:r>
              <a:rPr lang="en-US" sz="1100" b="1" dirty="0">
                <a:solidFill>
                  <a:srgbClr val="0B1210"/>
                </a:solidFill>
                <a:latin typeface="Courier New" pitchFamily="34" charset="0"/>
                <a:ea typeface="Courier New" pitchFamily="34" charset="-122"/>
                <a:cs typeface="Courier New" pitchFamily="34" charset="-120"/>
              </a:rPr>
              <a:t>100</a:t>
            </a:r>
            <a:endParaRPr lang="en-US" sz="1100" dirty="0"/>
          </a:p>
        </p:txBody>
      </p:sp>
      <p:sp>
        <p:nvSpPr>
          <p:cNvPr id="38" name="Text 36"/>
          <p:cNvSpPr/>
          <p:nvPr/>
        </p:nvSpPr>
        <p:spPr>
          <a:xfrm>
            <a:off x="8161020" y="3749040"/>
            <a:ext cx="3131820" cy="237744"/>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no capital exposed at any point</a:t>
            </a:r>
            <a:endParaRPr lang="en-US" sz="950" dirty="0"/>
          </a:p>
        </p:txBody>
      </p:sp>
      <p:sp>
        <p:nvSpPr>
          <p:cNvPr id="39" name="Text 37"/>
          <p:cNvSpPr/>
          <p:nvPr/>
        </p:nvSpPr>
        <p:spPr>
          <a:xfrm>
            <a:off x="6423660" y="4133088"/>
            <a:ext cx="1005840" cy="237744"/>
          </a:xfrm>
          <a:prstGeom prst="rect">
            <a:avLst/>
          </a:prstGeom>
          <a:noFill/>
          <a:ln/>
        </p:spPr>
        <p:txBody>
          <a:bodyPr wrap="square" lIns="0" tIns="0" rIns="0" bIns="0" rtlCol="0" anchor="ctr"/>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Capital</a:t>
            </a:r>
            <a:endParaRPr lang="en-US" sz="1000" dirty="0"/>
          </a:p>
        </p:txBody>
      </p:sp>
      <p:sp>
        <p:nvSpPr>
          <p:cNvPr id="40" name="Text 38"/>
          <p:cNvSpPr/>
          <p:nvPr/>
        </p:nvSpPr>
        <p:spPr>
          <a:xfrm>
            <a:off x="7429500" y="4133088"/>
            <a:ext cx="658368" cy="237744"/>
          </a:xfrm>
          <a:prstGeom prst="rect">
            <a:avLst/>
          </a:prstGeom>
          <a:noFill/>
          <a:ln/>
        </p:spPr>
        <p:txBody>
          <a:bodyPr wrap="square" lIns="0" tIns="0" rIns="0" bIns="0" rtlCol="0" anchor="ctr"/>
          <a:lstStyle/>
          <a:p>
            <a:pPr algn="l" indent="0" marL="0">
              <a:lnSpc>
                <a:spcPct val="130000"/>
              </a:lnSpc>
              <a:buNone/>
            </a:pPr>
            <a:r>
              <a:rPr lang="en-US" sz="1100" b="1" dirty="0">
                <a:solidFill>
                  <a:srgbClr val="0B1210"/>
                </a:solidFill>
                <a:latin typeface="Courier New" pitchFamily="34" charset="0"/>
                <a:ea typeface="Courier New" pitchFamily="34" charset="-122"/>
                <a:cs typeface="Courier New" pitchFamily="34" charset="-120"/>
              </a:rPr>
              <a:t>100</a:t>
            </a:r>
            <a:endParaRPr lang="en-US" sz="1100" dirty="0"/>
          </a:p>
        </p:txBody>
      </p:sp>
      <p:sp>
        <p:nvSpPr>
          <p:cNvPr id="41" name="Text 39"/>
          <p:cNvSpPr/>
          <p:nvPr/>
        </p:nvSpPr>
        <p:spPr>
          <a:xfrm>
            <a:off x="8161020" y="4133088"/>
            <a:ext cx="3131820" cy="237744"/>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nothing tied up at all</a:t>
            </a:r>
            <a:endParaRPr lang="en-US" sz="950" dirty="0"/>
          </a:p>
        </p:txBody>
      </p:sp>
      <p:sp>
        <p:nvSpPr>
          <p:cNvPr id="42" name="Text 40"/>
          <p:cNvSpPr/>
          <p:nvPr/>
        </p:nvSpPr>
        <p:spPr>
          <a:xfrm>
            <a:off x="6423660" y="4517136"/>
            <a:ext cx="1005840" cy="237744"/>
          </a:xfrm>
          <a:prstGeom prst="rect">
            <a:avLst/>
          </a:prstGeom>
          <a:noFill/>
          <a:ln/>
        </p:spPr>
        <p:txBody>
          <a:bodyPr wrap="square" lIns="0" tIns="0" rIns="0" bIns="0" rtlCol="0" anchor="ctr"/>
          <a:lstStyle/>
          <a:p>
            <a:pPr algn="l" indent="0" marL="0">
              <a:lnSpc>
                <a:spcPct val="120000"/>
              </a:lnSpc>
              <a:buNone/>
            </a:pPr>
            <a:r>
              <a:rPr lang="en-US" sz="1000" dirty="0">
                <a:solidFill>
                  <a:srgbClr val="6C7C74"/>
                </a:solidFill>
                <a:latin typeface="Calibri" pitchFamily="34" charset="0"/>
                <a:ea typeface="Calibri" pitchFamily="34" charset="-122"/>
                <a:cs typeface="Calibri" pitchFamily="34" charset="-120"/>
              </a:rPr>
              <a:t>Time</a:t>
            </a:r>
            <a:endParaRPr lang="en-US" sz="1000" dirty="0"/>
          </a:p>
        </p:txBody>
      </p:sp>
      <p:sp>
        <p:nvSpPr>
          <p:cNvPr id="43" name="Text 41"/>
          <p:cNvSpPr/>
          <p:nvPr/>
        </p:nvSpPr>
        <p:spPr>
          <a:xfrm>
            <a:off x="7429500" y="4517136"/>
            <a:ext cx="658368" cy="237744"/>
          </a:xfrm>
          <a:prstGeom prst="rect">
            <a:avLst/>
          </a:prstGeom>
          <a:noFill/>
          <a:ln/>
        </p:spPr>
        <p:txBody>
          <a:bodyPr wrap="square" lIns="0" tIns="0" rIns="0" bIns="0" rtlCol="0" anchor="ctr"/>
          <a:lstStyle/>
          <a:p>
            <a:pPr algn="l" indent="0" marL="0">
              <a:lnSpc>
                <a:spcPct val="130000"/>
              </a:lnSpc>
              <a:buNone/>
            </a:pPr>
            <a:r>
              <a:rPr lang="en-US" sz="1100" b="1" dirty="0">
                <a:solidFill>
                  <a:srgbClr val="0B1210"/>
                </a:solidFill>
                <a:latin typeface="Courier New" pitchFamily="34" charset="0"/>
                <a:ea typeface="Courier New" pitchFamily="34" charset="-122"/>
                <a:cs typeface="Courier New" pitchFamily="34" charset="-120"/>
              </a:rPr>
              <a:t>96</a:t>
            </a:r>
            <a:endParaRPr lang="en-US" sz="1100" dirty="0"/>
          </a:p>
        </p:txBody>
      </p:sp>
      <p:sp>
        <p:nvSpPr>
          <p:cNvPr id="44" name="Text 42"/>
          <p:cNvSpPr/>
          <p:nvPr/>
        </p:nvSpPr>
        <p:spPr>
          <a:xfrm>
            <a:off x="8161020" y="4517136"/>
            <a:ext cx="3131820" cy="237744"/>
          </a:xfrm>
          <a:prstGeom prst="rect">
            <a:avLst/>
          </a:prstGeom>
          <a:noFill/>
          <a:ln/>
        </p:spPr>
        <p:txBody>
          <a:bodyPr wrap="square" lIns="0" tIns="0" rIns="0" bIns="0" rtlCol="0" anchor="ctr"/>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starts paying next billing cycle</a:t>
            </a:r>
            <a:endParaRPr lang="en-US" sz="950" dirty="0"/>
          </a:p>
        </p:txBody>
      </p:sp>
      <p:sp>
        <p:nvSpPr>
          <p:cNvPr id="45" name="Shape 43"/>
          <p:cNvSpPr/>
          <p:nvPr/>
        </p:nvSpPr>
        <p:spPr>
          <a:xfrm>
            <a:off x="6423660" y="4956048"/>
            <a:ext cx="4887468" cy="402336"/>
          </a:xfrm>
          <a:prstGeom prst="roundRect">
            <a:avLst>
              <a:gd name="adj" fmla="val 15909"/>
            </a:avLst>
          </a:prstGeom>
          <a:solidFill>
            <a:srgbClr val="FFFFFF"/>
          </a:solidFill>
          <a:ln/>
        </p:spPr>
      </p:sp>
      <p:sp>
        <p:nvSpPr>
          <p:cNvPr id="46" name="Text 44"/>
          <p:cNvSpPr/>
          <p:nvPr/>
        </p:nvSpPr>
        <p:spPr>
          <a:xfrm>
            <a:off x="6588252" y="4956048"/>
            <a:ext cx="1097280" cy="402336"/>
          </a:xfrm>
          <a:prstGeom prst="rect">
            <a:avLst/>
          </a:prstGeom>
          <a:noFill/>
          <a:ln/>
        </p:spPr>
        <p:txBody>
          <a:bodyPr wrap="square" lIns="0" tIns="0" rIns="0" bIns="0" rtlCol="0" anchor="ctr"/>
          <a:lstStyle/>
          <a:p>
            <a:pPr algn="l" indent="0" marL="0">
              <a:lnSpc>
                <a:spcPct val="120000"/>
              </a:lnSpc>
              <a:buNone/>
            </a:pPr>
            <a:r>
              <a:rPr lang="en-US" sz="800" b="1" dirty="0">
                <a:solidFill>
                  <a:srgbClr val="94A29B"/>
                </a:solidFill>
                <a:latin typeface="Calibri" pitchFamily="34" charset="0"/>
                <a:ea typeface="Calibri" pitchFamily="34" charset="-122"/>
                <a:cs typeface="Calibri" pitchFamily="34" charset="-120"/>
              </a:rPr>
              <a:t>SCORE</a:t>
            </a:r>
            <a:endParaRPr lang="en-US" sz="800" dirty="0"/>
          </a:p>
        </p:txBody>
      </p:sp>
      <p:sp>
        <p:nvSpPr>
          <p:cNvPr id="47" name="Text 45"/>
          <p:cNvSpPr/>
          <p:nvPr/>
        </p:nvSpPr>
        <p:spPr>
          <a:xfrm>
            <a:off x="10158984" y="4956048"/>
            <a:ext cx="1097280" cy="402336"/>
          </a:xfrm>
          <a:prstGeom prst="rect">
            <a:avLst/>
          </a:prstGeom>
          <a:noFill/>
          <a:ln/>
        </p:spPr>
        <p:txBody>
          <a:bodyPr wrap="square" lIns="0" tIns="0" rIns="0" bIns="0" rtlCol="0" anchor="ctr"/>
          <a:lstStyle/>
          <a:p>
            <a:pPr algn="r" indent="0" marL="0">
              <a:buNone/>
            </a:pPr>
            <a:r>
              <a:rPr lang="en-US" sz="1900" b="1" dirty="0">
                <a:solidFill>
                  <a:srgbClr val="12855A"/>
                </a:solidFill>
                <a:latin typeface="Cambria" pitchFamily="34" charset="0"/>
                <a:ea typeface="Cambria" pitchFamily="34" charset="-122"/>
                <a:cs typeface="Cambria" pitchFamily="34" charset="-120"/>
              </a:rPr>
              <a:t>99</a:t>
            </a:r>
            <a:endParaRPr lang="en-US" sz="1900" dirty="0"/>
          </a:p>
        </p:txBody>
      </p:sp>
      <p:sp>
        <p:nvSpPr>
          <p:cNvPr id="48" name="Text 46"/>
          <p:cNvSpPr/>
          <p:nvPr/>
        </p:nvSpPr>
        <p:spPr>
          <a:xfrm>
            <a:off x="6423660" y="5486400"/>
            <a:ext cx="4887468" cy="274320"/>
          </a:xfrm>
          <a:prstGeom prst="rect">
            <a:avLst/>
          </a:prstGeom>
          <a:noFill/>
          <a:ln/>
        </p:spPr>
        <p:txBody>
          <a:bodyPr wrap="square" lIns="0" tIns="0" rIns="0" bIns="0" rtlCol="0" anchor="t"/>
          <a:lstStyle/>
          <a:p>
            <a:pPr algn="l" indent="0" marL="0">
              <a:lnSpc>
                <a:spcPct val="120000"/>
              </a:lnSpc>
              <a:buNone/>
            </a:pPr>
            <a:r>
              <a:rPr lang="en-US" sz="950" i="1" dirty="0">
                <a:solidFill>
                  <a:srgbClr val="6C7C74"/>
                </a:solidFill>
                <a:latin typeface="Calibri" pitchFamily="34" charset="0"/>
                <a:ea typeface="Calibri" pitchFamily="34" charset="-122"/>
                <a:cs typeface="Calibri" pitchFamily="34" charset="-120"/>
              </a:rPr>
              <a:t>Not taxable, and it repeats every year without further work.</a:t>
            </a:r>
            <a:endParaRPr lang="en-US" sz="950" dirty="0"/>
          </a:p>
        </p:txBody>
      </p:sp>
      <p:sp>
        <p:nvSpPr>
          <p:cNvPr id="49" name="Shape 47"/>
          <p:cNvSpPr/>
          <p:nvPr/>
        </p:nvSpPr>
        <p:spPr>
          <a:xfrm>
            <a:off x="658368" y="5797296"/>
            <a:ext cx="10872216" cy="512064"/>
          </a:xfrm>
          <a:prstGeom prst="roundRect">
            <a:avLst>
              <a:gd name="adj" fmla="val 16071"/>
            </a:avLst>
          </a:prstGeom>
          <a:solidFill>
            <a:srgbClr val="FAF1DF"/>
          </a:solidFill>
          <a:ln/>
        </p:spPr>
      </p:sp>
      <p:sp>
        <p:nvSpPr>
          <p:cNvPr id="50" name="Text 48"/>
          <p:cNvSpPr/>
          <p:nvPr/>
        </p:nvSpPr>
        <p:spPr>
          <a:xfrm>
            <a:off x="859536" y="5852160"/>
            <a:ext cx="10469880" cy="420624"/>
          </a:xfrm>
          <a:prstGeom prst="rect">
            <a:avLst/>
          </a:prstGeom>
          <a:noFill/>
          <a:ln/>
        </p:spPr>
        <p:txBody>
          <a:bodyPr wrap="square" lIns="0" tIns="0" rIns="0" bIns="0" rtlCol="0" anchor="t"/>
          <a:lstStyle/>
          <a:p>
            <a:pPr algn="l" indent="0" marL="0">
              <a:lnSpc>
                <a:spcPct val="120000"/>
              </a:lnSpc>
              <a:buNone/>
            </a:pPr>
            <a:r>
              <a:rPr lang="en-US" sz="950" b="1" dirty="0">
                <a:solidFill>
                  <a:srgbClr val="94600A"/>
                </a:solidFill>
                <a:latin typeface="Calibri" pitchFamily="34" charset="0"/>
                <a:ea typeface="Calibri" pitchFamily="34" charset="-122"/>
                <a:cs typeface="Calibri" pitchFamily="34" charset="-120"/>
              </a:rPr>
              <a:t>The one engineering change this needs.  </a:t>
            </a:r>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Today a route requiring zero capital reads as missing data and the engine caps it at 49. Capital efficiency has to be allowed to saturate at 100 when nothing is tied up — a one-function change, and the reason it is not shipped is that the engine cannot see a subscription yet, not that the arithmetic is unclear.</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16</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05.02  ·  THE FOUR LEAKS</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Four leaks, each with an arithmetic</a:t>
            </a:r>
            <a:endParaRPr lang="en-US" sz="3000" dirty="0"/>
          </a:p>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the engine can already rank.</a:t>
            </a:r>
            <a:endParaRPr lang="en-US" sz="3000" dirty="0"/>
          </a:p>
        </p:txBody>
      </p:sp>
      <p:sp>
        <p:nvSpPr>
          <p:cNvPr id="6" name="Text 4"/>
          <p:cNvSpPr/>
          <p:nvPr/>
        </p:nvSpPr>
        <p:spPr>
          <a:xfrm>
            <a:off x="658368" y="1700784"/>
            <a:ext cx="10058400" cy="292608"/>
          </a:xfrm>
          <a:prstGeom prst="rect">
            <a:avLst/>
          </a:prstGeom>
          <a:noFill/>
          <a:ln/>
        </p:spPr>
        <p:txBody>
          <a:bodyPr wrap="square" lIns="0" tIns="0" rIns="0" bIns="0" rtlCol="0" anchor="t"/>
          <a:lstStyle/>
          <a:p>
            <a:pPr indent="0" marL="0">
              <a:lnSpc>
                <a:spcPct val="122000"/>
              </a:lnSpc>
              <a:buNone/>
            </a:pPr>
            <a:r>
              <a:rPr lang="en-US" sz="1300" dirty="0">
                <a:solidFill>
                  <a:srgbClr val="44534C"/>
                </a:solidFill>
                <a:latin typeface="Calibri" pitchFamily="34" charset="0"/>
                <a:ea typeface="Calibri" pitchFamily="34" charset="-122"/>
                <a:cs typeface="Calibri" pitchFamily="34" charset="-120"/>
              </a:rPr>
              <a:t>The right-hand column of the equation, expanded — no new scoring model, just bank data, a detector and a value formula per leak.</a:t>
            </a:r>
            <a:endParaRPr lang="en-US" sz="1300" dirty="0"/>
          </a:p>
        </p:txBody>
      </p:sp>
      <p:sp>
        <p:nvSpPr>
          <p:cNvPr id="7" name="Shape 5"/>
          <p:cNvSpPr/>
          <p:nvPr/>
        </p:nvSpPr>
        <p:spPr>
          <a:xfrm>
            <a:off x="658368" y="2231136"/>
            <a:ext cx="10872216" cy="822960"/>
          </a:xfrm>
          <a:prstGeom prst="roundRect">
            <a:avLst>
              <a:gd name="adj" fmla="val 10000"/>
            </a:avLst>
          </a:prstGeom>
          <a:solidFill>
            <a:srgbClr val="F2F5F3"/>
          </a:solidFill>
          <a:ln/>
        </p:spPr>
      </p:sp>
      <p:sp>
        <p:nvSpPr>
          <p:cNvPr id="8" name="Shape 6"/>
          <p:cNvSpPr/>
          <p:nvPr/>
        </p:nvSpPr>
        <p:spPr>
          <a:xfrm>
            <a:off x="859536" y="2505456"/>
            <a:ext cx="384048" cy="274320"/>
          </a:xfrm>
          <a:prstGeom prst="roundRect">
            <a:avLst>
              <a:gd name="adj" fmla="val 18333"/>
            </a:avLst>
          </a:prstGeom>
          <a:solidFill>
            <a:srgbClr val="0B1210"/>
          </a:solidFill>
          <a:ln/>
        </p:spPr>
      </p:sp>
      <p:sp>
        <p:nvSpPr>
          <p:cNvPr id="9" name="Text 7"/>
          <p:cNvSpPr/>
          <p:nvPr/>
        </p:nvSpPr>
        <p:spPr>
          <a:xfrm>
            <a:off x="859536" y="2505456"/>
            <a:ext cx="3840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01</a:t>
            </a:r>
            <a:endParaRPr lang="en-US" sz="1000" dirty="0"/>
          </a:p>
        </p:txBody>
      </p:sp>
      <p:sp>
        <p:nvSpPr>
          <p:cNvPr id="10" name="Text 8"/>
          <p:cNvSpPr/>
          <p:nvPr/>
        </p:nvSpPr>
        <p:spPr>
          <a:xfrm>
            <a:off x="1371600" y="2377440"/>
            <a:ext cx="1920240" cy="256032"/>
          </a:xfrm>
          <a:prstGeom prst="rect">
            <a:avLst/>
          </a:prstGeom>
          <a:noFill/>
          <a:ln/>
        </p:spPr>
        <p:txBody>
          <a:bodyPr wrap="square" lIns="0" tIns="0" rIns="0" bIns="0" rtlCol="0" anchor="ctr"/>
          <a:lstStyle/>
          <a:p>
            <a:pPr algn="l" indent="0" marL="0">
              <a:buNone/>
            </a:pPr>
            <a:r>
              <a:rPr lang="en-US" sz="1250" b="1" dirty="0">
                <a:solidFill>
                  <a:srgbClr val="0B1210"/>
                </a:solidFill>
                <a:latin typeface="Cambria" pitchFamily="34" charset="0"/>
                <a:ea typeface="Cambria" pitchFamily="34" charset="-122"/>
                <a:cs typeface="Cambria" pitchFamily="34" charset="-120"/>
              </a:rPr>
              <a:t>Recurring spend</a:t>
            </a:r>
            <a:endParaRPr lang="en-US" sz="1250" dirty="0"/>
          </a:p>
        </p:txBody>
      </p:sp>
      <p:sp>
        <p:nvSpPr>
          <p:cNvPr id="11" name="Shape 9"/>
          <p:cNvSpPr/>
          <p:nvPr/>
        </p:nvSpPr>
        <p:spPr>
          <a:xfrm>
            <a:off x="1371600" y="2688336"/>
            <a:ext cx="841248" cy="201168"/>
          </a:xfrm>
          <a:prstGeom prst="roundRect">
            <a:avLst>
              <a:gd name="adj" fmla="val 50000"/>
            </a:avLst>
          </a:prstGeom>
          <a:solidFill>
            <a:srgbClr val="FAF1DF"/>
          </a:solidFill>
          <a:ln/>
        </p:spPr>
      </p:sp>
      <p:sp>
        <p:nvSpPr>
          <p:cNvPr id="12" name="Text 10"/>
          <p:cNvSpPr/>
          <p:nvPr/>
        </p:nvSpPr>
        <p:spPr>
          <a:xfrm>
            <a:off x="1371600" y="2688336"/>
            <a:ext cx="841248" cy="201168"/>
          </a:xfrm>
          <a:prstGeom prst="rect">
            <a:avLst/>
          </a:prstGeom>
          <a:noFill/>
          <a:ln/>
        </p:spPr>
        <p:txBody>
          <a:bodyPr wrap="square" lIns="0" tIns="0" rIns="0" bIns="0" rtlCol="0" anchor="ctr"/>
          <a:lstStyle/>
          <a:p>
            <a:pPr algn="ctr" indent="0" marL="0">
              <a:buNone/>
            </a:pPr>
            <a:r>
              <a:rPr lang="en-US" sz="700" b="1" spc="130" kern="0" dirty="0">
                <a:solidFill>
                  <a:srgbClr val="94600A"/>
                </a:solidFill>
                <a:latin typeface="Calibri" pitchFamily="34" charset="0"/>
                <a:ea typeface="Calibri" pitchFamily="34" charset="-122"/>
                <a:cs typeface="Calibri" pitchFamily="34" charset="-120"/>
              </a:rPr>
              <a:t>3–6 MO</a:t>
            </a:r>
            <a:endParaRPr lang="en-US" sz="700" dirty="0"/>
          </a:p>
        </p:txBody>
      </p:sp>
      <p:sp>
        <p:nvSpPr>
          <p:cNvPr id="13" name="Text 11"/>
          <p:cNvSpPr/>
          <p:nvPr/>
        </p:nvSpPr>
        <p:spPr>
          <a:xfrm>
            <a:off x="3401568" y="2359152"/>
            <a:ext cx="3200400" cy="566928"/>
          </a:xfrm>
          <a:prstGeom prst="rect">
            <a:avLst/>
          </a:prstGeom>
          <a:noFill/>
          <a:ln/>
        </p:spPr>
        <p:txBody>
          <a:bodyPr wrap="square" lIns="0" tIns="0" rIns="0" bIns="0" rtlCol="0" anchor="ctr"/>
          <a:lstStyle/>
          <a:p>
            <a:pPr algn="l" indent="0" marL="0">
              <a:lnSpc>
                <a:spcPct val="130000"/>
              </a:lnSpc>
              <a:buNone/>
            </a:pPr>
            <a:r>
              <a:rPr lang="en-US" sz="1000" dirty="0">
                <a:solidFill>
                  <a:srgbClr val="0A5C3E"/>
                </a:solidFill>
                <a:latin typeface="Courier New" pitchFamily="34" charset="0"/>
                <a:ea typeface="Courier New" pitchFamily="34" charset="-122"/>
                <a:cs typeface="Courier New" pitchFamily="34" charset="-120"/>
              </a:rPr>
              <a:t>V  =  Σ mᵢ × months remaining</a:t>
            </a:r>
            <a:endParaRPr lang="en-US" sz="1000" dirty="0"/>
          </a:p>
        </p:txBody>
      </p:sp>
      <p:sp>
        <p:nvSpPr>
          <p:cNvPr id="14" name="Text 12"/>
          <p:cNvSpPr/>
          <p:nvPr/>
        </p:nvSpPr>
        <p:spPr>
          <a:xfrm>
            <a:off x="6784848" y="2359152"/>
            <a:ext cx="3017520" cy="603504"/>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Plaid recurring-streams plus our own periodicity detection over 24 months of transactions.</a:t>
            </a:r>
            <a:endParaRPr lang="en-US" sz="950" dirty="0"/>
          </a:p>
        </p:txBody>
      </p:sp>
      <p:sp>
        <p:nvSpPr>
          <p:cNvPr id="15" name="Text 13"/>
          <p:cNvSpPr/>
          <p:nvPr/>
        </p:nvSpPr>
        <p:spPr>
          <a:xfrm>
            <a:off x="9939528" y="2359152"/>
            <a:ext cx="1463040" cy="603504"/>
          </a:xfrm>
          <a:prstGeom prst="rect">
            <a:avLst/>
          </a:prstGeom>
          <a:noFill/>
          <a:ln/>
        </p:spPr>
        <p:txBody>
          <a:bodyPr wrap="square" lIns="0" tIns="0" rIns="0" bIns="0" rtlCol="0" anchor="t"/>
          <a:lstStyle/>
          <a:p>
            <a:pPr algn="l" indent="0" marL="0">
              <a:lnSpc>
                <a:spcPct val="120000"/>
              </a:lnSpc>
              <a:buNone/>
            </a:pPr>
            <a:r>
              <a:rPr lang="en-US" sz="950" i="1" dirty="0">
                <a:solidFill>
                  <a:srgbClr val="6C7C74"/>
                </a:solidFill>
                <a:latin typeface="Calibri" pitchFamily="34" charset="0"/>
                <a:ea typeface="Calibri" pitchFamily="34" charset="-122"/>
                <a:cs typeface="Calibri" pitchFamily="34" charset="-120"/>
              </a:rPr>
              <a:t>Near-certain once cancelled</a:t>
            </a:r>
            <a:endParaRPr lang="en-US" sz="950" dirty="0"/>
          </a:p>
        </p:txBody>
      </p:sp>
      <p:sp>
        <p:nvSpPr>
          <p:cNvPr id="16" name="Shape 14"/>
          <p:cNvSpPr/>
          <p:nvPr/>
        </p:nvSpPr>
        <p:spPr>
          <a:xfrm>
            <a:off x="658368" y="3163824"/>
            <a:ext cx="10872216" cy="822960"/>
          </a:xfrm>
          <a:prstGeom prst="roundRect">
            <a:avLst>
              <a:gd name="adj" fmla="val 10000"/>
            </a:avLst>
          </a:prstGeom>
          <a:solidFill>
            <a:srgbClr val="FFFFFF"/>
          </a:solidFill>
          <a:ln w="9525">
            <a:solidFill>
              <a:srgbClr val="DCE3DF"/>
            </a:solidFill>
            <a:prstDash val="solid"/>
          </a:ln>
        </p:spPr>
      </p:sp>
      <p:sp>
        <p:nvSpPr>
          <p:cNvPr id="17" name="Shape 15"/>
          <p:cNvSpPr/>
          <p:nvPr/>
        </p:nvSpPr>
        <p:spPr>
          <a:xfrm>
            <a:off x="859536" y="3438144"/>
            <a:ext cx="384048" cy="274320"/>
          </a:xfrm>
          <a:prstGeom prst="roundRect">
            <a:avLst>
              <a:gd name="adj" fmla="val 18333"/>
            </a:avLst>
          </a:prstGeom>
          <a:solidFill>
            <a:srgbClr val="0B1210"/>
          </a:solidFill>
          <a:ln/>
        </p:spPr>
      </p:sp>
      <p:sp>
        <p:nvSpPr>
          <p:cNvPr id="18" name="Text 16"/>
          <p:cNvSpPr/>
          <p:nvPr/>
        </p:nvSpPr>
        <p:spPr>
          <a:xfrm>
            <a:off x="859536" y="3438144"/>
            <a:ext cx="3840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02</a:t>
            </a:r>
            <a:endParaRPr lang="en-US" sz="1000" dirty="0"/>
          </a:p>
        </p:txBody>
      </p:sp>
      <p:sp>
        <p:nvSpPr>
          <p:cNvPr id="19" name="Text 17"/>
          <p:cNvSpPr/>
          <p:nvPr/>
        </p:nvSpPr>
        <p:spPr>
          <a:xfrm>
            <a:off x="1371600" y="3310128"/>
            <a:ext cx="1920240" cy="256032"/>
          </a:xfrm>
          <a:prstGeom prst="rect">
            <a:avLst/>
          </a:prstGeom>
          <a:noFill/>
          <a:ln/>
        </p:spPr>
        <p:txBody>
          <a:bodyPr wrap="square" lIns="0" tIns="0" rIns="0" bIns="0" rtlCol="0" anchor="ctr"/>
          <a:lstStyle/>
          <a:p>
            <a:pPr algn="l" indent="0" marL="0">
              <a:buNone/>
            </a:pPr>
            <a:r>
              <a:rPr lang="en-US" sz="1250" b="1" dirty="0">
                <a:solidFill>
                  <a:srgbClr val="0B1210"/>
                </a:solidFill>
                <a:latin typeface="Cambria" pitchFamily="34" charset="0"/>
                <a:ea typeface="Cambria" pitchFamily="34" charset="-122"/>
                <a:cs typeface="Cambria" pitchFamily="34" charset="-120"/>
              </a:rPr>
              <a:t>Card rewards fit</a:t>
            </a:r>
            <a:endParaRPr lang="en-US" sz="1250" dirty="0"/>
          </a:p>
        </p:txBody>
      </p:sp>
      <p:sp>
        <p:nvSpPr>
          <p:cNvPr id="20" name="Shape 18"/>
          <p:cNvSpPr/>
          <p:nvPr/>
        </p:nvSpPr>
        <p:spPr>
          <a:xfrm>
            <a:off x="1371600" y="3621024"/>
            <a:ext cx="841248" cy="201168"/>
          </a:xfrm>
          <a:prstGeom prst="roundRect">
            <a:avLst>
              <a:gd name="adj" fmla="val 50000"/>
            </a:avLst>
          </a:prstGeom>
          <a:solidFill>
            <a:srgbClr val="FAF1DF"/>
          </a:solidFill>
          <a:ln/>
        </p:spPr>
      </p:sp>
      <p:sp>
        <p:nvSpPr>
          <p:cNvPr id="21" name="Text 19"/>
          <p:cNvSpPr/>
          <p:nvPr/>
        </p:nvSpPr>
        <p:spPr>
          <a:xfrm>
            <a:off x="1371600" y="3621024"/>
            <a:ext cx="841248" cy="201168"/>
          </a:xfrm>
          <a:prstGeom prst="rect">
            <a:avLst/>
          </a:prstGeom>
          <a:noFill/>
          <a:ln/>
        </p:spPr>
        <p:txBody>
          <a:bodyPr wrap="square" lIns="0" tIns="0" rIns="0" bIns="0" rtlCol="0" anchor="ctr"/>
          <a:lstStyle/>
          <a:p>
            <a:pPr algn="ctr" indent="0" marL="0">
              <a:buNone/>
            </a:pPr>
            <a:r>
              <a:rPr lang="en-US" sz="700" b="1" spc="130" kern="0" dirty="0">
                <a:solidFill>
                  <a:srgbClr val="94600A"/>
                </a:solidFill>
                <a:latin typeface="Calibri" pitchFamily="34" charset="0"/>
                <a:ea typeface="Calibri" pitchFamily="34" charset="-122"/>
                <a:cs typeface="Calibri" pitchFamily="34" charset="-120"/>
              </a:rPr>
              <a:t>6–12 MO</a:t>
            </a:r>
            <a:endParaRPr lang="en-US" sz="700" dirty="0"/>
          </a:p>
        </p:txBody>
      </p:sp>
      <p:sp>
        <p:nvSpPr>
          <p:cNvPr id="22" name="Text 20"/>
          <p:cNvSpPr/>
          <p:nvPr/>
        </p:nvSpPr>
        <p:spPr>
          <a:xfrm>
            <a:off x="3401568" y="3291840"/>
            <a:ext cx="3200400" cy="566928"/>
          </a:xfrm>
          <a:prstGeom prst="rect">
            <a:avLst/>
          </a:prstGeom>
          <a:noFill/>
          <a:ln/>
        </p:spPr>
        <p:txBody>
          <a:bodyPr wrap="square" lIns="0" tIns="0" rIns="0" bIns="0" rtlCol="0" anchor="ctr"/>
          <a:lstStyle/>
          <a:p>
            <a:pPr algn="l" indent="0" marL="0">
              <a:lnSpc>
                <a:spcPct val="130000"/>
              </a:lnSpc>
              <a:buNone/>
            </a:pPr>
            <a:r>
              <a:rPr lang="en-US" sz="1000" dirty="0">
                <a:solidFill>
                  <a:srgbClr val="0A5C3E"/>
                </a:solidFill>
                <a:latin typeface="Courier New" pitchFamily="34" charset="0"/>
                <a:ea typeface="Courier New" pitchFamily="34" charset="-122"/>
                <a:cs typeface="Courier New" pitchFamily="34" charset="-120"/>
              </a:rPr>
              <a:t>V  =  Σ sᵣ (r*ᵣ − rᵣ)  −  fees  −  interest</a:t>
            </a:r>
            <a:endParaRPr lang="en-US" sz="1000" dirty="0"/>
          </a:p>
        </p:txBody>
      </p:sp>
      <p:sp>
        <p:nvSpPr>
          <p:cNvPr id="23" name="Text 21"/>
          <p:cNvSpPr/>
          <p:nvPr/>
        </p:nvSpPr>
        <p:spPr>
          <a:xfrm>
            <a:off x="6784848" y="3291840"/>
            <a:ext cx="3017520" cy="603504"/>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Category spend from real transactions against live card reward schedules, per merchant category.</a:t>
            </a:r>
            <a:endParaRPr lang="en-US" sz="950" dirty="0"/>
          </a:p>
        </p:txBody>
      </p:sp>
      <p:sp>
        <p:nvSpPr>
          <p:cNvPr id="24" name="Text 22"/>
          <p:cNvSpPr/>
          <p:nvPr/>
        </p:nvSpPr>
        <p:spPr>
          <a:xfrm>
            <a:off x="9939528" y="3291840"/>
            <a:ext cx="1463040" cy="603504"/>
          </a:xfrm>
          <a:prstGeom prst="rect">
            <a:avLst/>
          </a:prstGeom>
          <a:noFill/>
          <a:ln/>
        </p:spPr>
        <p:txBody>
          <a:bodyPr wrap="square" lIns="0" tIns="0" rIns="0" bIns="0" rtlCol="0" anchor="t"/>
          <a:lstStyle/>
          <a:p>
            <a:pPr algn="l" indent="0" marL="0">
              <a:lnSpc>
                <a:spcPct val="120000"/>
              </a:lnSpc>
              <a:buNone/>
            </a:pPr>
            <a:r>
              <a:rPr lang="en-US" sz="950" i="1" dirty="0">
                <a:solidFill>
                  <a:srgbClr val="6C7C74"/>
                </a:solidFill>
                <a:latin typeface="Calibri" pitchFamily="34" charset="0"/>
                <a:ea typeface="Calibri" pitchFamily="34" charset="-122"/>
                <a:cs typeface="Calibri" pitchFamily="34" charset="-120"/>
              </a:rPr>
              <a:t>High, unless the balance revolves</a:t>
            </a:r>
            <a:endParaRPr lang="en-US" sz="950" dirty="0"/>
          </a:p>
        </p:txBody>
      </p:sp>
      <p:sp>
        <p:nvSpPr>
          <p:cNvPr id="25" name="Shape 23"/>
          <p:cNvSpPr/>
          <p:nvPr/>
        </p:nvSpPr>
        <p:spPr>
          <a:xfrm>
            <a:off x="658368" y="4096512"/>
            <a:ext cx="10872216" cy="822960"/>
          </a:xfrm>
          <a:prstGeom prst="roundRect">
            <a:avLst>
              <a:gd name="adj" fmla="val 10000"/>
            </a:avLst>
          </a:prstGeom>
          <a:solidFill>
            <a:srgbClr val="F2F5F3"/>
          </a:solidFill>
          <a:ln/>
        </p:spPr>
      </p:sp>
      <p:sp>
        <p:nvSpPr>
          <p:cNvPr id="26" name="Shape 24"/>
          <p:cNvSpPr/>
          <p:nvPr/>
        </p:nvSpPr>
        <p:spPr>
          <a:xfrm>
            <a:off x="859536" y="4370832"/>
            <a:ext cx="384048" cy="274320"/>
          </a:xfrm>
          <a:prstGeom prst="roundRect">
            <a:avLst>
              <a:gd name="adj" fmla="val 18333"/>
            </a:avLst>
          </a:prstGeom>
          <a:solidFill>
            <a:srgbClr val="0B1210"/>
          </a:solidFill>
          <a:ln/>
        </p:spPr>
      </p:sp>
      <p:sp>
        <p:nvSpPr>
          <p:cNvPr id="27" name="Text 25"/>
          <p:cNvSpPr/>
          <p:nvPr/>
        </p:nvSpPr>
        <p:spPr>
          <a:xfrm>
            <a:off x="859536" y="4370832"/>
            <a:ext cx="3840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03</a:t>
            </a:r>
            <a:endParaRPr lang="en-US" sz="1000" dirty="0"/>
          </a:p>
        </p:txBody>
      </p:sp>
      <p:sp>
        <p:nvSpPr>
          <p:cNvPr id="28" name="Text 26"/>
          <p:cNvSpPr/>
          <p:nvPr/>
        </p:nvSpPr>
        <p:spPr>
          <a:xfrm>
            <a:off x="1371600" y="4242816"/>
            <a:ext cx="1920240" cy="256032"/>
          </a:xfrm>
          <a:prstGeom prst="rect">
            <a:avLst/>
          </a:prstGeom>
          <a:noFill/>
          <a:ln/>
        </p:spPr>
        <p:txBody>
          <a:bodyPr wrap="square" lIns="0" tIns="0" rIns="0" bIns="0" rtlCol="0" anchor="ctr"/>
          <a:lstStyle/>
          <a:p>
            <a:pPr algn="l" indent="0" marL="0">
              <a:buNone/>
            </a:pPr>
            <a:r>
              <a:rPr lang="en-US" sz="1250" b="1" dirty="0">
                <a:solidFill>
                  <a:srgbClr val="0B1210"/>
                </a:solidFill>
                <a:latin typeface="Cambria" pitchFamily="34" charset="0"/>
                <a:ea typeface="Cambria" pitchFamily="34" charset="-122"/>
                <a:cs typeface="Cambria" pitchFamily="34" charset="-120"/>
              </a:rPr>
              <a:t>Fees &amp; idle cash</a:t>
            </a:r>
            <a:endParaRPr lang="en-US" sz="1250" dirty="0"/>
          </a:p>
        </p:txBody>
      </p:sp>
      <p:sp>
        <p:nvSpPr>
          <p:cNvPr id="29" name="Shape 27"/>
          <p:cNvSpPr/>
          <p:nvPr/>
        </p:nvSpPr>
        <p:spPr>
          <a:xfrm>
            <a:off x="1371600" y="4553712"/>
            <a:ext cx="841248" cy="201168"/>
          </a:xfrm>
          <a:prstGeom prst="roundRect">
            <a:avLst>
              <a:gd name="adj" fmla="val 50000"/>
            </a:avLst>
          </a:prstGeom>
          <a:solidFill>
            <a:srgbClr val="FAF1DF"/>
          </a:solidFill>
          <a:ln/>
        </p:spPr>
      </p:sp>
      <p:sp>
        <p:nvSpPr>
          <p:cNvPr id="30" name="Text 28"/>
          <p:cNvSpPr/>
          <p:nvPr/>
        </p:nvSpPr>
        <p:spPr>
          <a:xfrm>
            <a:off x="1371600" y="4553712"/>
            <a:ext cx="841248" cy="201168"/>
          </a:xfrm>
          <a:prstGeom prst="rect">
            <a:avLst/>
          </a:prstGeom>
          <a:noFill/>
          <a:ln/>
        </p:spPr>
        <p:txBody>
          <a:bodyPr wrap="square" lIns="0" tIns="0" rIns="0" bIns="0" rtlCol="0" anchor="ctr"/>
          <a:lstStyle/>
          <a:p>
            <a:pPr algn="ctr" indent="0" marL="0">
              <a:buNone/>
            </a:pPr>
            <a:r>
              <a:rPr lang="en-US" sz="700" b="1" spc="130" kern="0" dirty="0">
                <a:solidFill>
                  <a:srgbClr val="94600A"/>
                </a:solidFill>
                <a:latin typeface="Calibri" pitchFamily="34" charset="0"/>
                <a:ea typeface="Calibri" pitchFamily="34" charset="-122"/>
                <a:cs typeface="Calibri" pitchFamily="34" charset="-120"/>
              </a:rPr>
              <a:t>6–12 MO</a:t>
            </a:r>
            <a:endParaRPr lang="en-US" sz="700" dirty="0"/>
          </a:p>
        </p:txBody>
      </p:sp>
      <p:sp>
        <p:nvSpPr>
          <p:cNvPr id="31" name="Text 29"/>
          <p:cNvSpPr/>
          <p:nvPr/>
        </p:nvSpPr>
        <p:spPr>
          <a:xfrm>
            <a:off x="3401568" y="4224528"/>
            <a:ext cx="3200400" cy="566928"/>
          </a:xfrm>
          <a:prstGeom prst="rect">
            <a:avLst/>
          </a:prstGeom>
          <a:noFill/>
          <a:ln/>
        </p:spPr>
        <p:txBody>
          <a:bodyPr wrap="square" lIns="0" tIns="0" rIns="0" bIns="0" rtlCol="0" anchor="ctr"/>
          <a:lstStyle/>
          <a:p>
            <a:pPr algn="l" indent="0" marL="0">
              <a:lnSpc>
                <a:spcPct val="130000"/>
              </a:lnSpc>
              <a:buNone/>
            </a:pPr>
            <a:r>
              <a:rPr lang="en-US" sz="1000" dirty="0">
                <a:solidFill>
                  <a:srgbClr val="0A5C3E"/>
                </a:solidFill>
                <a:latin typeface="Courier New" pitchFamily="34" charset="0"/>
                <a:ea typeface="Courier New" pitchFamily="34" charset="-122"/>
                <a:cs typeface="Courier New" pitchFamily="34" charset="-120"/>
              </a:rPr>
              <a:t>V  =  fees  +  interest  +  B(r* − r)T</a:t>
            </a:r>
            <a:endParaRPr lang="en-US" sz="1000" dirty="0"/>
          </a:p>
        </p:txBody>
      </p:sp>
      <p:sp>
        <p:nvSpPr>
          <p:cNvPr id="32" name="Text 30"/>
          <p:cNvSpPr/>
          <p:nvPr/>
        </p:nvSpPr>
        <p:spPr>
          <a:xfrm>
            <a:off x="6784848" y="4224528"/>
            <a:ext cx="3017520" cy="603504"/>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Overdraft, FX and late fees read directly from the ledger; idle-cash drag from balance against a live HYSA rate.</a:t>
            </a:r>
            <a:endParaRPr lang="en-US" sz="950" dirty="0"/>
          </a:p>
        </p:txBody>
      </p:sp>
      <p:sp>
        <p:nvSpPr>
          <p:cNvPr id="33" name="Text 31"/>
          <p:cNvSpPr/>
          <p:nvPr/>
        </p:nvSpPr>
        <p:spPr>
          <a:xfrm>
            <a:off x="9939528" y="4224528"/>
            <a:ext cx="1463040" cy="603504"/>
          </a:xfrm>
          <a:prstGeom prst="rect">
            <a:avLst/>
          </a:prstGeom>
          <a:noFill/>
          <a:ln/>
        </p:spPr>
        <p:txBody>
          <a:bodyPr wrap="square" lIns="0" tIns="0" rIns="0" bIns="0" rtlCol="0" anchor="t"/>
          <a:lstStyle/>
          <a:p>
            <a:pPr algn="l" indent="0" marL="0">
              <a:lnSpc>
                <a:spcPct val="120000"/>
              </a:lnSpc>
              <a:buNone/>
            </a:pPr>
            <a:r>
              <a:rPr lang="en-US" sz="950" i="1" dirty="0">
                <a:solidFill>
                  <a:srgbClr val="6C7C74"/>
                </a:solidFill>
                <a:latin typeface="Calibri" pitchFamily="34" charset="0"/>
                <a:ea typeface="Calibri" pitchFamily="34" charset="-122"/>
                <a:cs typeface="Calibri" pitchFamily="34" charset="-120"/>
              </a:rPr>
              <a:t>Very high — already-charged amounts</a:t>
            </a:r>
            <a:endParaRPr lang="en-US" sz="950" dirty="0"/>
          </a:p>
        </p:txBody>
      </p:sp>
      <p:sp>
        <p:nvSpPr>
          <p:cNvPr id="34" name="Shape 32"/>
          <p:cNvSpPr/>
          <p:nvPr/>
        </p:nvSpPr>
        <p:spPr>
          <a:xfrm>
            <a:off x="658368" y="5029200"/>
            <a:ext cx="10872216" cy="822960"/>
          </a:xfrm>
          <a:prstGeom prst="roundRect">
            <a:avLst>
              <a:gd name="adj" fmla="val 10000"/>
            </a:avLst>
          </a:prstGeom>
          <a:solidFill>
            <a:srgbClr val="FFFFFF"/>
          </a:solidFill>
          <a:ln w="9525">
            <a:solidFill>
              <a:srgbClr val="DCE3DF"/>
            </a:solidFill>
            <a:prstDash val="solid"/>
          </a:ln>
        </p:spPr>
      </p:sp>
      <p:sp>
        <p:nvSpPr>
          <p:cNvPr id="35" name="Shape 33"/>
          <p:cNvSpPr/>
          <p:nvPr/>
        </p:nvSpPr>
        <p:spPr>
          <a:xfrm>
            <a:off x="859536" y="5303520"/>
            <a:ext cx="384048" cy="274320"/>
          </a:xfrm>
          <a:prstGeom prst="roundRect">
            <a:avLst>
              <a:gd name="adj" fmla="val 18333"/>
            </a:avLst>
          </a:prstGeom>
          <a:solidFill>
            <a:srgbClr val="0B1210"/>
          </a:solidFill>
          <a:ln/>
        </p:spPr>
      </p:sp>
      <p:sp>
        <p:nvSpPr>
          <p:cNvPr id="36" name="Text 34"/>
          <p:cNvSpPr/>
          <p:nvPr/>
        </p:nvSpPr>
        <p:spPr>
          <a:xfrm>
            <a:off x="859536" y="5303520"/>
            <a:ext cx="3840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04</a:t>
            </a:r>
            <a:endParaRPr lang="en-US" sz="1000" dirty="0"/>
          </a:p>
        </p:txBody>
      </p:sp>
      <p:sp>
        <p:nvSpPr>
          <p:cNvPr id="37" name="Text 35"/>
          <p:cNvSpPr/>
          <p:nvPr/>
        </p:nvSpPr>
        <p:spPr>
          <a:xfrm>
            <a:off x="1371600" y="5175504"/>
            <a:ext cx="1920240" cy="256032"/>
          </a:xfrm>
          <a:prstGeom prst="rect">
            <a:avLst/>
          </a:prstGeom>
          <a:noFill/>
          <a:ln/>
        </p:spPr>
        <p:txBody>
          <a:bodyPr wrap="square" lIns="0" tIns="0" rIns="0" bIns="0" rtlCol="0" anchor="ctr"/>
          <a:lstStyle/>
          <a:p>
            <a:pPr algn="l" indent="0" marL="0">
              <a:buNone/>
            </a:pPr>
            <a:r>
              <a:rPr lang="en-US" sz="1250" b="1" dirty="0">
                <a:solidFill>
                  <a:srgbClr val="0B1210"/>
                </a:solidFill>
                <a:latin typeface="Cambria" pitchFamily="34" charset="0"/>
                <a:ea typeface="Cambria" pitchFamily="34" charset="-122"/>
                <a:cs typeface="Cambria" pitchFamily="34" charset="-120"/>
              </a:rPr>
              <a:t>Automated action</a:t>
            </a:r>
            <a:endParaRPr lang="en-US" sz="1250" dirty="0"/>
          </a:p>
        </p:txBody>
      </p:sp>
      <p:sp>
        <p:nvSpPr>
          <p:cNvPr id="38" name="Shape 36"/>
          <p:cNvSpPr/>
          <p:nvPr/>
        </p:nvSpPr>
        <p:spPr>
          <a:xfrm>
            <a:off x="1371600" y="5486400"/>
            <a:ext cx="841248" cy="201168"/>
          </a:xfrm>
          <a:prstGeom prst="roundRect">
            <a:avLst>
              <a:gd name="adj" fmla="val 50000"/>
            </a:avLst>
          </a:prstGeom>
          <a:solidFill>
            <a:srgbClr val="FAF1DF"/>
          </a:solidFill>
          <a:ln/>
        </p:spPr>
      </p:sp>
      <p:sp>
        <p:nvSpPr>
          <p:cNvPr id="39" name="Text 37"/>
          <p:cNvSpPr/>
          <p:nvPr/>
        </p:nvSpPr>
        <p:spPr>
          <a:xfrm>
            <a:off x="1371600" y="5486400"/>
            <a:ext cx="841248" cy="201168"/>
          </a:xfrm>
          <a:prstGeom prst="rect">
            <a:avLst/>
          </a:prstGeom>
          <a:noFill/>
          <a:ln/>
        </p:spPr>
        <p:txBody>
          <a:bodyPr wrap="square" lIns="0" tIns="0" rIns="0" bIns="0" rtlCol="0" anchor="ctr"/>
          <a:lstStyle/>
          <a:p>
            <a:pPr algn="ctr" indent="0" marL="0">
              <a:buNone/>
            </a:pPr>
            <a:r>
              <a:rPr lang="en-US" sz="700" b="1" spc="130" kern="0" dirty="0">
                <a:solidFill>
                  <a:srgbClr val="94600A"/>
                </a:solidFill>
                <a:latin typeface="Calibri" pitchFamily="34" charset="0"/>
                <a:ea typeface="Calibri" pitchFamily="34" charset="-122"/>
                <a:cs typeface="Calibri" pitchFamily="34" charset="-120"/>
              </a:rPr>
              <a:t>12 MO+</a:t>
            </a:r>
            <a:endParaRPr lang="en-US" sz="700" dirty="0"/>
          </a:p>
        </p:txBody>
      </p:sp>
      <p:sp>
        <p:nvSpPr>
          <p:cNvPr id="40" name="Text 38"/>
          <p:cNvSpPr/>
          <p:nvPr/>
        </p:nvSpPr>
        <p:spPr>
          <a:xfrm>
            <a:off x="3401568" y="5157216"/>
            <a:ext cx="3200400" cy="566928"/>
          </a:xfrm>
          <a:prstGeom prst="rect">
            <a:avLst/>
          </a:prstGeom>
          <a:noFill/>
          <a:ln/>
        </p:spPr>
        <p:txBody>
          <a:bodyPr wrap="square" lIns="0" tIns="0" rIns="0" bIns="0" rtlCol="0" anchor="ctr"/>
          <a:lstStyle/>
          <a:p>
            <a:pPr algn="l" indent="0" marL="0">
              <a:lnSpc>
                <a:spcPct val="130000"/>
              </a:lnSpc>
              <a:buNone/>
            </a:pPr>
            <a:r>
              <a:rPr lang="en-US" sz="1000" dirty="0">
                <a:solidFill>
                  <a:srgbClr val="0A5C3E"/>
                </a:solidFill>
                <a:latin typeface="Courier New" pitchFamily="34" charset="0"/>
                <a:ea typeface="Courier New" pitchFamily="34" charset="-122"/>
                <a:cs typeface="Courier New" pitchFamily="34" charset="-120"/>
              </a:rPr>
              <a:t>V_real  =  V × follow-through</a:t>
            </a:r>
            <a:endParaRPr lang="en-US" sz="1000" dirty="0"/>
          </a:p>
        </p:txBody>
      </p:sp>
      <p:sp>
        <p:nvSpPr>
          <p:cNvPr id="41" name="Text 39"/>
          <p:cNvSpPr/>
          <p:nvPr/>
        </p:nvSpPr>
        <p:spPr>
          <a:xfrm>
            <a:off x="6784848" y="5157216"/>
            <a:ext cx="3017520" cy="603504"/>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The gap between recommended and done. Moving the money is the only step that converts a score into a dollar.</a:t>
            </a:r>
            <a:endParaRPr lang="en-US" sz="950" dirty="0"/>
          </a:p>
        </p:txBody>
      </p:sp>
      <p:sp>
        <p:nvSpPr>
          <p:cNvPr id="42" name="Text 40"/>
          <p:cNvSpPr/>
          <p:nvPr/>
        </p:nvSpPr>
        <p:spPr>
          <a:xfrm>
            <a:off x="9939528" y="5157216"/>
            <a:ext cx="1463040" cy="603504"/>
          </a:xfrm>
          <a:prstGeom prst="rect">
            <a:avLst/>
          </a:prstGeom>
          <a:noFill/>
          <a:ln/>
        </p:spPr>
        <p:txBody>
          <a:bodyPr wrap="square" lIns="0" tIns="0" rIns="0" bIns="0" rtlCol="0" anchor="t"/>
          <a:lstStyle/>
          <a:p>
            <a:pPr algn="l" indent="0" marL="0">
              <a:lnSpc>
                <a:spcPct val="120000"/>
              </a:lnSpc>
              <a:buNone/>
            </a:pPr>
            <a:r>
              <a:rPr lang="en-US" sz="950" i="1" dirty="0">
                <a:solidFill>
                  <a:srgbClr val="6C7C74"/>
                </a:solidFill>
                <a:latin typeface="Calibri" pitchFamily="34" charset="0"/>
                <a:ea typeface="Calibri" pitchFamily="34" charset="-122"/>
                <a:cs typeface="Calibri" pitchFamily="34" charset="-120"/>
              </a:rPr>
              <a:t>The multiplier on everything above</a:t>
            </a:r>
            <a:endParaRPr lang="en-US" sz="950" dirty="0"/>
          </a:p>
        </p:txBody>
      </p:sp>
      <p:sp>
        <p:nvSpPr>
          <p:cNvPr id="43" name="Text 41"/>
          <p:cNvSpPr/>
          <p:nvPr/>
        </p:nvSpPr>
        <p:spPr>
          <a:xfrm>
            <a:off x="3401568" y="2029968"/>
            <a:ext cx="1828800" cy="182880"/>
          </a:xfrm>
          <a:prstGeom prst="rect">
            <a:avLst/>
          </a:prstGeom>
          <a:noFill/>
          <a:ln/>
        </p:spPr>
        <p:txBody>
          <a:bodyPr wrap="square" lIns="0" tIns="0" rIns="0" bIns="0" rtlCol="0" anchor="ctr"/>
          <a:lstStyle/>
          <a:p>
            <a:pPr algn="l" indent="0" marL="0">
              <a:buNone/>
            </a:pPr>
            <a:r>
              <a:rPr lang="en-US" sz="750" b="1" spc="140" kern="0" dirty="0">
                <a:solidFill>
                  <a:srgbClr val="94A29B"/>
                </a:solidFill>
                <a:latin typeface="Calibri" pitchFamily="34" charset="0"/>
                <a:ea typeface="Calibri" pitchFamily="34" charset="-122"/>
                <a:cs typeface="Calibri" pitchFamily="34" charset="-120"/>
              </a:rPr>
              <a:t>MECHANISM</a:t>
            </a:r>
            <a:endParaRPr lang="en-US" sz="750" dirty="0"/>
          </a:p>
        </p:txBody>
      </p:sp>
      <p:sp>
        <p:nvSpPr>
          <p:cNvPr id="44" name="Text 42"/>
          <p:cNvSpPr/>
          <p:nvPr/>
        </p:nvSpPr>
        <p:spPr>
          <a:xfrm>
            <a:off x="6784848" y="2029968"/>
            <a:ext cx="3017520" cy="182880"/>
          </a:xfrm>
          <a:prstGeom prst="rect">
            <a:avLst/>
          </a:prstGeom>
          <a:noFill/>
          <a:ln/>
        </p:spPr>
        <p:txBody>
          <a:bodyPr wrap="square" lIns="0" tIns="0" rIns="0" bIns="0" rtlCol="0" anchor="ctr"/>
          <a:lstStyle/>
          <a:p>
            <a:pPr algn="l" indent="0" marL="0">
              <a:buNone/>
            </a:pPr>
            <a:r>
              <a:rPr lang="en-US" sz="750" b="1" spc="140" kern="0" dirty="0">
                <a:solidFill>
                  <a:srgbClr val="94A29B"/>
                </a:solidFill>
                <a:latin typeface="Calibri" pitchFamily="34" charset="0"/>
                <a:ea typeface="Calibri" pitchFamily="34" charset="-122"/>
                <a:cs typeface="Calibri" pitchFamily="34" charset="-120"/>
              </a:rPr>
              <a:t>WHERE THE DATA COMES FROM</a:t>
            </a:r>
            <a:endParaRPr lang="en-US" sz="750" dirty="0"/>
          </a:p>
        </p:txBody>
      </p:sp>
      <p:sp>
        <p:nvSpPr>
          <p:cNvPr id="45" name="Text 43"/>
          <p:cNvSpPr/>
          <p:nvPr/>
        </p:nvSpPr>
        <p:spPr>
          <a:xfrm>
            <a:off x="9939528" y="2029968"/>
            <a:ext cx="1645920" cy="182880"/>
          </a:xfrm>
          <a:prstGeom prst="rect">
            <a:avLst/>
          </a:prstGeom>
          <a:noFill/>
          <a:ln/>
        </p:spPr>
        <p:txBody>
          <a:bodyPr wrap="square" lIns="0" tIns="0" rIns="0" bIns="0" rtlCol="0" anchor="ctr"/>
          <a:lstStyle/>
          <a:p>
            <a:pPr algn="l" indent="0" marL="0">
              <a:buNone/>
            </a:pPr>
            <a:r>
              <a:rPr lang="en-US" sz="750" b="1" spc="140" kern="0" dirty="0">
                <a:solidFill>
                  <a:srgbClr val="94A29B"/>
                </a:solidFill>
                <a:latin typeface="Calibri" pitchFamily="34" charset="0"/>
                <a:ea typeface="Calibri" pitchFamily="34" charset="-122"/>
                <a:cs typeface="Calibri" pitchFamily="34" charset="-120"/>
              </a:rPr>
              <a:t>CONFIDENCE</a:t>
            </a:r>
            <a:endParaRPr lang="en-US" sz="750" dirty="0"/>
          </a:p>
        </p:txBody>
      </p:sp>
      <p:sp>
        <p:nvSpPr>
          <p:cNvPr id="46" name="Text 44"/>
          <p:cNvSpPr/>
          <p:nvPr/>
        </p:nvSpPr>
        <p:spPr>
          <a:xfrm>
            <a:off x="658368" y="6016752"/>
            <a:ext cx="10872216" cy="420624"/>
          </a:xfrm>
          <a:prstGeom prst="rect">
            <a:avLst/>
          </a:prstGeom>
          <a:noFill/>
          <a:ln/>
        </p:spPr>
        <p:txBody>
          <a:bodyPr wrap="square" lIns="0" tIns="0" rIns="0" bIns="0" rtlCol="0" anchor="t"/>
          <a:lstStyle/>
          <a:p>
            <a:pPr indent="0" marL="0">
              <a:lnSpc>
                <a:spcPct val="118000"/>
              </a:lnSpc>
              <a:buNone/>
            </a:pPr>
            <a:r>
              <a:rPr lang="en-US" sz="1050" b="1" dirty="0">
                <a:solidFill>
                  <a:srgbClr val="0B1210"/>
                </a:solidFill>
                <a:latin typeface="Calibri" pitchFamily="34" charset="0"/>
                <a:ea typeface="Calibri" pitchFamily="34" charset="-122"/>
                <a:cs typeface="Calibri" pitchFamily="34" charset="-120"/>
              </a:rPr>
              <a:t>Read the fourth row twice. </a:t>
            </a:r>
            <a:pPr indent="0" marL="0">
              <a:lnSpc>
                <a:spcPct val="118000"/>
              </a:lnSpc>
              <a:buNone/>
            </a:pPr>
            <a:r>
              <a:rPr lang="en-US" sz="1050" dirty="0">
                <a:solidFill>
                  <a:srgbClr val="0B1210"/>
                </a:solidFill>
                <a:latin typeface="Calibri" pitchFamily="34" charset="0"/>
                <a:ea typeface="Calibri" pitchFamily="34" charset="-122"/>
                <a:cs typeface="Calibri" pitchFamily="34" charset="-120"/>
              </a:rPr>
              <a:t>Every ranking product in this category dies at follow-through — the answer is right and nothing happens. That is why automation comes last, and why it matters most.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17</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05.03  ·  ONE LIST</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Earning and saving, ranked against</a:t>
            </a:r>
            <a:endParaRPr lang="en-US" sz="3000" dirty="0"/>
          </a:p>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each other on net dollars.</a:t>
            </a:r>
            <a:endParaRPr lang="en-US" sz="3000" dirty="0"/>
          </a:p>
        </p:txBody>
      </p:sp>
      <p:sp>
        <p:nvSpPr>
          <p:cNvPr id="6" name="Text 4"/>
          <p:cNvSpPr/>
          <p:nvPr/>
        </p:nvSpPr>
        <p:spPr>
          <a:xfrm>
            <a:off x="658368" y="1737360"/>
            <a:ext cx="10058400" cy="292608"/>
          </a:xfrm>
          <a:prstGeom prst="rect">
            <a:avLst/>
          </a:prstGeom>
          <a:noFill/>
          <a:ln/>
        </p:spPr>
        <p:txBody>
          <a:bodyPr wrap="square" lIns="0" tIns="0" rIns="0" bIns="0" rtlCol="0" anchor="t"/>
          <a:lstStyle/>
          <a:p>
            <a:pPr indent="0" marL="0">
              <a:lnSpc>
                <a:spcPct val="122000"/>
              </a:lnSpc>
              <a:buNone/>
            </a:pPr>
            <a:r>
              <a:rPr lang="en-US" sz="1300" dirty="0">
                <a:solidFill>
                  <a:srgbClr val="44534C"/>
                </a:solidFill>
                <a:latin typeface="Calibri" pitchFamily="34" charset="0"/>
                <a:ea typeface="Calibri" pitchFamily="34" charset="-122"/>
                <a:cs typeface="Calibri" pitchFamily="34" charset="-120"/>
              </a:rPr>
              <a:t>The comparison is net dollars, confidence, capital at risk and effort — not investment return. That is why a cancelled subscription can outrank an index fund without any sleight of hand.</a:t>
            </a:r>
            <a:endParaRPr lang="en-US" sz="1300" dirty="0"/>
          </a:p>
        </p:txBody>
      </p:sp>
      <p:sp>
        <p:nvSpPr>
          <p:cNvPr id="7" name="Shape 5"/>
          <p:cNvSpPr/>
          <p:nvPr/>
        </p:nvSpPr>
        <p:spPr>
          <a:xfrm>
            <a:off x="658368" y="2286000"/>
            <a:ext cx="10872216" cy="402336"/>
          </a:xfrm>
          <a:prstGeom prst="roundRect">
            <a:avLst>
              <a:gd name="adj" fmla="val 15909"/>
            </a:avLst>
          </a:prstGeom>
          <a:solidFill>
            <a:srgbClr val="0B1210"/>
          </a:solidFill>
          <a:ln/>
        </p:spPr>
      </p:sp>
      <p:sp>
        <p:nvSpPr>
          <p:cNvPr id="8" name="Text 6"/>
          <p:cNvSpPr/>
          <p:nvPr/>
        </p:nvSpPr>
        <p:spPr>
          <a:xfrm>
            <a:off x="877824" y="2286000"/>
            <a:ext cx="10433304" cy="402336"/>
          </a:xfrm>
          <a:prstGeom prst="rect">
            <a:avLst/>
          </a:prstGeom>
          <a:noFill/>
          <a:ln/>
        </p:spPr>
        <p:txBody>
          <a:bodyPr wrap="square" lIns="0" tIns="0" rIns="0" bIns="0" rtlCol="0" anchor="ctr"/>
          <a:lstStyle/>
          <a:p>
            <a:pPr indent="0" marL="0">
              <a:buNone/>
            </a:pPr>
            <a:r>
              <a:rPr lang="en-US" sz="900" b="1" spc="160" kern="0" dirty="0">
                <a:solidFill>
                  <a:srgbClr val="94A29B"/>
                </a:solidFill>
                <a:latin typeface="Calibri" pitchFamily="34" charset="0"/>
                <a:ea typeface="Calibri" pitchFamily="34" charset="-122"/>
                <a:cs typeface="Calibri" pitchFamily="34" charset="-120"/>
              </a:rPr>
              <a:t>ILLUSTRATIVE GOAL      </a:t>
            </a:r>
            <a:pPr indent="0" marL="0">
              <a:buNone/>
            </a:pPr>
            <a:r>
              <a:rPr lang="en-US" sz="1200" dirty="0">
                <a:solidFill>
                  <a:srgbClr val="FFFFFF"/>
                </a:solidFill>
                <a:latin typeface="Calibri" pitchFamily="34" charset="0"/>
                <a:ea typeface="Calibri" pitchFamily="34" charset="-122"/>
                <a:cs typeface="Calibri" pitchFamily="34" charset="-120"/>
              </a:rPr>
              <a:t>+$600 in the bank inside twelve months</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58368" y="2761488"/>
          <a:ext cx="10872216" cy="914400"/>
        </p:xfrm>
        <a:graphic>
          <a:graphicData uri="http://schemas.openxmlformats.org/drawingml/2006/table">
            <a:tbl>
              <a:tblPr/>
              <a:tblGrid>
                <a:gridCol w="384048"/>
                <a:gridCol w="3657600"/>
                <a:gridCol w="1133856"/>
                <a:gridCol w="914400"/>
                <a:gridCol w="1261872"/>
                <a:gridCol w="1481328"/>
                <a:gridCol w="2075688"/>
              </a:tblGrid>
              <a:tr h="384048">
                <a:tc>
                  <a:txBody>
                    <a:bodyPr/>
                    <a:lstStyle/>
                    <a:p>
                      <a:pPr algn="ctr" indent="0" marL="0">
                        <a:buNone/>
                      </a:pPr>
                      <a:r>
                        <a:rPr lang="en-US" sz="800" b="1" spc="110" kern="0" dirty="0">
                          <a:solidFill>
                            <a:srgbClr val="FFFFFF"/>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l" indent="0" marL="0">
                        <a:buNone/>
                      </a:pPr>
                      <a:r>
                        <a:rPr lang="en-US" sz="800" b="1" spc="110" kern="0" dirty="0">
                          <a:solidFill>
                            <a:srgbClr val="FFFFFF"/>
                          </a:solidFill>
                          <a:latin typeface="Calibri" pitchFamily="34" charset="0"/>
                          <a:ea typeface="Calibri" pitchFamily="34" charset="-122"/>
                          <a:cs typeface="Calibri" pitchFamily="34" charset="-120"/>
                        </a:rPr>
                        <a:t>ROUTE</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l" indent="0" marL="0">
                        <a:buNone/>
                      </a:pPr>
                      <a:r>
                        <a:rPr lang="en-US" sz="800" b="1" spc="110" kern="0" dirty="0">
                          <a:solidFill>
                            <a:srgbClr val="FFFFFF"/>
                          </a:solidFill>
                          <a:latin typeface="Calibri" pitchFamily="34" charset="0"/>
                          <a:ea typeface="Calibri" pitchFamily="34" charset="-122"/>
                          <a:cs typeface="Calibri" pitchFamily="34" charset="-120"/>
                        </a:rPr>
                        <a:t>SIDE</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r" indent="0" marL="0">
                        <a:buNone/>
                      </a:pPr>
                      <a:r>
                        <a:rPr lang="en-US" sz="800" b="1" spc="110" kern="0" dirty="0">
                          <a:solidFill>
                            <a:srgbClr val="FFFFFF"/>
                          </a:solidFill>
                          <a:latin typeface="Calibri" pitchFamily="34" charset="0"/>
                          <a:ea typeface="Calibri" pitchFamily="34" charset="-122"/>
                          <a:cs typeface="Calibri" pitchFamily="34" charset="-120"/>
                        </a:rPr>
                        <a:t>NET / YR</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r" indent="0" marL="0">
                        <a:buNone/>
                      </a:pPr>
                      <a:r>
                        <a:rPr lang="en-US" sz="800" b="1" spc="110" kern="0" dirty="0">
                          <a:solidFill>
                            <a:srgbClr val="FFFFFF"/>
                          </a:solidFill>
                          <a:latin typeface="Calibri" pitchFamily="34" charset="0"/>
                          <a:ea typeface="Calibri" pitchFamily="34" charset="-122"/>
                          <a:cs typeface="Calibri" pitchFamily="34" charset="-120"/>
                        </a:rPr>
                        <a:t>CAPITAL AT RISK</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l" indent="0" marL="0">
                        <a:buNone/>
                      </a:pPr>
                      <a:r>
                        <a:rPr lang="en-US" sz="800" b="1" spc="110" kern="0" dirty="0">
                          <a:solidFill>
                            <a:srgbClr val="FFFFFF"/>
                          </a:solidFill>
                          <a:latin typeface="Calibri" pitchFamily="34" charset="0"/>
                          <a:ea typeface="Calibri" pitchFamily="34" charset="-122"/>
                          <a:cs typeface="Calibri" pitchFamily="34" charset="-120"/>
                        </a:rPr>
                        <a:t>CONFIDENCE</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l" indent="0" marL="0">
                        <a:buNone/>
                      </a:pPr>
                      <a:r>
                        <a:rPr lang="en-US" sz="800" b="1" spc="110" kern="0" dirty="0">
                          <a:solidFill>
                            <a:srgbClr val="FFFFFF"/>
                          </a:solidFill>
                          <a:latin typeface="Calibri" pitchFamily="34" charset="0"/>
                          <a:ea typeface="Calibri" pitchFamily="34" charset="-122"/>
                          <a:cs typeface="Calibri" pitchFamily="34" charset="-120"/>
                        </a:rPr>
                        <a:t>THE CATCH</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r>
              <a:tr h="384048">
                <a:tc>
                  <a:txBody>
                    <a:bodyPr/>
                    <a:lstStyle/>
                    <a:p>
                      <a:pPr algn="ctr" indent="0" marL="0">
                        <a:buNone/>
                      </a:pPr>
                      <a:r>
                        <a:rPr lang="en-US" sz="1000" b="1" dirty="0">
                          <a:solidFill>
                            <a:srgbClr val="0B121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Cancel $50/month of unused recurring spend</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00" b="1" dirty="0">
                          <a:solidFill>
                            <a:srgbClr val="0A5C3E"/>
                          </a:solidFill>
                          <a:latin typeface="Calibri" pitchFamily="34" charset="0"/>
                          <a:ea typeface="Calibri" pitchFamily="34" charset="-122"/>
                          <a:cs typeface="Calibri" pitchFamily="34" charset="-120"/>
                        </a:rPr>
                        <a:t>Keep more</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1000" dirty="0">
                          <a:solidFill>
                            <a:srgbClr val="44534C"/>
                          </a:solidFill>
                          <a:latin typeface="Calibri" pitchFamily="34" charset="0"/>
                          <a:ea typeface="Calibri" pitchFamily="34" charset="-122"/>
                          <a:cs typeface="Calibri" pitchFamily="34" charset="-120"/>
                        </a:rPr>
                        <a:t>+$600</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1000" dirty="0">
                          <a:solidFill>
                            <a:srgbClr val="44534C"/>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Very high</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Only if the cancellation sticks</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r>
              <a:tr h="384048">
                <a:tc>
                  <a:txBody>
                    <a:bodyPr/>
                    <a:lstStyle/>
                    <a:p>
                      <a:pPr algn="ctr" indent="0" marL="0">
                        <a:buNone/>
                      </a:pPr>
                      <a:r>
                        <a:rPr lang="en-US" sz="1000" b="1" dirty="0">
                          <a:solidFill>
                            <a:srgbClr val="0B121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Move $2,000 to a 4.2% account</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Earn</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44534C"/>
                          </a:solidFill>
                          <a:latin typeface="Calibri" pitchFamily="34" charset="0"/>
                          <a:ea typeface="Calibri" pitchFamily="34" charset="-122"/>
                          <a:cs typeface="Calibri" pitchFamily="34" charset="-120"/>
                        </a:rPr>
                        <a:t>+$84</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44534C"/>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Very high</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The rate can be cut at any time</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r>
              <a:tr h="384048">
                <a:tc>
                  <a:txBody>
                    <a:bodyPr/>
                    <a:lstStyle/>
                    <a:p>
                      <a:pPr algn="ctr" indent="0" marL="0">
                        <a:buNone/>
                      </a:pPr>
                      <a:r>
                        <a:rPr lang="en-US" sz="1000" b="1" dirty="0">
                          <a:solidFill>
                            <a:srgbClr val="0B121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3% category card on $2,000 of fuel</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00" b="1" dirty="0">
                          <a:solidFill>
                            <a:srgbClr val="0A5C3E"/>
                          </a:solidFill>
                          <a:latin typeface="Calibri" pitchFamily="34" charset="0"/>
                          <a:ea typeface="Calibri" pitchFamily="34" charset="-122"/>
                          <a:cs typeface="Calibri" pitchFamily="34" charset="-120"/>
                        </a:rPr>
                        <a:t>Keep more</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1000" dirty="0">
                          <a:solidFill>
                            <a:srgbClr val="44534C"/>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1000" dirty="0">
                          <a:solidFill>
                            <a:srgbClr val="44534C"/>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Worthless if the balance revolves</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r>
              <a:tr h="384048">
                <a:tc>
                  <a:txBody>
                    <a:bodyPr/>
                    <a:lstStyle/>
                    <a:p>
                      <a:pPr algn="ctr" indent="0" marL="0">
                        <a:buNone/>
                      </a:pPr>
                      <a:r>
                        <a:rPr lang="en-US" sz="1000" b="1" dirty="0">
                          <a:solidFill>
                            <a:srgbClr val="0B121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Stop one $35 overdraft a quarter</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A5C3E"/>
                          </a:solidFill>
                          <a:latin typeface="Calibri" pitchFamily="34" charset="0"/>
                          <a:ea typeface="Calibri" pitchFamily="34" charset="-122"/>
                          <a:cs typeface="Calibri" pitchFamily="34" charset="-120"/>
                        </a:rPr>
                        <a:t>Keep more</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44534C"/>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44534C"/>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Needs a buffer, not just an alert</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r>
              <a:tr h="384048">
                <a:tc>
                  <a:txBody>
                    <a:bodyPr/>
                    <a:lstStyle/>
                    <a:p>
                      <a:pPr algn="ctr" indent="0" marL="0">
                        <a:buNone/>
                      </a:pPr>
                      <a:r>
                        <a:rPr lang="en-US" sz="1000" b="1" dirty="0">
                          <a:solidFill>
                            <a:srgbClr val="0B121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Broad-market ETF held twelve months</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Earn</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1000" dirty="0">
                          <a:solidFill>
                            <a:srgbClr val="44534C"/>
                          </a:solidFill>
                          <a:latin typeface="Calibri" pitchFamily="34" charset="0"/>
                          <a:ea typeface="Calibri" pitchFamily="34" charset="-122"/>
                          <a:cs typeface="Calibri" pitchFamily="34" charset="-120"/>
                        </a:rPr>
                        <a:t>Variable</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r" indent="0" marL="0">
                        <a:buNone/>
                      </a:pPr>
                      <a:r>
                        <a:rPr lang="en-US" sz="1000" dirty="0">
                          <a:solidFill>
                            <a:srgbClr val="44534C"/>
                          </a:solidFill>
                          <a:latin typeface="Calibri" pitchFamily="34" charset="0"/>
                          <a:ea typeface="Calibri" pitchFamily="34" charset="-122"/>
                          <a:cs typeface="Calibri" pitchFamily="34" charset="-120"/>
                        </a:rPr>
                        <a:t>$5,000</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~38.7%</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Full stake exposed the whole year</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r>
              <a:tr h="384048">
                <a:tc>
                  <a:txBody>
                    <a:bodyPr/>
                    <a:lstStyle/>
                    <a:p>
                      <a:pPr algn="ctr" indent="0" marL="0">
                        <a:buNone/>
                      </a:pPr>
                      <a:r>
                        <a:rPr lang="en-US" sz="1000" b="1" dirty="0">
                          <a:solidFill>
                            <a:srgbClr val="0B121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Ranked prediction-market route</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Earn</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44534C"/>
                          </a:solidFill>
                          <a:latin typeface="Calibri" pitchFamily="34" charset="0"/>
                          <a:ea typeface="Calibri" pitchFamily="34" charset="-122"/>
                          <a:cs typeface="Calibri" pitchFamily="34" charset="-120"/>
                        </a:rPr>
                        <a:t>Variable</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44534C"/>
                          </a:solidFill>
                          <a:latin typeface="Calibri" pitchFamily="34" charset="0"/>
                          <a:ea typeface="Calibri" pitchFamily="34" charset="-122"/>
                          <a:cs typeface="Calibri" pitchFamily="34" charset="-120"/>
                        </a:rPr>
                        <a:t>Stake</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Priced by the market</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4534C"/>
                          </a:solidFill>
                          <a:latin typeface="Calibri" pitchFamily="34" charset="0"/>
                          <a:ea typeface="Calibri" pitchFamily="34" charset="-122"/>
                          <a:cs typeface="Calibri" pitchFamily="34" charset="-120"/>
                        </a:rPr>
                        <a:t>All-or-nothing on the stake</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r>
            </a:tbl>
          </a:graphicData>
        </a:graphic>
      </p:graphicFrame>
      <p:sp>
        <p:nvSpPr>
          <p:cNvPr id="10" name="Text 7"/>
          <p:cNvSpPr/>
          <p:nvPr/>
        </p:nvSpPr>
        <p:spPr>
          <a:xfrm>
            <a:off x="658368" y="5577840"/>
            <a:ext cx="10872216" cy="420624"/>
          </a:xfrm>
          <a:prstGeom prst="rect">
            <a:avLst/>
          </a:prstGeom>
          <a:noFill/>
          <a:ln/>
        </p:spPr>
        <p:txBody>
          <a:bodyPr wrap="square" lIns="0" tIns="0" rIns="0" bIns="0" rtlCol="0" anchor="t"/>
          <a:lstStyle/>
          <a:p>
            <a:pPr indent="0" marL="0">
              <a:lnSpc>
                <a:spcPct val="118000"/>
              </a:lnSpc>
              <a:buNone/>
            </a:pPr>
            <a:r>
              <a:rPr lang="en-US" sz="1150" dirty="0">
                <a:solidFill>
                  <a:srgbClr val="0B1210"/>
                </a:solidFill>
                <a:latin typeface="Calibri" pitchFamily="34" charset="0"/>
                <a:ea typeface="Calibri" pitchFamily="34" charset="-122"/>
                <a:cs typeface="Calibri" pitchFamily="34" charset="-120"/>
              </a:rPr>
              <a:t>Four of the top four are on the side of the equation the product cannot see yet. That is the argument for bank data in one sentence.</a:t>
            </a:r>
            <a:endParaRPr lang="en-US" sz="1150" dirty="0"/>
          </a:p>
        </p:txBody>
      </p:sp>
      <p:sp>
        <p:nvSpPr>
          <p:cNvPr id="11" name="Text 8"/>
          <p:cNvSpPr/>
          <p:nvPr/>
        </p:nvSpPr>
        <p:spPr>
          <a:xfrm>
            <a:off x="658368" y="5943600"/>
            <a:ext cx="10872216" cy="329184"/>
          </a:xfrm>
          <a:prstGeom prst="rect">
            <a:avLst/>
          </a:prstGeom>
          <a:noFill/>
          <a:ln/>
        </p:spPr>
        <p:txBody>
          <a:bodyPr wrap="square" lIns="0" tIns="0" rIns="0" bIns="0" rtlCol="0" anchor="t"/>
          <a:lstStyle/>
          <a:p>
            <a:pPr indent="0" marL="0">
              <a:lnSpc>
                <a:spcPct val="115000"/>
              </a:lnSpc>
              <a:buNone/>
            </a:pPr>
            <a:r>
              <a:rPr lang="en-US" sz="950" dirty="0">
                <a:solidFill>
                  <a:srgbClr val="94A29B"/>
                </a:solidFill>
                <a:latin typeface="Calibri" pitchFamily="34" charset="0"/>
                <a:ea typeface="Calibri" pitchFamily="34" charset="-122"/>
                <a:cs typeface="Calibri" pitchFamily="34" charset="-120"/>
              </a:rPr>
              <a:t>Illustrative arithmetic, not a recommendation. Card value has to be shown net of interest and fees — the CFPB's own reporting documents how routinely rewards complexity, devaluation and revolving interest erase the reward entirely.</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18</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05.04  ·  THE SEQUENCE</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What the money buys, in order.</a:t>
            </a:r>
            <a:endParaRPr lang="en-US" sz="3000" dirty="0"/>
          </a:p>
        </p:txBody>
      </p:sp>
      <p:sp>
        <p:nvSpPr>
          <p:cNvPr id="6" name="Text 4"/>
          <p:cNvSpPr/>
          <p:nvPr/>
        </p:nvSpPr>
        <p:spPr>
          <a:xfrm>
            <a:off x="658368" y="1371600"/>
            <a:ext cx="9692640" cy="292608"/>
          </a:xfrm>
          <a:prstGeom prst="rect">
            <a:avLst/>
          </a:prstGeom>
          <a:noFill/>
          <a:ln/>
        </p:spPr>
        <p:txBody>
          <a:bodyPr wrap="square" lIns="0" tIns="0" rIns="0" bIns="0" rtlCol="0" anchor="t"/>
          <a:lstStyle/>
          <a:p>
            <a:pPr indent="0" marL="0">
              <a:lnSpc>
                <a:spcPct val="122000"/>
              </a:lnSpc>
              <a:buNone/>
            </a:pPr>
            <a:r>
              <a:rPr lang="en-US" sz="1300" dirty="0">
                <a:solidFill>
                  <a:srgbClr val="44534C"/>
                </a:solidFill>
                <a:latin typeface="Calibri" pitchFamily="34" charset="0"/>
                <a:ea typeface="Calibri" pitchFamily="34" charset="-122"/>
                <a:cs typeface="Calibri" pitchFamily="34" charset="-120"/>
              </a:rPr>
              <a:t>Demand evidence and calibration come before bank data — deliberately. Linking accounts on top of an unproven number is how a trust product dies.</a:t>
            </a:r>
            <a:endParaRPr lang="en-US" sz="1300" dirty="0"/>
          </a:p>
        </p:txBody>
      </p:sp>
      <p:sp>
        <p:nvSpPr>
          <p:cNvPr id="7" name="Shape 5"/>
          <p:cNvSpPr/>
          <p:nvPr/>
        </p:nvSpPr>
        <p:spPr>
          <a:xfrm>
            <a:off x="841248" y="2249424"/>
            <a:ext cx="10506456" cy="0"/>
          </a:xfrm>
          <a:prstGeom prst="line">
            <a:avLst/>
          </a:prstGeom>
          <a:noFill/>
          <a:ln w="12700">
            <a:solidFill>
              <a:srgbClr val="DCE3DF"/>
            </a:solidFill>
            <a:prstDash val="solid"/>
          </a:ln>
        </p:spPr>
      </p:sp>
      <p:sp>
        <p:nvSpPr>
          <p:cNvPr id="8" name="Shape 6"/>
          <p:cNvSpPr/>
          <p:nvPr/>
        </p:nvSpPr>
        <p:spPr>
          <a:xfrm>
            <a:off x="786384" y="2139696"/>
            <a:ext cx="219456" cy="219456"/>
          </a:xfrm>
          <a:prstGeom prst="ellipse">
            <a:avLst/>
          </a:prstGeom>
          <a:solidFill>
            <a:srgbClr val="0A5C3E"/>
          </a:solidFill>
          <a:ln w="25400">
            <a:solidFill>
              <a:srgbClr val="FFFFFF"/>
            </a:solidFill>
            <a:prstDash val="solid"/>
          </a:ln>
        </p:spPr>
      </p:sp>
      <p:sp>
        <p:nvSpPr>
          <p:cNvPr id="9" name="Text 7"/>
          <p:cNvSpPr/>
          <p:nvPr/>
        </p:nvSpPr>
        <p:spPr>
          <a:xfrm>
            <a:off x="1115568" y="2139696"/>
            <a:ext cx="2178558" cy="219456"/>
          </a:xfrm>
          <a:prstGeom prst="rect">
            <a:avLst/>
          </a:prstGeom>
          <a:noFill/>
          <a:ln/>
        </p:spPr>
        <p:txBody>
          <a:bodyPr wrap="square" lIns="0" tIns="0" rIns="0" bIns="0" rtlCol="0" anchor="ctr"/>
          <a:lstStyle/>
          <a:p>
            <a:pPr algn="l" indent="0" marL="0">
              <a:buNone/>
            </a:pPr>
            <a:r>
              <a:rPr lang="en-US" sz="800" b="1" spc="140" kern="0" dirty="0">
                <a:solidFill>
                  <a:srgbClr val="6C7C74"/>
                </a:solidFill>
                <a:latin typeface="Calibri" pitchFamily="34" charset="0"/>
                <a:ea typeface="Calibri" pitchFamily="34" charset="-122"/>
                <a:cs typeface="Calibri" pitchFamily="34" charset="-120"/>
              </a:rPr>
              <a:t>NOW</a:t>
            </a:r>
            <a:endParaRPr lang="en-US" sz="800" dirty="0"/>
          </a:p>
        </p:txBody>
      </p:sp>
      <p:sp>
        <p:nvSpPr>
          <p:cNvPr id="10" name="Shape 8"/>
          <p:cNvSpPr/>
          <p:nvPr/>
        </p:nvSpPr>
        <p:spPr>
          <a:xfrm>
            <a:off x="658368" y="2523744"/>
            <a:ext cx="2635758" cy="3017520"/>
          </a:xfrm>
          <a:prstGeom prst="roundRect">
            <a:avLst>
              <a:gd name="adj" fmla="val 3122"/>
            </a:avLst>
          </a:prstGeom>
          <a:solidFill>
            <a:srgbClr val="E6F4EE"/>
          </a:solidFill>
          <a:ln/>
        </p:spPr>
      </p:sp>
      <p:sp>
        <p:nvSpPr>
          <p:cNvPr id="11" name="Shape 9"/>
          <p:cNvSpPr/>
          <p:nvPr/>
        </p:nvSpPr>
        <p:spPr>
          <a:xfrm>
            <a:off x="841248" y="2706624"/>
            <a:ext cx="1481328" cy="228600"/>
          </a:xfrm>
          <a:prstGeom prst="roundRect">
            <a:avLst>
              <a:gd name="adj" fmla="val 50000"/>
            </a:avLst>
          </a:prstGeom>
          <a:solidFill>
            <a:srgbClr val="FFFFFF"/>
          </a:solidFill>
          <a:ln/>
        </p:spPr>
      </p:sp>
      <p:sp>
        <p:nvSpPr>
          <p:cNvPr id="12" name="Text 10"/>
          <p:cNvSpPr/>
          <p:nvPr/>
        </p:nvSpPr>
        <p:spPr>
          <a:xfrm>
            <a:off x="841248" y="2706624"/>
            <a:ext cx="1481328" cy="228600"/>
          </a:xfrm>
          <a:prstGeom prst="rect">
            <a:avLst/>
          </a:prstGeom>
          <a:noFill/>
          <a:ln/>
        </p:spPr>
        <p:txBody>
          <a:bodyPr wrap="square" lIns="0" tIns="0" rIns="0" bIns="0" rtlCol="0" anchor="ctr"/>
          <a:lstStyle/>
          <a:p>
            <a:pPr algn="ctr" indent="0" marL="0">
              <a:buNone/>
            </a:pPr>
            <a:r>
              <a:rPr lang="en-US" sz="750" b="1" spc="130" kern="0" dirty="0">
                <a:solidFill>
                  <a:srgbClr val="0A5C3E"/>
                </a:solidFill>
                <a:latin typeface="Calibri" pitchFamily="34" charset="0"/>
                <a:ea typeface="Calibri" pitchFamily="34" charset="-122"/>
                <a:cs typeface="Calibri" pitchFamily="34" charset="-120"/>
              </a:rPr>
              <a:t>SHIPPED</a:t>
            </a:r>
            <a:endParaRPr lang="en-US" sz="750" dirty="0"/>
          </a:p>
        </p:txBody>
      </p:sp>
      <p:sp>
        <p:nvSpPr>
          <p:cNvPr id="13" name="Shape 11"/>
          <p:cNvSpPr/>
          <p:nvPr/>
        </p:nvSpPr>
        <p:spPr>
          <a:xfrm>
            <a:off x="841248" y="3209544"/>
            <a:ext cx="64008" cy="64008"/>
          </a:xfrm>
          <a:prstGeom prst="rect">
            <a:avLst/>
          </a:prstGeom>
          <a:solidFill>
            <a:srgbClr val="0A5C3E"/>
          </a:solidFill>
          <a:ln/>
        </p:spPr>
      </p:sp>
      <p:sp>
        <p:nvSpPr>
          <p:cNvPr id="14" name="Text 12"/>
          <p:cNvSpPr/>
          <p:nvPr/>
        </p:nvSpPr>
        <p:spPr>
          <a:xfrm>
            <a:off x="1005840" y="3127248"/>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Goal setup and ranked routes</a:t>
            </a:r>
            <a:endParaRPr lang="en-US" sz="1000" dirty="0"/>
          </a:p>
        </p:txBody>
      </p:sp>
      <p:sp>
        <p:nvSpPr>
          <p:cNvPr id="15" name="Shape 13"/>
          <p:cNvSpPr/>
          <p:nvPr/>
        </p:nvSpPr>
        <p:spPr>
          <a:xfrm>
            <a:off x="841248" y="3721608"/>
            <a:ext cx="64008" cy="64008"/>
          </a:xfrm>
          <a:prstGeom prst="rect">
            <a:avLst/>
          </a:prstGeom>
          <a:solidFill>
            <a:srgbClr val="0A5C3E"/>
          </a:solidFill>
          <a:ln/>
        </p:spPr>
      </p:sp>
      <p:sp>
        <p:nvSpPr>
          <p:cNvPr id="16" name="Text 14"/>
          <p:cNvSpPr/>
          <p:nvPr/>
        </p:nvSpPr>
        <p:spPr>
          <a:xfrm>
            <a:off x="1005840" y="3639312"/>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Three probability methods, live</a:t>
            </a:r>
            <a:endParaRPr lang="en-US" sz="1000" dirty="0"/>
          </a:p>
        </p:txBody>
      </p:sp>
      <p:sp>
        <p:nvSpPr>
          <p:cNvPr id="17" name="Shape 15"/>
          <p:cNvSpPr/>
          <p:nvPr/>
        </p:nvSpPr>
        <p:spPr>
          <a:xfrm>
            <a:off x="841248" y="4233672"/>
            <a:ext cx="64008" cy="64008"/>
          </a:xfrm>
          <a:prstGeom prst="rect">
            <a:avLst/>
          </a:prstGeom>
          <a:solidFill>
            <a:srgbClr val="0A5C3E"/>
          </a:solidFill>
          <a:ln/>
        </p:spPr>
      </p:sp>
      <p:sp>
        <p:nvSpPr>
          <p:cNvPr id="18" name="Text 16"/>
          <p:cNvSpPr/>
          <p:nvPr/>
        </p:nvSpPr>
        <p:spPr>
          <a:xfrm>
            <a:off x="1005840" y="4151376"/>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Score breakdown on every route</a:t>
            </a:r>
            <a:endParaRPr lang="en-US" sz="1000" dirty="0"/>
          </a:p>
        </p:txBody>
      </p:sp>
      <p:sp>
        <p:nvSpPr>
          <p:cNvPr id="19" name="Shape 17"/>
          <p:cNvSpPr/>
          <p:nvPr/>
        </p:nvSpPr>
        <p:spPr>
          <a:xfrm>
            <a:off x="841248" y="4745736"/>
            <a:ext cx="64008" cy="64008"/>
          </a:xfrm>
          <a:prstGeom prst="rect">
            <a:avLst/>
          </a:prstGeom>
          <a:solidFill>
            <a:srgbClr val="0A5C3E"/>
          </a:solidFill>
          <a:ln/>
        </p:spPr>
      </p:sp>
      <p:sp>
        <p:nvSpPr>
          <p:cNvPr id="20" name="Text 18"/>
          <p:cNvSpPr/>
          <p:nvPr/>
        </p:nvSpPr>
        <p:spPr>
          <a:xfrm>
            <a:off x="1005840" y="4663440"/>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Auth, $9.99/mo, share-to-unlock</a:t>
            </a:r>
            <a:endParaRPr lang="en-US" sz="1000" dirty="0"/>
          </a:p>
        </p:txBody>
      </p:sp>
      <p:sp>
        <p:nvSpPr>
          <p:cNvPr id="21" name="Text 19"/>
          <p:cNvSpPr/>
          <p:nvPr/>
        </p:nvSpPr>
        <p:spPr>
          <a:xfrm>
            <a:off x="841248" y="5029200"/>
            <a:ext cx="1371600" cy="164592"/>
          </a:xfrm>
          <a:prstGeom prst="rect">
            <a:avLst/>
          </a:prstGeom>
          <a:noFill/>
          <a:ln/>
        </p:spPr>
        <p:txBody>
          <a:bodyPr wrap="square" lIns="0" tIns="0" rIns="0" bIns="0" rtlCol="0" anchor="ctr"/>
          <a:lstStyle/>
          <a:p>
            <a:pPr algn="l" indent="0" marL="0">
              <a:buNone/>
            </a:pPr>
            <a:r>
              <a:rPr lang="en-US" sz="750" b="1" spc="140" kern="0" dirty="0">
                <a:solidFill>
                  <a:srgbClr val="94A29B"/>
                </a:solidFill>
                <a:latin typeface="Calibri" pitchFamily="34" charset="0"/>
                <a:ea typeface="Calibri" pitchFamily="34" charset="-122"/>
                <a:cs typeface="Calibri" pitchFamily="34" charset="-120"/>
              </a:rPr>
              <a:t>PROVES</a:t>
            </a:r>
            <a:endParaRPr lang="en-US" sz="750" dirty="0"/>
          </a:p>
        </p:txBody>
      </p:sp>
      <p:sp>
        <p:nvSpPr>
          <p:cNvPr id="22" name="Text 20"/>
          <p:cNvSpPr/>
          <p:nvPr/>
        </p:nvSpPr>
        <p:spPr>
          <a:xfrm>
            <a:off x="841248" y="5212080"/>
            <a:ext cx="2269998" cy="457200"/>
          </a:xfrm>
          <a:prstGeom prst="rect">
            <a:avLst/>
          </a:prstGeom>
          <a:noFill/>
          <a:ln/>
        </p:spPr>
        <p:txBody>
          <a:bodyPr wrap="square" lIns="0" tIns="0" rIns="0" bIns="0" rtlCol="0" anchor="t"/>
          <a:lstStyle/>
          <a:p>
            <a:pPr algn="l" indent="0" marL="0">
              <a:lnSpc>
                <a:spcPct val="120000"/>
              </a:lnSpc>
              <a:buNone/>
            </a:pPr>
            <a:r>
              <a:rPr lang="en-US" sz="950" i="1" dirty="0">
                <a:solidFill>
                  <a:srgbClr val="0B1210"/>
                </a:solidFill>
                <a:latin typeface="Calibri" pitchFamily="34" charset="0"/>
                <a:ea typeface="Calibri" pitchFamily="34" charset="-122"/>
                <a:cs typeface="Calibri" pitchFamily="34" charset="-120"/>
              </a:rPr>
              <a:t>The honest answer can be built.</a:t>
            </a:r>
            <a:endParaRPr lang="en-US" sz="950" dirty="0"/>
          </a:p>
        </p:txBody>
      </p:sp>
      <p:sp>
        <p:nvSpPr>
          <p:cNvPr id="23" name="Shape 21"/>
          <p:cNvSpPr/>
          <p:nvPr/>
        </p:nvSpPr>
        <p:spPr>
          <a:xfrm>
            <a:off x="3531870" y="2139696"/>
            <a:ext cx="219456" cy="219456"/>
          </a:xfrm>
          <a:prstGeom prst="ellipse">
            <a:avLst/>
          </a:prstGeom>
          <a:solidFill>
            <a:srgbClr val="0B1210"/>
          </a:solidFill>
          <a:ln w="25400">
            <a:solidFill>
              <a:srgbClr val="FFFFFF"/>
            </a:solidFill>
            <a:prstDash val="solid"/>
          </a:ln>
        </p:spPr>
      </p:sp>
      <p:sp>
        <p:nvSpPr>
          <p:cNvPr id="24" name="Text 22"/>
          <p:cNvSpPr/>
          <p:nvPr/>
        </p:nvSpPr>
        <p:spPr>
          <a:xfrm>
            <a:off x="3861054" y="2139696"/>
            <a:ext cx="2178558" cy="219456"/>
          </a:xfrm>
          <a:prstGeom prst="rect">
            <a:avLst/>
          </a:prstGeom>
          <a:noFill/>
          <a:ln/>
        </p:spPr>
        <p:txBody>
          <a:bodyPr wrap="square" lIns="0" tIns="0" rIns="0" bIns="0" rtlCol="0" anchor="ctr"/>
          <a:lstStyle/>
          <a:p>
            <a:pPr algn="l" indent="0" marL="0">
              <a:buNone/>
            </a:pPr>
            <a:r>
              <a:rPr lang="en-US" sz="800" b="1" spc="140" kern="0" dirty="0">
                <a:solidFill>
                  <a:srgbClr val="6C7C74"/>
                </a:solidFill>
                <a:latin typeface="Calibri" pitchFamily="34" charset="0"/>
                <a:ea typeface="Calibri" pitchFamily="34" charset="-122"/>
                <a:cs typeface="Calibri" pitchFamily="34" charset="-120"/>
              </a:rPr>
              <a:t>0–3 MONTHS</a:t>
            </a:r>
            <a:endParaRPr lang="en-US" sz="800" dirty="0"/>
          </a:p>
        </p:txBody>
      </p:sp>
      <p:sp>
        <p:nvSpPr>
          <p:cNvPr id="25" name="Shape 23"/>
          <p:cNvSpPr/>
          <p:nvPr/>
        </p:nvSpPr>
        <p:spPr>
          <a:xfrm>
            <a:off x="3403854" y="2523744"/>
            <a:ext cx="2635758" cy="3017520"/>
          </a:xfrm>
          <a:prstGeom prst="roundRect">
            <a:avLst>
              <a:gd name="adj" fmla="val 3122"/>
            </a:avLst>
          </a:prstGeom>
          <a:solidFill>
            <a:srgbClr val="F2F5F3"/>
          </a:solidFill>
          <a:ln/>
        </p:spPr>
      </p:sp>
      <p:sp>
        <p:nvSpPr>
          <p:cNvPr id="26" name="Shape 24"/>
          <p:cNvSpPr/>
          <p:nvPr/>
        </p:nvSpPr>
        <p:spPr>
          <a:xfrm>
            <a:off x="3586734" y="2706624"/>
            <a:ext cx="1481328" cy="228600"/>
          </a:xfrm>
          <a:prstGeom prst="roundRect">
            <a:avLst>
              <a:gd name="adj" fmla="val 50000"/>
            </a:avLst>
          </a:prstGeom>
          <a:solidFill>
            <a:srgbClr val="FFFFFF"/>
          </a:solidFill>
          <a:ln/>
        </p:spPr>
      </p:sp>
      <p:sp>
        <p:nvSpPr>
          <p:cNvPr id="27" name="Text 25"/>
          <p:cNvSpPr/>
          <p:nvPr/>
        </p:nvSpPr>
        <p:spPr>
          <a:xfrm>
            <a:off x="3586734" y="2706624"/>
            <a:ext cx="1481328" cy="228600"/>
          </a:xfrm>
          <a:prstGeom prst="rect">
            <a:avLst/>
          </a:prstGeom>
          <a:noFill/>
          <a:ln/>
        </p:spPr>
        <p:txBody>
          <a:bodyPr wrap="square" lIns="0" tIns="0" rIns="0" bIns="0" rtlCol="0" anchor="ctr"/>
          <a:lstStyle/>
          <a:p>
            <a:pPr algn="ctr" indent="0" marL="0">
              <a:buNone/>
            </a:pPr>
            <a:r>
              <a:rPr lang="en-US" sz="750" b="1" spc="130" kern="0" dirty="0">
                <a:solidFill>
                  <a:srgbClr val="0B1210"/>
                </a:solidFill>
                <a:latin typeface="Calibri" pitchFamily="34" charset="0"/>
                <a:ea typeface="Calibri" pitchFamily="34" charset="-122"/>
                <a:cs typeface="Calibri" pitchFamily="34" charset="-120"/>
              </a:rPr>
              <a:t>PROVE DEMAND</a:t>
            </a:r>
            <a:endParaRPr lang="en-US" sz="750" dirty="0"/>
          </a:p>
        </p:txBody>
      </p:sp>
      <p:sp>
        <p:nvSpPr>
          <p:cNvPr id="28" name="Shape 26"/>
          <p:cNvSpPr/>
          <p:nvPr/>
        </p:nvSpPr>
        <p:spPr>
          <a:xfrm>
            <a:off x="3586734" y="3209544"/>
            <a:ext cx="64008" cy="64008"/>
          </a:xfrm>
          <a:prstGeom prst="rect">
            <a:avLst/>
          </a:prstGeom>
          <a:solidFill>
            <a:srgbClr val="0B1210"/>
          </a:solidFill>
          <a:ln/>
        </p:spPr>
      </p:sp>
      <p:sp>
        <p:nvSpPr>
          <p:cNvPr id="29" name="Text 27"/>
          <p:cNvSpPr/>
          <p:nvPr/>
        </p:nvSpPr>
        <p:spPr>
          <a:xfrm>
            <a:off x="3751326" y="3127248"/>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10 paying users who renew once</a:t>
            </a:r>
            <a:endParaRPr lang="en-US" sz="1000" dirty="0"/>
          </a:p>
        </p:txBody>
      </p:sp>
      <p:sp>
        <p:nvSpPr>
          <p:cNvPr id="30" name="Shape 28"/>
          <p:cNvSpPr/>
          <p:nvPr/>
        </p:nvSpPr>
        <p:spPr>
          <a:xfrm>
            <a:off x="3586734" y="3721608"/>
            <a:ext cx="64008" cy="64008"/>
          </a:xfrm>
          <a:prstGeom prst="rect">
            <a:avLst/>
          </a:prstGeom>
          <a:solidFill>
            <a:srgbClr val="0B1210"/>
          </a:solidFill>
          <a:ln/>
        </p:spPr>
      </p:sp>
      <p:sp>
        <p:nvSpPr>
          <p:cNvPr id="31" name="Text 29"/>
          <p:cNvSpPr/>
          <p:nvPr/>
        </p:nvSpPr>
        <p:spPr>
          <a:xfrm>
            <a:off x="3751326" y="3639312"/>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Calibration back-test on real outcomes</a:t>
            </a:r>
            <a:endParaRPr lang="en-US" sz="1000" dirty="0"/>
          </a:p>
        </p:txBody>
      </p:sp>
      <p:sp>
        <p:nvSpPr>
          <p:cNvPr id="32" name="Shape 30"/>
          <p:cNvSpPr/>
          <p:nvPr/>
        </p:nvSpPr>
        <p:spPr>
          <a:xfrm>
            <a:off x="3586734" y="4233672"/>
            <a:ext cx="64008" cy="64008"/>
          </a:xfrm>
          <a:prstGeom prst="rect">
            <a:avLst/>
          </a:prstGeom>
          <a:solidFill>
            <a:srgbClr val="0B1210"/>
          </a:solidFill>
          <a:ln/>
        </p:spPr>
      </p:sp>
      <p:sp>
        <p:nvSpPr>
          <p:cNvPr id="33" name="Text 31"/>
          <p:cNvSpPr/>
          <p:nvPr/>
        </p:nvSpPr>
        <p:spPr>
          <a:xfrm>
            <a:off x="3751326" y="4151376"/>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Publish the calibration record</a:t>
            </a:r>
            <a:endParaRPr lang="en-US" sz="1000" dirty="0"/>
          </a:p>
        </p:txBody>
      </p:sp>
      <p:sp>
        <p:nvSpPr>
          <p:cNvPr id="34" name="Shape 32"/>
          <p:cNvSpPr/>
          <p:nvPr/>
        </p:nvSpPr>
        <p:spPr>
          <a:xfrm>
            <a:off x="3586734" y="4745736"/>
            <a:ext cx="64008" cy="64008"/>
          </a:xfrm>
          <a:prstGeom prst="rect">
            <a:avLst/>
          </a:prstGeom>
          <a:solidFill>
            <a:srgbClr val="0B1210"/>
          </a:solidFill>
          <a:ln/>
        </p:spPr>
      </p:sp>
      <p:sp>
        <p:nvSpPr>
          <p:cNvPr id="35" name="Text 33"/>
          <p:cNvSpPr/>
          <p:nvPr/>
        </p:nvSpPr>
        <p:spPr>
          <a:xfrm>
            <a:off x="3751326" y="4663440"/>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Securities and security review</a:t>
            </a:r>
            <a:endParaRPr lang="en-US" sz="1000" dirty="0"/>
          </a:p>
        </p:txBody>
      </p:sp>
      <p:sp>
        <p:nvSpPr>
          <p:cNvPr id="36" name="Text 34"/>
          <p:cNvSpPr/>
          <p:nvPr/>
        </p:nvSpPr>
        <p:spPr>
          <a:xfrm>
            <a:off x="3586734" y="5029200"/>
            <a:ext cx="1371600" cy="164592"/>
          </a:xfrm>
          <a:prstGeom prst="rect">
            <a:avLst/>
          </a:prstGeom>
          <a:noFill/>
          <a:ln/>
        </p:spPr>
        <p:txBody>
          <a:bodyPr wrap="square" lIns="0" tIns="0" rIns="0" bIns="0" rtlCol="0" anchor="ctr"/>
          <a:lstStyle/>
          <a:p>
            <a:pPr algn="l" indent="0" marL="0">
              <a:buNone/>
            </a:pPr>
            <a:r>
              <a:rPr lang="en-US" sz="750" b="1" spc="140" kern="0" dirty="0">
                <a:solidFill>
                  <a:srgbClr val="94A29B"/>
                </a:solidFill>
                <a:latin typeface="Calibri" pitchFamily="34" charset="0"/>
                <a:ea typeface="Calibri" pitchFamily="34" charset="-122"/>
                <a:cs typeface="Calibri" pitchFamily="34" charset="-120"/>
              </a:rPr>
              <a:t>PROVES</a:t>
            </a:r>
            <a:endParaRPr lang="en-US" sz="750" dirty="0"/>
          </a:p>
        </p:txBody>
      </p:sp>
      <p:sp>
        <p:nvSpPr>
          <p:cNvPr id="37" name="Text 35"/>
          <p:cNvSpPr/>
          <p:nvPr/>
        </p:nvSpPr>
        <p:spPr>
          <a:xfrm>
            <a:off x="3586734" y="5212080"/>
            <a:ext cx="2269998" cy="457200"/>
          </a:xfrm>
          <a:prstGeom prst="rect">
            <a:avLst/>
          </a:prstGeom>
          <a:noFill/>
          <a:ln/>
        </p:spPr>
        <p:txBody>
          <a:bodyPr wrap="square" lIns="0" tIns="0" rIns="0" bIns="0" rtlCol="0" anchor="t"/>
          <a:lstStyle/>
          <a:p>
            <a:pPr algn="l" indent="0" marL="0">
              <a:lnSpc>
                <a:spcPct val="120000"/>
              </a:lnSpc>
              <a:buNone/>
            </a:pPr>
            <a:r>
              <a:rPr lang="en-US" sz="950" i="1" dirty="0">
                <a:solidFill>
                  <a:srgbClr val="0B1210"/>
                </a:solidFill>
                <a:latin typeface="Calibri" pitchFamily="34" charset="0"/>
                <a:ea typeface="Calibri" pitchFamily="34" charset="-122"/>
                <a:cs typeface="Calibri" pitchFamily="34" charset="-120"/>
              </a:rPr>
              <a:t>People pay for the truth.</a:t>
            </a:r>
            <a:endParaRPr lang="en-US" sz="950" dirty="0"/>
          </a:p>
        </p:txBody>
      </p:sp>
      <p:sp>
        <p:nvSpPr>
          <p:cNvPr id="38" name="Shape 36"/>
          <p:cNvSpPr/>
          <p:nvPr/>
        </p:nvSpPr>
        <p:spPr>
          <a:xfrm>
            <a:off x="6277356" y="2139696"/>
            <a:ext cx="219456" cy="219456"/>
          </a:xfrm>
          <a:prstGeom prst="ellipse">
            <a:avLst/>
          </a:prstGeom>
          <a:solidFill>
            <a:srgbClr val="94600A"/>
          </a:solidFill>
          <a:ln w="25400">
            <a:solidFill>
              <a:srgbClr val="FFFFFF"/>
            </a:solidFill>
            <a:prstDash val="solid"/>
          </a:ln>
        </p:spPr>
      </p:sp>
      <p:sp>
        <p:nvSpPr>
          <p:cNvPr id="39" name="Text 37"/>
          <p:cNvSpPr/>
          <p:nvPr/>
        </p:nvSpPr>
        <p:spPr>
          <a:xfrm>
            <a:off x="6606540" y="2139696"/>
            <a:ext cx="2178558" cy="219456"/>
          </a:xfrm>
          <a:prstGeom prst="rect">
            <a:avLst/>
          </a:prstGeom>
          <a:noFill/>
          <a:ln/>
        </p:spPr>
        <p:txBody>
          <a:bodyPr wrap="square" lIns="0" tIns="0" rIns="0" bIns="0" rtlCol="0" anchor="ctr"/>
          <a:lstStyle/>
          <a:p>
            <a:pPr algn="l" indent="0" marL="0">
              <a:buNone/>
            </a:pPr>
            <a:r>
              <a:rPr lang="en-US" sz="800" b="1" spc="140" kern="0" dirty="0">
                <a:solidFill>
                  <a:srgbClr val="6C7C74"/>
                </a:solidFill>
                <a:latin typeface="Calibri" pitchFamily="34" charset="0"/>
                <a:ea typeface="Calibri" pitchFamily="34" charset="-122"/>
                <a:cs typeface="Calibri" pitchFamily="34" charset="-120"/>
              </a:rPr>
              <a:t>3–6 MONTHS</a:t>
            </a:r>
            <a:endParaRPr lang="en-US" sz="800" dirty="0"/>
          </a:p>
        </p:txBody>
      </p:sp>
      <p:sp>
        <p:nvSpPr>
          <p:cNvPr id="40" name="Shape 38"/>
          <p:cNvSpPr/>
          <p:nvPr/>
        </p:nvSpPr>
        <p:spPr>
          <a:xfrm>
            <a:off x="6149340" y="2523744"/>
            <a:ext cx="2635758" cy="3017520"/>
          </a:xfrm>
          <a:prstGeom prst="roundRect">
            <a:avLst>
              <a:gd name="adj" fmla="val 3122"/>
            </a:avLst>
          </a:prstGeom>
          <a:solidFill>
            <a:srgbClr val="FAF1DF"/>
          </a:solidFill>
          <a:ln/>
        </p:spPr>
      </p:sp>
      <p:sp>
        <p:nvSpPr>
          <p:cNvPr id="41" name="Shape 39"/>
          <p:cNvSpPr/>
          <p:nvPr/>
        </p:nvSpPr>
        <p:spPr>
          <a:xfrm>
            <a:off x="6332220" y="2706624"/>
            <a:ext cx="1481328" cy="228600"/>
          </a:xfrm>
          <a:prstGeom prst="roundRect">
            <a:avLst>
              <a:gd name="adj" fmla="val 50000"/>
            </a:avLst>
          </a:prstGeom>
          <a:solidFill>
            <a:srgbClr val="FFFFFF"/>
          </a:solidFill>
          <a:ln/>
        </p:spPr>
      </p:sp>
      <p:sp>
        <p:nvSpPr>
          <p:cNvPr id="42" name="Text 40"/>
          <p:cNvSpPr/>
          <p:nvPr/>
        </p:nvSpPr>
        <p:spPr>
          <a:xfrm>
            <a:off x="6332220" y="2706624"/>
            <a:ext cx="1481328" cy="228600"/>
          </a:xfrm>
          <a:prstGeom prst="rect">
            <a:avLst/>
          </a:prstGeom>
          <a:noFill/>
          <a:ln/>
        </p:spPr>
        <p:txBody>
          <a:bodyPr wrap="square" lIns="0" tIns="0" rIns="0" bIns="0" rtlCol="0" anchor="ctr"/>
          <a:lstStyle/>
          <a:p>
            <a:pPr algn="ctr" indent="0" marL="0">
              <a:buNone/>
            </a:pPr>
            <a:r>
              <a:rPr lang="en-US" sz="750" b="1" spc="130" kern="0" dirty="0">
                <a:solidFill>
                  <a:srgbClr val="94600A"/>
                </a:solidFill>
                <a:latin typeface="Calibri" pitchFamily="34" charset="0"/>
                <a:ea typeface="Calibri" pitchFamily="34" charset="-122"/>
                <a:cs typeface="Calibri" pitchFamily="34" charset="-120"/>
              </a:rPr>
              <a:t>SEE THE SPEND</a:t>
            </a:r>
            <a:endParaRPr lang="en-US" sz="750" dirty="0"/>
          </a:p>
        </p:txBody>
      </p:sp>
      <p:sp>
        <p:nvSpPr>
          <p:cNvPr id="43" name="Shape 41"/>
          <p:cNvSpPr/>
          <p:nvPr/>
        </p:nvSpPr>
        <p:spPr>
          <a:xfrm>
            <a:off x="6332220" y="3209544"/>
            <a:ext cx="64008" cy="64008"/>
          </a:xfrm>
          <a:prstGeom prst="rect">
            <a:avLst/>
          </a:prstGeom>
          <a:solidFill>
            <a:srgbClr val="94600A"/>
          </a:solidFill>
          <a:ln/>
        </p:spPr>
      </p:sp>
      <p:sp>
        <p:nvSpPr>
          <p:cNvPr id="44" name="Text 42"/>
          <p:cNvSpPr/>
          <p:nvPr/>
        </p:nvSpPr>
        <p:spPr>
          <a:xfrm>
            <a:off x="6496812" y="3127248"/>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Bank linking and consent flow</a:t>
            </a:r>
            <a:endParaRPr lang="en-US" sz="1000" dirty="0"/>
          </a:p>
        </p:txBody>
      </p:sp>
      <p:sp>
        <p:nvSpPr>
          <p:cNvPr id="45" name="Shape 43"/>
          <p:cNvSpPr/>
          <p:nvPr/>
        </p:nvSpPr>
        <p:spPr>
          <a:xfrm>
            <a:off x="6332220" y="3721608"/>
            <a:ext cx="64008" cy="64008"/>
          </a:xfrm>
          <a:prstGeom prst="rect">
            <a:avLst/>
          </a:prstGeom>
          <a:solidFill>
            <a:srgbClr val="94600A"/>
          </a:solidFill>
          <a:ln/>
        </p:spPr>
      </p:sp>
      <p:sp>
        <p:nvSpPr>
          <p:cNvPr id="46" name="Text 44"/>
          <p:cNvSpPr/>
          <p:nvPr/>
        </p:nvSpPr>
        <p:spPr>
          <a:xfrm>
            <a:off x="6496812" y="3639312"/>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Transaction categorisation</a:t>
            </a:r>
            <a:endParaRPr lang="en-US" sz="1000" dirty="0"/>
          </a:p>
        </p:txBody>
      </p:sp>
      <p:sp>
        <p:nvSpPr>
          <p:cNvPr id="47" name="Shape 45"/>
          <p:cNvSpPr/>
          <p:nvPr/>
        </p:nvSpPr>
        <p:spPr>
          <a:xfrm>
            <a:off x="6332220" y="4233672"/>
            <a:ext cx="64008" cy="64008"/>
          </a:xfrm>
          <a:prstGeom prst="rect">
            <a:avLst/>
          </a:prstGeom>
          <a:solidFill>
            <a:srgbClr val="94600A"/>
          </a:solidFill>
          <a:ln/>
        </p:spPr>
      </p:sp>
      <p:sp>
        <p:nvSpPr>
          <p:cNvPr id="48" name="Text 46"/>
          <p:cNvSpPr/>
          <p:nvPr/>
        </p:nvSpPr>
        <p:spPr>
          <a:xfrm>
            <a:off x="6496812" y="4151376"/>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Recurring-charge detection</a:t>
            </a:r>
            <a:endParaRPr lang="en-US" sz="1000" dirty="0"/>
          </a:p>
        </p:txBody>
      </p:sp>
      <p:sp>
        <p:nvSpPr>
          <p:cNvPr id="49" name="Shape 47"/>
          <p:cNvSpPr/>
          <p:nvPr/>
        </p:nvSpPr>
        <p:spPr>
          <a:xfrm>
            <a:off x="6332220" y="4745736"/>
            <a:ext cx="64008" cy="64008"/>
          </a:xfrm>
          <a:prstGeom prst="rect">
            <a:avLst/>
          </a:prstGeom>
          <a:solidFill>
            <a:srgbClr val="94600A"/>
          </a:solidFill>
          <a:ln/>
        </p:spPr>
      </p:sp>
      <p:sp>
        <p:nvSpPr>
          <p:cNvPr id="50" name="Text 48"/>
          <p:cNvSpPr/>
          <p:nvPr/>
        </p:nvSpPr>
        <p:spPr>
          <a:xfrm>
            <a:off x="6496812" y="4663440"/>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Savings routes in the same list</a:t>
            </a:r>
            <a:endParaRPr lang="en-US" sz="1000" dirty="0"/>
          </a:p>
        </p:txBody>
      </p:sp>
      <p:sp>
        <p:nvSpPr>
          <p:cNvPr id="51" name="Text 49"/>
          <p:cNvSpPr/>
          <p:nvPr/>
        </p:nvSpPr>
        <p:spPr>
          <a:xfrm>
            <a:off x="6332220" y="5029200"/>
            <a:ext cx="1371600" cy="164592"/>
          </a:xfrm>
          <a:prstGeom prst="rect">
            <a:avLst/>
          </a:prstGeom>
          <a:noFill/>
          <a:ln/>
        </p:spPr>
        <p:txBody>
          <a:bodyPr wrap="square" lIns="0" tIns="0" rIns="0" bIns="0" rtlCol="0" anchor="ctr"/>
          <a:lstStyle/>
          <a:p>
            <a:pPr algn="l" indent="0" marL="0">
              <a:buNone/>
            </a:pPr>
            <a:r>
              <a:rPr lang="en-US" sz="750" b="1" spc="140" kern="0" dirty="0">
                <a:solidFill>
                  <a:srgbClr val="94A29B"/>
                </a:solidFill>
                <a:latin typeface="Calibri" pitchFamily="34" charset="0"/>
                <a:ea typeface="Calibri" pitchFamily="34" charset="-122"/>
                <a:cs typeface="Calibri" pitchFamily="34" charset="-120"/>
              </a:rPr>
              <a:t>PROVES</a:t>
            </a:r>
            <a:endParaRPr lang="en-US" sz="750" dirty="0"/>
          </a:p>
        </p:txBody>
      </p:sp>
      <p:sp>
        <p:nvSpPr>
          <p:cNvPr id="52" name="Text 50"/>
          <p:cNvSpPr/>
          <p:nvPr/>
        </p:nvSpPr>
        <p:spPr>
          <a:xfrm>
            <a:off x="6332220" y="5212080"/>
            <a:ext cx="2269998" cy="457200"/>
          </a:xfrm>
          <a:prstGeom prst="rect">
            <a:avLst/>
          </a:prstGeom>
          <a:noFill/>
          <a:ln/>
        </p:spPr>
        <p:txBody>
          <a:bodyPr wrap="square" lIns="0" tIns="0" rIns="0" bIns="0" rtlCol="0" anchor="t"/>
          <a:lstStyle/>
          <a:p>
            <a:pPr algn="l" indent="0" marL="0">
              <a:lnSpc>
                <a:spcPct val="120000"/>
              </a:lnSpc>
              <a:buNone/>
            </a:pPr>
            <a:r>
              <a:rPr lang="en-US" sz="950" i="1" dirty="0">
                <a:solidFill>
                  <a:srgbClr val="0B1210"/>
                </a:solidFill>
                <a:latin typeface="Calibri" pitchFamily="34" charset="0"/>
                <a:ea typeface="Calibri" pitchFamily="34" charset="-122"/>
                <a:cs typeface="Calibri" pitchFamily="34" charset="-120"/>
              </a:rPr>
              <a:t>It works on money already held.</a:t>
            </a:r>
            <a:endParaRPr lang="en-US" sz="950" dirty="0"/>
          </a:p>
        </p:txBody>
      </p:sp>
      <p:sp>
        <p:nvSpPr>
          <p:cNvPr id="53" name="Shape 51"/>
          <p:cNvSpPr/>
          <p:nvPr/>
        </p:nvSpPr>
        <p:spPr>
          <a:xfrm>
            <a:off x="9022842" y="2139696"/>
            <a:ext cx="219456" cy="219456"/>
          </a:xfrm>
          <a:prstGeom prst="ellipse">
            <a:avLst/>
          </a:prstGeom>
          <a:solidFill>
            <a:srgbClr val="94600A"/>
          </a:solidFill>
          <a:ln w="25400">
            <a:solidFill>
              <a:srgbClr val="FFFFFF"/>
            </a:solidFill>
            <a:prstDash val="solid"/>
          </a:ln>
        </p:spPr>
      </p:sp>
      <p:sp>
        <p:nvSpPr>
          <p:cNvPr id="54" name="Text 52"/>
          <p:cNvSpPr/>
          <p:nvPr/>
        </p:nvSpPr>
        <p:spPr>
          <a:xfrm>
            <a:off x="9352026" y="2139696"/>
            <a:ext cx="2178558" cy="219456"/>
          </a:xfrm>
          <a:prstGeom prst="rect">
            <a:avLst/>
          </a:prstGeom>
          <a:noFill/>
          <a:ln/>
        </p:spPr>
        <p:txBody>
          <a:bodyPr wrap="square" lIns="0" tIns="0" rIns="0" bIns="0" rtlCol="0" anchor="ctr"/>
          <a:lstStyle/>
          <a:p>
            <a:pPr algn="l" indent="0" marL="0">
              <a:buNone/>
            </a:pPr>
            <a:r>
              <a:rPr lang="en-US" sz="800" b="1" spc="140" kern="0" dirty="0">
                <a:solidFill>
                  <a:srgbClr val="6C7C74"/>
                </a:solidFill>
                <a:latin typeface="Calibri" pitchFamily="34" charset="0"/>
                <a:ea typeface="Calibri" pitchFamily="34" charset="-122"/>
                <a:cs typeface="Calibri" pitchFamily="34" charset="-120"/>
              </a:rPr>
              <a:t>6–12 MONTHS</a:t>
            </a:r>
            <a:endParaRPr lang="en-US" sz="800" dirty="0"/>
          </a:p>
        </p:txBody>
      </p:sp>
      <p:sp>
        <p:nvSpPr>
          <p:cNvPr id="55" name="Shape 53"/>
          <p:cNvSpPr/>
          <p:nvPr/>
        </p:nvSpPr>
        <p:spPr>
          <a:xfrm>
            <a:off x="8894826" y="2523744"/>
            <a:ext cx="2635758" cy="3017520"/>
          </a:xfrm>
          <a:prstGeom prst="roundRect">
            <a:avLst>
              <a:gd name="adj" fmla="val 3122"/>
            </a:avLst>
          </a:prstGeom>
          <a:solidFill>
            <a:srgbClr val="FAF1DF"/>
          </a:solidFill>
          <a:ln/>
        </p:spPr>
      </p:sp>
      <p:sp>
        <p:nvSpPr>
          <p:cNvPr id="56" name="Shape 54"/>
          <p:cNvSpPr/>
          <p:nvPr/>
        </p:nvSpPr>
        <p:spPr>
          <a:xfrm>
            <a:off x="9077706" y="2706624"/>
            <a:ext cx="1481328" cy="228600"/>
          </a:xfrm>
          <a:prstGeom prst="roundRect">
            <a:avLst>
              <a:gd name="adj" fmla="val 50000"/>
            </a:avLst>
          </a:prstGeom>
          <a:solidFill>
            <a:srgbClr val="FFFFFF"/>
          </a:solidFill>
          <a:ln/>
        </p:spPr>
      </p:sp>
      <p:sp>
        <p:nvSpPr>
          <p:cNvPr id="57" name="Text 55"/>
          <p:cNvSpPr/>
          <p:nvPr/>
        </p:nvSpPr>
        <p:spPr>
          <a:xfrm>
            <a:off x="9077706" y="2706624"/>
            <a:ext cx="1481328" cy="228600"/>
          </a:xfrm>
          <a:prstGeom prst="rect">
            <a:avLst/>
          </a:prstGeom>
          <a:noFill/>
          <a:ln/>
        </p:spPr>
        <p:txBody>
          <a:bodyPr wrap="square" lIns="0" tIns="0" rIns="0" bIns="0" rtlCol="0" anchor="ctr"/>
          <a:lstStyle/>
          <a:p>
            <a:pPr algn="ctr" indent="0" marL="0">
              <a:buNone/>
            </a:pPr>
            <a:r>
              <a:rPr lang="en-US" sz="750" b="1" spc="130" kern="0" dirty="0">
                <a:solidFill>
                  <a:srgbClr val="94600A"/>
                </a:solidFill>
                <a:latin typeface="Calibri" pitchFamily="34" charset="0"/>
                <a:ea typeface="Calibri" pitchFamily="34" charset="-122"/>
                <a:cs typeface="Calibri" pitchFamily="34" charset="-120"/>
              </a:rPr>
              <a:t>CLOSE THE LOOP</a:t>
            </a:r>
            <a:endParaRPr lang="en-US" sz="750" dirty="0"/>
          </a:p>
        </p:txBody>
      </p:sp>
      <p:sp>
        <p:nvSpPr>
          <p:cNvPr id="58" name="Shape 56"/>
          <p:cNvSpPr/>
          <p:nvPr/>
        </p:nvSpPr>
        <p:spPr>
          <a:xfrm>
            <a:off x="9077706" y="3209544"/>
            <a:ext cx="64008" cy="64008"/>
          </a:xfrm>
          <a:prstGeom prst="rect">
            <a:avLst/>
          </a:prstGeom>
          <a:solidFill>
            <a:srgbClr val="94600A"/>
          </a:solidFill>
          <a:ln/>
        </p:spPr>
      </p:sp>
      <p:sp>
        <p:nvSpPr>
          <p:cNvPr id="59" name="Text 57"/>
          <p:cNvSpPr/>
          <p:nvPr/>
        </p:nvSpPr>
        <p:spPr>
          <a:xfrm>
            <a:off x="9242298" y="3127248"/>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Card fit from real spending</a:t>
            </a:r>
            <a:endParaRPr lang="en-US" sz="1000" dirty="0"/>
          </a:p>
        </p:txBody>
      </p:sp>
      <p:sp>
        <p:nvSpPr>
          <p:cNvPr id="60" name="Shape 58"/>
          <p:cNvSpPr/>
          <p:nvPr/>
        </p:nvSpPr>
        <p:spPr>
          <a:xfrm>
            <a:off x="9077706" y="3721608"/>
            <a:ext cx="64008" cy="64008"/>
          </a:xfrm>
          <a:prstGeom prst="rect">
            <a:avLst/>
          </a:prstGeom>
          <a:solidFill>
            <a:srgbClr val="94600A"/>
          </a:solidFill>
          <a:ln/>
        </p:spPr>
      </p:sp>
      <p:sp>
        <p:nvSpPr>
          <p:cNvPr id="61" name="Text 59"/>
          <p:cNvSpPr/>
          <p:nvPr/>
        </p:nvSpPr>
        <p:spPr>
          <a:xfrm>
            <a:off x="9242298" y="3639312"/>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Fee and idle-cash detection</a:t>
            </a:r>
            <a:endParaRPr lang="en-US" sz="1000" dirty="0"/>
          </a:p>
        </p:txBody>
      </p:sp>
      <p:sp>
        <p:nvSpPr>
          <p:cNvPr id="62" name="Shape 60"/>
          <p:cNvSpPr/>
          <p:nvPr/>
        </p:nvSpPr>
        <p:spPr>
          <a:xfrm>
            <a:off x="9077706" y="4233672"/>
            <a:ext cx="64008" cy="64008"/>
          </a:xfrm>
          <a:prstGeom prst="rect">
            <a:avLst/>
          </a:prstGeom>
          <a:solidFill>
            <a:srgbClr val="94600A"/>
          </a:solidFill>
          <a:ln/>
        </p:spPr>
      </p:sp>
      <p:sp>
        <p:nvSpPr>
          <p:cNvPr id="63" name="Text 61"/>
          <p:cNvSpPr/>
          <p:nvPr/>
        </p:nvSpPr>
        <p:spPr>
          <a:xfrm>
            <a:off x="9242298" y="4151376"/>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Goal monitoring and re-planning</a:t>
            </a:r>
            <a:endParaRPr lang="en-US" sz="1000" dirty="0"/>
          </a:p>
        </p:txBody>
      </p:sp>
      <p:sp>
        <p:nvSpPr>
          <p:cNvPr id="64" name="Shape 62"/>
          <p:cNvSpPr/>
          <p:nvPr/>
        </p:nvSpPr>
        <p:spPr>
          <a:xfrm>
            <a:off x="9077706" y="4745736"/>
            <a:ext cx="64008" cy="64008"/>
          </a:xfrm>
          <a:prstGeom prst="rect">
            <a:avLst/>
          </a:prstGeom>
          <a:solidFill>
            <a:srgbClr val="94600A"/>
          </a:solidFill>
          <a:ln/>
        </p:spPr>
      </p:sp>
      <p:sp>
        <p:nvSpPr>
          <p:cNvPr id="65" name="Text 63"/>
          <p:cNvSpPr/>
          <p:nvPr/>
        </p:nvSpPr>
        <p:spPr>
          <a:xfrm>
            <a:off x="9242298" y="4663440"/>
            <a:ext cx="2105406" cy="45720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Optional automated transfers</a:t>
            </a:r>
            <a:endParaRPr lang="en-US" sz="1000" dirty="0"/>
          </a:p>
        </p:txBody>
      </p:sp>
      <p:sp>
        <p:nvSpPr>
          <p:cNvPr id="66" name="Text 64"/>
          <p:cNvSpPr/>
          <p:nvPr/>
        </p:nvSpPr>
        <p:spPr>
          <a:xfrm>
            <a:off x="9077706" y="5029200"/>
            <a:ext cx="1371600" cy="164592"/>
          </a:xfrm>
          <a:prstGeom prst="rect">
            <a:avLst/>
          </a:prstGeom>
          <a:noFill/>
          <a:ln/>
        </p:spPr>
        <p:txBody>
          <a:bodyPr wrap="square" lIns="0" tIns="0" rIns="0" bIns="0" rtlCol="0" anchor="ctr"/>
          <a:lstStyle/>
          <a:p>
            <a:pPr algn="l" indent="0" marL="0">
              <a:buNone/>
            </a:pPr>
            <a:r>
              <a:rPr lang="en-US" sz="750" b="1" spc="140" kern="0" dirty="0">
                <a:solidFill>
                  <a:srgbClr val="94A29B"/>
                </a:solidFill>
                <a:latin typeface="Calibri" pitchFamily="34" charset="0"/>
                <a:ea typeface="Calibri" pitchFamily="34" charset="-122"/>
                <a:cs typeface="Calibri" pitchFamily="34" charset="-120"/>
              </a:rPr>
              <a:t>PROVES</a:t>
            </a:r>
            <a:endParaRPr lang="en-US" sz="750" dirty="0"/>
          </a:p>
        </p:txBody>
      </p:sp>
      <p:sp>
        <p:nvSpPr>
          <p:cNvPr id="67" name="Text 65"/>
          <p:cNvSpPr/>
          <p:nvPr/>
        </p:nvSpPr>
        <p:spPr>
          <a:xfrm>
            <a:off x="9077706" y="5212080"/>
            <a:ext cx="2269998" cy="457200"/>
          </a:xfrm>
          <a:prstGeom prst="rect">
            <a:avLst/>
          </a:prstGeom>
          <a:noFill/>
          <a:ln/>
        </p:spPr>
        <p:txBody>
          <a:bodyPr wrap="square" lIns="0" tIns="0" rIns="0" bIns="0" rtlCol="0" anchor="t"/>
          <a:lstStyle/>
          <a:p>
            <a:pPr algn="l" indent="0" marL="0">
              <a:lnSpc>
                <a:spcPct val="120000"/>
              </a:lnSpc>
              <a:buNone/>
            </a:pPr>
            <a:r>
              <a:rPr lang="en-US" sz="950" i="1" dirty="0">
                <a:solidFill>
                  <a:srgbClr val="0B1210"/>
                </a:solidFill>
                <a:latin typeface="Calibri" pitchFamily="34" charset="0"/>
                <a:ea typeface="Calibri" pitchFamily="34" charset="-122"/>
                <a:cs typeface="Calibri" pitchFamily="34" charset="-120"/>
              </a:rPr>
              <a:t>Recurring value — a reason to stay.</a:t>
            </a:r>
            <a:endParaRPr lang="en-US" sz="950" dirty="0"/>
          </a:p>
        </p:txBody>
      </p:sp>
      <p:sp>
        <p:nvSpPr>
          <p:cNvPr id="68" name="Text 66"/>
          <p:cNvSpPr/>
          <p:nvPr/>
        </p:nvSpPr>
        <p:spPr>
          <a:xfrm>
            <a:off x="658368" y="5742432"/>
            <a:ext cx="10872216" cy="420624"/>
          </a:xfrm>
          <a:prstGeom prst="rect">
            <a:avLst/>
          </a:prstGeom>
          <a:noFill/>
          <a:ln/>
        </p:spPr>
        <p:txBody>
          <a:bodyPr wrap="square" lIns="0" tIns="0" rIns="0" bIns="0" rtlCol="0" anchor="t"/>
          <a:lstStyle/>
          <a:p>
            <a:pPr indent="0" marL="0">
              <a:lnSpc>
                <a:spcPct val="118000"/>
              </a:lnSpc>
              <a:buNone/>
            </a:pPr>
            <a:r>
              <a:rPr lang="en-US" sz="1100" dirty="0">
                <a:solidFill>
                  <a:srgbClr val="0B1210"/>
                </a:solidFill>
                <a:latin typeface="Calibri" pitchFamily="34" charset="0"/>
                <a:ea typeface="Calibri" pitchFamily="34" charset="-122"/>
                <a:cs typeface="Calibri" pitchFamily="34" charset="-120"/>
              </a:rPr>
              <a:t>Each phase exists to kill one specific doubt. If a phase does not produce evidence, it does not get the next cheque — including from us.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210"/>
        </a:solidFill>
      </p:bgPr>
    </p:bg>
    <p:spTree>
      <p:nvGrpSpPr>
        <p:cNvPr id="1" name=""/>
        <p:cNvGrpSpPr/>
        <p:nvPr/>
      </p:nvGrpSpPr>
      <p:grpSpPr>
        <a:xfrm>
          <a:off x="0" y="0"/>
          <a:ext cx="0" cy="0"/>
          <a:chOff x="0" y="0"/>
          <a:chExt cx="0" cy="0"/>
        </a:xfrm>
      </p:grpSpPr>
      <p:sp>
        <p:nvSpPr>
          <p:cNvPr id="2" name="Text 0"/>
          <p:cNvSpPr/>
          <p:nvPr/>
        </p:nvSpPr>
        <p:spPr>
          <a:xfrm>
            <a:off x="658368" y="1225296"/>
            <a:ext cx="2743200" cy="1645920"/>
          </a:xfrm>
          <a:prstGeom prst="rect">
            <a:avLst/>
          </a:prstGeom>
          <a:noFill/>
          <a:ln/>
        </p:spPr>
        <p:txBody>
          <a:bodyPr wrap="square" lIns="0" tIns="0" rIns="0" bIns="0" rtlCol="0" anchor="ctr"/>
          <a:lstStyle/>
          <a:p>
            <a:pPr indent="0" marL="0">
              <a:buNone/>
            </a:pPr>
            <a:r>
              <a:rPr lang="en-US" sz="10400" b="1" dirty="0">
                <a:solidFill>
                  <a:srgbClr val="1F2C26"/>
                </a:solidFill>
                <a:latin typeface="Cambria" pitchFamily="34" charset="0"/>
                <a:ea typeface="Cambria" pitchFamily="34" charset="-122"/>
                <a:cs typeface="Cambria" pitchFamily="34" charset="-120"/>
              </a:rPr>
              <a:t>06</a:t>
            </a:r>
            <a:endParaRPr lang="en-US" sz="10400" dirty="0"/>
          </a:p>
        </p:txBody>
      </p:sp>
      <p:sp>
        <p:nvSpPr>
          <p:cNvPr id="3" name="Text 1"/>
          <p:cNvSpPr/>
          <p:nvPr/>
        </p:nvSpPr>
        <p:spPr>
          <a:xfrm>
            <a:off x="658368" y="1097280"/>
            <a:ext cx="10872216" cy="201168"/>
          </a:xfrm>
          <a:prstGeom prst="rect">
            <a:avLst/>
          </a:prstGeom>
          <a:noFill/>
          <a:ln/>
        </p:spPr>
        <p:txBody>
          <a:bodyPr wrap="square" lIns="0" tIns="0" rIns="0" bIns="0" rtlCol="0" anchor="ctr"/>
          <a:lstStyle/>
          <a:p>
            <a:pPr indent="0" marL="0">
              <a:buNone/>
            </a:pPr>
            <a:r>
              <a:rPr lang="en-US" sz="950" b="1" spc="220" kern="0" dirty="0">
                <a:solidFill>
                  <a:srgbClr val="2ECC7F"/>
                </a:solidFill>
                <a:latin typeface="Calibri" pitchFamily="34" charset="0"/>
                <a:ea typeface="Calibri" pitchFamily="34" charset="-122"/>
                <a:cs typeface="Calibri" pitchFamily="34" charset="-120"/>
              </a:rPr>
              <a:t>SECTION 06</a:t>
            </a:r>
            <a:endParaRPr lang="en-US" sz="950" dirty="0"/>
          </a:p>
        </p:txBody>
      </p:sp>
      <p:sp>
        <p:nvSpPr>
          <p:cNvPr id="4" name="Text 2"/>
          <p:cNvSpPr/>
          <p:nvPr/>
        </p:nvSpPr>
        <p:spPr>
          <a:xfrm>
            <a:off x="658368" y="3163824"/>
            <a:ext cx="822960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business.</a:t>
            </a:r>
            <a:endParaRPr lang="en-US" sz="4400" dirty="0"/>
          </a:p>
        </p:txBody>
      </p:sp>
      <p:sp>
        <p:nvSpPr>
          <p:cNvPr id="5" name="Text 3"/>
          <p:cNvSpPr/>
          <p:nvPr/>
        </p:nvSpPr>
        <p:spPr>
          <a:xfrm>
            <a:off x="658368" y="4187952"/>
            <a:ext cx="6766560" cy="822960"/>
          </a:xfrm>
          <a:prstGeom prst="rect">
            <a:avLst/>
          </a:prstGeom>
          <a:noFill/>
          <a:ln/>
        </p:spPr>
        <p:txBody>
          <a:bodyPr wrap="square" lIns="0" tIns="0" rIns="0" bIns="0" rtlCol="0" anchor="t"/>
          <a:lstStyle/>
          <a:p>
            <a:pPr indent="0" marL="0">
              <a:lnSpc>
                <a:spcPct val="125000"/>
              </a:lnSpc>
              <a:buNone/>
            </a:pPr>
            <a:r>
              <a:rPr lang="en-US" sz="1400" dirty="0">
                <a:solidFill>
                  <a:srgbClr val="9FADA6"/>
                </a:solidFill>
                <a:latin typeface="Calibri" pitchFamily="34" charset="0"/>
                <a:ea typeface="Calibri" pitchFamily="34" charset="-122"/>
                <a:cs typeface="Calibri" pitchFamily="34" charset="-120"/>
              </a:rPr>
              <a:t>Why this is buildable now, who pays first, what we charge, and what the money is actually for.</a:t>
            </a:r>
            <a:endParaRPr lang="en-US" sz="1400" dirty="0"/>
          </a:p>
        </p:txBody>
      </p:sp>
      <p:sp>
        <p:nvSpPr>
          <p:cNvPr id="6" name="Text 4"/>
          <p:cNvSpPr/>
          <p:nvPr/>
        </p:nvSpPr>
        <p:spPr>
          <a:xfrm>
            <a:off x="8229600" y="1920240"/>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01</a:t>
            </a:r>
            <a:endParaRPr lang="en-US" sz="900" dirty="0"/>
          </a:p>
        </p:txBody>
      </p:sp>
      <p:sp>
        <p:nvSpPr>
          <p:cNvPr id="7" name="Text 5"/>
          <p:cNvSpPr/>
          <p:nvPr/>
        </p:nvSpPr>
        <p:spPr>
          <a:xfrm>
            <a:off x="8686800" y="1920240"/>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Why now</a:t>
            </a:r>
            <a:endParaRPr lang="en-US" sz="1150" dirty="0"/>
          </a:p>
        </p:txBody>
      </p:sp>
      <p:sp>
        <p:nvSpPr>
          <p:cNvPr id="8" name="Text 6"/>
          <p:cNvSpPr/>
          <p:nvPr/>
        </p:nvSpPr>
        <p:spPr>
          <a:xfrm>
            <a:off x="8229600" y="2487168"/>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02</a:t>
            </a:r>
            <a:endParaRPr lang="en-US" sz="900" dirty="0"/>
          </a:p>
        </p:txBody>
      </p:sp>
      <p:sp>
        <p:nvSpPr>
          <p:cNvPr id="9" name="Text 7"/>
          <p:cNvSpPr/>
          <p:nvPr/>
        </p:nvSpPr>
        <p:spPr>
          <a:xfrm>
            <a:off x="8686800" y="2487168"/>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The beachhead</a:t>
            </a:r>
            <a:endParaRPr lang="en-US" sz="1150" dirty="0"/>
          </a:p>
        </p:txBody>
      </p:sp>
      <p:sp>
        <p:nvSpPr>
          <p:cNvPr id="10" name="Text 8"/>
          <p:cNvSpPr/>
          <p:nvPr/>
        </p:nvSpPr>
        <p:spPr>
          <a:xfrm>
            <a:off x="8229600" y="3054096"/>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03</a:t>
            </a:r>
            <a:endParaRPr lang="en-US" sz="900" dirty="0"/>
          </a:p>
        </p:txBody>
      </p:sp>
      <p:sp>
        <p:nvSpPr>
          <p:cNvPr id="11" name="Text 9"/>
          <p:cNvSpPr/>
          <p:nvPr/>
        </p:nvSpPr>
        <p:spPr>
          <a:xfrm>
            <a:off x="8686800" y="3054096"/>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Competition</a:t>
            </a:r>
            <a:endParaRPr lang="en-US" sz="1150" dirty="0"/>
          </a:p>
        </p:txBody>
      </p:sp>
      <p:sp>
        <p:nvSpPr>
          <p:cNvPr id="12" name="Text 10"/>
          <p:cNvSpPr/>
          <p:nvPr/>
        </p:nvSpPr>
        <p:spPr>
          <a:xfrm>
            <a:off x="8229600" y="3621024"/>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04</a:t>
            </a:r>
            <a:endParaRPr lang="en-US" sz="900" dirty="0"/>
          </a:p>
        </p:txBody>
      </p:sp>
      <p:sp>
        <p:nvSpPr>
          <p:cNvPr id="13" name="Text 11"/>
          <p:cNvSpPr/>
          <p:nvPr/>
        </p:nvSpPr>
        <p:spPr>
          <a:xfrm>
            <a:off x="8686800" y="3621024"/>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How we make money</a:t>
            </a:r>
            <a:endParaRPr lang="en-US" sz="1150" dirty="0"/>
          </a:p>
        </p:txBody>
      </p:sp>
      <p:sp>
        <p:nvSpPr>
          <p:cNvPr id="14" name="Text 12"/>
          <p:cNvSpPr/>
          <p:nvPr/>
        </p:nvSpPr>
        <p:spPr>
          <a:xfrm>
            <a:off x="8229600" y="4187952"/>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05</a:t>
            </a:r>
            <a:endParaRPr lang="en-US" sz="900" dirty="0"/>
          </a:p>
        </p:txBody>
      </p:sp>
      <p:sp>
        <p:nvSpPr>
          <p:cNvPr id="15" name="Text 13"/>
          <p:cNvSpPr/>
          <p:nvPr/>
        </p:nvSpPr>
        <p:spPr>
          <a:xfrm>
            <a:off x="8686800" y="4187952"/>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The ask</a:t>
            </a:r>
            <a:endParaRPr lang="en-US" sz="1150" dirty="0"/>
          </a:p>
        </p:txBody>
      </p:sp>
      <p:sp>
        <p:nvSpPr>
          <p:cNvPr id="16" name="Text 14"/>
          <p:cNvSpPr/>
          <p:nvPr/>
        </p:nvSpPr>
        <p:spPr>
          <a:xfrm>
            <a:off x="8229600" y="4754880"/>
            <a:ext cx="411480" cy="274320"/>
          </a:xfrm>
          <a:prstGeom prst="rect">
            <a:avLst/>
          </a:prstGeom>
          <a:noFill/>
          <a:ln/>
        </p:spPr>
        <p:txBody>
          <a:bodyPr wrap="square" lIns="0" tIns="0" rIns="0" bIns="0" rtlCol="0" anchor="ctr"/>
          <a:lstStyle/>
          <a:p>
            <a:pPr indent="0" marL="0">
              <a:buNone/>
            </a:pPr>
            <a:r>
              <a:rPr lang="en-US" sz="900" dirty="0">
                <a:solidFill>
                  <a:srgbClr val="2ECC7F"/>
                </a:solidFill>
                <a:latin typeface="Courier New" pitchFamily="34" charset="0"/>
                <a:ea typeface="Courier New" pitchFamily="34" charset="-122"/>
                <a:cs typeface="Courier New" pitchFamily="34" charset="-120"/>
              </a:rPr>
              <a:t>06</a:t>
            </a:r>
            <a:endParaRPr lang="en-US" sz="900" dirty="0"/>
          </a:p>
        </p:txBody>
      </p:sp>
      <p:sp>
        <p:nvSpPr>
          <p:cNvPr id="17" name="Text 15"/>
          <p:cNvSpPr/>
          <p:nvPr/>
        </p:nvSpPr>
        <p:spPr>
          <a:xfrm>
            <a:off x="8686800" y="4754880"/>
            <a:ext cx="3017520" cy="274320"/>
          </a:xfrm>
          <a:prstGeom prst="rect">
            <a:avLst/>
          </a:prstGeom>
          <a:noFill/>
          <a:ln/>
        </p:spPr>
        <p:txBody>
          <a:bodyPr wrap="square" lIns="0" tIns="0" rIns="0" bIns="0" rtlCol="0" anchor="ctr"/>
          <a:lstStyle/>
          <a:p>
            <a:pPr indent="0" marL="0">
              <a:buNone/>
            </a:pPr>
            <a:r>
              <a:rPr lang="en-US" sz="1150" dirty="0">
                <a:solidFill>
                  <a:srgbClr val="C8D3CD"/>
                </a:solidFill>
                <a:latin typeface="Calibri" pitchFamily="34" charset="0"/>
                <a:ea typeface="Calibri" pitchFamily="34" charset="-122"/>
                <a:cs typeface="Calibri" pitchFamily="34" charset="-120"/>
              </a:rPr>
              <a:t>The milestone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20</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06.01  ·  WHY NOW</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The infrastructure and the behaviour</a:t>
            </a:r>
            <a:endParaRPr lang="en-US" sz="3000" dirty="0"/>
          </a:p>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both arrived.</a:t>
            </a:r>
            <a:endParaRPr lang="en-US" sz="3000" dirty="0"/>
          </a:p>
        </p:txBody>
      </p:sp>
      <p:sp>
        <p:nvSpPr>
          <p:cNvPr id="6" name="Text 4"/>
          <p:cNvSpPr/>
          <p:nvPr/>
        </p:nvSpPr>
        <p:spPr>
          <a:xfrm>
            <a:off x="658368" y="1737360"/>
            <a:ext cx="10872216" cy="274320"/>
          </a:xfrm>
          <a:prstGeom prst="rect">
            <a:avLst/>
          </a:prstGeom>
          <a:noFill/>
          <a:ln/>
        </p:spPr>
        <p:txBody>
          <a:bodyPr wrap="square" lIns="0" tIns="0" rIns="0" bIns="0" rtlCol="0" anchor="t"/>
          <a:lstStyle/>
          <a:p>
            <a:pPr indent="0" marL="0">
              <a:lnSpc>
                <a:spcPct val="122000"/>
              </a:lnSpc>
              <a:buNone/>
            </a:pPr>
            <a:r>
              <a:rPr lang="en-US" sz="1300" dirty="0">
                <a:solidFill>
                  <a:srgbClr val="44534C"/>
                </a:solidFill>
                <a:latin typeface="Calibri" pitchFamily="34" charset="0"/>
                <a:ea typeface="Calibri" pitchFamily="34" charset="-122"/>
                <a:cs typeface="Calibri" pitchFamily="34" charset="-120"/>
              </a:rPr>
              <a:t>None of this was buildable, or sellable, by one person three years ago.</a:t>
            </a:r>
            <a:endParaRPr lang="en-US" sz="1300" dirty="0"/>
          </a:p>
        </p:txBody>
      </p:sp>
      <p:sp>
        <p:nvSpPr>
          <p:cNvPr id="7" name="Shape 5"/>
          <p:cNvSpPr/>
          <p:nvPr/>
        </p:nvSpPr>
        <p:spPr>
          <a:xfrm>
            <a:off x="658368" y="2286000"/>
            <a:ext cx="2635758" cy="2670048"/>
          </a:xfrm>
          <a:prstGeom prst="roundRect">
            <a:avLst>
              <a:gd name="adj" fmla="val 3122"/>
            </a:avLst>
          </a:prstGeom>
          <a:solidFill>
            <a:srgbClr val="F2F5F3"/>
          </a:solidFill>
          <a:ln/>
        </p:spPr>
      </p:sp>
      <p:sp>
        <p:nvSpPr>
          <p:cNvPr id="8" name="Text 6"/>
          <p:cNvSpPr/>
          <p:nvPr/>
        </p:nvSpPr>
        <p:spPr>
          <a:xfrm>
            <a:off x="877824" y="2487168"/>
            <a:ext cx="2196846" cy="640080"/>
          </a:xfrm>
          <a:prstGeom prst="rect">
            <a:avLst/>
          </a:prstGeom>
          <a:noFill/>
          <a:ln/>
        </p:spPr>
        <p:txBody>
          <a:bodyPr wrap="square" lIns="0" tIns="0" rIns="0" bIns="0" rtlCol="0" anchor="ctr"/>
          <a:lstStyle/>
          <a:p>
            <a:pPr indent="0" marL="0">
              <a:buNone/>
            </a:pPr>
            <a:r>
              <a:rPr lang="en-US" sz="3400" b="1" dirty="0">
                <a:solidFill>
                  <a:srgbClr val="12855A"/>
                </a:solidFill>
                <a:latin typeface="Cambria" pitchFamily="34" charset="0"/>
                <a:ea typeface="Cambria" pitchFamily="34" charset="-122"/>
                <a:cs typeface="Cambria" pitchFamily="34" charset="-120"/>
              </a:rPr>
              <a:t>24 mo</a:t>
            </a:r>
            <a:endParaRPr lang="en-US" sz="3400" dirty="0"/>
          </a:p>
        </p:txBody>
      </p:sp>
      <p:sp>
        <p:nvSpPr>
          <p:cNvPr id="9" name="Text 7"/>
          <p:cNvSpPr/>
          <p:nvPr/>
        </p:nvSpPr>
        <p:spPr>
          <a:xfrm>
            <a:off x="877824" y="3145536"/>
            <a:ext cx="2196846" cy="274320"/>
          </a:xfrm>
          <a:prstGeom prst="rect">
            <a:avLst/>
          </a:prstGeom>
          <a:noFill/>
          <a:ln/>
        </p:spPr>
        <p:txBody>
          <a:bodyPr wrap="square" lIns="0" tIns="0" rIns="0" bIns="0" rtlCol="0" anchor="t"/>
          <a:lstStyle/>
          <a:p>
            <a:pPr algn="l" indent="0" marL="0">
              <a:lnSpc>
                <a:spcPct val="120000"/>
              </a:lnSpc>
              <a:buNone/>
            </a:pPr>
            <a:r>
              <a:rPr lang="en-US" sz="1050" b="1" dirty="0">
                <a:solidFill>
                  <a:srgbClr val="0B1210"/>
                </a:solidFill>
                <a:latin typeface="Calibri" pitchFamily="34" charset="0"/>
                <a:ea typeface="Calibri" pitchFamily="34" charset="-122"/>
                <a:cs typeface="Calibri" pitchFamily="34" charset="-120"/>
              </a:rPr>
              <a:t>of transaction history</a:t>
            </a:r>
            <a:endParaRPr lang="en-US" sz="1050" dirty="0"/>
          </a:p>
        </p:txBody>
      </p:sp>
      <p:sp>
        <p:nvSpPr>
          <p:cNvPr id="10" name="Text 8"/>
          <p:cNvSpPr/>
          <p:nvPr/>
        </p:nvSpPr>
        <p:spPr>
          <a:xfrm>
            <a:off x="877824" y="3529584"/>
            <a:ext cx="2196846" cy="146304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Plaid exposes category, merchant, amount and recurring-stream data — with the user's explicit consent. The detector is an API call, not a research project.</a:t>
            </a:r>
            <a:endParaRPr lang="en-US" sz="1000" dirty="0"/>
          </a:p>
        </p:txBody>
      </p:sp>
      <p:sp>
        <p:nvSpPr>
          <p:cNvPr id="11" name="Shape 9"/>
          <p:cNvSpPr/>
          <p:nvPr/>
        </p:nvSpPr>
        <p:spPr>
          <a:xfrm>
            <a:off x="3403854" y="2286000"/>
            <a:ext cx="2635758" cy="2670048"/>
          </a:xfrm>
          <a:prstGeom prst="roundRect">
            <a:avLst>
              <a:gd name="adj" fmla="val 3122"/>
            </a:avLst>
          </a:prstGeom>
          <a:solidFill>
            <a:srgbClr val="F2F5F3"/>
          </a:solidFill>
          <a:ln/>
        </p:spPr>
      </p:sp>
      <p:sp>
        <p:nvSpPr>
          <p:cNvPr id="12" name="Text 10"/>
          <p:cNvSpPr/>
          <p:nvPr/>
        </p:nvSpPr>
        <p:spPr>
          <a:xfrm>
            <a:off x="3623310" y="2487168"/>
            <a:ext cx="2196846" cy="640080"/>
          </a:xfrm>
          <a:prstGeom prst="rect">
            <a:avLst/>
          </a:prstGeom>
          <a:noFill/>
          <a:ln/>
        </p:spPr>
        <p:txBody>
          <a:bodyPr wrap="square" lIns="0" tIns="0" rIns="0" bIns="0" rtlCol="0" anchor="ctr"/>
          <a:lstStyle/>
          <a:p>
            <a:pPr indent="0" marL="0">
              <a:buNone/>
            </a:pPr>
            <a:r>
              <a:rPr lang="en-US" sz="3400" b="1" dirty="0">
                <a:solidFill>
                  <a:srgbClr val="12855A"/>
                </a:solidFill>
                <a:latin typeface="Cambria" pitchFamily="34" charset="0"/>
                <a:ea typeface="Cambria" pitchFamily="34" charset="-122"/>
                <a:cs typeface="Cambria" pitchFamily="34" charset="-120"/>
              </a:rPr>
              <a:t>10M+</a:t>
            </a:r>
            <a:endParaRPr lang="en-US" sz="3400" dirty="0"/>
          </a:p>
        </p:txBody>
      </p:sp>
      <p:sp>
        <p:nvSpPr>
          <p:cNvPr id="13" name="Text 11"/>
          <p:cNvSpPr/>
          <p:nvPr/>
        </p:nvSpPr>
        <p:spPr>
          <a:xfrm>
            <a:off x="3623310" y="3145536"/>
            <a:ext cx="2196846" cy="274320"/>
          </a:xfrm>
          <a:prstGeom prst="rect">
            <a:avLst/>
          </a:prstGeom>
          <a:noFill/>
          <a:ln/>
        </p:spPr>
        <p:txBody>
          <a:bodyPr wrap="square" lIns="0" tIns="0" rIns="0" bIns="0" rtlCol="0" anchor="t"/>
          <a:lstStyle/>
          <a:p>
            <a:pPr algn="l" indent="0" marL="0">
              <a:lnSpc>
                <a:spcPct val="120000"/>
              </a:lnSpc>
              <a:buNone/>
            </a:pPr>
            <a:r>
              <a:rPr lang="en-US" sz="1050" b="1" dirty="0">
                <a:solidFill>
                  <a:srgbClr val="0B1210"/>
                </a:solidFill>
                <a:latin typeface="Calibri" pitchFamily="34" charset="0"/>
                <a:ea typeface="Calibri" pitchFamily="34" charset="-122"/>
                <a:cs typeface="Calibri" pitchFamily="34" charset="-120"/>
              </a:rPr>
              <a:t>Rocket Money members</a:t>
            </a:r>
            <a:endParaRPr lang="en-US" sz="1050" dirty="0"/>
          </a:p>
        </p:txBody>
      </p:sp>
      <p:sp>
        <p:nvSpPr>
          <p:cNvPr id="14" name="Text 12"/>
          <p:cNvSpPr/>
          <p:nvPr/>
        </p:nvSpPr>
        <p:spPr>
          <a:xfrm>
            <a:off x="3623310" y="3529584"/>
            <a:ext cx="2196846" cy="146304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Bank-linked spend management is mainstream consumer behaviour now, not an early-adopter habit. The permission is already granted elsewhere.</a:t>
            </a:r>
            <a:endParaRPr lang="en-US" sz="1000" dirty="0"/>
          </a:p>
        </p:txBody>
      </p:sp>
      <p:sp>
        <p:nvSpPr>
          <p:cNvPr id="15" name="Shape 13"/>
          <p:cNvSpPr/>
          <p:nvPr/>
        </p:nvSpPr>
        <p:spPr>
          <a:xfrm>
            <a:off x="6149340" y="2286000"/>
            <a:ext cx="2635758" cy="2670048"/>
          </a:xfrm>
          <a:prstGeom prst="roundRect">
            <a:avLst>
              <a:gd name="adj" fmla="val 3122"/>
            </a:avLst>
          </a:prstGeom>
          <a:solidFill>
            <a:srgbClr val="F2F5F3"/>
          </a:solidFill>
          <a:ln/>
        </p:spPr>
      </p:sp>
      <p:sp>
        <p:nvSpPr>
          <p:cNvPr id="16" name="Text 14"/>
          <p:cNvSpPr/>
          <p:nvPr/>
        </p:nvSpPr>
        <p:spPr>
          <a:xfrm>
            <a:off x="6368796" y="2487168"/>
            <a:ext cx="2196846" cy="640080"/>
          </a:xfrm>
          <a:prstGeom prst="rect">
            <a:avLst/>
          </a:prstGeom>
          <a:noFill/>
          <a:ln/>
        </p:spPr>
        <p:txBody>
          <a:bodyPr wrap="square" lIns="0" tIns="0" rIns="0" bIns="0" rtlCol="0" anchor="ctr"/>
          <a:lstStyle/>
          <a:p>
            <a:pPr indent="0" marL="0">
              <a:buNone/>
            </a:pPr>
            <a:r>
              <a:rPr lang="en-US" sz="3400" b="1" dirty="0">
                <a:solidFill>
                  <a:srgbClr val="12855A"/>
                </a:solidFill>
                <a:latin typeface="Cambria" pitchFamily="34" charset="0"/>
                <a:ea typeface="Cambria" pitchFamily="34" charset="-122"/>
                <a:cs typeface="Cambria" pitchFamily="34" charset="-120"/>
              </a:rPr>
              <a:t>1M+</a:t>
            </a:r>
            <a:endParaRPr lang="en-US" sz="3400" dirty="0"/>
          </a:p>
        </p:txBody>
      </p:sp>
      <p:sp>
        <p:nvSpPr>
          <p:cNvPr id="17" name="Text 15"/>
          <p:cNvSpPr/>
          <p:nvPr/>
        </p:nvSpPr>
        <p:spPr>
          <a:xfrm>
            <a:off x="6368796" y="3145536"/>
            <a:ext cx="2196846" cy="274320"/>
          </a:xfrm>
          <a:prstGeom prst="rect">
            <a:avLst/>
          </a:prstGeom>
          <a:noFill/>
          <a:ln/>
        </p:spPr>
        <p:txBody>
          <a:bodyPr wrap="square" lIns="0" tIns="0" rIns="0" bIns="0" rtlCol="0" anchor="t"/>
          <a:lstStyle/>
          <a:p>
            <a:pPr algn="l" indent="0" marL="0">
              <a:lnSpc>
                <a:spcPct val="120000"/>
              </a:lnSpc>
              <a:buNone/>
            </a:pPr>
            <a:r>
              <a:rPr lang="en-US" sz="1050" b="1" dirty="0">
                <a:solidFill>
                  <a:srgbClr val="0B1210"/>
                </a:solidFill>
                <a:latin typeface="Calibri" pitchFamily="34" charset="0"/>
                <a:ea typeface="Calibri" pitchFamily="34" charset="-122"/>
                <a:cs typeface="Calibri" pitchFamily="34" charset="-120"/>
              </a:rPr>
              <a:t>Betterment customers</a:t>
            </a:r>
            <a:endParaRPr lang="en-US" sz="1050" dirty="0"/>
          </a:p>
        </p:txBody>
      </p:sp>
      <p:sp>
        <p:nvSpPr>
          <p:cNvPr id="18" name="Text 16"/>
          <p:cNvSpPr/>
          <p:nvPr/>
        </p:nvSpPr>
        <p:spPr>
          <a:xfrm>
            <a:off x="6368796" y="3529584"/>
            <a:ext cx="2196846" cy="1463040"/>
          </a:xfrm>
          <a:prstGeom prst="rect">
            <a:avLst/>
          </a:prstGeom>
          <a:noFill/>
          <a:ln/>
        </p:spPr>
        <p:txBody>
          <a:bodyPr wrap="square" lIns="0" tIns="0" rIns="0" bIns="0" rtlCol="0" anchor="t"/>
          <a:lstStyle/>
          <a:p>
            <a:pPr algn="l" indent="0" marL="0">
              <a:lnSpc>
                <a:spcPct val="120000"/>
              </a:lnSpc>
              <a:buNone/>
            </a:pPr>
            <a:r>
              <a:rPr lang="en-US" sz="1000" dirty="0">
                <a:solidFill>
                  <a:srgbClr val="44534C"/>
                </a:solidFill>
                <a:latin typeface="Calibri" pitchFamily="34" charset="0"/>
                <a:ea typeface="Calibri" pitchFamily="34" charset="-122"/>
                <a:cs typeface="Calibri" pitchFamily="34" charset="-120"/>
              </a:rPr>
              <a:t>Goal-based saving reaches scale when the goal comes first. We take the same premise and refuse to limit the answer to one asset class.</a:t>
            </a:r>
            <a:endParaRPr lang="en-US" sz="1000" dirty="0"/>
          </a:p>
        </p:txBody>
      </p:sp>
      <p:sp>
        <p:nvSpPr>
          <p:cNvPr id="19" name="Shape 17"/>
          <p:cNvSpPr/>
          <p:nvPr/>
        </p:nvSpPr>
        <p:spPr>
          <a:xfrm>
            <a:off x="8894826" y="2286000"/>
            <a:ext cx="2635758" cy="2670048"/>
          </a:xfrm>
          <a:prstGeom prst="roundRect">
            <a:avLst>
              <a:gd name="adj" fmla="val 3122"/>
            </a:avLst>
          </a:prstGeom>
          <a:solidFill>
            <a:srgbClr val="0B1210"/>
          </a:solidFill>
          <a:ln/>
        </p:spPr>
      </p:sp>
      <p:sp>
        <p:nvSpPr>
          <p:cNvPr id="20" name="Text 18"/>
          <p:cNvSpPr/>
          <p:nvPr/>
        </p:nvSpPr>
        <p:spPr>
          <a:xfrm>
            <a:off x="9114282" y="2487168"/>
            <a:ext cx="2196846" cy="640080"/>
          </a:xfrm>
          <a:prstGeom prst="rect">
            <a:avLst/>
          </a:prstGeom>
          <a:noFill/>
          <a:ln/>
        </p:spPr>
        <p:txBody>
          <a:bodyPr wrap="square" lIns="0" tIns="0" rIns="0" bIns="0" rtlCol="0" anchor="ctr"/>
          <a:lstStyle/>
          <a:p>
            <a:pPr indent="0" marL="0">
              <a:buNone/>
            </a:pPr>
            <a:r>
              <a:rPr lang="en-US" sz="3400" b="1" dirty="0">
                <a:solidFill>
                  <a:srgbClr val="2ECC7F"/>
                </a:solidFill>
                <a:latin typeface="Cambria" pitchFamily="34" charset="0"/>
                <a:ea typeface="Cambria" pitchFamily="34" charset="-122"/>
                <a:cs typeface="Cambria" pitchFamily="34" charset="-120"/>
              </a:rPr>
              <a:t>1</a:t>
            </a:r>
            <a:endParaRPr lang="en-US" sz="3400" dirty="0"/>
          </a:p>
        </p:txBody>
      </p:sp>
      <p:sp>
        <p:nvSpPr>
          <p:cNvPr id="21" name="Text 19"/>
          <p:cNvSpPr/>
          <p:nvPr/>
        </p:nvSpPr>
        <p:spPr>
          <a:xfrm>
            <a:off x="9114282" y="3145536"/>
            <a:ext cx="2196846" cy="274320"/>
          </a:xfrm>
          <a:prstGeom prst="rect">
            <a:avLst/>
          </a:prstGeom>
          <a:noFill/>
          <a:ln/>
        </p:spPr>
        <p:txBody>
          <a:bodyPr wrap="square" lIns="0" tIns="0" rIns="0" bIns="0" rtlCol="0" anchor="t"/>
          <a:lstStyle/>
          <a:p>
            <a:pPr algn="l" indent="0" marL="0">
              <a:lnSpc>
                <a:spcPct val="120000"/>
              </a:lnSpc>
              <a:buNone/>
            </a:pPr>
            <a:r>
              <a:rPr lang="en-US" sz="1050" b="1" dirty="0">
                <a:solidFill>
                  <a:srgbClr val="FFFFFF"/>
                </a:solidFill>
                <a:latin typeface="Calibri" pitchFamily="34" charset="0"/>
                <a:ea typeface="Calibri" pitchFamily="34" charset="-122"/>
                <a:cs typeface="Calibri" pitchFamily="34" charset="-120"/>
              </a:rPr>
              <a:t>engineer</a:t>
            </a:r>
            <a:endParaRPr lang="en-US" sz="1050" dirty="0"/>
          </a:p>
        </p:txBody>
      </p:sp>
      <p:sp>
        <p:nvSpPr>
          <p:cNvPr id="22" name="Text 20"/>
          <p:cNvSpPr/>
          <p:nvPr/>
        </p:nvSpPr>
        <p:spPr>
          <a:xfrm>
            <a:off x="9114282" y="3529584"/>
            <a:ext cx="2196846" cy="1463040"/>
          </a:xfrm>
          <a:prstGeom prst="rect">
            <a:avLst/>
          </a:prstGeom>
          <a:noFill/>
          <a:ln/>
        </p:spPr>
        <p:txBody>
          <a:bodyPr wrap="square" lIns="0" tIns="0" rIns="0" bIns="0" rtlCol="0" anchor="t"/>
          <a:lstStyle/>
          <a:p>
            <a:pPr algn="l" indent="0" marL="0">
              <a:lnSpc>
                <a:spcPct val="120000"/>
              </a:lnSpc>
              <a:buNone/>
            </a:pPr>
            <a:r>
              <a:rPr lang="en-US" sz="1000" dirty="0">
                <a:solidFill>
                  <a:srgbClr val="A9B6AF"/>
                </a:solidFill>
                <a:latin typeface="Calibri" pitchFamily="34" charset="0"/>
                <a:ea typeface="Calibri" pitchFamily="34" charset="-122"/>
                <a:cs typeface="Calibri" pitchFamily="34" charset="-120"/>
              </a:rPr>
              <a:t>Ten live integrations, a deterministic scoring engine, auth and payments — shipped. This was a funded team's year of work.</a:t>
            </a:r>
            <a:endParaRPr lang="en-US" sz="1000" dirty="0"/>
          </a:p>
        </p:txBody>
      </p:sp>
      <p:sp>
        <p:nvSpPr>
          <p:cNvPr id="23" name="Shape 21"/>
          <p:cNvSpPr/>
          <p:nvPr/>
        </p:nvSpPr>
        <p:spPr>
          <a:xfrm>
            <a:off x="658368" y="5175504"/>
            <a:ext cx="10872216" cy="822960"/>
          </a:xfrm>
          <a:prstGeom prst="roundRect">
            <a:avLst>
              <a:gd name="adj" fmla="val 10000"/>
            </a:avLst>
          </a:prstGeom>
          <a:solidFill>
            <a:srgbClr val="E6F4EE"/>
          </a:solidFill>
          <a:ln/>
        </p:spPr>
      </p:sp>
      <p:sp>
        <p:nvSpPr>
          <p:cNvPr id="24" name="Text 22"/>
          <p:cNvSpPr/>
          <p:nvPr/>
        </p:nvSpPr>
        <p:spPr>
          <a:xfrm>
            <a:off x="877824" y="5285232"/>
            <a:ext cx="10433304" cy="658368"/>
          </a:xfrm>
          <a:prstGeom prst="rect">
            <a:avLst/>
          </a:prstGeom>
          <a:noFill/>
          <a:ln/>
        </p:spPr>
        <p:txBody>
          <a:bodyPr wrap="square" lIns="0" tIns="0" rIns="0" bIns="0" rtlCol="0" anchor="t"/>
          <a:lstStyle/>
          <a:p>
            <a:pPr algn="l" indent="0" marL="0">
              <a:lnSpc>
                <a:spcPct val="120000"/>
              </a:lnSpc>
              <a:buNone/>
            </a:pPr>
            <a:r>
              <a:rPr lang="en-US" sz="1050" b="1" dirty="0">
                <a:solidFill>
                  <a:srgbClr val="0A5C3E"/>
                </a:solidFill>
                <a:latin typeface="Calibri" pitchFamily="34" charset="0"/>
                <a:ea typeface="Calibri" pitchFamily="34" charset="-122"/>
                <a:cs typeface="Calibri" pitchFamily="34" charset="-120"/>
              </a:rPr>
              <a:t>And the trust vacuum is at its widest. </a:t>
            </a:r>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The CFPB's own reporting documents rewards complexity, devaluation and redemption friction, and warns that revolving interest and fees routinely outweigh the rewards earned. Those are the exact conditions a transparent optimiser is built for — and the exact conditions that make an honest answer worth paying for.</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21</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06.02  ·  THE BEACHHEAD</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Start with people who have money</a:t>
            </a:r>
            <a:endParaRPr lang="en-US" sz="3000" dirty="0"/>
          </a:p>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and no system.</a:t>
            </a:r>
            <a:endParaRPr lang="en-US" sz="3000" dirty="0"/>
          </a:p>
        </p:txBody>
      </p:sp>
      <p:sp>
        <p:nvSpPr>
          <p:cNvPr id="6" name="Shape 4"/>
          <p:cNvSpPr/>
          <p:nvPr/>
        </p:nvSpPr>
        <p:spPr>
          <a:xfrm>
            <a:off x="658368" y="1700784"/>
            <a:ext cx="4663440" cy="3931920"/>
          </a:xfrm>
          <a:prstGeom prst="roundRect">
            <a:avLst>
              <a:gd name="adj" fmla="val 2093"/>
            </a:avLst>
          </a:prstGeom>
          <a:solidFill>
            <a:srgbClr val="F2F5F3"/>
          </a:solidFill>
          <a:ln/>
        </p:spPr>
      </p:sp>
      <p:sp>
        <p:nvSpPr>
          <p:cNvPr id="7" name="Shape 5"/>
          <p:cNvSpPr/>
          <p:nvPr/>
        </p:nvSpPr>
        <p:spPr>
          <a:xfrm>
            <a:off x="932688" y="1901952"/>
            <a:ext cx="457200" cy="457200"/>
          </a:xfrm>
          <a:prstGeom prst="roundRect">
            <a:avLst>
              <a:gd name="adj" fmla="val 11000"/>
            </a:avLst>
          </a:prstGeom>
          <a:solidFill>
            <a:srgbClr val="0B1210"/>
          </a:solidFill>
          <a:ln/>
        </p:spPr>
      </p:sp>
      <p:sp>
        <p:nvSpPr>
          <p:cNvPr id="8" name="Text 6"/>
          <p:cNvSpPr/>
          <p:nvPr/>
        </p:nvSpPr>
        <p:spPr>
          <a:xfrm>
            <a:off x="932688" y="190195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E</a:t>
            </a:r>
            <a:endParaRPr lang="en-US" sz="2000" dirty="0"/>
          </a:p>
        </p:txBody>
      </p:sp>
      <p:sp>
        <p:nvSpPr>
          <p:cNvPr id="9" name="Text 7"/>
          <p:cNvSpPr/>
          <p:nvPr/>
        </p:nvSpPr>
        <p:spPr>
          <a:xfrm>
            <a:off x="1536192" y="1920240"/>
            <a:ext cx="2743200" cy="420624"/>
          </a:xfrm>
          <a:prstGeom prst="rect">
            <a:avLst/>
          </a:prstGeom>
          <a:noFill/>
          <a:ln/>
        </p:spPr>
        <p:txBody>
          <a:bodyPr wrap="square" lIns="0" tIns="0" rIns="0" bIns="0" rtlCol="0" anchor="ctr"/>
          <a:lstStyle/>
          <a:p>
            <a:pPr algn="l" indent="0" marL="0">
              <a:buNone/>
            </a:pPr>
            <a:r>
              <a:rPr lang="en-US" sz="2200" b="1" dirty="0">
                <a:solidFill>
                  <a:srgbClr val="0B1210"/>
                </a:solidFill>
                <a:latin typeface="Cambria" pitchFamily="34" charset="0"/>
                <a:ea typeface="Cambria" pitchFamily="34" charset="-122"/>
                <a:cs typeface="Cambria" pitchFamily="34" charset="-120"/>
              </a:rPr>
              <a:t>Eddie</a:t>
            </a:r>
            <a:endParaRPr lang="en-US" sz="2200" dirty="0"/>
          </a:p>
        </p:txBody>
      </p:sp>
      <p:sp>
        <p:nvSpPr>
          <p:cNvPr id="10" name="Text 8"/>
          <p:cNvSpPr/>
          <p:nvPr/>
        </p:nvSpPr>
        <p:spPr>
          <a:xfrm>
            <a:off x="1536192" y="2286000"/>
            <a:ext cx="3291840" cy="182880"/>
          </a:xfrm>
          <a:prstGeom prst="rect">
            <a:avLst/>
          </a:prstGeom>
          <a:noFill/>
          <a:ln/>
        </p:spPr>
        <p:txBody>
          <a:bodyPr wrap="square" lIns="0" tIns="0" rIns="0" bIns="0" rtlCol="0" anchor="ctr"/>
          <a:lstStyle/>
          <a:p>
            <a:pPr algn="l" indent="0" marL="0">
              <a:buNone/>
            </a:pPr>
            <a:r>
              <a:rPr lang="en-US" sz="750" b="1" spc="140" kern="0" dirty="0">
                <a:solidFill>
                  <a:srgbClr val="6C7C74"/>
                </a:solidFill>
                <a:latin typeface="Calibri" pitchFamily="34" charset="0"/>
                <a:ea typeface="Calibri" pitchFamily="34" charset="-122"/>
                <a:cs typeface="Calibri" pitchFamily="34" charset="-120"/>
              </a:rPr>
              <a:t>THE NAMED FIRST CUSTOMER</a:t>
            </a:r>
            <a:endParaRPr lang="en-US" sz="750" dirty="0"/>
          </a:p>
        </p:txBody>
      </p:sp>
      <p:sp>
        <p:nvSpPr>
          <p:cNvPr id="11" name="Shape 9"/>
          <p:cNvSpPr/>
          <p:nvPr/>
        </p:nvSpPr>
        <p:spPr>
          <a:xfrm>
            <a:off x="932688" y="2889504"/>
            <a:ext cx="64008" cy="64008"/>
          </a:xfrm>
          <a:prstGeom prst="rect">
            <a:avLst/>
          </a:prstGeom>
          <a:solidFill>
            <a:srgbClr val="12855A"/>
          </a:solidFill>
          <a:ln/>
        </p:spPr>
      </p:sp>
      <p:sp>
        <p:nvSpPr>
          <p:cNvPr id="12" name="Text 10"/>
          <p:cNvSpPr/>
          <p:nvPr/>
        </p:nvSpPr>
        <p:spPr>
          <a:xfrm>
            <a:off x="1115568" y="2798064"/>
            <a:ext cx="4023360" cy="457200"/>
          </a:xfrm>
          <a:prstGeom prst="rect">
            <a:avLst/>
          </a:prstGeom>
          <a:noFill/>
          <a:ln/>
        </p:spPr>
        <p:txBody>
          <a:bodyPr wrap="square" lIns="0" tIns="0" rIns="0" bIns="0" rtlCol="0" anchor="t"/>
          <a:lstStyle/>
          <a:p>
            <a:pPr algn="l" indent="0" marL="0">
              <a:lnSpc>
                <a:spcPct val="120000"/>
              </a:lnSpc>
              <a:buNone/>
            </a:pPr>
            <a:r>
              <a:rPr lang="en-US" sz="1100" dirty="0">
                <a:solidFill>
                  <a:srgbClr val="44534C"/>
                </a:solidFill>
                <a:latin typeface="Calibri" pitchFamily="34" charset="0"/>
                <a:ea typeface="Calibri" pitchFamily="34" charset="-122"/>
                <a:cs typeface="Calibri" pitchFamily="34" charset="-120"/>
              </a:rPr>
              <a:t>Skilled trades or a professional role. Real disposable income.</a:t>
            </a:r>
            <a:endParaRPr lang="en-US" sz="1100" dirty="0"/>
          </a:p>
        </p:txBody>
      </p:sp>
      <p:sp>
        <p:nvSpPr>
          <p:cNvPr id="13" name="Shape 11"/>
          <p:cNvSpPr/>
          <p:nvPr/>
        </p:nvSpPr>
        <p:spPr>
          <a:xfrm>
            <a:off x="932688" y="3456432"/>
            <a:ext cx="64008" cy="64008"/>
          </a:xfrm>
          <a:prstGeom prst="rect">
            <a:avLst/>
          </a:prstGeom>
          <a:solidFill>
            <a:srgbClr val="12855A"/>
          </a:solidFill>
          <a:ln/>
        </p:spPr>
      </p:sp>
      <p:sp>
        <p:nvSpPr>
          <p:cNvPr id="14" name="Text 12"/>
          <p:cNvSpPr/>
          <p:nvPr/>
        </p:nvSpPr>
        <p:spPr>
          <a:xfrm>
            <a:off x="1115568" y="3364992"/>
            <a:ext cx="4023360" cy="457200"/>
          </a:xfrm>
          <a:prstGeom prst="rect">
            <a:avLst/>
          </a:prstGeom>
          <a:noFill/>
          <a:ln/>
        </p:spPr>
        <p:txBody>
          <a:bodyPr wrap="square" lIns="0" tIns="0" rIns="0" bIns="0" rtlCol="0" anchor="t"/>
          <a:lstStyle/>
          <a:p>
            <a:pPr algn="l" indent="0" marL="0">
              <a:lnSpc>
                <a:spcPct val="120000"/>
              </a:lnSpc>
              <a:buNone/>
            </a:pPr>
            <a:r>
              <a:rPr lang="en-US" sz="1100" dirty="0">
                <a:solidFill>
                  <a:srgbClr val="44534C"/>
                </a:solidFill>
                <a:latin typeface="Calibri" pitchFamily="34" charset="0"/>
                <a:ea typeface="Calibri" pitchFamily="34" charset="-122"/>
                <a:cs typeface="Calibri" pitchFamily="34" charset="-120"/>
              </a:rPr>
              <a:t>Financially unsophisticated, and entirely aware of it.</a:t>
            </a:r>
            <a:endParaRPr lang="en-US" sz="1100" dirty="0"/>
          </a:p>
        </p:txBody>
      </p:sp>
      <p:sp>
        <p:nvSpPr>
          <p:cNvPr id="15" name="Shape 13"/>
          <p:cNvSpPr/>
          <p:nvPr/>
        </p:nvSpPr>
        <p:spPr>
          <a:xfrm>
            <a:off x="932688" y="4023360"/>
            <a:ext cx="64008" cy="64008"/>
          </a:xfrm>
          <a:prstGeom prst="rect">
            <a:avLst/>
          </a:prstGeom>
          <a:solidFill>
            <a:srgbClr val="12855A"/>
          </a:solidFill>
          <a:ln/>
        </p:spPr>
      </p:sp>
      <p:sp>
        <p:nvSpPr>
          <p:cNvPr id="16" name="Text 14"/>
          <p:cNvSpPr/>
          <p:nvPr/>
        </p:nvSpPr>
        <p:spPr>
          <a:xfrm>
            <a:off x="1115568" y="3931920"/>
            <a:ext cx="4023360" cy="457200"/>
          </a:xfrm>
          <a:prstGeom prst="rect">
            <a:avLst/>
          </a:prstGeom>
          <a:noFill/>
          <a:ln/>
        </p:spPr>
        <p:txBody>
          <a:bodyPr wrap="square" lIns="0" tIns="0" rIns="0" bIns="0" rtlCol="0" anchor="t"/>
          <a:lstStyle/>
          <a:p>
            <a:pPr algn="l" indent="0" marL="0">
              <a:lnSpc>
                <a:spcPct val="120000"/>
              </a:lnSpc>
              <a:buNone/>
            </a:pPr>
            <a:r>
              <a:rPr lang="en-US" sz="1100" dirty="0">
                <a:solidFill>
                  <a:srgbClr val="44534C"/>
                </a:solidFill>
                <a:latin typeface="Calibri" pitchFamily="34" charset="0"/>
                <a:ea typeface="Calibri" pitchFamily="34" charset="-122"/>
                <a:cs typeface="Calibri" pitchFamily="34" charset="-120"/>
              </a:rPr>
              <a:t>More afraid of looking foolish than of losing money.</a:t>
            </a:r>
            <a:endParaRPr lang="en-US" sz="1100" dirty="0"/>
          </a:p>
        </p:txBody>
      </p:sp>
      <p:sp>
        <p:nvSpPr>
          <p:cNvPr id="17" name="Shape 15"/>
          <p:cNvSpPr/>
          <p:nvPr/>
        </p:nvSpPr>
        <p:spPr>
          <a:xfrm>
            <a:off x="932688" y="4590288"/>
            <a:ext cx="64008" cy="64008"/>
          </a:xfrm>
          <a:prstGeom prst="rect">
            <a:avLst/>
          </a:prstGeom>
          <a:solidFill>
            <a:srgbClr val="12855A"/>
          </a:solidFill>
          <a:ln/>
        </p:spPr>
      </p:sp>
      <p:sp>
        <p:nvSpPr>
          <p:cNvPr id="18" name="Text 16"/>
          <p:cNvSpPr/>
          <p:nvPr/>
        </p:nvSpPr>
        <p:spPr>
          <a:xfrm>
            <a:off x="1115568" y="4498848"/>
            <a:ext cx="4023360" cy="457200"/>
          </a:xfrm>
          <a:prstGeom prst="rect">
            <a:avLst/>
          </a:prstGeom>
          <a:noFill/>
          <a:ln/>
        </p:spPr>
        <p:txBody>
          <a:bodyPr wrap="square" lIns="0" tIns="0" rIns="0" bIns="0" rtlCol="0" anchor="t"/>
          <a:lstStyle/>
          <a:p>
            <a:pPr algn="l" indent="0" marL="0">
              <a:lnSpc>
                <a:spcPct val="120000"/>
              </a:lnSpc>
              <a:buNone/>
            </a:pPr>
            <a:r>
              <a:rPr lang="en-US" sz="1100" dirty="0">
                <a:solidFill>
                  <a:srgbClr val="44534C"/>
                </a:solidFill>
                <a:latin typeface="Calibri" pitchFamily="34" charset="0"/>
                <a:ea typeface="Calibri" pitchFamily="34" charset="-122"/>
                <a:cs typeface="Calibri" pitchFamily="34" charset="-120"/>
              </a:rPr>
              <a:t>Does nothing systematic today, or dabbles on scattered advice.</a:t>
            </a:r>
            <a:endParaRPr lang="en-US" sz="1100" dirty="0"/>
          </a:p>
        </p:txBody>
      </p:sp>
      <p:sp>
        <p:nvSpPr>
          <p:cNvPr id="19" name="Shape 17"/>
          <p:cNvSpPr/>
          <p:nvPr/>
        </p:nvSpPr>
        <p:spPr>
          <a:xfrm>
            <a:off x="932688" y="5029200"/>
            <a:ext cx="4114800" cy="457200"/>
          </a:xfrm>
          <a:prstGeom prst="roundRect">
            <a:avLst>
              <a:gd name="adj" fmla="val 14000"/>
            </a:avLst>
          </a:prstGeom>
          <a:solidFill>
            <a:srgbClr val="FFFFFF"/>
          </a:solidFill>
          <a:ln/>
        </p:spPr>
      </p:sp>
      <p:sp>
        <p:nvSpPr>
          <p:cNvPr id="20" name="Text 18"/>
          <p:cNvSpPr/>
          <p:nvPr/>
        </p:nvSpPr>
        <p:spPr>
          <a:xfrm>
            <a:off x="1078992" y="5029200"/>
            <a:ext cx="3840480" cy="457200"/>
          </a:xfrm>
          <a:prstGeom prst="rect">
            <a:avLst/>
          </a:prstGeom>
          <a:noFill/>
          <a:ln/>
        </p:spPr>
        <p:txBody>
          <a:bodyPr wrap="square" lIns="0" tIns="0" rIns="0" bIns="0" rtlCol="0" anchor="ctr"/>
          <a:lstStyle/>
          <a:p>
            <a:pPr algn="l" indent="0" marL="0">
              <a:lnSpc>
                <a:spcPct val="120000"/>
              </a:lnSpc>
              <a:buNone/>
            </a:pPr>
            <a:r>
              <a:rPr lang="en-US" sz="1100" i="1" dirty="0">
                <a:solidFill>
                  <a:srgbClr val="0B1210"/>
                </a:solidFill>
                <a:latin typeface="Calibri" pitchFamily="34" charset="0"/>
                <a:ea typeface="Calibri" pitchFamily="34" charset="-122"/>
                <a:cs typeface="Calibri" pitchFamily="34" charset="-120"/>
              </a:rPr>
              <a:t>“Just show me the safest realistic way to get there.”</a:t>
            </a:r>
            <a:endParaRPr lang="en-US" sz="1100" dirty="0"/>
          </a:p>
        </p:txBody>
      </p:sp>
      <p:sp>
        <p:nvSpPr>
          <p:cNvPr id="21" name="Shape 19"/>
          <p:cNvSpPr/>
          <p:nvPr/>
        </p:nvSpPr>
        <p:spPr>
          <a:xfrm>
            <a:off x="5650992" y="1700784"/>
            <a:ext cx="5879592" cy="1188720"/>
          </a:xfrm>
          <a:prstGeom prst="roundRect">
            <a:avLst>
              <a:gd name="adj" fmla="val 6923"/>
            </a:avLst>
          </a:prstGeom>
          <a:solidFill>
            <a:srgbClr val="FFFFFF"/>
          </a:solidFill>
          <a:ln w="9525">
            <a:solidFill>
              <a:srgbClr val="DCE3DF"/>
            </a:solidFill>
            <a:prstDash val="solid"/>
          </a:ln>
        </p:spPr>
      </p:sp>
      <p:sp>
        <p:nvSpPr>
          <p:cNvPr id="22" name="Text 20"/>
          <p:cNvSpPr/>
          <p:nvPr/>
        </p:nvSpPr>
        <p:spPr>
          <a:xfrm>
            <a:off x="5870448" y="1865376"/>
            <a:ext cx="3657600" cy="182880"/>
          </a:xfrm>
          <a:prstGeom prst="rect">
            <a:avLst/>
          </a:prstGeom>
          <a:noFill/>
          <a:ln/>
        </p:spPr>
        <p:txBody>
          <a:bodyPr wrap="square" lIns="0" tIns="0" rIns="0" bIns="0" rtlCol="0" anchor="ctr"/>
          <a:lstStyle/>
          <a:p>
            <a:pPr algn="l" indent="0" marL="0">
              <a:buNone/>
            </a:pPr>
            <a:r>
              <a:rPr lang="en-US" sz="800" b="1" spc="140" kern="0" dirty="0">
                <a:solidFill>
                  <a:srgbClr val="12855A"/>
                </a:solidFill>
                <a:latin typeface="Calibri" pitchFamily="34" charset="0"/>
                <a:ea typeface="Calibri" pitchFamily="34" charset="-122"/>
                <a:cs typeface="Calibri" pitchFamily="34" charset="-120"/>
              </a:rPr>
              <a:t>THE JOB TO BE DONE</a:t>
            </a:r>
            <a:endParaRPr lang="en-US" sz="800" dirty="0"/>
          </a:p>
        </p:txBody>
      </p:sp>
      <p:sp>
        <p:nvSpPr>
          <p:cNvPr id="23" name="Text 21"/>
          <p:cNvSpPr/>
          <p:nvPr/>
        </p:nvSpPr>
        <p:spPr>
          <a:xfrm>
            <a:off x="5870448" y="2121408"/>
            <a:ext cx="5440680" cy="658368"/>
          </a:xfrm>
          <a:prstGeom prst="rect">
            <a:avLst/>
          </a:prstGeom>
          <a:noFill/>
          <a:ln/>
        </p:spPr>
        <p:txBody>
          <a:bodyPr wrap="square" lIns="0" tIns="0" rIns="0" bIns="0" rtlCol="0" anchor="t"/>
          <a:lstStyle/>
          <a:p>
            <a:pPr algn="l" indent="0" marL="0">
              <a:lnSpc>
                <a:spcPct val="120000"/>
              </a:lnSpc>
              <a:buNone/>
            </a:pPr>
            <a:r>
              <a:rPr lang="en-US" sz="1100" dirty="0">
                <a:solidFill>
                  <a:srgbClr val="44534C"/>
                </a:solidFill>
                <a:latin typeface="Calibri" pitchFamily="34" charset="0"/>
                <a:ea typeface="Calibri" pitchFamily="34" charset="-122"/>
                <a:cs typeface="Calibri" pitchFamily="34" charset="-120"/>
              </a:rPr>
              <a:t>Replace six hours of scattered, contradictory research with one answer he can understand, trust, and come back to next quarter.</a:t>
            </a:r>
            <a:endParaRPr lang="en-US" sz="1100" dirty="0"/>
          </a:p>
        </p:txBody>
      </p:sp>
      <p:sp>
        <p:nvSpPr>
          <p:cNvPr id="24" name="Shape 22"/>
          <p:cNvSpPr/>
          <p:nvPr/>
        </p:nvSpPr>
        <p:spPr>
          <a:xfrm>
            <a:off x="5650992" y="3035808"/>
            <a:ext cx="5879592" cy="1188720"/>
          </a:xfrm>
          <a:prstGeom prst="roundRect">
            <a:avLst>
              <a:gd name="adj" fmla="val 6923"/>
            </a:avLst>
          </a:prstGeom>
          <a:solidFill>
            <a:srgbClr val="FFFFFF"/>
          </a:solidFill>
          <a:ln w="9525">
            <a:solidFill>
              <a:srgbClr val="DCE3DF"/>
            </a:solidFill>
            <a:prstDash val="solid"/>
          </a:ln>
        </p:spPr>
      </p:sp>
      <p:sp>
        <p:nvSpPr>
          <p:cNvPr id="25" name="Text 23"/>
          <p:cNvSpPr/>
          <p:nvPr/>
        </p:nvSpPr>
        <p:spPr>
          <a:xfrm>
            <a:off x="5870448" y="3200400"/>
            <a:ext cx="3657600" cy="182880"/>
          </a:xfrm>
          <a:prstGeom prst="rect">
            <a:avLst/>
          </a:prstGeom>
          <a:noFill/>
          <a:ln/>
        </p:spPr>
        <p:txBody>
          <a:bodyPr wrap="square" lIns="0" tIns="0" rIns="0" bIns="0" rtlCol="0" anchor="ctr"/>
          <a:lstStyle/>
          <a:p>
            <a:pPr algn="l" indent="0" marL="0">
              <a:buNone/>
            </a:pPr>
            <a:r>
              <a:rPr lang="en-US" sz="800" b="1" spc="140" kern="0" dirty="0">
                <a:solidFill>
                  <a:srgbClr val="12855A"/>
                </a:solidFill>
                <a:latin typeface="Calibri" pitchFamily="34" charset="0"/>
                <a:ea typeface="Calibri" pitchFamily="34" charset="-122"/>
                <a:cs typeface="Calibri" pitchFamily="34" charset="-120"/>
              </a:rPr>
              <a:t>WHY HIM FIRST</a:t>
            </a:r>
            <a:endParaRPr lang="en-US" sz="800" dirty="0"/>
          </a:p>
        </p:txBody>
      </p:sp>
      <p:sp>
        <p:nvSpPr>
          <p:cNvPr id="26" name="Text 24"/>
          <p:cNvSpPr/>
          <p:nvPr/>
        </p:nvSpPr>
        <p:spPr>
          <a:xfrm>
            <a:off x="5870448" y="3456432"/>
            <a:ext cx="5440680" cy="658368"/>
          </a:xfrm>
          <a:prstGeom prst="rect">
            <a:avLst/>
          </a:prstGeom>
          <a:noFill/>
          <a:ln/>
        </p:spPr>
        <p:txBody>
          <a:bodyPr wrap="square" lIns="0" tIns="0" rIns="0" bIns="0" rtlCol="0" anchor="t"/>
          <a:lstStyle/>
          <a:p>
            <a:pPr algn="l" indent="0" marL="0">
              <a:lnSpc>
                <a:spcPct val="120000"/>
              </a:lnSpc>
              <a:buNone/>
            </a:pPr>
            <a:r>
              <a:rPr lang="en-US" sz="1100" dirty="0">
                <a:solidFill>
                  <a:srgbClr val="44534C"/>
                </a:solidFill>
                <a:latin typeface="Calibri" pitchFamily="34" charset="0"/>
                <a:ea typeface="Calibri" pitchFamily="34" charset="-122"/>
                <a:cs typeface="Calibri" pitchFamily="34" charset="-120"/>
              </a:rPr>
              <a:t>Income, low financial literacy and real caution — and reachable with no paid acquisition at all, through the founder's own network of trades and professionals.</a:t>
            </a:r>
            <a:endParaRPr lang="en-US" sz="1100" dirty="0"/>
          </a:p>
        </p:txBody>
      </p:sp>
      <p:sp>
        <p:nvSpPr>
          <p:cNvPr id="27" name="Shape 25"/>
          <p:cNvSpPr/>
          <p:nvPr/>
        </p:nvSpPr>
        <p:spPr>
          <a:xfrm>
            <a:off x="5650992" y="4370832"/>
            <a:ext cx="5879592" cy="1188720"/>
          </a:xfrm>
          <a:prstGeom prst="roundRect">
            <a:avLst>
              <a:gd name="adj" fmla="val 6923"/>
            </a:avLst>
          </a:prstGeom>
          <a:solidFill>
            <a:srgbClr val="FFFFFF"/>
          </a:solidFill>
          <a:ln w="9525">
            <a:solidFill>
              <a:srgbClr val="DCE3DF"/>
            </a:solidFill>
            <a:prstDash val="solid"/>
          </a:ln>
        </p:spPr>
      </p:sp>
      <p:sp>
        <p:nvSpPr>
          <p:cNvPr id="28" name="Text 26"/>
          <p:cNvSpPr/>
          <p:nvPr/>
        </p:nvSpPr>
        <p:spPr>
          <a:xfrm>
            <a:off x="5870448" y="4535424"/>
            <a:ext cx="3657600" cy="182880"/>
          </a:xfrm>
          <a:prstGeom prst="rect">
            <a:avLst/>
          </a:prstGeom>
          <a:noFill/>
          <a:ln/>
        </p:spPr>
        <p:txBody>
          <a:bodyPr wrap="square" lIns="0" tIns="0" rIns="0" bIns="0" rtlCol="0" anchor="ctr"/>
          <a:lstStyle/>
          <a:p>
            <a:pPr algn="l" indent="0" marL="0">
              <a:buNone/>
            </a:pPr>
            <a:r>
              <a:rPr lang="en-US" sz="800" b="1" spc="140" kern="0" dirty="0">
                <a:solidFill>
                  <a:srgbClr val="12855A"/>
                </a:solidFill>
                <a:latin typeface="Calibri" pitchFamily="34" charset="0"/>
                <a:ea typeface="Calibri" pitchFamily="34" charset="-122"/>
                <a:cs typeface="Calibri" pitchFamily="34" charset="-120"/>
              </a:rPr>
              <a:t>WHY NOT THE GAMBLER</a:t>
            </a:r>
            <a:endParaRPr lang="en-US" sz="800" dirty="0"/>
          </a:p>
        </p:txBody>
      </p:sp>
      <p:sp>
        <p:nvSpPr>
          <p:cNvPr id="29" name="Text 27"/>
          <p:cNvSpPr/>
          <p:nvPr/>
        </p:nvSpPr>
        <p:spPr>
          <a:xfrm>
            <a:off x="5870448" y="4791456"/>
            <a:ext cx="5440680" cy="658368"/>
          </a:xfrm>
          <a:prstGeom prst="rect">
            <a:avLst/>
          </a:prstGeom>
          <a:noFill/>
          <a:ln/>
        </p:spPr>
        <p:txBody>
          <a:bodyPr wrap="square" lIns="0" tIns="0" rIns="0" bIns="0" rtlCol="0" anchor="t"/>
          <a:lstStyle/>
          <a:p>
            <a:pPr algn="l" indent="0" marL="0">
              <a:lnSpc>
                <a:spcPct val="120000"/>
              </a:lnSpc>
              <a:buNone/>
            </a:pPr>
            <a:r>
              <a:rPr lang="en-US" sz="1100" dirty="0">
                <a:solidFill>
                  <a:srgbClr val="44534C"/>
                </a:solidFill>
                <a:latin typeface="Calibri" pitchFamily="34" charset="0"/>
                <a:ea typeface="Calibri" pitchFamily="34" charset="-122"/>
                <a:cs typeface="Calibri" pitchFamily="34" charset="-120"/>
              </a:rPr>
              <a:t>The flashier features attract someone who wants the fantasy, not the truth. Selling honesty to a degen is the right product sold to the wrong person.</a:t>
            </a:r>
            <a:endParaRPr lang="en-US" sz="1100" dirty="0"/>
          </a:p>
        </p:txBody>
      </p:sp>
      <p:sp>
        <p:nvSpPr>
          <p:cNvPr id="30" name="Shape 28"/>
          <p:cNvSpPr/>
          <p:nvPr/>
        </p:nvSpPr>
        <p:spPr>
          <a:xfrm>
            <a:off x="658368" y="5760720"/>
            <a:ext cx="10872216" cy="512064"/>
          </a:xfrm>
          <a:prstGeom prst="roundRect">
            <a:avLst>
              <a:gd name="adj" fmla="val 16071"/>
            </a:avLst>
          </a:prstGeom>
          <a:solidFill>
            <a:srgbClr val="FAECEB"/>
          </a:solidFill>
          <a:ln/>
        </p:spPr>
      </p:sp>
      <p:sp>
        <p:nvSpPr>
          <p:cNvPr id="31" name="Text 29"/>
          <p:cNvSpPr/>
          <p:nvPr/>
        </p:nvSpPr>
        <p:spPr>
          <a:xfrm>
            <a:off x="877824" y="5833872"/>
            <a:ext cx="10433304" cy="365760"/>
          </a:xfrm>
          <a:prstGeom prst="rect">
            <a:avLst/>
          </a:prstGeom>
          <a:noFill/>
          <a:ln/>
        </p:spPr>
        <p:txBody>
          <a:bodyPr wrap="square" lIns="0" tIns="0" rIns="0" bIns="0" rtlCol="0" anchor="t"/>
          <a:lstStyle/>
          <a:p>
            <a:pPr algn="l" indent="0" marL="0">
              <a:lnSpc>
                <a:spcPct val="120000"/>
              </a:lnSpc>
              <a:buNone/>
            </a:pPr>
            <a:r>
              <a:rPr lang="en-US" sz="1050" b="1" dirty="0">
                <a:solidFill>
                  <a:srgbClr val="A5342C"/>
                </a:solidFill>
                <a:latin typeface="Calibri" pitchFamily="34" charset="0"/>
                <a:ea typeface="Calibri" pitchFamily="34" charset="-122"/>
                <a:cs typeface="Calibri" pitchFamily="34" charset="-120"/>
              </a:rPr>
              <a:t>The honest gap today: zero users outside the founder. </a:t>
            </a:r>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Fixing that is the first line item in the raise, and the first milestone we will be judged on.</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22</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06.03  ·  COMPETITION</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Everyone else optimises a product.</a:t>
            </a:r>
            <a:endParaRPr lang="en-US" sz="3000" dirty="0"/>
          </a:p>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We optimise the goal.</a:t>
            </a:r>
            <a:endParaRPr lang="en-US" sz="3000" dirty="0"/>
          </a:p>
        </p:txBody>
      </p:sp>
      <p:sp>
        <p:nvSpPr>
          <p:cNvPr id="6" name="Text 4"/>
          <p:cNvSpPr/>
          <p:nvPr/>
        </p:nvSpPr>
        <p:spPr>
          <a:xfrm>
            <a:off x="658368" y="1737360"/>
            <a:ext cx="10058400" cy="292608"/>
          </a:xfrm>
          <a:prstGeom prst="rect">
            <a:avLst/>
          </a:prstGeom>
          <a:noFill/>
          <a:ln/>
        </p:spPr>
        <p:txBody>
          <a:bodyPr wrap="square" lIns="0" tIns="0" rIns="0" bIns="0" rtlCol="0" anchor="t"/>
          <a:lstStyle/>
          <a:p>
            <a:pPr indent="0" marL="0">
              <a:lnSpc>
                <a:spcPct val="122000"/>
              </a:lnSpc>
              <a:buNone/>
            </a:pPr>
            <a:r>
              <a:rPr lang="en-US" sz="1300" dirty="0">
                <a:solidFill>
                  <a:srgbClr val="44534C"/>
                </a:solidFill>
                <a:latin typeface="Calibri" pitchFamily="34" charset="0"/>
                <a:ea typeface="Calibri" pitchFamily="34" charset="-122"/>
                <a:cs typeface="Calibri" pitchFamily="34" charset="-120"/>
              </a:rPr>
              <a:t>The real alternative is not another app — it is a patchwork of trusted point solutions plus the user's own judgment. The bar to beat is “just buy VOO and stop thinking about it.”</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58368" y="2432304"/>
          <a:ext cx="10872216" cy="914400"/>
        </p:xfrm>
        <a:graphic>
          <a:graphicData uri="http://schemas.openxmlformats.org/drawingml/2006/table">
            <a:tbl>
              <a:tblPr/>
              <a:tblGrid>
                <a:gridCol w="2862072"/>
                <a:gridCol w="1609344"/>
                <a:gridCol w="1609344"/>
                <a:gridCol w="1609344"/>
                <a:gridCol w="1609344"/>
                <a:gridCol w="1609344"/>
              </a:tblGrid>
              <a:tr h="457200">
                <a:tc>
                  <a:txBody>
                    <a:bodyPr/>
                    <a:lstStyle/>
                    <a:p>
                      <a:pPr algn="l" indent="0" marL="0">
                        <a:buNone/>
                      </a:pPr>
                      <a:r>
                        <a:rPr lang="en-US" sz="800" b="1" spc="110" kern="0" dirty="0">
                          <a:solidFill>
                            <a:srgbClr val="FFFFFF"/>
                          </a:solidFill>
                          <a:latin typeface="Calibri" pitchFamily="34" charset="0"/>
                          <a:ea typeface="Calibri" pitchFamily="34" charset="-122"/>
                          <a:cs typeface="Calibri" pitchFamily="34" charset="-120"/>
                        </a:rPr>
                        <a:t>CATEGORY</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ctr" indent="0" marL="0">
                        <a:buNone/>
                      </a:pPr>
                      <a:r>
                        <a:rPr lang="en-US" sz="800" b="1" spc="110" kern="0" dirty="0">
                          <a:solidFill>
                            <a:srgbClr val="FFFFFF"/>
                          </a:solidFill>
                          <a:latin typeface="Calibri" pitchFamily="34" charset="0"/>
                          <a:ea typeface="Calibri" pitchFamily="34" charset="-122"/>
                          <a:cs typeface="Calibri" pitchFamily="34" charset="-120"/>
                        </a:rPr>
                        <a:t>GOAL-FIRST</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ctr" indent="0" marL="0">
                        <a:buNone/>
                      </a:pPr>
                      <a:r>
                        <a:rPr lang="en-US" sz="800" b="1" spc="110" kern="0" dirty="0">
                          <a:solidFill>
                            <a:srgbClr val="FFFFFF"/>
                          </a:solidFill>
                          <a:latin typeface="Calibri" pitchFamily="34" charset="0"/>
                          <a:ea typeface="Calibri" pitchFamily="34" charset="-122"/>
                          <a:cs typeface="Calibri" pitchFamily="34" charset="-120"/>
                        </a:rPr>
                        <a:t>SPEND INSIGHT</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ctr" indent="0" marL="0">
                        <a:buNone/>
                      </a:pPr>
                      <a:r>
                        <a:rPr lang="en-US" sz="800" b="1" spc="110" kern="0" dirty="0">
                          <a:solidFill>
                            <a:srgbClr val="FFFFFF"/>
                          </a:solidFill>
                          <a:latin typeface="Calibri" pitchFamily="34" charset="0"/>
                          <a:ea typeface="Calibri" pitchFamily="34" charset="-122"/>
                          <a:cs typeface="Calibri" pitchFamily="34" charset="-120"/>
                        </a:rPr>
                        <a:t>EARN ROUTES</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ctr" indent="0" marL="0">
                        <a:buNone/>
                      </a:pPr>
                      <a:r>
                        <a:rPr lang="en-US" sz="800" b="1" spc="110" kern="0" dirty="0">
                          <a:solidFill>
                            <a:srgbClr val="FFFFFF"/>
                          </a:solidFill>
                          <a:latin typeface="Calibri" pitchFamily="34" charset="0"/>
                          <a:ea typeface="Calibri" pitchFamily="34" charset="-122"/>
                          <a:cs typeface="Calibri" pitchFamily="34" charset="-120"/>
                        </a:rPr>
                        <a:t>REWARD FIT</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c>
                  <a:txBody>
                    <a:bodyPr/>
                    <a:lstStyle/>
                    <a:p>
                      <a:pPr algn="ctr" indent="0" marL="0">
                        <a:buNone/>
                      </a:pPr>
                      <a:r>
                        <a:rPr lang="en-US" sz="800" b="1" spc="110" kern="0" dirty="0">
                          <a:solidFill>
                            <a:srgbClr val="FFFFFF"/>
                          </a:solidFill>
                          <a:latin typeface="Calibri" pitchFamily="34" charset="0"/>
                          <a:ea typeface="Calibri" pitchFamily="34" charset="-122"/>
                          <a:cs typeface="Calibri" pitchFamily="34" charset="-120"/>
                        </a:rPr>
                        <a:t>HONEST DOWNSIDE</a:t>
                      </a:r>
                      <a:endParaRPr lang="en-US" sz="8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0B1210"/>
                    </a:solidFill>
                  </a:tcPr>
                </a:tc>
              </a:tr>
              <a:tr h="457200">
                <a:tc>
                  <a:txBody>
                    <a:bodyPr/>
                    <a:lstStyle/>
                    <a:p>
                      <a:pPr algn="l" indent="0" marL="0">
                        <a:buNone/>
                      </a:pPr>
                      <a:r>
                        <a:rPr lang="en-US" sz="1000" b="1" dirty="0">
                          <a:solidFill>
                            <a:srgbClr val="44534C"/>
                          </a:solidFill>
                          <a:latin typeface="Calibri" pitchFamily="34" charset="0"/>
                          <a:ea typeface="Calibri" pitchFamily="34" charset="-122"/>
                          <a:cs typeface="Calibri" pitchFamily="34" charset="-120"/>
                        </a:rPr>
                        <a:t>Budgeting &amp; PFM</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Partial</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b="1" dirty="0">
                          <a:solidFill>
                            <a:srgbClr val="0A5C3E"/>
                          </a:solidFill>
                          <a:latin typeface="Calibri" pitchFamily="34" charset="0"/>
                          <a:ea typeface="Calibri" pitchFamily="34" charset="-122"/>
                          <a:cs typeface="Calibri" pitchFamily="34" charset="-120"/>
                        </a:rPr>
                        <a:t>Strong</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E6F4EE"/>
                    </a:solidFill>
                  </a:tcPr>
                </a:tc>
                <a:tc>
                  <a:txBody>
                    <a:bodyPr/>
                    <a:lstStyle/>
                    <a:p>
                      <a:pPr algn="ctr" indent="0" marL="0">
                        <a:buNone/>
                      </a:pPr>
                      <a:r>
                        <a:rPr lang="en-US" sz="950" dirty="0">
                          <a:solidFill>
                            <a:srgbClr val="94A29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Limited</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6C7C74"/>
                          </a:solidFill>
                          <a:latin typeface="Calibri" pitchFamily="34" charset="0"/>
                          <a:ea typeface="Calibri" pitchFamily="34" charset="-122"/>
                          <a:cs typeface="Calibri" pitchFamily="34" charset="-120"/>
                        </a:rPr>
                        <a:t>Neutral</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r>
              <a:tr h="457200">
                <a:tc>
                  <a:txBody>
                    <a:bodyPr/>
                    <a:lstStyle/>
                    <a:p>
                      <a:pPr algn="l" indent="0" marL="0">
                        <a:buNone/>
                      </a:pPr>
                      <a:r>
                        <a:rPr lang="en-US" sz="1000" b="1" dirty="0">
                          <a:solidFill>
                            <a:srgbClr val="44534C"/>
                          </a:solidFill>
                          <a:latin typeface="Calibri" pitchFamily="34" charset="0"/>
                          <a:ea typeface="Calibri" pitchFamily="34" charset="-122"/>
                          <a:cs typeface="Calibri" pitchFamily="34" charset="-120"/>
                        </a:rPr>
                        <a:t>Robo-advisors</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A5C3E"/>
                          </a:solidFill>
                          <a:latin typeface="Calibri" pitchFamily="34" charset="0"/>
                          <a:ea typeface="Calibri" pitchFamily="34" charset="-122"/>
                          <a:cs typeface="Calibri" pitchFamily="34" charset="-120"/>
                        </a:rPr>
                        <a:t>Strong</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E6F4EE"/>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Limited</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Managed only</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94A29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Limited</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r>
              <a:tr h="457200">
                <a:tc>
                  <a:txBody>
                    <a:bodyPr/>
                    <a:lstStyle/>
                    <a:p>
                      <a:pPr algn="l" indent="0" marL="0">
                        <a:buNone/>
                      </a:pPr>
                      <a:r>
                        <a:rPr lang="en-US" sz="1000" b="1" dirty="0">
                          <a:solidFill>
                            <a:srgbClr val="44534C"/>
                          </a:solidFill>
                          <a:latin typeface="Calibri" pitchFamily="34" charset="0"/>
                          <a:ea typeface="Calibri" pitchFamily="34" charset="-122"/>
                          <a:cs typeface="Calibri" pitchFamily="34" charset="-120"/>
                        </a:rPr>
                        <a:t>Brokerages &amp; exchanges</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94A29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94A29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44534C"/>
                          </a:solidFill>
                          <a:latin typeface="Calibri" pitchFamily="34" charset="0"/>
                          <a:ea typeface="Calibri" pitchFamily="34" charset="-122"/>
                          <a:cs typeface="Calibri" pitchFamily="34" charset="-120"/>
                        </a:rPr>
                        <a:t>Execution only</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2F5F3"/>
                    </a:solidFill>
                  </a:tcPr>
                </a:tc>
                <a:tc>
                  <a:txBody>
                    <a:bodyPr/>
                    <a:lstStyle/>
                    <a:p>
                      <a:pPr algn="ctr" indent="0" marL="0">
                        <a:buNone/>
                      </a:pPr>
                      <a:r>
                        <a:rPr lang="en-US" sz="950" dirty="0">
                          <a:solidFill>
                            <a:srgbClr val="94A29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94A29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r>
              <a:tr h="457200">
                <a:tc>
                  <a:txBody>
                    <a:bodyPr/>
                    <a:lstStyle/>
                    <a:p>
                      <a:pPr algn="l" indent="0" marL="0">
                        <a:buNone/>
                      </a:pPr>
                      <a:r>
                        <a:rPr lang="en-US" sz="1000" b="1" dirty="0">
                          <a:solidFill>
                            <a:srgbClr val="44534C"/>
                          </a:solidFill>
                          <a:latin typeface="Calibri" pitchFamily="34" charset="0"/>
                          <a:ea typeface="Calibri" pitchFamily="34" charset="-122"/>
                          <a:cs typeface="Calibri" pitchFamily="34" charset="-120"/>
                        </a:rPr>
                        <a:t>Card marketplaces</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94A29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94A29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94A29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A5C3E"/>
                          </a:solidFill>
                          <a:latin typeface="Calibri" pitchFamily="34" charset="0"/>
                          <a:ea typeface="Calibri" pitchFamily="34" charset="-122"/>
                          <a:cs typeface="Calibri" pitchFamily="34" charset="-120"/>
                        </a:rPr>
                        <a:t>Strong</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E6F4EE"/>
                    </a:solidFill>
                  </a:tcPr>
                </a:tc>
                <a:tc>
                  <a:txBody>
                    <a:bodyPr/>
                    <a:lstStyle/>
                    <a:p>
                      <a:pPr algn="ctr" indent="0" marL="0">
                        <a:buNone/>
                      </a:pPr>
                      <a:r>
                        <a:rPr lang="en-US" sz="950" dirty="0">
                          <a:solidFill>
                            <a:srgbClr val="94A29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r>
              <a:tr h="457200">
                <a:tc>
                  <a:txBody>
                    <a:bodyPr/>
                    <a:lstStyle/>
                    <a:p>
                      <a:pPr algn="l" indent="0" marL="0">
                        <a:buNone/>
                      </a:pPr>
                      <a:r>
                        <a:rPr lang="en-US" sz="1000" b="1" dirty="0">
                          <a:solidFill>
                            <a:srgbClr val="44534C"/>
                          </a:solidFill>
                          <a:latin typeface="Calibri" pitchFamily="34" charset="0"/>
                          <a:ea typeface="Calibri" pitchFamily="34" charset="-122"/>
                          <a:cs typeface="Calibri" pitchFamily="34" charset="-120"/>
                        </a:rPr>
                        <a:t>Touts, feeds &amp; tipsters</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94A29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94A29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5342C"/>
                          </a:solidFill>
                          <a:latin typeface="Calibri" pitchFamily="34" charset="0"/>
                          <a:ea typeface="Calibri" pitchFamily="34" charset="-122"/>
                          <a:cs typeface="Calibri" pitchFamily="34" charset="-120"/>
                        </a:rPr>
                        <a:t>Claims</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AECEB"/>
                    </a:solidFill>
                  </a:tcPr>
                </a:tc>
                <a:tc>
                  <a:txBody>
                    <a:bodyPr/>
                    <a:lstStyle/>
                    <a:p>
                      <a:pPr algn="ctr" indent="0" marL="0">
                        <a:buNone/>
                      </a:pPr>
                      <a:r>
                        <a:rPr lang="en-US" sz="950" dirty="0">
                          <a:solidFill>
                            <a:srgbClr val="94A29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5342C"/>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AECEB"/>
                    </a:solidFill>
                  </a:tcPr>
                </a:tc>
              </a:tr>
              <a:tr h="457200">
                <a:tc>
                  <a:txBody>
                    <a:bodyPr/>
                    <a:lstStyle/>
                    <a:p>
                      <a:pPr algn="l" indent="0" marL="0">
                        <a:buNone/>
                      </a:pPr>
                      <a:r>
                        <a:rPr lang="en-US" sz="1000" b="1" dirty="0">
                          <a:solidFill>
                            <a:srgbClr val="0B1210"/>
                          </a:solidFill>
                          <a:latin typeface="Calibri" pitchFamily="34" charset="0"/>
                          <a:ea typeface="Calibri" pitchFamily="34" charset="-122"/>
                          <a:cs typeface="Calibri" pitchFamily="34" charset="-120"/>
                        </a:rPr>
                        <a:t>PolyProfit</a:t>
                      </a:r>
                      <a:endParaRPr lang="en-US" sz="100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E6F4EE"/>
                    </a:solidFill>
                  </a:tcPr>
                </a:tc>
                <a:tc>
                  <a:txBody>
                    <a:bodyPr/>
                    <a:lstStyle/>
                    <a:p>
                      <a:pPr algn="ctr" indent="0" marL="0">
                        <a:buNone/>
                      </a:pPr>
                      <a:r>
                        <a:rPr lang="en-US" sz="950" b="1" dirty="0">
                          <a:solidFill>
                            <a:srgbClr val="0A5C3E"/>
                          </a:solidFill>
                          <a:latin typeface="Calibri" pitchFamily="34" charset="0"/>
                          <a:ea typeface="Calibri" pitchFamily="34" charset="-122"/>
                          <a:cs typeface="Calibri" pitchFamily="34" charset="-120"/>
                        </a:rPr>
                        <a:t>Strong</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E6F4EE"/>
                    </a:solidFill>
                  </a:tcPr>
                </a:tc>
                <a:tc>
                  <a:txBody>
                    <a:bodyPr/>
                    <a:lstStyle/>
                    <a:p>
                      <a:pPr algn="ctr" indent="0" marL="0">
                        <a:buNone/>
                      </a:pPr>
                      <a:r>
                        <a:rPr lang="en-US" sz="950" b="1" dirty="0">
                          <a:solidFill>
                            <a:srgbClr val="94600A"/>
                          </a:solidFill>
                          <a:latin typeface="Calibri" pitchFamily="34" charset="0"/>
                          <a:ea typeface="Calibri" pitchFamily="34" charset="-122"/>
                          <a:cs typeface="Calibri" pitchFamily="34" charset="-120"/>
                        </a:rPr>
                        <a:t>Roadmap</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AF1DF"/>
                    </a:solidFill>
                  </a:tcPr>
                </a:tc>
                <a:tc>
                  <a:txBody>
                    <a:bodyPr/>
                    <a:lstStyle/>
                    <a:p>
                      <a:pPr algn="ctr" indent="0" marL="0">
                        <a:buNone/>
                      </a:pPr>
                      <a:r>
                        <a:rPr lang="en-US" sz="950" b="1" dirty="0">
                          <a:solidFill>
                            <a:srgbClr val="0A5C3E"/>
                          </a:solidFill>
                          <a:latin typeface="Calibri" pitchFamily="34" charset="0"/>
                          <a:ea typeface="Calibri" pitchFamily="34" charset="-122"/>
                          <a:cs typeface="Calibri" pitchFamily="34" charset="-120"/>
                        </a:rPr>
                        <a:t>Ranked</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E6F4EE"/>
                    </a:solidFill>
                  </a:tcPr>
                </a:tc>
                <a:tc>
                  <a:txBody>
                    <a:bodyPr/>
                    <a:lstStyle/>
                    <a:p>
                      <a:pPr algn="ctr" indent="0" marL="0">
                        <a:buNone/>
                      </a:pPr>
                      <a:r>
                        <a:rPr lang="en-US" sz="950" b="1" dirty="0">
                          <a:solidFill>
                            <a:srgbClr val="94600A"/>
                          </a:solidFill>
                          <a:latin typeface="Calibri" pitchFamily="34" charset="0"/>
                          <a:ea typeface="Calibri" pitchFamily="34" charset="-122"/>
                          <a:cs typeface="Calibri" pitchFamily="34" charset="-120"/>
                        </a:rPr>
                        <a:t>Roadmap</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FAF1DF"/>
                    </a:solidFill>
                  </a:tcPr>
                </a:tc>
                <a:tc>
                  <a:txBody>
                    <a:bodyPr/>
                    <a:lstStyle/>
                    <a:p>
                      <a:pPr algn="ctr" indent="0" marL="0">
                        <a:buNone/>
                      </a:pPr>
                      <a:r>
                        <a:rPr lang="en-US" sz="950" b="1" dirty="0">
                          <a:solidFill>
                            <a:srgbClr val="0A5C3E"/>
                          </a:solidFill>
                          <a:latin typeface="Calibri" pitchFamily="34" charset="0"/>
                          <a:ea typeface="Calibri" pitchFamily="34" charset="-122"/>
                          <a:cs typeface="Calibri" pitchFamily="34" charset="-120"/>
                        </a:rPr>
                        <a:t>Core</a:t>
                      </a:r>
                      <a:endParaRPr lang="en-US" sz="950" dirty="0">
                        <a:latin typeface="Calibri" charset="0"/>
                        <a:ea typeface="Calibri" charset="0"/>
                        <a:cs typeface="Calibri" charset="0"/>
                      </a:endParaRPr>
                    </a:p>
                  </a:txBody>
                  <a:tcPr marL="82296" marR="82296" marT="18288" marB="18288" anchor="ctr">
                    <a:lnL w="0" cap="flat" cmpd="sng" algn="ctr">
                      <a:noFill/>
                    </a:lnL>
                    <a:lnR w="0" cap="flat" cmpd="sng" algn="ctr">
                      <a:noFill/>
                    </a:lnR>
                    <a:lnT w="0" cap="flat" cmpd="sng" algn="ctr">
                      <a:noFill/>
                    </a:lnT>
                    <a:lnB w="6350" cap="flat" cmpd="sng" algn="ctr">
                      <a:solidFill>
                        <a:srgbClr val="FFFFFF"/>
                      </a:solidFill>
                      <a:prstDash val="solid"/>
                      <a:round/>
                      <a:headEnd type="none" w="med" len="med"/>
                      <a:tailEnd type="none" w="med" len="med"/>
                    </a:lnB>
                    <a:solidFill>
                      <a:srgbClr val="E6F4EE"/>
                    </a:solidFill>
                  </a:tcPr>
                </a:tc>
              </a:tr>
            </a:tbl>
          </a:graphicData>
        </a:graphic>
      </p:graphicFrame>
      <p:sp>
        <p:nvSpPr>
          <p:cNvPr id="8" name="Text 5"/>
          <p:cNvSpPr/>
          <p:nvPr/>
        </p:nvSpPr>
        <p:spPr>
          <a:xfrm>
            <a:off x="658368" y="5760720"/>
            <a:ext cx="10872216" cy="420624"/>
          </a:xfrm>
          <a:prstGeom prst="rect">
            <a:avLst/>
          </a:prstGeom>
          <a:noFill/>
          <a:ln/>
        </p:spPr>
        <p:txBody>
          <a:bodyPr wrap="square" lIns="0" tIns="0" rIns="0" bIns="0" rtlCol="0" anchor="t"/>
          <a:lstStyle/>
          <a:p>
            <a:pPr indent="0" marL="0">
              <a:lnSpc>
                <a:spcPct val="118000"/>
              </a:lnSpc>
              <a:buNone/>
            </a:pPr>
            <a:r>
              <a:rPr lang="en-US" sz="1150" dirty="0">
                <a:solidFill>
                  <a:srgbClr val="0B1210"/>
                </a:solidFill>
                <a:latin typeface="Calibri" pitchFamily="34" charset="0"/>
                <a:ea typeface="Calibri" pitchFamily="34" charset="-122"/>
                <a:cs typeface="Calibri" pitchFamily="34" charset="-120"/>
              </a:rPr>
              <a:t>Two of our columns say Roadmap on purpose — that is the raise. The column that is already ours is the last one, and it is the only one that compounds into a track record.</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23</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06.04  ·  HOW WE MAKE MONEY</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One price today, a marketplace later,</a:t>
            </a:r>
            <a:endParaRPr lang="en-US" sz="3000" dirty="0"/>
          </a:p>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and a firewall between them.</a:t>
            </a:r>
            <a:endParaRPr lang="en-US" sz="3000" dirty="0"/>
          </a:p>
        </p:txBody>
      </p:sp>
      <p:sp>
        <p:nvSpPr>
          <p:cNvPr id="6" name="Shape 4"/>
          <p:cNvSpPr/>
          <p:nvPr/>
        </p:nvSpPr>
        <p:spPr>
          <a:xfrm>
            <a:off x="658368" y="1609344"/>
            <a:ext cx="3529584" cy="1920240"/>
          </a:xfrm>
          <a:prstGeom prst="roundRect">
            <a:avLst>
              <a:gd name="adj" fmla="val 4286"/>
            </a:avLst>
          </a:prstGeom>
          <a:solidFill>
            <a:srgbClr val="0B1210"/>
          </a:solidFill>
          <a:ln/>
        </p:spPr>
      </p:sp>
      <p:sp>
        <p:nvSpPr>
          <p:cNvPr id="7" name="Text 5"/>
          <p:cNvSpPr/>
          <p:nvPr/>
        </p:nvSpPr>
        <p:spPr>
          <a:xfrm>
            <a:off x="877824" y="1792224"/>
            <a:ext cx="3108960" cy="182880"/>
          </a:xfrm>
          <a:prstGeom prst="rect">
            <a:avLst/>
          </a:prstGeom>
          <a:noFill/>
          <a:ln/>
        </p:spPr>
        <p:txBody>
          <a:bodyPr wrap="square" lIns="0" tIns="0" rIns="0" bIns="0" rtlCol="0" anchor="ctr"/>
          <a:lstStyle/>
          <a:p>
            <a:pPr algn="l" indent="0" marL="0">
              <a:buNone/>
            </a:pPr>
            <a:r>
              <a:rPr lang="en-US" sz="750" b="1" spc="140" kern="0" dirty="0">
                <a:solidFill>
                  <a:srgbClr val="2ECC7F"/>
                </a:solidFill>
                <a:latin typeface="Calibri" pitchFamily="34" charset="0"/>
                <a:ea typeface="Calibri" pitchFamily="34" charset="-122"/>
                <a:cs typeface="Calibri" pitchFamily="34" charset="-120"/>
              </a:rPr>
              <a:t>TODAY — SHIPPED AND CHARGING</a:t>
            </a:r>
            <a:endParaRPr lang="en-US" sz="750" dirty="0"/>
          </a:p>
        </p:txBody>
      </p:sp>
      <p:sp>
        <p:nvSpPr>
          <p:cNvPr id="8" name="Text 6"/>
          <p:cNvSpPr/>
          <p:nvPr/>
        </p:nvSpPr>
        <p:spPr>
          <a:xfrm>
            <a:off x="877824" y="2011680"/>
            <a:ext cx="3108960" cy="621792"/>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$9.99</a:t>
            </a:r>
            <a:endParaRPr lang="en-US" sz="3800" dirty="0"/>
          </a:p>
        </p:txBody>
      </p:sp>
      <p:sp>
        <p:nvSpPr>
          <p:cNvPr id="9" name="Text 7"/>
          <p:cNvSpPr/>
          <p:nvPr/>
        </p:nvSpPr>
        <p:spPr>
          <a:xfrm>
            <a:off x="877824" y="2633472"/>
            <a:ext cx="3108960" cy="219456"/>
          </a:xfrm>
          <a:prstGeom prst="rect">
            <a:avLst/>
          </a:prstGeom>
          <a:noFill/>
          <a:ln/>
        </p:spPr>
        <p:txBody>
          <a:bodyPr wrap="square" lIns="0" tIns="0" rIns="0" bIns="0" rtlCol="0" anchor="t"/>
          <a:lstStyle/>
          <a:p>
            <a:pPr algn="l" indent="0" marL="0">
              <a:lnSpc>
                <a:spcPct val="120000"/>
              </a:lnSpc>
              <a:buNone/>
            </a:pPr>
            <a:r>
              <a:rPr lang="en-US" sz="1100" dirty="0">
                <a:solidFill>
                  <a:srgbClr val="9CE6C0"/>
                </a:solidFill>
                <a:latin typeface="Calibri" pitchFamily="34" charset="0"/>
                <a:ea typeface="Calibri" pitchFamily="34" charset="-122"/>
                <a:cs typeface="Calibri" pitchFamily="34" charset="-120"/>
              </a:rPr>
              <a:t>per month</a:t>
            </a:r>
            <a:endParaRPr lang="en-US" sz="1100" dirty="0"/>
          </a:p>
        </p:txBody>
      </p:sp>
      <p:sp>
        <p:nvSpPr>
          <p:cNvPr id="10" name="Text 8"/>
          <p:cNvSpPr/>
          <p:nvPr/>
        </p:nvSpPr>
        <p:spPr>
          <a:xfrm>
            <a:off x="877824" y="2889504"/>
            <a:ext cx="3108960" cy="548640"/>
          </a:xfrm>
          <a:prstGeom prst="rect">
            <a:avLst/>
          </a:prstGeom>
          <a:noFill/>
          <a:ln/>
        </p:spPr>
        <p:txBody>
          <a:bodyPr wrap="square" lIns="0" tIns="0" rIns="0" bIns="0" rtlCol="0" anchor="t"/>
          <a:lstStyle/>
          <a:p>
            <a:pPr algn="l" indent="0" marL="0">
              <a:lnSpc>
                <a:spcPct val="120000"/>
              </a:lnSpc>
              <a:buNone/>
            </a:pPr>
            <a:r>
              <a:rPr lang="en-US" sz="950" dirty="0">
                <a:solidFill>
                  <a:srgbClr val="A9B6AF"/>
                </a:solidFill>
                <a:latin typeface="Calibri" pitchFamily="34" charset="0"/>
                <a:ea typeface="Calibri" pitchFamily="34" charset="-122"/>
                <a:cs typeface="Calibri" pitchFamily="34" charset="-120"/>
              </a:rPr>
              <a:t>Authentication, the subscription flow and a share-to-unlock primitive that gives the first ranked answer away in exchange for a share.</a:t>
            </a:r>
            <a:endParaRPr lang="en-US" sz="950" dirty="0"/>
          </a:p>
        </p:txBody>
      </p:sp>
      <p:sp>
        <p:nvSpPr>
          <p:cNvPr id="11" name="Shape 9"/>
          <p:cNvSpPr/>
          <p:nvPr/>
        </p:nvSpPr>
        <p:spPr>
          <a:xfrm>
            <a:off x="4334256" y="1609344"/>
            <a:ext cx="7196328" cy="1920240"/>
          </a:xfrm>
          <a:prstGeom prst="roundRect">
            <a:avLst>
              <a:gd name="adj" fmla="val 4286"/>
            </a:avLst>
          </a:prstGeom>
          <a:solidFill>
            <a:srgbClr val="FAF1DF"/>
          </a:solidFill>
          <a:ln/>
        </p:spPr>
      </p:sp>
      <p:sp>
        <p:nvSpPr>
          <p:cNvPr id="12" name="Text 10"/>
          <p:cNvSpPr/>
          <p:nvPr/>
        </p:nvSpPr>
        <p:spPr>
          <a:xfrm>
            <a:off x="4553712" y="1792224"/>
            <a:ext cx="3657600" cy="182880"/>
          </a:xfrm>
          <a:prstGeom prst="rect">
            <a:avLst/>
          </a:prstGeom>
          <a:noFill/>
          <a:ln/>
        </p:spPr>
        <p:txBody>
          <a:bodyPr wrap="square" lIns="0" tIns="0" rIns="0" bIns="0" rtlCol="0" anchor="ctr"/>
          <a:lstStyle/>
          <a:p>
            <a:pPr algn="l" indent="0" marL="0">
              <a:buNone/>
            </a:pPr>
            <a:r>
              <a:rPr lang="en-US" sz="750" b="1" spc="140" kern="0" dirty="0">
                <a:solidFill>
                  <a:srgbClr val="94600A"/>
                </a:solidFill>
                <a:latin typeface="Calibri" pitchFamily="34" charset="0"/>
                <a:ea typeface="Calibri" pitchFamily="34" charset="-122"/>
                <a:cs typeface="Calibri" pitchFamily="34" charset="-120"/>
              </a:rPr>
              <a:t>THE HONEST OPEN QUESTION</a:t>
            </a:r>
            <a:endParaRPr lang="en-US" sz="750" dirty="0"/>
          </a:p>
        </p:txBody>
      </p:sp>
      <p:sp>
        <p:nvSpPr>
          <p:cNvPr id="13" name="Text 11"/>
          <p:cNvSpPr/>
          <p:nvPr/>
        </p:nvSpPr>
        <p:spPr>
          <a:xfrm>
            <a:off x="4553712" y="2048256"/>
            <a:ext cx="6400800" cy="292608"/>
          </a:xfrm>
          <a:prstGeom prst="rect">
            <a:avLst/>
          </a:prstGeom>
          <a:noFill/>
          <a:ln/>
        </p:spPr>
        <p:txBody>
          <a:bodyPr wrap="square" lIns="0" tIns="0" rIns="0" bIns="0" rtlCol="0" anchor="ctr"/>
          <a:lstStyle/>
          <a:p>
            <a:pPr algn="l" indent="0" marL="0">
              <a:buNone/>
            </a:pPr>
            <a:r>
              <a:rPr lang="en-US" sz="1500" b="1" dirty="0">
                <a:solidFill>
                  <a:srgbClr val="0B1210"/>
                </a:solidFill>
                <a:latin typeface="Cambria" pitchFamily="34" charset="0"/>
                <a:ea typeface="Cambria" pitchFamily="34" charset="-122"/>
                <a:cs typeface="Cambria" pitchFamily="34" charset="-120"/>
              </a:rPr>
              <a:t>Does an honest answer get consumed once?</a:t>
            </a:r>
            <a:endParaRPr lang="en-US" sz="1500" dirty="0"/>
          </a:p>
        </p:txBody>
      </p:sp>
      <p:sp>
        <p:nvSpPr>
          <p:cNvPr id="14" name="Text 12"/>
          <p:cNvSpPr/>
          <p:nvPr/>
        </p:nvSpPr>
        <p:spPr>
          <a:xfrm>
            <a:off x="4553712" y="2432304"/>
            <a:ext cx="6757416" cy="914400"/>
          </a:xfrm>
          <a:prstGeom prst="rect">
            <a:avLst/>
          </a:prstGeom>
          <a:noFill/>
          <a:ln/>
        </p:spPr>
        <p:txBody>
          <a:bodyPr wrap="square" lIns="0" tIns="0" rIns="0" bIns="0" rtlCol="0" anchor="t"/>
          <a:lstStyle/>
          <a:p>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A one-time truth does not justify a recurring price. Monitoring, re-planning and spend-drift alerts are sequenced early in the roadmap specifically to convert a single answer into a standing relationship. The metric we are driving to is renewal, not signup — and the spend side is what makes renewal natural, because a leak that reopens is a reason to come back.</a:t>
            </a:r>
            <a:endParaRPr lang="en-US" sz="1050" dirty="0"/>
          </a:p>
        </p:txBody>
      </p:sp>
      <p:sp>
        <p:nvSpPr>
          <p:cNvPr id="15" name="Text 13"/>
          <p:cNvSpPr/>
          <p:nvPr/>
        </p:nvSpPr>
        <p:spPr>
          <a:xfrm>
            <a:off x="658368" y="3712464"/>
            <a:ext cx="3657600" cy="182880"/>
          </a:xfrm>
          <a:prstGeom prst="rect">
            <a:avLst/>
          </a:prstGeom>
          <a:noFill/>
          <a:ln/>
        </p:spPr>
        <p:txBody>
          <a:bodyPr wrap="square" lIns="0" tIns="0" rIns="0" bIns="0" rtlCol="0" anchor="ctr"/>
          <a:lstStyle/>
          <a:p>
            <a:pPr algn="l" indent="0" marL="0">
              <a:buNone/>
            </a:pPr>
            <a:r>
              <a:rPr lang="en-US" sz="800" b="1" spc="140" kern="0" dirty="0">
                <a:solidFill>
                  <a:srgbClr val="12855A"/>
                </a:solidFill>
                <a:latin typeface="Calibri" pitchFamily="34" charset="0"/>
                <a:ea typeface="Calibri" pitchFamily="34" charset="-122"/>
                <a:cs typeface="Calibri" pitchFamily="34" charset="-120"/>
              </a:rPr>
              <a:t>BOTTOM-UP, NOT TOP-DOWN</a:t>
            </a:r>
            <a:endParaRPr lang="en-US" sz="800" dirty="0"/>
          </a:p>
        </p:txBody>
      </p:sp>
      <p:sp>
        <p:nvSpPr>
          <p:cNvPr id="16" name="Shape 14"/>
          <p:cNvSpPr/>
          <p:nvPr/>
        </p:nvSpPr>
        <p:spPr>
          <a:xfrm>
            <a:off x="658368" y="3950208"/>
            <a:ext cx="2377440" cy="1133856"/>
          </a:xfrm>
          <a:prstGeom prst="roundRect">
            <a:avLst>
              <a:gd name="adj" fmla="val 7258"/>
            </a:avLst>
          </a:prstGeom>
          <a:solidFill>
            <a:srgbClr val="F2F5F3"/>
          </a:solidFill>
          <a:ln/>
        </p:spPr>
      </p:sp>
      <p:sp>
        <p:nvSpPr>
          <p:cNvPr id="17" name="Text 15"/>
          <p:cNvSpPr/>
          <p:nvPr/>
        </p:nvSpPr>
        <p:spPr>
          <a:xfrm>
            <a:off x="841248" y="4059936"/>
            <a:ext cx="2011680" cy="365760"/>
          </a:xfrm>
          <a:prstGeom prst="rect">
            <a:avLst/>
          </a:prstGeom>
          <a:noFill/>
          <a:ln/>
        </p:spPr>
        <p:txBody>
          <a:bodyPr wrap="square" lIns="0" tIns="0" rIns="0" bIns="0" rtlCol="0" anchor="ctr"/>
          <a:lstStyle/>
          <a:p>
            <a:pPr indent="0" marL="0">
              <a:buNone/>
            </a:pPr>
            <a:r>
              <a:rPr lang="en-US" sz="2000" b="1" dirty="0">
                <a:solidFill>
                  <a:srgbClr val="0B1210"/>
                </a:solidFill>
                <a:latin typeface="Cambria" pitchFamily="34" charset="0"/>
                <a:ea typeface="Cambria" pitchFamily="34" charset="-122"/>
                <a:cs typeface="Cambria" pitchFamily="34" charset="-120"/>
              </a:rPr>
              <a:t>10,000</a:t>
            </a:r>
            <a:endParaRPr lang="en-US" sz="2000" dirty="0"/>
          </a:p>
        </p:txBody>
      </p:sp>
      <p:sp>
        <p:nvSpPr>
          <p:cNvPr id="18" name="Text 16"/>
          <p:cNvSpPr/>
          <p:nvPr/>
        </p:nvSpPr>
        <p:spPr>
          <a:xfrm>
            <a:off x="841248" y="4425696"/>
            <a:ext cx="2011680" cy="219456"/>
          </a:xfrm>
          <a:prstGeom prst="rect">
            <a:avLst/>
          </a:prstGeom>
          <a:noFill/>
          <a:ln/>
        </p:spPr>
        <p:txBody>
          <a:bodyPr wrap="square" lIns="0" tIns="0" rIns="0" bIns="0" rtlCol="0" anchor="t"/>
          <a:lstStyle/>
          <a:p>
            <a:pPr algn="l" indent="0" marL="0">
              <a:lnSpc>
                <a:spcPct val="120000"/>
              </a:lnSpc>
              <a:buNone/>
            </a:pPr>
            <a:r>
              <a:rPr lang="en-US" sz="950" dirty="0">
                <a:solidFill>
                  <a:srgbClr val="6C7C74"/>
                </a:solidFill>
                <a:latin typeface="Calibri" pitchFamily="34" charset="0"/>
                <a:ea typeface="Calibri" pitchFamily="34" charset="-122"/>
                <a:cs typeface="Calibri" pitchFamily="34" charset="-120"/>
              </a:rPr>
              <a:t>subscribers</a:t>
            </a:r>
            <a:endParaRPr lang="en-US" sz="950" dirty="0"/>
          </a:p>
        </p:txBody>
      </p:sp>
      <p:sp>
        <p:nvSpPr>
          <p:cNvPr id="19" name="Text 17"/>
          <p:cNvSpPr/>
          <p:nvPr/>
        </p:nvSpPr>
        <p:spPr>
          <a:xfrm>
            <a:off x="841248" y="4663440"/>
            <a:ext cx="2011680" cy="292608"/>
          </a:xfrm>
          <a:prstGeom prst="rect">
            <a:avLst/>
          </a:prstGeom>
          <a:noFill/>
          <a:ln/>
        </p:spPr>
        <p:txBody>
          <a:bodyPr wrap="square" lIns="0" tIns="0" rIns="0" bIns="0" rtlCol="0" anchor="ctr"/>
          <a:lstStyle/>
          <a:p>
            <a:pPr indent="0" marL="0">
              <a:buNone/>
            </a:pPr>
            <a:r>
              <a:rPr lang="en-US" sz="1500" b="1" dirty="0">
                <a:solidFill>
                  <a:srgbClr val="12855A"/>
                </a:solidFill>
                <a:latin typeface="Cambria" pitchFamily="34" charset="0"/>
                <a:ea typeface="Cambria" pitchFamily="34" charset="-122"/>
                <a:cs typeface="Cambria" pitchFamily="34" charset="-120"/>
              </a:rPr>
              <a:t>$1.2M ARR</a:t>
            </a:r>
            <a:endParaRPr lang="en-US" sz="1500" dirty="0"/>
          </a:p>
        </p:txBody>
      </p:sp>
      <p:sp>
        <p:nvSpPr>
          <p:cNvPr id="20" name="Shape 18"/>
          <p:cNvSpPr/>
          <p:nvPr/>
        </p:nvSpPr>
        <p:spPr>
          <a:xfrm>
            <a:off x="3182112" y="3950208"/>
            <a:ext cx="2377440" cy="1133856"/>
          </a:xfrm>
          <a:prstGeom prst="roundRect">
            <a:avLst>
              <a:gd name="adj" fmla="val 7258"/>
            </a:avLst>
          </a:prstGeom>
          <a:solidFill>
            <a:srgbClr val="F2F5F3"/>
          </a:solidFill>
          <a:ln/>
        </p:spPr>
      </p:sp>
      <p:sp>
        <p:nvSpPr>
          <p:cNvPr id="21" name="Text 19"/>
          <p:cNvSpPr/>
          <p:nvPr/>
        </p:nvSpPr>
        <p:spPr>
          <a:xfrm>
            <a:off x="3364992" y="4059936"/>
            <a:ext cx="2011680" cy="365760"/>
          </a:xfrm>
          <a:prstGeom prst="rect">
            <a:avLst/>
          </a:prstGeom>
          <a:noFill/>
          <a:ln/>
        </p:spPr>
        <p:txBody>
          <a:bodyPr wrap="square" lIns="0" tIns="0" rIns="0" bIns="0" rtlCol="0" anchor="ctr"/>
          <a:lstStyle/>
          <a:p>
            <a:pPr indent="0" marL="0">
              <a:buNone/>
            </a:pPr>
            <a:r>
              <a:rPr lang="en-US" sz="2000" b="1" dirty="0">
                <a:solidFill>
                  <a:srgbClr val="0B1210"/>
                </a:solidFill>
                <a:latin typeface="Cambria" pitchFamily="34" charset="0"/>
                <a:ea typeface="Cambria" pitchFamily="34" charset="-122"/>
                <a:cs typeface="Cambria" pitchFamily="34" charset="-120"/>
              </a:rPr>
              <a:t>100,000</a:t>
            </a:r>
            <a:endParaRPr lang="en-US" sz="2000" dirty="0"/>
          </a:p>
        </p:txBody>
      </p:sp>
      <p:sp>
        <p:nvSpPr>
          <p:cNvPr id="22" name="Text 20"/>
          <p:cNvSpPr/>
          <p:nvPr/>
        </p:nvSpPr>
        <p:spPr>
          <a:xfrm>
            <a:off x="3364992" y="4425696"/>
            <a:ext cx="2011680" cy="219456"/>
          </a:xfrm>
          <a:prstGeom prst="rect">
            <a:avLst/>
          </a:prstGeom>
          <a:noFill/>
          <a:ln/>
        </p:spPr>
        <p:txBody>
          <a:bodyPr wrap="square" lIns="0" tIns="0" rIns="0" bIns="0" rtlCol="0" anchor="t"/>
          <a:lstStyle/>
          <a:p>
            <a:pPr algn="l" indent="0" marL="0">
              <a:lnSpc>
                <a:spcPct val="120000"/>
              </a:lnSpc>
              <a:buNone/>
            </a:pPr>
            <a:r>
              <a:rPr lang="en-US" sz="950" dirty="0">
                <a:solidFill>
                  <a:srgbClr val="6C7C74"/>
                </a:solidFill>
                <a:latin typeface="Calibri" pitchFamily="34" charset="0"/>
                <a:ea typeface="Calibri" pitchFamily="34" charset="-122"/>
                <a:cs typeface="Calibri" pitchFamily="34" charset="-120"/>
              </a:rPr>
              <a:t>subscribers</a:t>
            </a:r>
            <a:endParaRPr lang="en-US" sz="950" dirty="0"/>
          </a:p>
        </p:txBody>
      </p:sp>
      <p:sp>
        <p:nvSpPr>
          <p:cNvPr id="23" name="Text 21"/>
          <p:cNvSpPr/>
          <p:nvPr/>
        </p:nvSpPr>
        <p:spPr>
          <a:xfrm>
            <a:off x="3364992" y="4663440"/>
            <a:ext cx="2011680" cy="292608"/>
          </a:xfrm>
          <a:prstGeom prst="rect">
            <a:avLst/>
          </a:prstGeom>
          <a:noFill/>
          <a:ln/>
        </p:spPr>
        <p:txBody>
          <a:bodyPr wrap="square" lIns="0" tIns="0" rIns="0" bIns="0" rtlCol="0" anchor="ctr"/>
          <a:lstStyle/>
          <a:p>
            <a:pPr indent="0" marL="0">
              <a:buNone/>
            </a:pPr>
            <a:r>
              <a:rPr lang="en-US" sz="1500" b="1" dirty="0">
                <a:solidFill>
                  <a:srgbClr val="12855A"/>
                </a:solidFill>
                <a:latin typeface="Cambria" pitchFamily="34" charset="0"/>
                <a:ea typeface="Cambria" pitchFamily="34" charset="-122"/>
                <a:cs typeface="Cambria" pitchFamily="34" charset="-120"/>
              </a:rPr>
              <a:t>$12.0M ARR</a:t>
            </a:r>
            <a:endParaRPr lang="en-US" sz="1500" dirty="0"/>
          </a:p>
        </p:txBody>
      </p:sp>
      <p:sp>
        <p:nvSpPr>
          <p:cNvPr id="24" name="Shape 22"/>
          <p:cNvSpPr/>
          <p:nvPr/>
        </p:nvSpPr>
        <p:spPr>
          <a:xfrm>
            <a:off x="5705856" y="3950208"/>
            <a:ext cx="2377440" cy="1133856"/>
          </a:xfrm>
          <a:prstGeom prst="roundRect">
            <a:avLst>
              <a:gd name="adj" fmla="val 7258"/>
            </a:avLst>
          </a:prstGeom>
          <a:solidFill>
            <a:srgbClr val="F2F5F3"/>
          </a:solidFill>
          <a:ln/>
        </p:spPr>
      </p:sp>
      <p:sp>
        <p:nvSpPr>
          <p:cNvPr id="25" name="Text 23"/>
          <p:cNvSpPr/>
          <p:nvPr/>
        </p:nvSpPr>
        <p:spPr>
          <a:xfrm>
            <a:off x="5888736" y="4059936"/>
            <a:ext cx="2011680" cy="365760"/>
          </a:xfrm>
          <a:prstGeom prst="rect">
            <a:avLst/>
          </a:prstGeom>
          <a:noFill/>
          <a:ln/>
        </p:spPr>
        <p:txBody>
          <a:bodyPr wrap="square" lIns="0" tIns="0" rIns="0" bIns="0" rtlCol="0" anchor="ctr"/>
          <a:lstStyle/>
          <a:p>
            <a:pPr indent="0" marL="0">
              <a:buNone/>
            </a:pPr>
            <a:r>
              <a:rPr lang="en-US" sz="2000" b="1" dirty="0">
                <a:solidFill>
                  <a:srgbClr val="0B1210"/>
                </a:solidFill>
                <a:latin typeface="Cambria" pitchFamily="34" charset="0"/>
                <a:ea typeface="Cambria" pitchFamily="34" charset="-122"/>
                <a:cs typeface="Cambria" pitchFamily="34" charset="-120"/>
              </a:rPr>
              <a:t>500,000</a:t>
            </a:r>
            <a:endParaRPr lang="en-US" sz="2000" dirty="0"/>
          </a:p>
        </p:txBody>
      </p:sp>
      <p:sp>
        <p:nvSpPr>
          <p:cNvPr id="26" name="Text 24"/>
          <p:cNvSpPr/>
          <p:nvPr/>
        </p:nvSpPr>
        <p:spPr>
          <a:xfrm>
            <a:off x="5888736" y="4425696"/>
            <a:ext cx="2011680" cy="219456"/>
          </a:xfrm>
          <a:prstGeom prst="rect">
            <a:avLst/>
          </a:prstGeom>
          <a:noFill/>
          <a:ln/>
        </p:spPr>
        <p:txBody>
          <a:bodyPr wrap="square" lIns="0" tIns="0" rIns="0" bIns="0" rtlCol="0" anchor="t"/>
          <a:lstStyle/>
          <a:p>
            <a:pPr algn="l" indent="0" marL="0">
              <a:lnSpc>
                <a:spcPct val="120000"/>
              </a:lnSpc>
              <a:buNone/>
            </a:pPr>
            <a:r>
              <a:rPr lang="en-US" sz="950" dirty="0">
                <a:solidFill>
                  <a:srgbClr val="6C7C74"/>
                </a:solidFill>
                <a:latin typeface="Calibri" pitchFamily="34" charset="0"/>
                <a:ea typeface="Calibri" pitchFamily="34" charset="-122"/>
                <a:cs typeface="Calibri" pitchFamily="34" charset="-120"/>
              </a:rPr>
              <a:t>subscribers</a:t>
            </a:r>
            <a:endParaRPr lang="en-US" sz="950" dirty="0"/>
          </a:p>
        </p:txBody>
      </p:sp>
      <p:sp>
        <p:nvSpPr>
          <p:cNvPr id="27" name="Text 25"/>
          <p:cNvSpPr/>
          <p:nvPr/>
        </p:nvSpPr>
        <p:spPr>
          <a:xfrm>
            <a:off x="5888736" y="4663440"/>
            <a:ext cx="2011680" cy="292608"/>
          </a:xfrm>
          <a:prstGeom prst="rect">
            <a:avLst/>
          </a:prstGeom>
          <a:noFill/>
          <a:ln/>
        </p:spPr>
        <p:txBody>
          <a:bodyPr wrap="square" lIns="0" tIns="0" rIns="0" bIns="0" rtlCol="0" anchor="ctr"/>
          <a:lstStyle/>
          <a:p>
            <a:pPr indent="0" marL="0">
              <a:buNone/>
            </a:pPr>
            <a:r>
              <a:rPr lang="en-US" sz="1500" b="1" dirty="0">
                <a:solidFill>
                  <a:srgbClr val="12855A"/>
                </a:solidFill>
                <a:latin typeface="Cambria" pitchFamily="34" charset="0"/>
                <a:ea typeface="Cambria" pitchFamily="34" charset="-122"/>
                <a:cs typeface="Cambria" pitchFamily="34" charset="-120"/>
              </a:rPr>
              <a:t>$59.9M ARR</a:t>
            </a:r>
            <a:endParaRPr lang="en-US" sz="1500" dirty="0"/>
          </a:p>
        </p:txBody>
      </p:sp>
      <p:sp>
        <p:nvSpPr>
          <p:cNvPr id="28" name="Shape 26"/>
          <p:cNvSpPr/>
          <p:nvPr/>
        </p:nvSpPr>
        <p:spPr>
          <a:xfrm>
            <a:off x="8229600" y="3950208"/>
            <a:ext cx="3300984" cy="1188720"/>
          </a:xfrm>
          <a:prstGeom prst="roundRect">
            <a:avLst>
              <a:gd name="adj" fmla="val 6923"/>
            </a:avLst>
          </a:prstGeom>
          <a:solidFill>
            <a:srgbClr val="FFFFFF"/>
          </a:solidFill>
          <a:ln w="9525">
            <a:solidFill>
              <a:srgbClr val="DCE3DF"/>
            </a:solidFill>
            <a:prstDash val="solid"/>
          </a:ln>
        </p:spPr>
      </p:sp>
      <p:sp>
        <p:nvSpPr>
          <p:cNvPr id="29" name="Text 27"/>
          <p:cNvSpPr/>
          <p:nvPr/>
        </p:nvSpPr>
        <p:spPr>
          <a:xfrm>
            <a:off x="8449056" y="4059936"/>
            <a:ext cx="2926080" cy="182880"/>
          </a:xfrm>
          <a:prstGeom prst="rect">
            <a:avLst/>
          </a:prstGeom>
          <a:noFill/>
          <a:ln/>
        </p:spPr>
        <p:txBody>
          <a:bodyPr wrap="square" lIns="0" tIns="0" rIns="0" bIns="0" rtlCol="0" anchor="ctr"/>
          <a:lstStyle/>
          <a:p>
            <a:pPr algn="l" indent="0" marL="0">
              <a:buNone/>
            </a:pPr>
            <a:r>
              <a:rPr lang="en-US" sz="750" b="1" spc="140" kern="0" dirty="0">
                <a:solidFill>
                  <a:srgbClr val="12855A"/>
                </a:solidFill>
                <a:latin typeface="Calibri" pitchFamily="34" charset="0"/>
                <a:ea typeface="Calibri" pitchFamily="34" charset="-122"/>
                <a:cs typeface="Calibri" pitchFamily="34" charset="-120"/>
              </a:rPr>
              <a:t>LATER — BEHIND A FIREWALL</a:t>
            </a:r>
            <a:endParaRPr lang="en-US" sz="750" dirty="0"/>
          </a:p>
        </p:txBody>
      </p:sp>
      <p:sp>
        <p:nvSpPr>
          <p:cNvPr id="30" name="Text 28"/>
          <p:cNvSpPr/>
          <p:nvPr/>
        </p:nvSpPr>
        <p:spPr>
          <a:xfrm>
            <a:off x="8449056" y="4279392"/>
            <a:ext cx="2862072" cy="822960"/>
          </a:xfrm>
          <a:prstGeom prst="rect">
            <a:avLst/>
          </a:prstGeom>
          <a:noFill/>
          <a:ln/>
        </p:spPr>
        <p:txBody>
          <a:bodyPr wrap="square" lIns="0" tIns="0" rIns="0" bIns="0" rtlCol="0" anchor="t"/>
          <a:lstStyle/>
          <a:p>
            <a:pPr algn="l" indent="0" marL="0">
              <a:lnSpc>
                <a:spcPct val="120000"/>
              </a:lnSpc>
              <a:buNone/>
            </a:pPr>
            <a:r>
              <a:rPr lang="en-US" sz="900" dirty="0">
                <a:solidFill>
                  <a:srgbClr val="44534C"/>
                </a:solidFill>
                <a:latin typeface="Calibri" pitchFamily="34" charset="0"/>
                <a:ea typeface="Calibri" pitchFamily="34" charset="-122"/>
                <a:cs typeface="Calibri" pitchFamily="34" charset="-120"/>
              </a:rPr>
              <a:t>Card issuers and account providers pay for placement in a market we already rank; brokerage referral plumbing is wired in and unmonetised. Two rules are hard-coded first: partner economics never touch the score, and every paid route is labelled inline.</a:t>
            </a:r>
            <a:endParaRPr lang="en-US" sz="900" dirty="0"/>
          </a:p>
        </p:txBody>
      </p:sp>
      <p:sp>
        <p:nvSpPr>
          <p:cNvPr id="31" name="Shape 29"/>
          <p:cNvSpPr/>
          <p:nvPr/>
        </p:nvSpPr>
        <p:spPr>
          <a:xfrm>
            <a:off x="658368" y="5248656"/>
            <a:ext cx="10872216" cy="603504"/>
          </a:xfrm>
          <a:prstGeom prst="roundRect">
            <a:avLst>
              <a:gd name="adj" fmla="val 13636"/>
            </a:avLst>
          </a:prstGeom>
          <a:solidFill>
            <a:srgbClr val="E6F4EE"/>
          </a:solidFill>
          <a:ln/>
        </p:spPr>
      </p:sp>
      <p:sp>
        <p:nvSpPr>
          <p:cNvPr id="32" name="Text 30"/>
          <p:cNvSpPr/>
          <p:nvPr/>
        </p:nvSpPr>
        <p:spPr>
          <a:xfrm>
            <a:off x="877824" y="5321808"/>
            <a:ext cx="10433304" cy="457200"/>
          </a:xfrm>
          <a:prstGeom prst="rect">
            <a:avLst/>
          </a:prstGeom>
          <a:noFill/>
          <a:ln/>
        </p:spPr>
        <p:txBody>
          <a:bodyPr wrap="square" lIns="0" tIns="0" rIns="0" bIns="0" rtlCol="0" anchor="t"/>
          <a:lstStyle/>
          <a:p>
            <a:pPr algn="l" indent="0" marL="0">
              <a:lnSpc>
                <a:spcPct val="120000"/>
              </a:lnSpc>
              <a:buNone/>
            </a:pPr>
            <a:r>
              <a:rPr lang="en-US" sz="1050" b="1" dirty="0">
                <a:solidFill>
                  <a:srgbClr val="0A5C3E"/>
                </a:solidFill>
                <a:latin typeface="Calibri" pitchFamily="34" charset="0"/>
                <a:ea typeface="Calibri" pitchFamily="34" charset="-122"/>
                <a:cs typeface="Calibri" pitchFamily="34" charset="-120"/>
              </a:rPr>
              <a:t>What has to be true.  </a:t>
            </a:r>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Phase one carries no paid acquisition, so the only variable that matters is renewal. Ten users who renew once is a real signal at this stage; a thousand signups who never return is not.</a:t>
            </a:r>
            <a:endParaRPr lang="en-US" sz="1050" dirty="0"/>
          </a:p>
        </p:txBody>
      </p:sp>
      <p:sp>
        <p:nvSpPr>
          <p:cNvPr id="33" name="Text 31"/>
          <p:cNvSpPr/>
          <p:nvPr/>
        </p:nvSpPr>
        <p:spPr>
          <a:xfrm>
            <a:off x="658368" y="5961888"/>
            <a:ext cx="10872216" cy="329184"/>
          </a:xfrm>
          <a:prstGeom prst="rect">
            <a:avLst/>
          </a:prstGeom>
          <a:noFill/>
          <a:ln/>
        </p:spPr>
        <p:txBody>
          <a:bodyPr wrap="square" lIns="0" tIns="0" rIns="0" bIns="0" rtlCol="0" anchor="t"/>
          <a:lstStyle/>
          <a:p>
            <a:pPr indent="0" marL="0">
              <a:lnSpc>
                <a:spcPct val="115000"/>
              </a:lnSpc>
              <a:buNone/>
            </a:pPr>
            <a:r>
              <a:rPr lang="en-US" sz="950" dirty="0">
                <a:solidFill>
                  <a:srgbClr val="94A29B"/>
                </a:solidFill>
                <a:latin typeface="Calibri" pitchFamily="34" charset="0"/>
                <a:ea typeface="Calibri" pitchFamily="34" charset="-122"/>
                <a:cs typeface="Calibri" pitchFamily="34" charset="-120"/>
              </a:rPr>
              <a:t>Illustrative arithmetic at the shipped price of $9.99/month. Excludes churn, discounts, taxes and payment processing.</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82512"/>
            <a:ext cx="3657600" cy="219456"/>
          </a:xfrm>
          <a:prstGeom prst="rect">
            <a:avLst/>
          </a:prstGeom>
          <a:noFill/>
          <a:ln/>
        </p:spPr>
        <p:txBody>
          <a:bodyPr wrap="square" lIns="0" tIns="0" rIns="0" bIns="0" rtlCol="0" anchor="ctr"/>
          <a:lstStyle/>
          <a:p>
            <a:pPr indent="0" marL="0">
              <a:buNone/>
            </a:pPr>
            <a:r>
              <a:rPr lang="en-US" sz="800" b="1" spc="160" kern="0" dirty="0">
                <a:solidFill>
                  <a:srgbClr val="94A29B"/>
                </a:solidFill>
                <a:latin typeface="Calibri" pitchFamily="34" charset="0"/>
                <a:ea typeface="Calibri" pitchFamily="34" charset="-122"/>
                <a:cs typeface="Calibri" pitchFamily="34" charset="-120"/>
              </a:rPr>
              <a:t>POLYPROFIT</a:t>
            </a:r>
            <a:endParaRPr lang="en-US" sz="800" dirty="0"/>
          </a:p>
        </p:txBody>
      </p:sp>
      <p:sp>
        <p:nvSpPr>
          <p:cNvPr id="3" name="Text 1"/>
          <p:cNvSpPr/>
          <p:nvPr/>
        </p:nvSpPr>
        <p:spPr>
          <a:xfrm>
            <a:off x="10616184" y="6382512"/>
            <a:ext cx="914400" cy="219456"/>
          </a:xfrm>
          <a:prstGeom prst="rect">
            <a:avLst/>
          </a:prstGeom>
          <a:noFill/>
          <a:ln/>
        </p:spPr>
        <p:txBody>
          <a:bodyPr wrap="square" lIns="0" tIns="0" rIns="0" bIns="0" rtlCol="0" anchor="ctr"/>
          <a:lstStyle/>
          <a:p>
            <a:pPr algn="r" indent="0" marL="0">
              <a:buNone/>
            </a:pPr>
            <a:r>
              <a:rPr lang="en-US" sz="900" dirty="0">
                <a:solidFill>
                  <a:srgbClr val="94A29B"/>
                </a:solidFill>
                <a:latin typeface="Courier New" pitchFamily="34" charset="0"/>
                <a:ea typeface="Courier New" pitchFamily="34" charset="-122"/>
                <a:cs typeface="Courier New" pitchFamily="34" charset="-120"/>
              </a:rPr>
              <a:t>24</a:t>
            </a:r>
            <a:endParaRPr lang="en-US" sz="900" dirty="0"/>
          </a:p>
        </p:txBody>
      </p:sp>
      <p:sp>
        <p:nvSpPr>
          <p:cNvPr id="4" name="Text 2"/>
          <p:cNvSpPr/>
          <p:nvPr/>
        </p:nvSpPr>
        <p:spPr>
          <a:xfrm>
            <a:off x="658368" y="402336"/>
            <a:ext cx="10872216" cy="201168"/>
          </a:xfrm>
          <a:prstGeom prst="rect">
            <a:avLst/>
          </a:prstGeom>
          <a:noFill/>
          <a:ln/>
        </p:spPr>
        <p:txBody>
          <a:bodyPr wrap="square" lIns="0" tIns="0" rIns="0" bIns="0" rtlCol="0" anchor="ctr"/>
          <a:lstStyle/>
          <a:p>
            <a:pPr indent="0" marL="0">
              <a:buNone/>
            </a:pPr>
            <a:r>
              <a:rPr lang="en-US" sz="950" b="1" spc="220" kern="0" dirty="0">
                <a:solidFill>
                  <a:srgbClr val="12855A"/>
                </a:solidFill>
                <a:latin typeface="Calibri" pitchFamily="34" charset="0"/>
                <a:ea typeface="Calibri" pitchFamily="34" charset="-122"/>
                <a:cs typeface="Calibri" pitchFamily="34" charset="-120"/>
              </a:rPr>
              <a:t>06.05  ·  THE ASK</a:t>
            </a:r>
            <a:endParaRPr lang="en-US" sz="950" dirty="0"/>
          </a:p>
        </p:txBody>
      </p:sp>
      <p:sp>
        <p:nvSpPr>
          <p:cNvPr id="5" name="Text 3"/>
          <p:cNvSpPr/>
          <p:nvPr/>
        </p:nvSpPr>
        <p:spPr>
          <a:xfrm>
            <a:off x="658368" y="658368"/>
            <a:ext cx="10872216" cy="868680"/>
          </a:xfrm>
          <a:prstGeom prst="rect">
            <a:avLst/>
          </a:prstGeom>
          <a:noFill/>
          <a:ln/>
        </p:spPr>
        <p:txBody>
          <a:bodyPr wrap="square" lIns="0" tIns="0" rIns="0" bIns="0" rtlCol="0" anchor="t"/>
          <a:lstStyle/>
          <a:p>
            <a:pPr indent="0" marL="0">
              <a:lnSpc>
                <a:spcPct val="102000"/>
              </a:lnSpc>
              <a:buNone/>
            </a:pPr>
            <a:r>
              <a:rPr lang="en-US" sz="3000" b="1" dirty="0">
                <a:solidFill>
                  <a:srgbClr val="0B1210"/>
                </a:solidFill>
                <a:latin typeface="Cambria" pitchFamily="34" charset="0"/>
                <a:ea typeface="Cambria" pitchFamily="34" charset="-122"/>
                <a:cs typeface="Cambria" pitchFamily="34" charset="-120"/>
              </a:rPr>
              <a:t>Why we need money.</a:t>
            </a:r>
            <a:endParaRPr lang="en-US" sz="3000" dirty="0"/>
          </a:p>
        </p:txBody>
      </p:sp>
      <p:sp>
        <p:nvSpPr>
          <p:cNvPr id="6" name="Text 4"/>
          <p:cNvSpPr/>
          <p:nvPr/>
        </p:nvSpPr>
        <p:spPr>
          <a:xfrm>
            <a:off x="658368" y="1298448"/>
            <a:ext cx="9875520" cy="292608"/>
          </a:xfrm>
          <a:prstGeom prst="rect">
            <a:avLst/>
          </a:prstGeom>
          <a:noFill/>
          <a:ln/>
        </p:spPr>
        <p:txBody>
          <a:bodyPr wrap="square" lIns="0" tIns="0" rIns="0" bIns="0" rtlCol="0" anchor="t"/>
          <a:lstStyle/>
          <a:p>
            <a:pPr indent="0" marL="0">
              <a:lnSpc>
                <a:spcPct val="122000"/>
              </a:lnSpc>
              <a:buNone/>
            </a:pPr>
            <a:r>
              <a:rPr lang="en-US" sz="1300" dirty="0">
                <a:solidFill>
                  <a:srgbClr val="44534C"/>
                </a:solidFill>
                <a:latin typeface="Calibri" pitchFamily="34" charset="0"/>
                <a:ea typeface="Calibri" pitchFamily="34" charset="-122"/>
                <a:cs typeface="Calibri" pitchFamily="34" charset="-120"/>
              </a:rPr>
              <a:t>The product is built and charging. What is not bought yet is the evidence that the number can be trusted, and the bank connection that turns one honest answer into a recurring one.</a:t>
            </a:r>
            <a:endParaRPr lang="en-US" sz="1300" dirty="0"/>
          </a:p>
        </p:txBody>
      </p:sp>
      <p:sp>
        <p:nvSpPr>
          <p:cNvPr id="7" name="Shape 5"/>
          <p:cNvSpPr/>
          <p:nvPr/>
        </p:nvSpPr>
        <p:spPr>
          <a:xfrm>
            <a:off x="658368" y="1883664"/>
            <a:ext cx="10872216" cy="658368"/>
          </a:xfrm>
          <a:prstGeom prst="roundRect">
            <a:avLst>
              <a:gd name="adj" fmla="val 12500"/>
            </a:avLst>
          </a:prstGeom>
          <a:solidFill>
            <a:srgbClr val="0B1210"/>
          </a:solidFill>
          <a:ln/>
        </p:spPr>
      </p:sp>
      <p:sp>
        <p:nvSpPr>
          <p:cNvPr id="8" name="Text 6"/>
          <p:cNvSpPr/>
          <p:nvPr/>
        </p:nvSpPr>
        <p:spPr>
          <a:xfrm>
            <a:off x="932688" y="1883664"/>
            <a:ext cx="10323576" cy="658368"/>
          </a:xfrm>
          <a:prstGeom prst="rect">
            <a:avLst/>
          </a:prstGeom>
          <a:noFill/>
          <a:ln/>
        </p:spPr>
        <p:txBody>
          <a:bodyPr wrap="square" lIns="0" tIns="0" rIns="0" bIns="0" rtlCol="0" anchor="ctr"/>
          <a:lstStyle/>
          <a:p>
            <a:pPr indent="0" marL="0">
              <a:buNone/>
            </a:pPr>
            <a:r>
              <a:rPr lang="en-US" sz="950" b="1" spc="180" kern="0" dirty="0">
                <a:solidFill>
                  <a:srgbClr val="94A29B"/>
                </a:solidFill>
                <a:latin typeface="Calibri" pitchFamily="34" charset="0"/>
                <a:ea typeface="Calibri" pitchFamily="34" charset="-122"/>
                <a:cs typeface="Calibri" pitchFamily="34" charset="-120"/>
              </a:rPr>
              <a:t>RAISING      </a:t>
            </a:r>
            <a:pPr indent="0" marL="0">
              <a:buNone/>
            </a:pPr>
            <a:r>
              <a:rPr lang="en-US" sz="2000" b="1" dirty="0">
                <a:solidFill>
                  <a:srgbClr val="2ECC7F"/>
                </a:solidFill>
                <a:latin typeface="Cambria" pitchFamily="34" charset="0"/>
                <a:ea typeface="Cambria" pitchFamily="34" charset="-122"/>
                <a:cs typeface="Cambria" pitchFamily="34" charset="-120"/>
              </a:rPr>
              <a:t>$ [ amount ]</a:t>
            </a:r>
            <a:pPr indent="0" marL="0">
              <a:buNone/>
            </a:pPr>
            <a:r>
              <a:rPr lang="en-US" sz="1400" dirty="0">
                <a:solidFill>
                  <a:srgbClr val="FFFFFF"/>
                </a:solidFill>
                <a:latin typeface="Calibri" pitchFamily="34" charset="0"/>
                <a:ea typeface="Calibri" pitchFamily="34" charset="-122"/>
                <a:cs typeface="Calibri" pitchFamily="34" charset="-120"/>
              </a:rPr>
              <a:t>      for 18 months of runway</a:t>
            </a:r>
            <a:endParaRPr lang="en-US" sz="950" dirty="0"/>
          </a:p>
        </p:txBody>
      </p:sp>
      <p:sp>
        <p:nvSpPr>
          <p:cNvPr id="9" name="Shape 7"/>
          <p:cNvSpPr/>
          <p:nvPr/>
        </p:nvSpPr>
        <p:spPr>
          <a:xfrm>
            <a:off x="658368" y="2706624"/>
            <a:ext cx="10872216" cy="731520"/>
          </a:xfrm>
          <a:prstGeom prst="roundRect">
            <a:avLst>
              <a:gd name="adj" fmla="val 11250"/>
            </a:avLst>
          </a:prstGeom>
          <a:solidFill>
            <a:srgbClr val="F2F5F3"/>
          </a:solidFill>
          <a:ln/>
        </p:spPr>
      </p:sp>
      <p:sp>
        <p:nvSpPr>
          <p:cNvPr id="10" name="Shape 8"/>
          <p:cNvSpPr/>
          <p:nvPr/>
        </p:nvSpPr>
        <p:spPr>
          <a:xfrm>
            <a:off x="859536" y="2935224"/>
            <a:ext cx="384048" cy="274320"/>
          </a:xfrm>
          <a:prstGeom prst="roundRect">
            <a:avLst>
              <a:gd name="adj" fmla="val 18333"/>
            </a:avLst>
          </a:prstGeom>
          <a:solidFill>
            <a:srgbClr val="0B1210"/>
          </a:solidFill>
          <a:ln/>
        </p:spPr>
      </p:sp>
      <p:sp>
        <p:nvSpPr>
          <p:cNvPr id="11" name="Text 9"/>
          <p:cNvSpPr/>
          <p:nvPr/>
        </p:nvSpPr>
        <p:spPr>
          <a:xfrm>
            <a:off x="859536" y="2935224"/>
            <a:ext cx="3840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01</a:t>
            </a:r>
            <a:endParaRPr lang="en-US" sz="1000" dirty="0"/>
          </a:p>
        </p:txBody>
      </p:sp>
      <p:sp>
        <p:nvSpPr>
          <p:cNvPr id="12" name="Text 10"/>
          <p:cNvSpPr/>
          <p:nvPr/>
        </p:nvSpPr>
        <p:spPr>
          <a:xfrm>
            <a:off x="1371600" y="2834640"/>
            <a:ext cx="786384" cy="457200"/>
          </a:xfrm>
          <a:prstGeom prst="rect">
            <a:avLst/>
          </a:prstGeom>
          <a:noFill/>
          <a:ln/>
        </p:spPr>
        <p:txBody>
          <a:bodyPr wrap="square" lIns="0" tIns="0" rIns="0" bIns="0" rtlCol="0" anchor="ctr"/>
          <a:lstStyle/>
          <a:p>
            <a:pPr indent="0" marL="0">
              <a:buNone/>
            </a:pPr>
            <a:r>
              <a:rPr lang="en-US" sz="1900" b="1" dirty="0">
                <a:solidFill>
                  <a:srgbClr val="12855A"/>
                </a:solidFill>
                <a:latin typeface="Cambria" pitchFamily="34" charset="0"/>
                <a:ea typeface="Cambria" pitchFamily="34" charset="-122"/>
                <a:cs typeface="Cambria" pitchFamily="34" charset="-120"/>
              </a:rPr>
              <a:t>45%</a:t>
            </a:r>
            <a:endParaRPr lang="en-US" sz="1900" dirty="0"/>
          </a:p>
        </p:txBody>
      </p:sp>
      <p:sp>
        <p:nvSpPr>
          <p:cNvPr id="13" name="Text 11"/>
          <p:cNvSpPr/>
          <p:nvPr/>
        </p:nvSpPr>
        <p:spPr>
          <a:xfrm>
            <a:off x="2249424" y="2852928"/>
            <a:ext cx="1920240" cy="457200"/>
          </a:xfrm>
          <a:prstGeom prst="rect">
            <a:avLst/>
          </a:prstGeom>
          <a:noFill/>
          <a:ln/>
        </p:spPr>
        <p:txBody>
          <a:bodyPr wrap="square" lIns="0" tIns="0" rIns="0" bIns="0" rtlCol="0" anchor="ctr"/>
          <a:lstStyle/>
          <a:p>
            <a:pPr algn="l" indent="0" marL="0">
              <a:buNone/>
            </a:pPr>
            <a:r>
              <a:rPr lang="en-US" sz="1200" b="1" dirty="0">
                <a:solidFill>
                  <a:srgbClr val="0B1210"/>
                </a:solidFill>
                <a:latin typeface="Cambria" pitchFamily="34" charset="0"/>
                <a:ea typeface="Cambria" pitchFamily="34" charset="-122"/>
                <a:cs typeface="Cambria" pitchFamily="34" charset="-120"/>
              </a:rPr>
              <a:t>Two hires</a:t>
            </a:r>
            <a:endParaRPr lang="en-US" sz="1200" dirty="0"/>
          </a:p>
        </p:txBody>
      </p:sp>
      <p:sp>
        <p:nvSpPr>
          <p:cNvPr id="14" name="Text 12"/>
          <p:cNvSpPr/>
          <p:nvPr/>
        </p:nvSpPr>
        <p:spPr>
          <a:xfrm>
            <a:off x="4261104" y="2816352"/>
            <a:ext cx="4480560" cy="548640"/>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One engineer to take the data layer off the founder, one person on research and support — so demand evidence stops being a nights-and-weekends project.</a:t>
            </a:r>
            <a:endParaRPr lang="en-US" sz="950" dirty="0"/>
          </a:p>
        </p:txBody>
      </p:sp>
      <p:sp>
        <p:nvSpPr>
          <p:cNvPr id="15" name="Text 13"/>
          <p:cNvSpPr/>
          <p:nvPr/>
        </p:nvSpPr>
        <p:spPr>
          <a:xfrm>
            <a:off x="8887968" y="2816352"/>
            <a:ext cx="2514600" cy="548640"/>
          </a:xfrm>
          <a:prstGeom prst="rect">
            <a:avLst/>
          </a:prstGeom>
          <a:noFill/>
          <a:ln/>
        </p:spPr>
        <p:txBody>
          <a:bodyPr wrap="square" lIns="0" tIns="0" rIns="0" bIns="0" rtlCol="0" anchor="t"/>
          <a:lstStyle/>
          <a:p>
            <a:pPr algn="l" indent="0" marL="0">
              <a:lnSpc>
                <a:spcPct val="120000"/>
              </a:lnSpc>
              <a:buNone/>
            </a:pPr>
            <a:r>
              <a:rPr lang="en-US" sz="950" i="1" dirty="0">
                <a:solidFill>
                  <a:srgbClr val="6C7C74"/>
                </a:solidFill>
                <a:latin typeface="Calibri" pitchFamily="34" charset="0"/>
                <a:ea typeface="Calibri" pitchFamily="34" charset="-122"/>
                <a:cs typeface="Calibri" pitchFamily="34" charset="-120"/>
              </a:rPr>
              <a:t>Removes: single-point-of-failure execution risk</a:t>
            </a:r>
            <a:endParaRPr lang="en-US" sz="950" dirty="0"/>
          </a:p>
        </p:txBody>
      </p:sp>
      <p:sp>
        <p:nvSpPr>
          <p:cNvPr id="16" name="Shape 14"/>
          <p:cNvSpPr/>
          <p:nvPr/>
        </p:nvSpPr>
        <p:spPr>
          <a:xfrm>
            <a:off x="658368" y="3529584"/>
            <a:ext cx="10872216" cy="731520"/>
          </a:xfrm>
          <a:prstGeom prst="roundRect">
            <a:avLst>
              <a:gd name="adj" fmla="val 11250"/>
            </a:avLst>
          </a:prstGeom>
          <a:solidFill>
            <a:srgbClr val="FFFFFF"/>
          </a:solidFill>
          <a:ln w="9525">
            <a:solidFill>
              <a:srgbClr val="DCE3DF"/>
            </a:solidFill>
            <a:prstDash val="solid"/>
          </a:ln>
        </p:spPr>
      </p:sp>
      <p:sp>
        <p:nvSpPr>
          <p:cNvPr id="17" name="Shape 15"/>
          <p:cNvSpPr/>
          <p:nvPr/>
        </p:nvSpPr>
        <p:spPr>
          <a:xfrm>
            <a:off x="859536" y="3758184"/>
            <a:ext cx="384048" cy="274320"/>
          </a:xfrm>
          <a:prstGeom prst="roundRect">
            <a:avLst>
              <a:gd name="adj" fmla="val 18333"/>
            </a:avLst>
          </a:prstGeom>
          <a:solidFill>
            <a:srgbClr val="0B1210"/>
          </a:solidFill>
          <a:ln/>
        </p:spPr>
      </p:sp>
      <p:sp>
        <p:nvSpPr>
          <p:cNvPr id="18" name="Text 16"/>
          <p:cNvSpPr/>
          <p:nvPr/>
        </p:nvSpPr>
        <p:spPr>
          <a:xfrm>
            <a:off x="859536" y="3758184"/>
            <a:ext cx="3840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02</a:t>
            </a:r>
            <a:endParaRPr lang="en-US" sz="1000" dirty="0"/>
          </a:p>
        </p:txBody>
      </p:sp>
      <p:sp>
        <p:nvSpPr>
          <p:cNvPr id="19" name="Text 17"/>
          <p:cNvSpPr/>
          <p:nvPr/>
        </p:nvSpPr>
        <p:spPr>
          <a:xfrm>
            <a:off x="1371600" y="3657600"/>
            <a:ext cx="786384" cy="457200"/>
          </a:xfrm>
          <a:prstGeom prst="rect">
            <a:avLst/>
          </a:prstGeom>
          <a:noFill/>
          <a:ln/>
        </p:spPr>
        <p:txBody>
          <a:bodyPr wrap="square" lIns="0" tIns="0" rIns="0" bIns="0" rtlCol="0" anchor="ctr"/>
          <a:lstStyle/>
          <a:p>
            <a:pPr indent="0" marL="0">
              <a:buNone/>
            </a:pPr>
            <a:r>
              <a:rPr lang="en-US" sz="1900" b="1" dirty="0">
                <a:solidFill>
                  <a:srgbClr val="12855A"/>
                </a:solidFill>
                <a:latin typeface="Cambria" pitchFamily="34" charset="0"/>
                <a:ea typeface="Cambria" pitchFamily="34" charset="-122"/>
                <a:cs typeface="Cambria" pitchFamily="34" charset="-120"/>
              </a:rPr>
              <a:t>20%</a:t>
            </a:r>
            <a:endParaRPr lang="en-US" sz="1900" dirty="0"/>
          </a:p>
        </p:txBody>
      </p:sp>
      <p:sp>
        <p:nvSpPr>
          <p:cNvPr id="20" name="Text 18"/>
          <p:cNvSpPr/>
          <p:nvPr/>
        </p:nvSpPr>
        <p:spPr>
          <a:xfrm>
            <a:off x="2249424" y="3675888"/>
            <a:ext cx="1920240" cy="457200"/>
          </a:xfrm>
          <a:prstGeom prst="rect">
            <a:avLst/>
          </a:prstGeom>
          <a:noFill/>
          <a:ln/>
        </p:spPr>
        <p:txBody>
          <a:bodyPr wrap="square" lIns="0" tIns="0" rIns="0" bIns="0" rtlCol="0" anchor="ctr"/>
          <a:lstStyle/>
          <a:p>
            <a:pPr algn="l" indent="0" marL="0">
              <a:buNone/>
            </a:pPr>
            <a:r>
              <a:rPr lang="en-US" sz="1200" b="1" dirty="0">
                <a:solidFill>
                  <a:srgbClr val="0B1210"/>
                </a:solidFill>
                <a:latin typeface="Cambria" pitchFamily="34" charset="0"/>
                <a:ea typeface="Cambria" pitchFamily="34" charset="-122"/>
                <a:cs typeface="Cambria" pitchFamily="34" charset="-120"/>
              </a:rPr>
              <a:t>The spend side</a:t>
            </a:r>
            <a:endParaRPr lang="en-US" sz="1200" dirty="0"/>
          </a:p>
        </p:txBody>
      </p:sp>
      <p:sp>
        <p:nvSpPr>
          <p:cNvPr id="21" name="Text 19"/>
          <p:cNvSpPr/>
          <p:nvPr/>
        </p:nvSpPr>
        <p:spPr>
          <a:xfrm>
            <a:off x="4261104" y="3639312"/>
            <a:ext cx="4480560" cy="548640"/>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Bank linking, consent flow, transaction categorisation and recurring-charge detection, plus the vendor and security costs that come with holding that data.</a:t>
            </a:r>
            <a:endParaRPr lang="en-US" sz="950" dirty="0"/>
          </a:p>
        </p:txBody>
      </p:sp>
      <p:sp>
        <p:nvSpPr>
          <p:cNvPr id="22" name="Text 20"/>
          <p:cNvSpPr/>
          <p:nvPr/>
        </p:nvSpPr>
        <p:spPr>
          <a:xfrm>
            <a:off x="8887968" y="3639312"/>
            <a:ext cx="2514600" cy="548640"/>
          </a:xfrm>
          <a:prstGeom prst="rect">
            <a:avLst/>
          </a:prstGeom>
          <a:noFill/>
          <a:ln/>
        </p:spPr>
        <p:txBody>
          <a:bodyPr wrap="square" lIns="0" tIns="0" rIns="0" bIns="0" rtlCol="0" anchor="t"/>
          <a:lstStyle/>
          <a:p>
            <a:pPr algn="l" indent="0" marL="0">
              <a:lnSpc>
                <a:spcPct val="120000"/>
              </a:lnSpc>
              <a:buNone/>
            </a:pPr>
            <a:r>
              <a:rPr lang="en-US" sz="950" i="1" dirty="0">
                <a:solidFill>
                  <a:srgbClr val="6C7C74"/>
                </a:solidFill>
                <a:latin typeface="Calibri" pitchFamily="34" charset="0"/>
                <a:ea typeface="Calibri" pitchFamily="34" charset="-122"/>
                <a:cs typeface="Calibri" pitchFamily="34" charset="-120"/>
              </a:rPr>
              <a:t>Removes: the engine cannot see the bigger half</a:t>
            </a:r>
            <a:endParaRPr lang="en-US" sz="950" dirty="0"/>
          </a:p>
        </p:txBody>
      </p:sp>
      <p:sp>
        <p:nvSpPr>
          <p:cNvPr id="23" name="Shape 21"/>
          <p:cNvSpPr/>
          <p:nvPr/>
        </p:nvSpPr>
        <p:spPr>
          <a:xfrm>
            <a:off x="658368" y="4352544"/>
            <a:ext cx="10872216" cy="731520"/>
          </a:xfrm>
          <a:prstGeom prst="roundRect">
            <a:avLst>
              <a:gd name="adj" fmla="val 11250"/>
            </a:avLst>
          </a:prstGeom>
          <a:solidFill>
            <a:srgbClr val="F2F5F3"/>
          </a:solidFill>
          <a:ln/>
        </p:spPr>
      </p:sp>
      <p:sp>
        <p:nvSpPr>
          <p:cNvPr id="24" name="Shape 22"/>
          <p:cNvSpPr/>
          <p:nvPr/>
        </p:nvSpPr>
        <p:spPr>
          <a:xfrm>
            <a:off x="859536" y="4581144"/>
            <a:ext cx="384048" cy="274320"/>
          </a:xfrm>
          <a:prstGeom prst="roundRect">
            <a:avLst>
              <a:gd name="adj" fmla="val 18333"/>
            </a:avLst>
          </a:prstGeom>
          <a:solidFill>
            <a:srgbClr val="0B1210"/>
          </a:solidFill>
          <a:ln/>
        </p:spPr>
      </p:sp>
      <p:sp>
        <p:nvSpPr>
          <p:cNvPr id="25" name="Text 23"/>
          <p:cNvSpPr/>
          <p:nvPr/>
        </p:nvSpPr>
        <p:spPr>
          <a:xfrm>
            <a:off x="859536" y="4581144"/>
            <a:ext cx="3840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03</a:t>
            </a:r>
            <a:endParaRPr lang="en-US" sz="1000" dirty="0"/>
          </a:p>
        </p:txBody>
      </p:sp>
      <p:sp>
        <p:nvSpPr>
          <p:cNvPr id="26" name="Text 24"/>
          <p:cNvSpPr/>
          <p:nvPr/>
        </p:nvSpPr>
        <p:spPr>
          <a:xfrm>
            <a:off x="1371600" y="4480560"/>
            <a:ext cx="786384" cy="457200"/>
          </a:xfrm>
          <a:prstGeom prst="rect">
            <a:avLst/>
          </a:prstGeom>
          <a:noFill/>
          <a:ln/>
        </p:spPr>
        <p:txBody>
          <a:bodyPr wrap="square" lIns="0" tIns="0" rIns="0" bIns="0" rtlCol="0" anchor="ctr"/>
          <a:lstStyle/>
          <a:p>
            <a:pPr indent="0" marL="0">
              <a:buNone/>
            </a:pPr>
            <a:r>
              <a:rPr lang="en-US" sz="1900" b="1" dirty="0">
                <a:solidFill>
                  <a:srgbClr val="12855A"/>
                </a:solidFill>
                <a:latin typeface="Cambria" pitchFamily="34" charset="0"/>
                <a:ea typeface="Cambria" pitchFamily="34" charset="-122"/>
                <a:cs typeface="Cambria" pitchFamily="34" charset="-120"/>
              </a:rPr>
              <a:t>20%</a:t>
            </a:r>
            <a:endParaRPr lang="en-US" sz="1900" dirty="0"/>
          </a:p>
        </p:txBody>
      </p:sp>
      <p:sp>
        <p:nvSpPr>
          <p:cNvPr id="27" name="Text 25"/>
          <p:cNvSpPr/>
          <p:nvPr/>
        </p:nvSpPr>
        <p:spPr>
          <a:xfrm>
            <a:off x="2249424" y="4498848"/>
            <a:ext cx="1920240" cy="457200"/>
          </a:xfrm>
          <a:prstGeom prst="rect">
            <a:avLst/>
          </a:prstGeom>
          <a:noFill/>
          <a:ln/>
        </p:spPr>
        <p:txBody>
          <a:bodyPr wrap="square" lIns="0" tIns="0" rIns="0" bIns="0" rtlCol="0" anchor="ctr"/>
          <a:lstStyle/>
          <a:p>
            <a:pPr algn="l" indent="0" marL="0">
              <a:buNone/>
            </a:pPr>
            <a:r>
              <a:rPr lang="en-US" sz="1200" b="1" dirty="0">
                <a:solidFill>
                  <a:srgbClr val="0B1210"/>
                </a:solidFill>
                <a:latin typeface="Cambria" pitchFamily="34" charset="0"/>
                <a:ea typeface="Cambria" pitchFamily="34" charset="-122"/>
                <a:cs typeface="Cambria" pitchFamily="34" charset="-120"/>
              </a:rPr>
              <a:t>Calibration &amp; proof</a:t>
            </a:r>
            <a:endParaRPr lang="en-US" sz="1200" dirty="0"/>
          </a:p>
        </p:txBody>
      </p:sp>
      <p:sp>
        <p:nvSpPr>
          <p:cNvPr id="28" name="Text 26"/>
          <p:cNvSpPr/>
          <p:nvPr/>
        </p:nvSpPr>
        <p:spPr>
          <a:xfrm>
            <a:off x="4261104" y="4462272"/>
            <a:ext cx="4480560" cy="548640"/>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Back-test every probability method against real outcomes, then publish the record. Simultaneously the moat and the largest unproven claim in this deck.</a:t>
            </a:r>
            <a:endParaRPr lang="en-US" sz="950" dirty="0"/>
          </a:p>
        </p:txBody>
      </p:sp>
      <p:sp>
        <p:nvSpPr>
          <p:cNvPr id="29" name="Text 27"/>
          <p:cNvSpPr/>
          <p:nvPr/>
        </p:nvSpPr>
        <p:spPr>
          <a:xfrm>
            <a:off x="8887968" y="4462272"/>
            <a:ext cx="2514600" cy="548640"/>
          </a:xfrm>
          <a:prstGeom prst="rect">
            <a:avLst/>
          </a:prstGeom>
          <a:noFill/>
          <a:ln/>
        </p:spPr>
        <p:txBody>
          <a:bodyPr wrap="square" lIns="0" tIns="0" rIns="0" bIns="0" rtlCol="0" anchor="t"/>
          <a:lstStyle/>
          <a:p>
            <a:pPr algn="l" indent="0" marL="0">
              <a:lnSpc>
                <a:spcPct val="120000"/>
              </a:lnSpc>
              <a:buNone/>
            </a:pPr>
            <a:r>
              <a:rPr lang="en-US" sz="950" i="1" dirty="0">
                <a:solidFill>
                  <a:srgbClr val="6C7C74"/>
                </a:solidFill>
                <a:latin typeface="Calibri" pitchFamily="34" charset="0"/>
                <a:ea typeface="Calibri" pitchFamily="34" charset="-122"/>
                <a:cs typeface="Calibri" pitchFamily="34" charset="-120"/>
              </a:rPr>
              <a:t>Removes: “trust the math” with no track record</a:t>
            </a:r>
            <a:endParaRPr lang="en-US" sz="950" dirty="0"/>
          </a:p>
        </p:txBody>
      </p:sp>
      <p:sp>
        <p:nvSpPr>
          <p:cNvPr id="30" name="Shape 28"/>
          <p:cNvSpPr/>
          <p:nvPr/>
        </p:nvSpPr>
        <p:spPr>
          <a:xfrm>
            <a:off x="658368" y="5175504"/>
            <a:ext cx="10872216" cy="731520"/>
          </a:xfrm>
          <a:prstGeom prst="roundRect">
            <a:avLst>
              <a:gd name="adj" fmla="val 11250"/>
            </a:avLst>
          </a:prstGeom>
          <a:solidFill>
            <a:srgbClr val="FFFFFF"/>
          </a:solidFill>
          <a:ln w="9525">
            <a:solidFill>
              <a:srgbClr val="DCE3DF"/>
            </a:solidFill>
            <a:prstDash val="solid"/>
          </a:ln>
        </p:spPr>
      </p:sp>
      <p:sp>
        <p:nvSpPr>
          <p:cNvPr id="31" name="Shape 29"/>
          <p:cNvSpPr/>
          <p:nvPr/>
        </p:nvSpPr>
        <p:spPr>
          <a:xfrm>
            <a:off x="859536" y="5404104"/>
            <a:ext cx="384048" cy="274320"/>
          </a:xfrm>
          <a:prstGeom prst="roundRect">
            <a:avLst>
              <a:gd name="adj" fmla="val 18333"/>
            </a:avLst>
          </a:prstGeom>
          <a:solidFill>
            <a:srgbClr val="0B1210"/>
          </a:solidFill>
          <a:ln/>
        </p:spPr>
      </p:sp>
      <p:sp>
        <p:nvSpPr>
          <p:cNvPr id="32" name="Text 30"/>
          <p:cNvSpPr/>
          <p:nvPr/>
        </p:nvSpPr>
        <p:spPr>
          <a:xfrm>
            <a:off x="859536" y="5404104"/>
            <a:ext cx="3840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04</a:t>
            </a:r>
            <a:endParaRPr lang="en-US" sz="1000" dirty="0"/>
          </a:p>
        </p:txBody>
      </p:sp>
      <p:sp>
        <p:nvSpPr>
          <p:cNvPr id="33" name="Text 31"/>
          <p:cNvSpPr/>
          <p:nvPr/>
        </p:nvSpPr>
        <p:spPr>
          <a:xfrm>
            <a:off x="1371600" y="5303520"/>
            <a:ext cx="786384" cy="457200"/>
          </a:xfrm>
          <a:prstGeom prst="rect">
            <a:avLst/>
          </a:prstGeom>
          <a:noFill/>
          <a:ln/>
        </p:spPr>
        <p:txBody>
          <a:bodyPr wrap="square" lIns="0" tIns="0" rIns="0" bIns="0" rtlCol="0" anchor="ctr"/>
          <a:lstStyle/>
          <a:p>
            <a:pPr indent="0" marL="0">
              <a:buNone/>
            </a:pPr>
            <a:r>
              <a:rPr lang="en-US" sz="1900" b="1" dirty="0">
                <a:solidFill>
                  <a:srgbClr val="12855A"/>
                </a:solidFill>
                <a:latin typeface="Cambria" pitchFamily="34" charset="0"/>
                <a:ea typeface="Cambria" pitchFamily="34" charset="-122"/>
                <a:cs typeface="Cambria" pitchFamily="34" charset="-120"/>
              </a:rPr>
              <a:t>15%</a:t>
            </a:r>
            <a:endParaRPr lang="en-US" sz="1900" dirty="0"/>
          </a:p>
        </p:txBody>
      </p:sp>
      <p:sp>
        <p:nvSpPr>
          <p:cNvPr id="34" name="Text 32"/>
          <p:cNvSpPr/>
          <p:nvPr/>
        </p:nvSpPr>
        <p:spPr>
          <a:xfrm>
            <a:off x="2249424" y="5321808"/>
            <a:ext cx="1920240" cy="457200"/>
          </a:xfrm>
          <a:prstGeom prst="rect">
            <a:avLst/>
          </a:prstGeom>
          <a:noFill/>
          <a:ln/>
        </p:spPr>
        <p:txBody>
          <a:bodyPr wrap="square" lIns="0" tIns="0" rIns="0" bIns="0" rtlCol="0" anchor="ctr"/>
          <a:lstStyle/>
          <a:p>
            <a:pPr algn="l" indent="0" marL="0">
              <a:buNone/>
            </a:pPr>
            <a:r>
              <a:rPr lang="en-US" sz="1200" b="1" dirty="0">
                <a:solidFill>
                  <a:srgbClr val="0B1210"/>
                </a:solidFill>
                <a:latin typeface="Cambria" pitchFamily="34" charset="0"/>
                <a:ea typeface="Cambria" pitchFamily="34" charset="-122"/>
                <a:cs typeface="Cambria" pitchFamily="34" charset="-120"/>
              </a:rPr>
              <a:t>Legal &amp; compliance</a:t>
            </a:r>
            <a:endParaRPr lang="en-US" sz="1200" dirty="0"/>
          </a:p>
        </p:txBody>
      </p:sp>
      <p:sp>
        <p:nvSpPr>
          <p:cNvPr id="35" name="Text 33"/>
          <p:cNvSpPr/>
          <p:nvPr/>
        </p:nvSpPr>
        <p:spPr>
          <a:xfrm>
            <a:off x="4261104" y="5285232"/>
            <a:ext cx="4480560" cy="548640"/>
          </a:xfrm>
          <a:prstGeom prst="rect">
            <a:avLst/>
          </a:prstGeom>
          <a:noFill/>
          <a:ln/>
        </p:spPr>
        <p:txBody>
          <a:bodyPr wrap="square" lIns="0" tIns="0" rIns="0" bIns="0" rtlCol="0" anchor="t"/>
          <a:lstStyle/>
          <a:p>
            <a:pPr algn="l" indent="0" marL="0">
              <a:lnSpc>
                <a:spcPct val="120000"/>
              </a:lnSpc>
              <a:buNone/>
            </a:pPr>
            <a:r>
              <a:rPr lang="en-US" sz="950" dirty="0">
                <a:solidFill>
                  <a:srgbClr val="44534C"/>
                </a:solidFill>
                <a:latin typeface="Calibri" pitchFamily="34" charset="0"/>
                <a:ea typeface="Calibri" pitchFamily="34" charset="-122"/>
                <a:cs typeface="Calibri" pitchFamily="34" charset="-120"/>
              </a:rPr>
              <a:t>A securities read on the saver path, plus the consent, security and data-handling review that must close before a single bank account is connected.</a:t>
            </a:r>
            <a:endParaRPr lang="en-US" sz="950" dirty="0"/>
          </a:p>
        </p:txBody>
      </p:sp>
      <p:sp>
        <p:nvSpPr>
          <p:cNvPr id="36" name="Text 34"/>
          <p:cNvSpPr/>
          <p:nvPr/>
        </p:nvSpPr>
        <p:spPr>
          <a:xfrm>
            <a:off x="8887968" y="5285232"/>
            <a:ext cx="2514600" cy="548640"/>
          </a:xfrm>
          <a:prstGeom prst="rect">
            <a:avLst/>
          </a:prstGeom>
          <a:noFill/>
          <a:ln/>
        </p:spPr>
        <p:txBody>
          <a:bodyPr wrap="square" lIns="0" tIns="0" rIns="0" bIns="0" rtlCol="0" anchor="t"/>
          <a:lstStyle/>
          <a:p>
            <a:pPr algn="l" indent="0" marL="0">
              <a:lnSpc>
                <a:spcPct val="120000"/>
              </a:lnSpc>
              <a:buNone/>
            </a:pPr>
            <a:r>
              <a:rPr lang="en-US" sz="950" i="1" dirty="0">
                <a:solidFill>
                  <a:srgbClr val="6C7C74"/>
                </a:solidFill>
                <a:latin typeface="Calibri" pitchFamily="34" charset="0"/>
                <a:ea typeface="Calibri" pitchFamily="34" charset="-122"/>
                <a:cs typeface="Calibri" pitchFamily="34" charset="-120"/>
              </a:rPr>
              <a:t>Removes: regulatory exposure on the saver path</a:t>
            </a:r>
            <a:endParaRPr lang="en-US" sz="950" dirty="0"/>
          </a:p>
        </p:txBody>
      </p:sp>
      <p:sp>
        <p:nvSpPr>
          <p:cNvPr id="37" name="Text 35"/>
          <p:cNvSpPr/>
          <p:nvPr/>
        </p:nvSpPr>
        <p:spPr>
          <a:xfrm>
            <a:off x="658368" y="6053328"/>
            <a:ext cx="10872216" cy="310896"/>
          </a:xfrm>
          <a:prstGeom prst="rect">
            <a:avLst/>
          </a:prstGeom>
          <a:noFill/>
          <a:ln/>
        </p:spPr>
        <p:txBody>
          <a:bodyPr wrap="square" lIns="0" tIns="0" rIns="0" bIns="0" rtlCol="0" anchor="t"/>
          <a:lstStyle/>
          <a:p>
            <a:pPr algn="l" indent="0" marL="0">
              <a:lnSpc>
                <a:spcPct val="120000"/>
              </a:lnSpc>
              <a:buNone/>
            </a:pPr>
            <a:r>
              <a:rPr lang="en-US" sz="1050" b="1" dirty="0">
                <a:solidFill>
                  <a:srgbClr val="0B1210"/>
                </a:solidFill>
                <a:latin typeface="Calibri" pitchFamily="34" charset="0"/>
                <a:ea typeface="Calibri" pitchFamily="34" charset="-122"/>
                <a:cs typeface="Calibri" pitchFamily="34" charset="-120"/>
              </a:rPr>
              <a:t>There is no paid acquisition in this plan. </a:t>
            </a:r>
            <a:pPr algn="l" indent="0" marL="0">
              <a:lnSpc>
                <a:spcPct val="120000"/>
              </a:lnSpc>
              <a:buNone/>
            </a:pPr>
            <a:r>
              <a:rPr lang="en-US" sz="1050" dirty="0">
                <a:solidFill>
                  <a:srgbClr val="44534C"/>
                </a:solidFill>
                <a:latin typeface="Calibri" pitchFamily="34" charset="0"/>
                <a:ea typeface="Calibri" pitchFamily="34" charset="-122"/>
                <a:cs typeface="Calibri" pitchFamily="34" charset="-120"/>
              </a:rPr>
              <a:t>The first hundred users come from the founder's own network — if they will not pay, no advertising budget fixes that.</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210"/>
        </a:solidFill>
      </p:bgPr>
    </p:bg>
    <p:spTree>
      <p:nvGrpSpPr>
        <p:cNvPr id="1" name=""/>
        <p:cNvGrpSpPr/>
        <p:nvPr/>
      </p:nvGrpSpPr>
      <p:grpSpPr>
        <a:xfrm>
          <a:off x="0" y="0"/>
          <a:ext cx="0" cy="0"/>
          <a:chOff x="0" y="0"/>
          <a:chExt cx="0" cy="0"/>
        </a:xfrm>
      </p:grpSpPr>
      <p:sp>
        <p:nvSpPr>
          <p:cNvPr id="2" name="Shape 0"/>
          <p:cNvSpPr/>
          <p:nvPr/>
        </p:nvSpPr>
        <p:spPr>
          <a:xfrm>
            <a:off x="658368" y="603504"/>
            <a:ext cx="402336" cy="402336"/>
          </a:xfrm>
          <a:prstGeom prst="roundRect">
            <a:avLst>
              <a:gd name="adj" fmla="val 22727"/>
            </a:avLst>
          </a:prstGeom>
          <a:solidFill>
            <a:srgbClr val="2ECC7F"/>
          </a:solidFill>
          <a:ln/>
        </p:spPr>
      </p:sp>
      <p:sp>
        <p:nvSpPr>
          <p:cNvPr id="3" name="Text 1"/>
          <p:cNvSpPr/>
          <p:nvPr/>
        </p:nvSpPr>
        <p:spPr>
          <a:xfrm>
            <a:off x="658368" y="603504"/>
            <a:ext cx="402336" cy="402336"/>
          </a:xfrm>
          <a:prstGeom prst="rect">
            <a:avLst/>
          </a:prstGeom>
          <a:noFill/>
          <a:ln/>
        </p:spPr>
        <p:txBody>
          <a:bodyPr wrap="square" lIns="0" tIns="0" rIns="0" bIns="0" rtlCol="0" anchor="ctr"/>
          <a:lstStyle/>
          <a:p>
            <a:pPr algn="ctr" indent="0" marL="0">
              <a:buNone/>
            </a:pPr>
            <a:r>
              <a:rPr lang="en-US" sz="1936" b="1" dirty="0">
                <a:solidFill>
                  <a:srgbClr val="07130D"/>
                </a:solidFill>
                <a:latin typeface="Cambria" pitchFamily="34" charset="0"/>
                <a:ea typeface="Cambria" pitchFamily="34" charset="-122"/>
                <a:cs typeface="Cambria" pitchFamily="34" charset="-120"/>
              </a:rPr>
              <a:t>$</a:t>
            </a:r>
            <a:endParaRPr lang="en-US" sz="1936" dirty="0"/>
          </a:p>
        </p:txBody>
      </p:sp>
      <p:sp>
        <p:nvSpPr>
          <p:cNvPr id="4" name="Text 2"/>
          <p:cNvSpPr/>
          <p:nvPr/>
        </p:nvSpPr>
        <p:spPr>
          <a:xfrm>
            <a:off x="1225296" y="603504"/>
            <a:ext cx="2743200" cy="40233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PolyProfit</a:t>
            </a:r>
            <a:endParaRPr lang="en-US" sz="1700" dirty="0"/>
          </a:p>
        </p:txBody>
      </p:sp>
      <p:sp>
        <p:nvSpPr>
          <p:cNvPr id="5" name="Text 3"/>
          <p:cNvSpPr/>
          <p:nvPr/>
        </p:nvSpPr>
        <p:spPr>
          <a:xfrm>
            <a:off x="658368" y="1737360"/>
            <a:ext cx="10872216" cy="201168"/>
          </a:xfrm>
          <a:prstGeom prst="rect">
            <a:avLst/>
          </a:prstGeom>
          <a:noFill/>
          <a:ln/>
        </p:spPr>
        <p:txBody>
          <a:bodyPr wrap="square" lIns="0" tIns="0" rIns="0" bIns="0" rtlCol="0" anchor="ctr"/>
          <a:lstStyle/>
          <a:p>
            <a:pPr indent="0" marL="0">
              <a:buNone/>
            </a:pPr>
            <a:r>
              <a:rPr lang="en-US" sz="950" b="1" spc="220" kern="0" dirty="0">
                <a:solidFill>
                  <a:srgbClr val="2ECC7F"/>
                </a:solidFill>
                <a:latin typeface="Calibri" pitchFamily="34" charset="0"/>
                <a:ea typeface="Calibri" pitchFamily="34" charset="-122"/>
                <a:cs typeface="Calibri" pitchFamily="34" charset="-120"/>
              </a:rPr>
              <a:t>07  ·  THE MILESTONE</a:t>
            </a:r>
            <a:endParaRPr lang="en-US" sz="950" dirty="0"/>
          </a:p>
        </p:txBody>
      </p:sp>
      <p:sp>
        <p:nvSpPr>
          <p:cNvPr id="6" name="Text 4"/>
          <p:cNvSpPr/>
          <p:nvPr/>
        </p:nvSpPr>
        <p:spPr>
          <a:xfrm>
            <a:off x="658368" y="2011680"/>
            <a:ext cx="6400800" cy="1645920"/>
          </a:xfrm>
          <a:prstGeom prst="rect">
            <a:avLst/>
          </a:prstGeom>
          <a:noFill/>
          <a:ln/>
        </p:spPr>
        <p:txBody>
          <a:bodyPr wrap="square" lIns="0" tIns="0" rIns="0" bIns="0" rtlCol="0" anchor="t"/>
          <a:lstStyle/>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Earn trust before</a:t>
            </a:r>
            <a:endParaRPr lang="en-US" sz="4000" dirty="0"/>
          </a:p>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trying to own money.</a:t>
            </a:r>
            <a:endParaRPr lang="en-US" sz="4000" dirty="0"/>
          </a:p>
        </p:txBody>
      </p:sp>
      <p:sp>
        <p:nvSpPr>
          <p:cNvPr id="7" name="Text 5"/>
          <p:cNvSpPr/>
          <p:nvPr/>
        </p:nvSpPr>
        <p:spPr>
          <a:xfrm>
            <a:off x="658368" y="3840480"/>
            <a:ext cx="5669280" cy="822960"/>
          </a:xfrm>
          <a:prstGeom prst="rect">
            <a:avLst/>
          </a:prstGeom>
          <a:noFill/>
          <a:ln/>
        </p:spPr>
        <p:txBody>
          <a:bodyPr wrap="square" lIns="0" tIns="0" rIns="0" bIns="0" rtlCol="0" anchor="t"/>
          <a:lstStyle/>
          <a:p>
            <a:pPr indent="0" marL="0">
              <a:lnSpc>
                <a:spcPct val="124000"/>
              </a:lnSpc>
              <a:buNone/>
            </a:pPr>
            <a:r>
              <a:rPr lang="en-US" sz="1350" dirty="0">
                <a:solidFill>
                  <a:srgbClr val="A9B6AF"/>
                </a:solidFill>
                <a:latin typeface="Calibri" pitchFamily="34" charset="0"/>
                <a:ea typeface="Calibri" pitchFamily="34" charset="-122"/>
                <a:cs typeface="Calibri" pitchFamily="34" charset="-120"/>
              </a:rPr>
              <a:t>The company is not the ranked list. It is the record of that list having been right — published, checked, and boring enough to believe.</a:t>
            </a:r>
            <a:endParaRPr lang="en-US" sz="1350" dirty="0"/>
          </a:p>
        </p:txBody>
      </p:sp>
      <p:sp>
        <p:nvSpPr>
          <p:cNvPr id="8" name="Text 6"/>
          <p:cNvSpPr/>
          <p:nvPr/>
        </p:nvSpPr>
        <p:spPr>
          <a:xfrm>
            <a:off x="6949440" y="1956816"/>
            <a:ext cx="3657600" cy="182880"/>
          </a:xfrm>
          <a:prstGeom prst="rect">
            <a:avLst/>
          </a:prstGeom>
          <a:noFill/>
          <a:ln/>
        </p:spPr>
        <p:txBody>
          <a:bodyPr wrap="square" lIns="0" tIns="0" rIns="0" bIns="0" rtlCol="0" anchor="ctr"/>
          <a:lstStyle/>
          <a:p>
            <a:pPr algn="l" indent="0" marL="0">
              <a:buNone/>
            </a:pPr>
            <a:r>
              <a:rPr lang="en-US" sz="800" b="1" spc="140" kern="0" dirty="0">
                <a:solidFill>
                  <a:srgbClr val="2ECC7F"/>
                </a:solidFill>
                <a:latin typeface="Calibri" pitchFamily="34" charset="0"/>
                <a:ea typeface="Calibri" pitchFamily="34" charset="-122"/>
                <a:cs typeface="Calibri" pitchFamily="34" charset="-120"/>
              </a:rPr>
              <a:t>WHAT WE ARE DRIVING TO</a:t>
            </a:r>
            <a:endParaRPr lang="en-US" sz="800" dirty="0"/>
          </a:p>
        </p:txBody>
      </p:sp>
      <p:sp>
        <p:nvSpPr>
          <p:cNvPr id="9" name="Shape 7"/>
          <p:cNvSpPr/>
          <p:nvPr/>
        </p:nvSpPr>
        <p:spPr>
          <a:xfrm>
            <a:off x="6949440" y="2340864"/>
            <a:ext cx="274320" cy="274320"/>
          </a:xfrm>
          <a:prstGeom prst="roundRect">
            <a:avLst>
              <a:gd name="adj" fmla="val 18333"/>
            </a:avLst>
          </a:prstGeom>
          <a:solidFill>
            <a:srgbClr val="1F2C26"/>
          </a:solidFill>
          <a:ln/>
        </p:spPr>
      </p:sp>
      <p:sp>
        <p:nvSpPr>
          <p:cNvPr id="10" name="Text 8"/>
          <p:cNvSpPr/>
          <p:nvPr/>
        </p:nvSpPr>
        <p:spPr>
          <a:xfrm>
            <a:off x="6949440" y="2340864"/>
            <a:ext cx="274320" cy="274320"/>
          </a:xfrm>
          <a:prstGeom prst="rect">
            <a:avLst/>
          </a:prstGeom>
          <a:noFill/>
          <a:ln/>
        </p:spPr>
        <p:txBody>
          <a:bodyPr wrap="square" lIns="0" tIns="0" rIns="0" bIns="0" rtlCol="0" anchor="ctr"/>
          <a:lstStyle/>
          <a:p>
            <a:pPr algn="ctr" indent="0" marL="0">
              <a:buNone/>
            </a:pPr>
            <a:r>
              <a:rPr lang="en-US" sz="1100" b="1" dirty="0">
                <a:solidFill>
                  <a:srgbClr val="2ECC7F"/>
                </a:solidFill>
                <a:latin typeface="Cambria" pitchFamily="34" charset="0"/>
                <a:ea typeface="Cambria" pitchFamily="34" charset="-122"/>
                <a:cs typeface="Cambria" pitchFamily="34" charset="-120"/>
              </a:rPr>
              <a:t>1</a:t>
            </a:r>
            <a:endParaRPr lang="en-US" sz="1100" dirty="0"/>
          </a:p>
        </p:txBody>
      </p:sp>
      <p:sp>
        <p:nvSpPr>
          <p:cNvPr id="11" name="Text 9"/>
          <p:cNvSpPr/>
          <p:nvPr/>
        </p:nvSpPr>
        <p:spPr>
          <a:xfrm>
            <a:off x="7406640" y="2340864"/>
            <a:ext cx="4114800" cy="274320"/>
          </a:xfrm>
          <a:prstGeom prst="rect">
            <a:avLst/>
          </a:prstGeom>
          <a:noFill/>
          <a:ln/>
        </p:spPr>
        <p:txBody>
          <a:bodyPr wrap="square" lIns="0" tIns="0" rIns="0" bIns="0" rtlCol="0" anchor="ctr"/>
          <a:lstStyle/>
          <a:p>
            <a:pPr indent="0" marL="0">
              <a:buNone/>
            </a:pPr>
            <a:r>
              <a:rPr lang="en-US" sz="1250" dirty="0">
                <a:solidFill>
                  <a:srgbClr val="E2EAE6"/>
                </a:solidFill>
                <a:latin typeface="Calibri" pitchFamily="34" charset="0"/>
                <a:ea typeface="Calibri" pitchFamily="34" charset="-122"/>
                <a:cs typeface="Calibri" pitchFamily="34" charset="-120"/>
              </a:rPr>
              <a:t>100 paying users, none of them friends</a:t>
            </a:r>
            <a:endParaRPr lang="en-US" sz="1250" dirty="0"/>
          </a:p>
        </p:txBody>
      </p:sp>
      <p:sp>
        <p:nvSpPr>
          <p:cNvPr id="12" name="Shape 10"/>
          <p:cNvSpPr/>
          <p:nvPr/>
        </p:nvSpPr>
        <p:spPr>
          <a:xfrm>
            <a:off x="6949440" y="2962656"/>
            <a:ext cx="274320" cy="274320"/>
          </a:xfrm>
          <a:prstGeom prst="roundRect">
            <a:avLst>
              <a:gd name="adj" fmla="val 18333"/>
            </a:avLst>
          </a:prstGeom>
          <a:solidFill>
            <a:srgbClr val="1F2C26"/>
          </a:solidFill>
          <a:ln/>
        </p:spPr>
      </p:sp>
      <p:sp>
        <p:nvSpPr>
          <p:cNvPr id="13" name="Text 11"/>
          <p:cNvSpPr/>
          <p:nvPr/>
        </p:nvSpPr>
        <p:spPr>
          <a:xfrm>
            <a:off x="6949440" y="2962656"/>
            <a:ext cx="274320" cy="274320"/>
          </a:xfrm>
          <a:prstGeom prst="rect">
            <a:avLst/>
          </a:prstGeom>
          <a:noFill/>
          <a:ln/>
        </p:spPr>
        <p:txBody>
          <a:bodyPr wrap="square" lIns="0" tIns="0" rIns="0" bIns="0" rtlCol="0" anchor="ctr"/>
          <a:lstStyle/>
          <a:p>
            <a:pPr algn="ctr" indent="0" marL="0">
              <a:buNone/>
            </a:pPr>
            <a:r>
              <a:rPr lang="en-US" sz="1100" b="1" dirty="0">
                <a:solidFill>
                  <a:srgbClr val="2ECC7F"/>
                </a:solidFill>
                <a:latin typeface="Cambria" pitchFamily="34" charset="0"/>
                <a:ea typeface="Cambria" pitchFamily="34" charset="-122"/>
                <a:cs typeface="Cambria" pitchFamily="34" charset="-120"/>
              </a:rPr>
              <a:t>2</a:t>
            </a:r>
            <a:endParaRPr lang="en-US" sz="1100" dirty="0"/>
          </a:p>
        </p:txBody>
      </p:sp>
      <p:sp>
        <p:nvSpPr>
          <p:cNvPr id="14" name="Text 12"/>
          <p:cNvSpPr/>
          <p:nvPr/>
        </p:nvSpPr>
        <p:spPr>
          <a:xfrm>
            <a:off x="7406640" y="2962656"/>
            <a:ext cx="4114800" cy="274320"/>
          </a:xfrm>
          <a:prstGeom prst="rect">
            <a:avLst/>
          </a:prstGeom>
          <a:noFill/>
          <a:ln/>
        </p:spPr>
        <p:txBody>
          <a:bodyPr wrap="square" lIns="0" tIns="0" rIns="0" bIns="0" rtlCol="0" anchor="ctr"/>
          <a:lstStyle/>
          <a:p>
            <a:pPr indent="0" marL="0">
              <a:buNone/>
            </a:pPr>
            <a:r>
              <a:rPr lang="en-US" sz="1250" dirty="0">
                <a:solidFill>
                  <a:srgbClr val="E2EAE6"/>
                </a:solidFill>
                <a:latin typeface="Calibri" pitchFamily="34" charset="0"/>
                <a:ea typeface="Calibri" pitchFamily="34" charset="-122"/>
                <a:cs typeface="Calibri" pitchFamily="34" charset="-120"/>
              </a:rPr>
              <a:t>Renewal evidence, not signup counts</a:t>
            </a:r>
            <a:endParaRPr lang="en-US" sz="1250" dirty="0"/>
          </a:p>
        </p:txBody>
      </p:sp>
      <p:sp>
        <p:nvSpPr>
          <p:cNvPr id="15" name="Shape 13"/>
          <p:cNvSpPr/>
          <p:nvPr/>
        </p:nvSpPr>
        <p:spPr>
          <a:xfrm>
            <a:off x="6949440" y="3584448"/>
            <a:ext cx="274320" cy="274320"/>
          </a:xfrm>
          <a:prstGeom prst="roundRect">
            <a:avLst>
              <a:gd name="adj" fmla="val 18333"/>
            </a:avLst>
          </a:prstGeom>
          <a:solidFill>
            <a:srgbClr val="1F2C26"/>
          </a:solidFill>
          <a:ln/>
        </p:spPr>
      </p:sp>
      <p:sp>
        <p:nvSpPr>
          <p:cNvPr id="16" name="Text 14"/>
          <p:cNvSpPr/>
          <p:nvPr/>
        </p:nvSpPr>
        <p:spPr>
          <a:xfrm>
            <a:off x="6949440" y="3584448"/>
            <a:ext cx="274320" cy="274320"/>
          </a:xfrm>
          <a:prstGeom prst="rect">
            <a:avLst/>
          </a:prstGeom>
          <a:noFill/>
          <a:ln/>
        </p:spPr>
        <p:txBody>
          <a:bodyPr wrap="square" lIns="0" tIns="0" rIns="0" bIns="0" rtlCol="0" anchor="ctr"/>
          <a:lstStyle/>
          <a:p>
            <a:pPr algn="ctr" indent="0" marL="0">
              <a:buNone/>
            </a:pPr>
            <a:r>
              <a:rPr lang="en-US" sz="1100" b="1" dirty="0">
                <a:solidFill>
                  <a:srgbClr val="2ECC7F"/>
                </a:solidFill>
                <a:latin typeface="Cambria" pitchFamily="34" charset="0"/>
                <a:ea typeface="Cambria" pitchFamily="34" charset="-122"/>
                <a:cs typeface="Cambria" pitchFamily="34" charset="-120"/>
              </a:rPr>
              <a:t>3</a:t>
            </a:r>
            <a:endParaRPr lang="en-US" sz="1100" dirty="0"/>
          </a:p>
        </p:txBody>
      </p:sp>
      <p:sp>
        <p:nvSpPr>
          <p:cNvPr id="17" name="Text 15"/>
          <p:cNvSpPr/>
          <p:nvPr/>
        </p:nvSpPr>
        <p:spPr>
          <a:xfrm>
            <a:off x="7406640" y="3584448"/>
            <a:ext cx="4114800" cy="274320"/>
          </a:xfrm>
          <a:prstGeom prst="rect">
            <a:avLst/>
          </a:prstGeom>
          <a:noFill/>
          <a:ln/>
        </p:spPr>
        <p:txBody>
          <a:bodyPr wrap="square" lIns="0" tIns="0" rIns="0" bIns="0" rtlCol="0" anchor="ctr"/>
          <a:lstStyle/>
          <a:p>
            <a:pPr indent="0" marL="0">
              <a:buNone/>
            </a:pPr>
            <a:r>
              <a:rPr lang="en-US" sz="1250" dirty="0">
                <a:solidFill>
                  <a:srgbClr val="E2EAE6"/>
                </a:solidFill>
                <a:latin typeface="Calibri" pitchFamily="34" charset="0"/>
                <a:ea typeface="Calibri" pitchFamily="34" charset="-122"/>
                <a:cs typeface="Calibri" pitchFamily="34" charset="-120"/>
              </a:rPr>
              <a:t>A published calibration record</a:t>
            </a:r>
            <a:endParaRPr lang="en-US" sz="1250" dirty="0"/>
          </a:p>
        </p:txBody>
      </p:sp>
      <p:sp>
        <p:nvSpPr>
          <p:cNvPr id="18" name="Shape 16"/>
          <p:cNvSpPr/>
          <p:nvPr/>
        </p:nvSpPr>
        <p:spPr>
          <a:xfrm>
            <a:off x="6949440" y="4206240"/>
            <a:ext cx="274320" cy="274320"/>
          </a:xfrm>
          <a:prstGeom prst="roundRect">
            <a:avLst>
              <a:gd name="adj" fmla="val 18333"/>
            </a:avLst>
          </a:prstGeom>
          <a:solidFill>
            <a:srgbClr val="1F2C26"/>
          </a:solidFill>
          <a:ln/>
        </p:spPr>
      </p:sp>
      <p:sp>
        <p:nvSpPr>
          <p:cNvPr id="19" name="Text 17"/>
          <p:cNvSpPr/>
          <p:nvPr/>
        </p:nvSpPr>
        <p:spPr>
          <a:xfrm>
            <a:off x="6949440" y="4206240"/>
            <a:ext cx="274320" cy="274320"/>
          </a:xfrm>
          <a:prstGeom prst="rect">
            <a:avLst/>
          </a:prstGeom>
          <a:noFill/>
          <a:ln/>
        </p:spPr>
        <p:txBody>
          <a:bodyPr wrap="square" lIns="0" tIns="0" rIns="0" bIns="0" rtlCol="0" anchor="ctr"/>
          <a:lstStyle/>
          <a:p>
            <a:pPr algn="ctr" indent="0" marL="0">
              <a:buNone/>
            </a:pPr>
            <a:r>
              <a:rPr lang="en-US" sz="1100" b="1" dirty="0">
                <a:solidFill>
                  <a:srgbClr val="2ECC7F"/>
                </a:solidFill>
                <a:latin typeface="Cambria" pitchFamily="34" charset="0"/>
                <a:ea typeface="Cambria" pitchFamily="34" charset="-122"/>
                <a:cs typeface="Cambria" pitchFamily="34" charset="-120"/>
              </a:rPr>
              <a:t>4</a:t>
            </a:r>
            <a:endParaRPr lang="en-US" sz="1100" dirty="0"/>
          </a:p>
        </p:txBody>
      </p:sp>
      <p:sp>
        <p:nvSpPr>
          <p:cNvPr id="20" name="Text 18"/>
          <p:cNvSpPr/>
          <p:nvPr/>
        </p:nvSpPr>
        <p:spPr>
          <a:xfrm>
            <a:off x="7406640" y="4206240"/>
            <a:ext cx="4114800" cy="274320"/>
          </a:xfrm>
          <a:prstGeom prst="rect">
            <a:avLst/>
          </a:prstGeom>
          <a:noFill/>
          <a:ln/>
        </p:spPr>
        <p:txBody>
          <a:bodyPr wrap="square" lIns="0" tIns="0" rIns="0" bIns="0" rtlCol="0" anchor="ctr"/>
          <a:lstStyle/>
          <a:p>
            <a:pPr indent="0" marL="0">
              <a:buNone/>
            </a:pPr>
            <a:r>
              <a:rPr lang="en-US" sz="1250" dirty="0">
                <a:solidFill>
                  <a:srgbClr val="E2EAE6"/>
                </a:solidFill>
                <a:latin typeface="Calibri" pitchFamily="34" charset="0"/>
                <a:ea typeface="Calibri" pitchFamily="34" charset="-122"/>
                <a:cs typeface="Calibri" pitchFamily="34" charset="-120"/>
              </a:rPr>
              <a:t>A bank-linked beta people trust</a:t>
            </a:r>
            <a:endParaRPr lang="en-US" sz="1250" dirty="0"/>
          </a:p>
        </p:txBody>
      </p:sp>
      <p:sp>
        <p:nvSpPr>
          <p:cNvPr id="21" name="Text 19"/>
          <p:cNvSpPr/>
          <p:nvPr/>
        </p:nvSpPr>
        <p:spPr>
          <a:xfrm>
            <a:off x="658368" y="5029200"/>
            <a:ext cx="5669280" cy="365760"/>
          </a:xfrm>
          <a:prstGeom prst="rect">
            <a:avLst/>
          </a:prstGeom>
          <a:noFill/>
          <a:ln/>
        </p:spPr>
        <p:txBody>
          <a:bodyPr wrap="square" lIns="0" tIns="0" rIns="0" bIns="0" rtlCol="0" anchor="t"/>
          <a:lstStyle/>
          <a:p>
            <a:pPr indent="0" marL="0">
              <a:buNone/>
            </a:pPr>
            <a:r>
              <a:rPr lang="en-US" sz="1100" dirty="0">
                <a:solidFill>
                  <a:srgbClr val="6C7C74"/>
                </a:solidFill>
                <a:latin typeface="Calibri" pitchFamily="34" charset="0"/>
                <a:ea typeface="Calibri" pitchFamily="34" charset="-122"/>
                <a:cs typeface="Calibri" pitchFamily="34" charset="-120"/>
              </a:rPr>
              <a:t>Opening conversations with investors, design partners and fintech infrastructure partners.</a:t>
            </a:r>
            <a:endParaRPr lang="en-US" sz="1100" dirty="0"/>
          </a:p>
        </p:txBody>
      </p:sp>
      <p:sp>
        <p:nvSpPr>
          <p:cNvPr id="22" name="Text 20"/>
          <p:cNvSpPr/>
          <p:nvPr/>
        </p:nvSpPr>
        <p:spPr>
          <a:xfrm>
            <a:off x="658368" y="6126480"/>
            <a:ext cx="7315200" cy="219456"/>
          </a:xfrm>
          <a:prstGeom prst="rect">
            <a:avLst/>
          </a:prstGeom>
          <a:noFill/>
          <a:ln/>
        </p:spPr>
        <p:txBody>
          <a:bodyPr wrap="square" lIns="0" tIns="0" rIns="0" bIns="0" rtlCol="0" anchor="ctr"/>
          <a:lstStyle/>
          <a:p>
            <a:pPr indent="0" marL="0">
              <a:buNone/>
            </a:pPr>
            <a:r>
              <a:rPr lang="en-US" sz="850" b="1" spc="180" kern="0" dirty="0">
                <a:solidFill>
                  <a:srgbClr val="94A29B"/>
                </a:solidFill>
                <a:latin typeface="Calibri" pitchFamily="34" charset="0"/>
                <a:ea typeface="Calibri" pitchFamily="34" charset="-122"/>
                <a:cs typeface="Calibri" pitchFamily="34" charset="-120"/>
              </a:rPr>
              <a:t>POLYPROFIT  ·  INVESTOR OVERVIEW  ·  AUGUST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PolyProfit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PolyProfit — Investor Overview</dc:title>
  <dc:subject>PptxGenJS Presentation</dc:subject>
  <dc:creator>PolyProfit</dc:creator>
  <cp:lastModifiedBy>PolyProfit</cp:lastModifiedBy>
  <cp:revision>1</cp:revision>
  <dcterms:created xsi:type="dcterms:W3CDTF">2026-08-10T21:45:30Z</dcterms:created>
  <dcterms:modified xsi:type="dcterms:W3CDTF">2026-08-10T21:45:30Z</dcterms:modified>
</cp:coreProperties>
</file>