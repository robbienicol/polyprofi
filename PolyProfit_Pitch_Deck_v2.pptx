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promise, not the machinery. The product is built, live and charging today. Everything after this slide is about who pays, how we reach them, and why the list gets better the more people use it. Drop the real home-screen screenshot into the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as misaligned incentives rather than 'no good apps exist'. Every one of these products is good at its own job. None of them is answering the user's actual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pivot slide. Left column is built and charging. Right column is the raise — and the rest of the deck. Say it plainly: same engine, one list, two halves of the same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screenshots to drop per card. The score-breakdown screen is the one that sells the honesty claim — it shows the reasoning inside the product, not just on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engine is the difference between a screener and a product people keep. Lead with the emotional version — 'a wedding by June' — then show that the portfolio grades itself against that, not against the S&amp;P.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this live if you have five minutes. The coach is fenced deliberately — it explains rankings, it never creates them. That distinction is what keeps it from being an LLM that talks people into trades.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replaces nine slides of maths. If an investor wants the equations, they're in the appendix and in the product itself. The one line worth landing: nothing in the engine can flatter a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one concrete and short. It's the most immediately provable thing in the product — an investor can open two tabs and check it during the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weakness before an investor finds it. A solo founder shipping ten integrations is the proof of execution speed — and the reason this round buys unusual leverage.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scores come out of the shipped scoring function. Earning $600 on $5,000 scores 37; cancelling $50 a month scores 99. The spend side is bigger, safer and completely invisible to us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market slide is deliberately bottom-up. 1% of one incumbent's member base is $12M ARR — that's the frame, not a top-down TAM number nobody believes.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generous about what each competitor is good at — it makes the 'can't' line land harder. The structural point: every one of them has a reason to prefer a particular answer. We don't.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point here is that the product's own output is the marketing asset. A ranked answer with visible reasoning is shareable in a way a portfolio balance is not. Phase 3 is the one to expand on if they're interested — daily rankings are effectively free content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defensibility slide. Software is copyable; a two-year public calibration record is not. Say plainly that the moat is time-based and we're starting the clock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dwell on the $9.99. The interesting story is lines two and three, both unlocked by the same bank connection. Name the firewall rule out loud — partner economics never touch the score — because that's the thing that keeps line two from destroying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the round size before sending, and sanity-check the four percentages against your own runway model. The framing to keep: each line kills one specific reason to say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milestone, not the ask. The record of being right is the asset; everything else in the deck is the plan for producing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B09"/>
        </a:solidFill>
      </p:bgPr>
    </p:bg>
    <p:spTree>
      <p:nvGrpSpPr>
        <p:cNvPr id="1" name=""/>
        <p:cNvGrpSpPr/>
        <p:nvPr/>
      </p:nvGrpSpPr>
      <p:grpSpPr>
        <a:xfrm>
          <a:off x="0" y="0"/>
          <a:ext cx="0" cy="0"/>
          <a:chOff x="0" y="0"/>
          <a:chExt cx="0" cy="0"/>
        </a:xfrm>
      </p:grpSpPr>
      <p:sp>
        <p:nvSpPr>
          <p:cNvPr id="2" name="Shape 0"/>
          <p:cNvSpPr/>
          <p:nvPr/>
        </p:nvSpPr>
        <p:spPr>
          <a:xfrm>
            <a:off x="7498080" y="-1463040"/>
            <a:ext cx="6949440" cy="6949440"/>
          </a:xfrm>
          <a:prstGeom prst="ellipse">
            <a:avLst/>
          </a:prstGeom>
          <a:solidFill>
            <a:srgbClr val="22C55E">
              <a:alpha val="8000"/>
            </a:srgbClr>
          </a:solidFill>
          <a:ln/>
        </p:spPr>
      </p:sp>
      <p:sp>
        <p:nvSpPr>
          <p:cNvPr id="3" name="Shape 1"/>
          <p:cNvSpPr/>
          <p:nvPr/>
        </p:nvSpPr>
        <p:spPr>
          <a:xfrm>
            <a:off x="-1645920" y="4023360"/>
            <a:ext cx="4754880" cy="4754880"/>
          </a:xfrm>
          <a:prstGeom prst="ellipse">
            <a:avLst/>
          </a:prstGeom>
          <a:solidFill>
            <a:srgbClr val="22C55E">
              <a:alpha val="5000"/>
            </a:srgbClr>
          </a:solidFill>
          <a:ln/>
        </p:spPr>
      </p:sp>
      <p:sp>
        <p:nvSpPr>
          <p:cNvPr id="4" name="Shape 2"/>
          <p:cNvSpPr/>
          <p:nvPr/>
        </p:nvSpPr>
        <p:spPr>
          <a:xfrm>
            <a:off x="640080" y="566928"/>
            <a:ext cx="457200" cy="457200"/>
          </a:xfrm>
          <a:prstGeom prst="roundRect">
            <a:avLst>
              <a:gd name="adj" fmla="val 28000"/>
            </a:avLst>
          </a:prstGeom>
          <a:solidFill>
            <a:srgbClr val="22C55E"/>
          </a:solidFill>
          <a:ln/>
        </p:spPr>
      </p:sp>
      <p:sp>
        <p:nvSpPr>
          <p:cNvPr id="5" name="Text 3"/>
          <p:cNvSpPr/>
          <p:nvPr/>
        </p:nvSpPr>
        <p:spPr>
          <a:xfrm>
            <a:off x="640080" y="566928"/>
            <a:ext cx="457200" cy="457200"/>
          </a:xfrm>
          <a:prstGeom prst="rect">
            <a:avLst/>
          </a:prstGeom>
          <a:noFill/>
          <a:ln/>
        </p:spPr>
        <p:txBody>
          <a:bodyPr wrap="square" lIns="0" tIns="0" rIns="0" bIns="0" rtlCol="0" anchor="ctr"/>
          <a:lstStyle/>
          <a:p>
            <a:pPr algn="ctr" indent="0" marL="0">
              <a:buNone/>
            </a:pPr>
            <a:r>
              <a:rPr lang="en-US" sz="2200" b="1" dirty="0">
                <a:solidFill>
                  <a:srgbClr val="06140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207008" y="566928"/>
            <a:ext cx="3657600" cy="457200"/>
          </a:xfrm>
          <a:prstGeom prst="rect">
            <a:avLst/>
          </a:prstGeom>
          <a:noFill/>
          <a:ln/>
        </p:spPr>
        <p:txBody>
          <a:bodyPr wrap="square" lIns="0" tIns="0" rIns="0" bIns="0" rtlCol="0" anchor="ctr"/>
          <a:lstStyle/>
          <a:p>
            <a:pPr indent="0" marL="0">
              <a:buNone/>
            </a:pPr>
            <a:r>
              <a:rPr lang="en-US" sz="2300" b="1" spc="-30" kern="0" dirty="0">
                <a:solidFill>
                  <a:srgbClr val="F4F7F5"/>
                </a:solidFill>
                <a:latin typeface="Calibri" pitchFamily="34" charset="0"/>
                <a:ea typeface="Calibri" pitchFamily="34" charset="-122"/>
                <a:cs typeface="Calibri" pitchFamily="34" charset="-120"/>
              </a:rPr>
              <a:t>PolyProfit</a:t>
            </a:r>
            <a:endParaRPr lang="en-US" sz="2300" dirty="0"/>
          </a:p>
        </p:txBody>
      </p:sp>
      <p:sp>
        <p:nvSpPr>
          <p:cNvPr id="7" name="Text 5"/>
          <p:cNvSpPr/>
          <p:nvPr/>
        </p:nvSpPr>
        <p:spPr>
          <a:xfrm>
            <a:off x="640080" y="1783080"/>
            <a:ext cx="6766560" cy="2148840"/>
          </a:xfrm>
          <a:prstGeom prst="rect">
            <a:avLst/>
          </a:prstGeom>
          <a:noFill/>
          <a:ln/>
        </p:spPr>
        <p:txBody>
          <a:bodyPr wrap="square" lIns="0" tIns="0" rIns="0" bIns="0" rtlCol="0" anchor="t"/>
          <a:lstStyle/>
          <a:p>
            <a:pPr indent="0" marL="0">
              <a:lnSpc>
                <a:spcPct val="102000"/>
              </a:lnSpc>
              <a:buNone/>
            </a:pPr>
            <a:r>
              <a:rPr lang="en-US" sz="4000" b="1" dirty="0">
                <a:solidFill>
                  <a:srgbClr val="F4F7F5"/>
                </a:solidFill>
                <a:latin typeface="Calibri" pitchFamily="34" charset="0"/>
                <a:ea typeface="Calibri" pitchFamily="34" charset="-122"/>
                <a:cs typeface="Calibri" pitchFamily="34" charset="-120"/>
              </a:rPr>
              <a:t>Tell us your money goal.</a:t>
            </a:r>
            <a:endParaRPr lang="en-US" sz="4000" dirty="0"/>
          </a:p>
          <a:p>
            <a:pPr indent="0" marL="0">
              <a:lnSpc>
                <a:spcPct val="102000"/>
              </a:lnSpc>
              <a:buNone/>
            </a:pPr>
            <a:r>
              <a:rPr lang="en-US" sz="4000" b="1" dirty="0">
                <a:solidFill>
                  <a:srgbClr val="F4F7F5"/>
                </a:solidFill>
                <a:latin typeface="Calibri" pitchFamily="34" charset="0"/>
                <a:ea typeface="Calibri" pitchFamily="34" charset="-122"/>
                <a:cs typeface="Calibri" pitchFamily="34" charset="-120"/>
              </a:rPr>
              <a:t>We rank every realistic</a:t>
            </a:r>
            <a:endParaRPr lang="en-US" sz="4000" dirty="0"/>
          </a:p>
          <a:p>
            <a:pPr indent="0" marL="0">
              <a:lnSpc>
                <a:spcPct val="102000"/>
              </a:lnSpc>
              <a:buNone/>
            </a:pPr>
            <a:r>
              <a:rPr lang="en-US" sz="4000" b="1" dirty="0">
                <a:solidFill>
                  <a:srgbClr val="F4F7F5"/>
                </a:solidFill>
                <a:latin typeface="Calibri" pitchFamily="34" charset="0"/>
                <a:ea typeface="Calibri" pitchFamily="34" charset="-122"/>
                <a:cs typeface="Calibri" pitchFamily="34" charset="-120"/>
              </a:rPr>
              <a:t>way to get there.</a:t>
            </a:r>
            <a:endParaRPr lang="en-US" sz="4000" dirty="0"/>
          </a:p>
        </p:txBody>
      </p:sp>
      <p:sp>
        <p:nvSpPr>
          <p:cNvPr id="8" name="Text 6"/>
          <p:cNvSpPr/>
          <p:nvPr/>
        </p:nvSpPr>
        <p:spPr>
          <a:xfrm>
            <a:off x="640080" y="4069080"/>
            <a:ext cx="6492240" cy="914400"/>
          </a:xfrm>
          <a:prstGeom prst="rect">
            <a:avLst/>
          </a:prstGeom>
          <a:noFill/>
          <a:ln/>
        </p:spPr>
        <p:txBody>
          <a:bodyPr wrap="square" lIns="0" tIns="0" rIns="0" bIns="0" rtlCol="0" anchor="t"/>
          <a:lstStyle/>
          <a:p>
            <a:pPr indent="0" marL="0">
              <a:lnSpc>
                <a:spcPct val="125000"/>
              </a:lnSpc>
              <a:buNone/>
            </a:pPr>
            <a:r>
              <a:rPr lang="en-US" sz="1450" dirty="0">
                <a:solidFill>
                  <a:srgbClr val="9BA8A0"/>
                </a:solidFill>
                <a:latin typeface="Calibri" pitchFamily="34" charset="0"/>
                <a:ea typeface="Calibri" pitchFamily="34" charset="-122"/>
                <a:cs typeface="Calibri" pitchFamily="34" charset="-120"/>
              </a:rPr>
              <a:t>Savings accounts, Treasuries, ETFs and live prediction markets — every route scored against your goal and sorted safest-first. Every pick shows its reasoning, and you can ask it questions.</a:t>
            </a:r>
            <a:endParaRPr lang="en-US" sz="1450" dirty="0"/>
          </a:p>
        </p:txBody>
      </p:sp>
      <p:sp>
        <p:nvSpPr>
          <p:cNvPr id="9" name="Shape 7"/>
          <p:cNvSpPr/>
          <p:nvPr/>
        </p:nvSpPr>
        <p:spPr>
          <a:xfrm>
            <a:off x="640080" y="5138928"/>
            <a:ext cx="1965960" cy="310896"/>
          </a:xfrm>
          <a:prstGeom prst="roundRect">
            <a:avLst>
              <a:gd name="adj" fmla="val 147059"/>
            </a:avLst>
          </a:prstGeom>
          <a:solidFill>
            <a:srgbClr val="161D19"/>
          </a:solidFill>
          <a:ln w="12700">
            <a:solidFill>
              <a:srgbClr val="22C55E"/>
            </a:solidFill>
            <a:prstDash val="solid"/>
          </a:ln>
        </p:spPr>
      </p:sp>
      <p:sp>
        <p:nvSpPr>
          <p:cNvPr id="10" name="Text 8"/>
          <p:cNvSpPr/>
          <p:nvPr/>
        </p:nvSpPr>
        <p:spPr>
          <a:xfrm>
            <a:off x="640080" y="5138928"/>
            <a:ext cx="1965960" cy="310896"/>
          </a:xfrm>
          <a:prstGeom prst="rect">
            <a:avLst/>
          </a:prstGeom>
          <a:noFill/>
          <a:ln/>
        </p:spPr>
        <p:txBody>
          <a:bodyPr wrap="square" lIns="0" tIns="0" rIns="0" bIns="0" rtlCol="0" anchor="ctr"/>
          <a:lstStyle/>
          <a:p>
            <a:pPr algn="ctr" indent="0" marL="0">
              <a:buNone/>
            </a:pPr>
            <a:r>
              <a:rPr lang="en-US" sz="950" b="1" spc="80" kern="0" dirty="0">
                <a:solidFill>
                  <a:srgbClr val="22C55E"/>
                </a:solidFill>
                <a:latin typeface="Calibri" pitchFamily="34" charset="0"/>
                <a:ea typeface="Calibri" pitchFamily="34" charset="-122"/>
                <a:cs typeface="Calibri" pitchFamily="34" charset="-120"/>
              </a:rPr>
              <a:t>SHIPPED &amp; CHARGING</a:t>
            </a:r>
            <a:endParaRPr lang="en-US" sz="950" dirty="0"/>
          </a:p>
        </p:txBody>
      </p:sp>
      <p:sp>
        <p:nvSpPr>
          <p:cNvPr id="11" name="Shape 9"/>
          <p:cNvSpPr/>
          <p:nvPr/>
        </p:nvSpPr>
        <p:spPr>
          <a:xfrm>
            <a:off x="2724912" y="5138928"/>
            <a:ext cx="1828800" cy="310896"/>
          </a:xfrm>
          <a:prstGeom prst="roundRect">
            <a:avLst>
              <a:gd name="adj" fmla="val 147059"/>
            </a:avLst>
          </a:prstGeom>
          <a:solidFill>
            <a:srgbClr val="161D19"/>
          </a:solidFill>
          <a:ln w="12700">
            <a:solidFill>
              <a:srgbClr val="22C55E"/>
            </a:solidFill>
            <a:prstDash val="solid"/>
          </a:ln>
        </p:spPr>
      </p:sp>
      <p:sp>
        <p:nvSpPr>
          <p:cNvPr id="12" name="Text 10"/>
          <p:cNvSpPr/>
          <p:nvPr/>
        </p:nvSpPr>
        <p:spPr>
          <a:xfrm>
            <a:off x="2724912" y="5138928"/>
            <a:ext cx="1828800" cy="310896"/>
          </a:xfrm>
          <a:prstGeom prst="rect">
            <a:avLst/>
          </a:prstGeom>
          <a:noFill/>
          <a:ln/>
        </p:spPr>
        <p:txBody>
          <a:bodyPr wrap="square" lIns="0" tIns="0" rIns="0" bIns="0" rtlCol="0" anchor="ctr"/>
          <a:lstStyle/>
          <a:p>
            <a:pPr algn="ctr" indent="0" marL="0">
              <a:buNone/>
            </a:pPr>
            <a:r>
              <a:rPr lang="en-US" sz="950" b="1" spc="80" kern="0" dirty="0">
                <a:solidFill>
                  <a:srgbClr val="22C55E"/>
                </a:solidFill>
                <a:latin typeface="Calibri" pitchFamily="34" charset="0"/>
                <a:ea typeface="Calibri" pitchFamily="34" charset="-122"/>
                <a:cs typeface="Calibri" pitchFamily="34" charset="-120"/>
              </a:rPr>
              <a:t>10 LIVE DATA FEEDS</a:t>
            </a:r>
            <a:endParaRPr lang="en-US" sz="950" dirty="0"/>
          </a:p>
        </p:txBody>
      </p:sp>
      <p:sp>
        <p:nvSpPr>
          <p:cNvPr id="13" name="Shape 11"/>
          <p:cNvSpPr/>
          <p:nvPr/>
        </p:nvSpPr>
        <p:spPr>
          <a:xfrm>
            <a:off x="4672584" y="5138928"/>
            <a:ext cx="1965960" cy="310896"/>
          </a:xfrm>
          <a:prstGeom prst="roundRect">
            <a:avLst>
              <a:gd name="adj" fmla="val 147059"/>
            </a:avLst>
          </a:prstGeom>
          <a:solidFill>
            <a:srgbClr val="161D19"/>
          </a:solidFill>
          <a:ln w="12700">
            <a:solidFill>
              <a:srgbClr val="22C55E"/>
            </a:solidFill>
            <a:prstDash val="solid"/>
          </a:ln>
        </p:spPr>
      </p:sp>
      <p:sp>
        <p:nvSpPr>
          <p:cNvPr id="14" name="Text 12"/>
          <p:cNvSpPr/>
          <p:nvPr/>
        </p:nvSpPr>
        <p:spPr>
          <a:xfrm>
            <a:off x="4672584" y="5138928"/>
            <a:ext cx="1965960" cy="310896"/>
          </a:xfrm>
          <a:prstGeom prst="rect">
            <a:avLst/>
          </a:prstGeom>
          <a:noFill/>
          <a:ln/>
        </p:spPr>
        <p:txBody>
          <a:bodyPr wrap="square" lIns="0" tIns="0" rIns="0" bIns="0" rtlCol="0" anchor="ctr"/>
          <a:lstStyle/>
          <a:p>
            <a:pPr algn="ctr" indent="0" marL="0">
              <a:buNone/>
            </a:pPr>
            <a:r>
              <a:rPr lang="en-US" sz="950" b="1" spc="80" kern="0" dirty="0">
                <a:solidFill>
                  <a:srgbClr val="22C55E"/>
                </a:solidFill>
                <a:latin typeface="Calibri" pitchFamily="34" charset="0"/>
                <a:ea typeface="Calibri" pitchFamily="34" charset="-122"/>
                <a:cs typeface="Calibri" pitchFamily="34" charset="-120"/>
              </a:rPr>
              <a:t>AI ON EVERY PICK</a:t>
            </a:r>
            <a:endParaRPr lang="en-US" sz="950" dirty="0"/>
          </a:p>
        </p:txBody>
      </p:sp>
      <p:sp>
        <p:nvSpPr>
          <p:cNvPr id="15" name="Text 13"/>
          <p:cNvSpPr/>
          <p:nvPr/>
        </p:nvSpPr>
        <p:spPr>
          <a:xfrm>
            <a:off x="640080" y="6144768"/>
            <a:ext cx="6400800" cy="274320"/>
          </a:xfrm>
          <a:prstGeom prst="rect">
            <a:avLst/>
          </a:prstGeom>
          <a:noFill/>
          <a:ln/>
        </p:spPr>
        <p:txBody>
          <a:bodyPr wrap="square" lIns="0" tIns="0" rIns="0" bIns="0" rtlCol="0" anchor="ctr"/>
          <a:lstStyle/>
          <a:p>
            <a:pPr indent="0" marL="0">
              <a:buNone/>
            </a:pPr>
            <a:r>
              <a:rPr lang="en-US" sz="950" b="1" spc="140" kern="0" dirty="0">
                <a:solidFill>
                  <a:srgbClr val="67726B"/>
                </a:solidFill>
                <a:latin typeface="Calibri" pitchFamily="34" charset="0"/>
                <a:ea typeface="Calibri" pitchFamily="34" charset="-122"/>
                <a:cs typeface="Calibri" pitchFamily="34" charset="-120"/>
              </a:rPr>
              <a:t>INVESTOR OVERVIEW   ·   AUGUST 2026   ·   CONFIDENTIAL</a:t>
            </a:r>
            <a:endParaRPr lang="en-US" sz="950" dirty="0"/>
          </a:p>
        </p:txBody>
      </p:sp>
      <p:sp>
        <p:nvSpPr>
          <p:cNvPr id="16" name="Shape 14"/>
          <p:cNvSpPr/>
          <p:nvPr/>
        </p:nvSpPr>
        <p:spPr>
          <a:xfrm>
            <a:off x="8092440" y="1051560"/>
            <a:ext cx="3063240" cy="4892040"/>
          </a:xfrm>
          <a:prstGeom prst="roundRect">
            <a:avLst>
              <a:gd name="adj" fmla="val 1791"/>
            </a:avLst>
          </a:prstGeom>
          <a:solidFill>
            <a:srgbClr val="161D19"/>
          </a:solidFill>
          <a:ln w="15875">
            <a:solidFill>
              <a:srgbClr val="2A352F"/>
            </a:solidFill>
            <a:prstDash val="solid"/>
          </a:ln>
        </p:spPr>
      </p:sp>
      <p:sp>
        <p:nvSpPr>
          <p:cNvPr id="17" name="Shape 15"/>
          <p:cNvSpPr/>
          <p:nvPr/>
        </p:nvSpPr>
        <p:spPr>
          <a:xfrm>
            <a:off x="8183880" y="1143000"/>
            <a:ext cx="2880360" cy="4709160"/>
          </a:xfrm>
          <a:prstGeom prst="roundRect">
            <a:avLst>
              <a:gd name="adj" fmla="val 1587"/>
            </a:avLst>
          </a:prstGeom>
          <a:solidFill>
            <a:srgbClr val="0B100D"/>
          </a:solidFill>
          <a:ln w="12700">
            <a:solidFill>
              <a:srgbClr val="1C2420"/>
            </a:solidFill>
            <a:prstDash val="solid"/>
          </a:ln>
        </p:spPr>
      </p:sp>
      <p:sp>
        <p:nvSpPr>
          <p:cNvPr id="18" name="Text 16"/>
          <p:cNvSpPr/>
          <p:nvPr/>
        </p:nvSpPr>
        <p:spPr>
          <a:xfrm>
            <a:off x="8183880" y="3168396"/>
            <a:ext cx="2880360" cy="274320"/>
          </a:xfrm>
          <a:prstGeom prst="rect">
            <a:avLst/>
          </a:prstGeom>
          <a:noFill/>
          <a:ln/>
        </p:spPr>
        <p:txBody>
          <a:bodyPr wrap="square" lIns="0" tIns="0" rIns="0" bIns="0" rtlCol="0" anchor="ctr"/>
          <a:lstStyle/>
          <a:p>
            <a:pPr algn="ctr" indent="0" marL="0">
              <a:buNone/>
            </a:pPr>
            <a:r>
              <a:rPr lang="en-US" sz="1000" b="1" spc="120" kern="0" dirty="0">
                <a:solidFill>
                  <a:srgbClr val="67726B"/>
                </a:solidFill>
                <a:latin typeface="Calibri" pitchFamily="34" charset="0"/>
                <a:ea typeface="Calibri" pitchFamily="34" charset="-122"/>
                <a:cs typeface="Calibri" pitchFamily="34" charset="-120"/>
              </a:rPr>
              <a:t>DROP SCREENSHOT</a:t>
            </a:r>
            <a:endParaRPr lang="en-US" sz="1000" dirty="0"/>
          </a:p>
        </p:txBody>
      </p:sp>
      <p:sp>
        <p:nvSpPr>
          <p:cNvPr id="19" name="Text 17"/>
          <p:cNvSpPr/>
          <p:nvPr/>
        </p:nvSpPr>
        <p:spPr>
          <a:xfrm>
            <a:off x="8229600" y="3461004"/>
            <a:ext cx="2788920" cy="457200"/>
          </a:xfrm>
          <a:prstGeom prst="rect">
            <a:avLst/>
          </a:prstGeom>
          <a:noFill/>
          <a:ln/>
        </p:spPr>
        <p:txBody>
          <a:bodyPr wrap="square" lIns="0" tIns="0" rIns="0" bIns="0" rtlCol="0" anchor="t"/>
          <a:lstStyle/>
          <a:p>
            <a:pPr algn="ctr" indent="0" marL="0">
              <a:lnSpc>
                <a:spcPct val="110000"/>
              </a:lnSpc>
              <a:buNone/>
            </a:pPr>
            <a:r>
              <a:rPr lang="en-US" sz="1050" dirty="0">
                <a:solidFill>
                  <a:srgbClr val="9BA8A0"/>
                </a:solidFill>
                <a:latin typeface="Calibri" pitchFamily="34" charset="0"/>
                <a:ea typeface="Calibri" pitchFamily="34" charset="-122"/>
                <a:cs typeface="Calibri" pitchFamily="34" charset="-120"/>
              </a:rPr>
              <a:t>Home — the ranked list,</a:t>
            </a:r>
            <a:endParaRPr lang="en-US" sz="1050" dirty="0"/>
          </a:p>
          <a:p>
            <a:pPr algn="ctr" indent="0" marL="0">
              <a:lnSpc>
                <a:spcPct val="110000"/>
              </a:lnSpc>
              <a:buNone/>
            </a:pPr>
            <a:r>
              <a:rPr lang="en-US" sz="1050" dirty="0">
                <a:solidFill>
                  <a:srgbClr val="9BA8A0"/>
                </a:solidFill>
                <a:latin typeface="Calibri" pitchFamily="34" charset="0"/>
                <a:ea typeface="Calibri" pitchFamily="34" charset="-122"/>
                <a:cs typeface="Calibri" pitchFamily="34" charset="-120"/>
              </a:rPr>
              <a:t>safest route first</a:t>
            </a:r>
            <a:endParaRPr lang="en-US" sz="1050" dirty="0"/>
          </a:p>
        </p:txBody>
      </p:sp>
      <p:sp>
        <p:nvSpPr>
          <p:cNvPr id="21" name="Text 18"/>
          <p:cNvSpPr/>
          <p:nvPr/>
        </p:nvSpPr>
        <p:spPr>
          <a:xfrm>
            <a:off x="9692640" y="6528816"/>
            <a:ext cx="1188720" cy="237744"/>
          </a:xfrm>
          <a:prstGeom prst="rect">
            <a:avLst/>
          </a:prstGeom>
          <a:noFill/>
          <a:ln/>
        </p:spPr>
        <p:txBody>
          <a:bodyPr wrap="square" lIns="0" tIns="0" rIns="0" bIns="0" rtlCol="0" anchor="ctr"/>
          <a:lstStyle/>
          <a:p>
            <a:pPr algn="r" indent="0" marL="0">
              <a:buNone/>
            </a:pPr>
            <a:r>
              <a:rPr lang="en-US" sz="850" b="1" spc="140" kern="0" dirty="0">
                <a:solidFill>
                  <a:srgbClr val="67726B"/>
                </a:solidFill>
                <a:latin typeface="Calibri" pitchFamily="34" charset="0"/>
                <a:ea typeface="Calibri" pitchFamily="34" charset="-122"/>
                <a:cs typeface="Calibri" pitchFamily="34" charset="-120"/>
              </a:rPr>
              <a:t>POLYPROFIT</a:t>
            </a:r>
            <a:endParaRPr lang="en-US" sz="850" dirty="0"/>
          </a:p>
        </p:txBody>
      </p:sp>
      <p:sp>
        <p:nvSpPr>
          <p:cNvPr id="22" name="Text 19"/>
          <p:cNvSpPr/>
          <p:nvPr/>
        </p:nvSpPr>
        <p:spPr>
          <a:xfrm>
            <a:off x="11018520" y="6528816"/>
            <a:ext cx="530352" cy="237744"/>
          </a:xfrm>
          <a:prstGeom prst="rect">
            <a:avLst/>
          </a:prstGeom>
          <a:noFill/>
          <a:ln/>
        </p:spPr>
        <p:txBody>
          <a:bodyPr wrap="square" lIns="0" tIns="0" rIns="0" bIns="0" rtlCol="0" anchor="ctr"/>
          <a:lstStyle/>
          <a:p>
            <a:pPr algn="r" indent="0" marL="0">
              <a:buNone/>
            </a:pPr>
            <a:r>
              <a:rPr lang="en-US" sz="850" b="1" dirty="0">
                <a:solidFill>
                  <a:srgbClr val="22C55E"/>
                </a:solidFill>
                <a:latin typeface="Calibri" pitchFamily="34" charset="0"/>
                <a:ea typeface="Calibri" pitchFamily="34" charset="-122"/>
                <a:cs typeface="Calibri" pitchFamily="34" charset="-120"/>
              </a:rPr>
              <a:t>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B09"/>
        </a:solidFill>
      </p:bgPr>
    </p:bg>
    <p:spTree>
      <p:nvGrpSpPr>
        <p:cNvPr id="1" name=""/>
        <p:cNvGrpSpPr/>
        <p:nvPr/>
      </p:nvGrpSpPr>
      <p:grpSpPr>
        <a:xfrm>
          <a:off x="0" y="0"/>
          <a:ext cx="0" cy="0"/>
          <a:chOff x="0" y="0"/>
          <a:chExt cx="0" cy="0"/>
        </a:xfrm>
      </p:grpSpPr>
      <p:sp>
        <p:nvSpPr>
          <p:cNvPr id="2" name="Shape 0"/>
          <p:cNvSpPr/>
          <p:nvPr/>
        </p:nvSpPr>
        <p:spPr>
          <a:xfrm>
            <a:off x="8595360" y="-2011680"/>
            <a:ext cx="5852160" cy="5852160"/>
          </a:xfrm>
          <a:prstGeom prst="ellipse">
            <a:avLst/>
          </a:prstGeom>
          <a:solidFill>
            <a:srgbClr val="22C55E">
              <a:alpha val="6000"/>
            </a:srgbClr>
          </a:solidFill>
          <a:ln/>
        </p:spPr>
      </p:sp>
      <p:sp>
        <p:nvSpPr>
          <p:cNvPr id="3" name="Text 1"/>
          <p:cNvSpPr/>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22C55E"/>
                </a:solidFill>
                <a:latin typeface="Calibri" pitchFamily="34" charset="0"/>
                <a:ea typeface="Calibri" pitchFamily="34" charset="-122"/>
                <a:cs typeface="Calibri" pitchFamily="34" charset="-120"/>
              </a:rPr>
              <a:t>01  ·  THE PROBLEM</a:t>
            </a:r>
            <a:endParaRPr lang="en-US" sz="1100" dirty="0"/>
          </a:p>
        </p:txBody>
      </p:sp>
      <p:sp>
        <p:nvSpPr>
          <p:cNvPr id="4" name="Text 2"/>
          <p:cNvSpPr/>
          <p:nvPr/>
        </p:nvSpPr>
        <p:spPr>
          <a:xfrm>
            <a:off x="640080" y="777240"/>
            <a:ext cx="10881360" cy="1051560"/>
          </a:xfrm>
          <a:prstGeom prst="rect">
            <a:avLst/>
          </a:prstGeom>
          <a:noFill/>
          <a:ln/>
        </p:spPr>
        <p:txBody>
          <a:bodyPr wrap="square" lIns="0" tIns="0" rIns="0" bIns="0" rtlCol="0" anchor="t"/>
          <a:lstStyle/>
          <a:p>
            <a:pPr indent="0" marL="0">
              <a:lnSpc>
                <a:spcPct val="105000"/>
              </a:lnSpc>
              <a:buNone/>
            </a:pPr>
            <a:r>
              <a:rPr lang="en-US" sz="3300" b="1" dirty="0">
                <a:solidFill>
                  <a:srgbClr val="F4F7F5"/>
                </a:solidFill>
                <a:latin typeface="Calibri" pitchFamily="34" charset="0"/>
                <a:ea typeface="Calibri" pitchFamily="34" charset="-122"/>
                <a:cs typeface="Calibri" pitchFamily="34" charset="-120"/>
              </a:rPr>
              <a:t>Nobody is optimising for the number</a:t>
            </a:r>
            <a:endParaRPr lang="en-US" sz="3300" dirty="0"/>
          </a:p>
          <a:p>
            <a:pPr indent="0" marL="0">
              <a:lnSpc>
                <a:spcPct val="105000"/>
              </a:lnSpc>
              <a:buNone/>
            </a:pPr>
            <a:r>
              <a:rPr lang="en-US" sz="3300" b="1" dirty="0">
                <a:solidFill>
                  <a:srgbClr val="F4F7F5"/>
                </a:solidFill>
                <a:latin typeface="Calibri" pitchFamily="34" charset="0"/>
                <a:ea typeface="Calibri" pitchFamily="34" charset="-122"/>
                <a:cs typeface="Calibri" pitchFamily="34" charset="-120"/>
              </a:rPr>
              <a:t>in your bank account.</a:t>
            </a:r>
            <a:endParaRPr lang="en-US" sz="3300" dirty="0"/>
          </a:p>
        </p:txBody>
      </p:sp>
      <p:sp>
        <p:nvSpPr>
          <p:cNvPr id="5" name="Text 3"/>
          <p:cNvSpPr/>
          <p:nvPr/>
        </p:nvSpPr>
        <p:spPr>
          <a:xfrm>
            <a:off x="640080" y="1975104"/>
            <a:ext cx="10424160" cy="384048"/>
          </a:xfrm>
          <a:prstGeom prst="rect">
            <a:avLst/>
          </a:prstGeom>
          <a:noFill/>
          <a:ln/>
        </p:spPr>
        <p:txBody>
          <a:bodyPr wrap="square" lIns="0" tIns="0" rIns="0" bIns="0" rtlCol="0" anchor="t"/>
          <a:lstStyle/>
          <a:p>
            <a:pPr indent="0" marL="0">
              <a:lnSpc>
                <a:spcPct val="115000"/>
              </a:lnSpc>
              <a:buNone/>
            </a:pPr>
            <a:r>
              <a:rPr lang="en-US" sz="1350" dirty="0">
                <a:solidFill>
                  <a:srgbClr val="9BA8A0"/>
                </a:solidFill>
                <a:latin typeface="Calibri" pitchFamily="34" charset="0"/>
                <a:ea typeface="Calibri" pitchFamily="34" charset="-122"/>
                <a:cs typeface="Calibri" pitchFamily="34" charset="-120"/>
              </a:rPr>
              <a:t>Someone with $5,000 and a goal has to be their own analyst — juggling five apps that were each built to maximise something other than their outcome.</a:t>
            </a:r>
            <a:endParaRPr lang="en-US" sz="1350" dirty="0"/>
          </a:p>
        </p:txBody>
      </p:sp>
      <p:sp>
        <p:nvSpPr>
          <p:cNvPr id="6" name="Text 4"/>
          <p:cNvSpPr/>
          <p:nvPr/>
        </p:nvSpPr>
        <p:spPr>
          <a:xfrm>
            <a:off x="3794760" y="2542032"/>
            <a:ext cx="3657600" cy="237744"/>
          </a:xfrm>
          <a:prstGeom prst="rect">
            <a:avLst/>
          </a:prstGeom>
          <a:noFill/>
          <a:ln/>
        </p:spPr>
        <p:txBody>
          <a:bodyPr wrap="square" lIns="0" tIns="0" rIns="0" bIns="0" rtlCol="0" anchor="ctr"/>
          <a:lstStyle/>
          <a:p>
            <a:pPr indent="0" marL="0">
              <a:buNone/>
            </a:pPr>
            <a:r>
              <a:rPr lang="en-US" sz="900" b="1" spc="120" kern="0" dirty="0">
                <a:solidFill>
                  <a:srgbClr val="67726B"/>
                </a:solidFill>
                <a:latin typeface="Calibri" pitchFamily="34" charset="0"/>
                <a:ea typeface="Calibri" pitchFamily="34" charset="-122"/>
                <a:cs typeface="Calibri" pitchFamily="34" charset="-120"/>
              </a:rPr>
              <a:t>THEY OPTIMISE FOR</a:t>
            </a:r>
            <a:endParaRPr lang="en-US" sz="900" dirty="0"/>
          </a:p>
        </p:txBody>
      </p:sp>
      <p:sp>
        <p:nvSpPr>
          <p:cNvPr id="7" name="Text 5"/>
          <p:cNvSpPr/>
          <p:nvPr/>
        </p:nvSpPr>
        <p:spPr>
          <a:xfrm>
            <a:off x="7635240" y="2542032"/>
            <a:ext cx="3657600" cy="237744"/>
          </a:xfrm>
          <a:prstGeom prst="rect">
            <a:avLst/>
          </a:prstGeom>
          <a:noFill/>
          <a:ln/>
        </p:spPr>
        <p:txBody>
          <a:bodyPr wrap="square" lIns="0" tIns="0" rIns="0" bIns="0" rtlCol="0" anchor="ctr"/>
          <a:lstStyle/>
          <a:p>
            <a:pPr indent="0" marL="0">
              <a:buNone/>
            </a:pPr>
            <a:r>
              <a:rPr lang="en-US" sz="900" b="1" spc="120" kern="0" dirty="0">
                <a:solidFill>
                  <a:srgbClr val="22C55E"/>
                </a:solidFill>
                <a:latin typeface="Calibri" pitchFamily="34" charset="0"/>
                <a:ea typeface="Calibri" pitchFamily="34" charset="-122"/>
                <a:cs typeface="Calibri" pitchFamily="34" charset="-120"/>
              </a:rPr>
              <a:t>THEY NEVER ANSWER</a:t>
            </a:r>
            <a:endParaRPr lang="en-US" sz="900" dirty="0"/>
          </a:p>
        </p:txBody>
      </p:sp>
      <p:sp>
        <p:nvSpPr>
          <p:cNvPr id="8" name="Shape 6"/>
          <p:cNvSpPr/>
          <p:nvPr/>
        </p:nvSpPr>
        <p:spPr>
          <a:xfrm>
            <a:off x="640080" y="2871216"/>
            <a:ext cx="10908792" cy="548640"/>
          </a:xfrm>
          <a:prstGeom prst="roundRect">
            <a:avLst>
              <a:gd name="adj" fmla="val 20000"/>
            </a:avLst>
          </a:prstGeom>
          <a:solidFill>
            <a:srgbClr val="101613"/>
          </a:solidFill>
          <a:ln w="12700">
            <a:solidFill>
              <a:srgbClr val="1C2420"/>
            </a:solidFill>
            <a:prstDash val="solid"/>
          </a:ln>
        </p:spPr>
      </p:sp>
      <p:sp>
        <p:nvSpPr>
          <p:cNvPr id="9" name="Text 7"/>
          <p:cNvSpPr/>
          <p:nvPr/>
        </p:nvSpPr>
        <p:spPr>
          <a:xfrm>
            <a:off x="868680" y="2871216"/>
            <a:ext cx="2834640" cy="548640"/>
          </a:xfrm>
          <a:prstGeom prst="rect">
            <a:avLst/>
          </a:prstGeom>
          <a:noFill/>
          <a:ln/>
        </p:spPr>
        <p:txBody>
          <a:bodyPr wrap="square" lIns="0" tIns="0" rIns="0" bIns="0" rtlCol="0" anchor="ctr"/>
          <a:lstStyle/>
          <a:p>
            <a:pPr indent="0" marL="0">
              <a:buNone/>
            </a:pPr>
            <a:r>
              <a:rPr lang="en-US" sz="1300" b="1" dirty="0">
                <a:solidFill>
                  <a:srgbClr val="F4F7F5"/>
                </a:solidFill>
                <a:latin typeface="Calibri" pitchFamily="34" charset="0"/>
                <a:ea typeface="Calibri" pitchFamily="34" charset="-122"/>
                <a:cs typeface="Calibri" pitchFamily="34" charset="-120"/>
              </a:rPr>
              <a:t>Budget apps</a:t>
            </a:r>
            <a:endParaRPr lang="en-US" sz="1300" dirty="0"/>
          </a:p>
        </p:txBody>
      </p:sp>
      <p:sp>
        <p:nvSpPr>
          <p:cNvPr id="10" name="Text 8"/>
          <p:cNvSpPr/>
          <p:nvPr/>
        </p:nvSpPr>
        <p:spPr>
          <a:xfrm>
            <a:off x="3794760" y="2871216"/>
            <a:ext cx="3703320" cy="548640"/>
          </a:xfrm>
          <a:prstGeom prst="rect">
            <a:avLst/>
          </a:prstGeom>
          <a:noFill/>
          <a:ln/>
        </p:spPr>
        <p:txBody>
          <a:bodyPr wrap="square" lIns="0" tIns="0" rIns="0" bIns="0" rtlCol="0" anchor="ctr"/>
          <a:lstStyle/>
          <a:p>
            <a:pPr indent="0" marL="0">
              <a:buNone/>
            </a:pPr>
            <a:r>
              <a:rPr lang="en-US" sz="1200" dirty="0">
                <a:solidFill>
                  <a:srgbClr val="9BA8A0"/>
                </a:solidFill>
                <a:latin typeface="Calibri" pitchFamily="34" charset="0"/>
                <a:ea typeface="Calibri" pitchFamily="34" charset="-122"/>
                <a:cs typeface="Calibri" pitchFamily="34" charset="-120"/>
              </a:rPr>
              <a:t>Sorting money that already left</a:t>
            </a:r>
            <a:endParaRPr lang="en-US" sz="1200" dirty="0"/>
          </a:p>
        </p:txBody>
      </p:sp>
      <p:sp>
        <p:nvSpPr>
          <p:cNvPr id="11" name="Text 9"/>
          <p:cNvSpPr/>
          <p:nvPr/>
        </p:nvSpPr>
        <p:spPr>
          <a:xfrm>
            <a:off x="7635240" y="2871216"/>
            <a:ext cx="3703320" cy="548640"/>
          </a:xfrm>
          <a:prstGeom prst="rect">
            <a:avLst/>
          </a:prstGeom>
          <a:noFill/>
          <a:ln/>
        </p:spPr>
        <p:txBody>
          <a:bodyPr wrap="square" lIns="0" tIns="0" rIns="0" bIns="0" rtlCol="0" anchor="ctr"/>
          <a:lstStyle/>
          <a:p>
            <a:pPr indent="0" marL="0">
              <a:buNone/>
            </a:pPr>
            <a:r>
              <a:rPr lang="en-US" sz="1200" dirty="0">
                <a:solidFill>
                  <a:srgbClr val="F4F7F5"/>
                </a:solidFill>
                <a:latin typeface="Calibri" pitchFamily="34" charset="0"/>
                <a:ea typeface="Calibri" pitchFamily="34" charset="-122"/>
                <a:cs typeface="Calibri" pitchFamily="34" charset="-120"/>
              </a:rPr>
              <a:t>What to do next with what's left</a:t>
            </a:r>
            <a:endParaRPr lang="en-US" sz="1200" dirty="0"/>
          </a:p>
        </p:txBody>
      </p:sp>
      <p:sp>
        <p:nvSpPr>
          <p:cNvPr id="12" name="Shape 10"/>
          <p:cNvSpPr/>
          <p:nvPr/>
        </p:nvSpPr>
        <p:spPr>
          <a:xfrm>
            <a:off x="640080" y="3493008"/>
            <a:ext cx="10908792" cy="548640"/>
          </a:xfrm>
          <a:prstGeom prst="roundRect">
            <a:avLst>
              <a:gd name="adj" fmla="val 20000"/>
            </a:avLst>
          </a:prstGeom>
          <a:solidFill>
            <a:srgbClr val="101613"/>
          </a:solidFill>
          <a:ln w="12700">
            <a:solidFill>
              <a:srgbClr val="1C2420"/>
            </a:solidFill>
            <a:prstDash val="solid"/>
          </a:ln>
        </p:spPr>
      </p:sp>
      <p:sp>
        <p:nvSpPr>
          <p:cNvPr id="13" name="Text 11"/>
          <p:cNvSpPr/>
          <p:nvPr/>
        </p:nvSpPr>
        <p:spPr>
          <a:xfrm>
            <a:off x="868680" y="3493008"/>
            <a:ext cx="2834640" cy="548640"/>
          </a:xfrm>
          <a:prstGeom prst="rect">
            <a:avLst/>
          </a:prstGeom>
          <a:noFill/>
          <a:ln/>
        </p:spPr>
        <p:txBody>
          <a:bodyPr wrap="square" lIns="0" tIns="0" rIns="0" bIns="0" rtlCol="0" anchor="ctr"/>
          <a:lstStyle/>
          <a:p>
            <a:pPr indent="0" marL="0">
              <a:buNone/>
            </a:pPr>
            <a:r>
              <a:rPr lang="en-US" sz="1300" b="1" dirty="0">
                <a:solidFill>
                  <a:srgbClr val="F4F7F5"/>
                </a:solidFill>
                <a:latin typeface="Calibri" pitchFamily="34" charset="0"/>
                <a:ea typeface="Calibri" pitchFamily="34" charset="-122"/>
                <a:cs typeface="Calibri" pitchFamily="34" charset="-120"/>
              </a:rPr>
              <a:t>Brokerages &amp; exchanges</a:t>
            </a:r>
            <a:endParaRPr lang="en-US" sz="1300" dirty="0"/>
          </a:p>
        </p:txBody>
      </p:sp>
      <p:sp>
        <p:nvSpPr>
          <p:cNvPr id="14" name="Text 12"/>
          <p:cNvSpPr/>
          <p:nvPr/>
        </p:nvSpPr>
        <p:spPr>
          <a:xfrm>
            <a:off x="3794760" y="3493008"/>
            <a:ext cx="3703320" cy="548640"/>
          </a:xfrm>
          <a:prstGeom prst="rect">
            <a:avLst/>
          </a:prstGeom>
          <a:noFill/>
          <a:ln/>
        </p:spPr>
        <p:txBody>
          <a:bodyPr wrap="square" lIns="0" tIns="0" rIns="0" bIns="0" rtlCol="0" anchor="ctr"/>
          <a:lstStyle/>
          <a:p>
            <a:pPr indent="0" marL="0">
              <a:buNone/>
            </a:pPr>
            <a:r>
              <a:rPr lang="en-US" sz="1200" dirty="0">
                <a:solidFill>
                  <a:srgbClr val="9BA8A0"/>
                </a:solidFill>
                <a:latin typeface="Calibri" pitchFamily="34" charset="0"/>
                <a:ea typeface="Calibri" pitchFamily="34" charset="-122"/>
                <a:cs typeface="Calibri" pitchFamily="34" charset="-120"/>
              </a:rPr>
              <a:t>Trades placed, minutes in the app</a:t>
            </a:r>
            <a:endParaRPr lang="en-US" sz="1200" dirty="0"/>
          </a:p>
        </p:txBody>
      </p:sp>
      <p:sp>
        <p:nvSpPr>
          <p:cNvPr id="15" name="Text 13"/>
          <p:cNvSpPr/>
          <p:nvPr/>
        </p:nvSpPr>
        <p:spPr>
          <a:xfrm>
            <a:off x="7635240" y="3493008"/>
            <a:ext cx="3703320" cy="548640"/>
          </a:xfrm>
          <a:prstGeom prst="rect">
            <a:avLst/>
          </a:prstGeom>
          <a:noFill/>
          <a:ln/>
        </p:spPr>
        <p:txBody>
          <a:bodyPr wrap="square" lIns="0" tIns="0" rIns="0" bIns="0" rtlCol="0" anchor="ctr"/>
          <a:lstStyle/>
          <a:p>
            <a:pPr indent="0" marL="0">
              <a:buNone/>
            </a:pPr>
            <a:r>
              <a:rPr lang="en-US" sz="1200" dirty="0">
                <a:solidFill>
                  <a:srgbClr val="F4F7F5"/>
                </a:solidFill>
                <a:latin typeface="Calibri" pitchFamily="34" charset="0"/>
                <a:ea typeface="Calibri" pitchFamily="34" charset="-122"/>
                <a:cs typeface="Calibri" pitchFamily="34" charset="-120"/>
              </a:rPr>
              <a:t>Whether this is the best use of your money</a:t>
            </a:r>
            <a:endParaRPr lang="en-US" sz="1200" dirty="0"/>
          </a:p>
        </p:txBody>
      </p:sp>
      <p:sp>
        <p:nvSpPr>
          <p:cNvPr id="16" name="Shape 14"/>
          <p:cNvSpPr/>
          <p:nvPr/>
        </p:nvSpPr>
        <p:spPr>
          <a:xfrm>
            <a:off x="640080" y="4114800"/>
            <a:ext cx="10908792" cy="548640"/>
          </a:xfrm>
          <a:prstGeom prst="roundRect">
            <a:avLst>
              <a:gd name="adj" fmla="val 20000"/>
            </a:avLst>
          </a:prstGeom>
          <a:solidFill>
            <a:srgbClr val="101613"/>
          </a:solidFill>
          <a:ln w="12700">
            <a:solidFill>
              <a:srgbClr val="1C2420"/>
            </a:solidFill>
            <a:prstDash val="solid"/>
          </a:ln>
        </p:spPr>
      </p:sp>
      <p:sp>
        <p:nvSpPr>
          <p:cNvPr id="17" name="Text 15"/>
          <p:cNvSpPr/>
          <p:nvPr/>
        </p:nvSpPr>
        <p:spPr>
          <a:xfrm>
            <a:off x="868680" y="4114800"/>
            <a:ext cx="2834640" cy="548640"/>
          </a:xfrm>
          <a:prstGeom prst="rect">
            <a:avLst/>
          </a:prstGeom>
          <a:noFill/>
          <a:ln/>
        </p:spPr>
        <p:txBody>
          <a:bodyPr wrap="square" lIns="0" tIns="0" rIns="0" bIns="0" rtlCol="0" anchor="ctr"/>
          <a:lstStyle/>
          <a:p>
            <a:pPr indent="0" marL="0">
              <a:buNone/>
            </a:pPr>
            <a:r>
              <a:rPr lang="en-US" sz="1300" b="1" dirty="0">
                <a:solidFill>
                  <a:srgbClr val="F4F7F5"/>
                </a:solidFill>
                <a:latin typeface="Calibri" pitchFamily="34" charset="0"/>
                <a:ea typeface="Calibri" pitchFamily="34" charset="-122"/>
                <a:cs typeface="Calibri" pitchFamily="34" charset="-120"/>
              </a:rPr>
              <a:t>Card comparison sites</a:t>
            </a:r>
            <a:endParaRPr lang="en-US" sz="1300" dirty="0"/>
          </a:p>
        </p:txBody>
      </p:sp>
      <p:sp>
        <p:nvSpPr>
          <p:cNvPr id="18" name="Text 16"/>
          <p:cNvSpPr/>
          <p:nvPr/>
        </p:nvSpPr>
        <p:spPr>
          <a:xfrm>
            <a:off x="3794760" y="4114800"/>
            <a:ext cx="3703320" cy="548640"/>
          </a:xfrm>
          <a:prstGeom prst="rect">
            <a:avLst/>
          </a:prstGeom>
          <a:noFill/>
          <a:ln/>
        </p:spPr>
        <p:txBody>
          <a:bodyPr wrap="square" lIns="0" tIns="0" rIns="0" bIns="0" rtlCol="0" anchor="ctr"/>
          <a:lstStyle/>
          <a:p>
            <a:pPr indent="0" marL="0">
              <a:buNone/>
            </a:pPr>
            <a:r>
              <a:rPr lang="en-US" sz="1200" dirty="0">
                <a:solidFill>
                  <a:srgbClr val="9BA8A0"/>
                </a:solidFill>
                <a:latin typeface="Calibri" pitchFamily="34" charset="0"/>
                <a:ea typeface="Calibri" pitchFamily="34" charset="-122"/>
                <a:cs typeface="Calibri" pitchFamily="34" charset="-120"/>
              </a:rPr>
              <a:t>The card that pays them the most</a:t>
            </a:r>
            <a:endParaRPr lang="en-US" sz="1200" dirty="0"/>
          </a:p>
        </p:txBody>
      </p:sp>
      <p:sp>
        <p:nvSpPr>
          <p:cNvPr id="19" name="Text 17"/>
          <p:cNvSpPr/>
          <p:nvPr/>
        </p:nvSpPr>
        <p:spPr>
          <a:xfrm>
            <a:off x="7635240" y="4114800"/>
            <a:ext cx="3703320" cy="548640"/>
          </a:xfrm>
          <a:prstGeom prst="rect">
            <a:avLst/>
          </a:prstGeom>
          <a:noFill/>
          <a:ln/>
        </p:spPr>
        <p:txBody>
          <a:bodyPr wrap="square" lIns="0" tIns="0" rIns="0" bIns="0" rtlCol="0" anchor="ctr"/>
          <a:lstStyle/>
          <a:p>
            <a:pPr indent="0" marL="0">
              <a:buNone/>
            </a:pPr>
            <a:r>
              <a:rPr lang="en-US" sz="1200" dirty="0">
                <a:solidFill>
                  <a:srgbClr val="F4F7F5"/>
                </a:solidFill>
                <a:latin typeface="Calibri" pitchFamily="34" charset="0"/>
                <a:ea typeface="Calibri" pitchFamily="34" charset="-122"/>
                <a:cs typeface="Calibri" pitchFamily="34" charset="-120"/>
              </a:rPr>
              <a:t>Which card fits what you actually buy</a:t>
            </a:r>
            <a:endParaRPr lang="en-US" sz="1200" dirty="0"/>
          </a:p>
        </p:txBody>
      </p:sp>
      <p:sp>
        <p:nvSpPr>
          <p:cNvPr id="20" name="Shape 18"/>
          <p:cNvSpPr/>
          <p:nvPr/>
        </p:nvSpPr>
        <p:spPr>
          <a:xfrm>
            <a:off x="640080" y="4736592"/>
            <a:ext cx="10908792" cy="548640"/>
          </a:xfrm>
          <a:prstGeom prst="roundRect">
            <a:avLst>
              <a:gd name="adj" fmla="val 20000"/>
            </a:avLst>
          </a:prstGeom>
          <a:solidFill>
            <a:srgbClr val="101613"/>
          </a:solidFill>
          <a:ln w="12700">
            <a:solidFill>
              <a:srgbClr val="1C2420"/>
            </a:solidFill>
            <a:prstDash val="solid"/>
          </a:ln>
        </p:spPr>
      </p:sp>
      <p:sp>
        <p:nvSpPr>
          <p:cNvPr id="21" name="Text 19"/>
          <p:cNvSpPr/>
          <p:nvPr/>
        </p:nvSpPr>
        <p:spPr>
          <a:xfrm>
            <a:off x="868680" y="4736592"/>
            <a:ext cx="2834640" cy="548640"/>
          </a:xfrm>
          <a:prstGeom prst="rect">
            <a:avLst/>
          </a:prstGeom>
          <a:noFill/>
          <a:ln/>
        </p:spPr>
        <p:txBody>
          <a:bodyPr wrap="square" lIns="0" tIns="0" rIns="0" bIns="0" rtlCol="0" anchor="ctr"/>
          <a:lstStyle/>
          <a:p>
            <a:pPr indent="0" marL="0">
              <a:buNone/>
            </a:pPr>
            <a:r>
              <a:rPr lang="en-US" sz="1300" b="1" dirty="0">
                <a:solidFill>
                  <a:srgbClr val="F4F7F5"/>
                </a:solidFill>
                <a:latin typeface="Calibri" pitchFamily="34" charset="0"/>
                <a:ea typeface="Calibri" pitchFamily="34" charset="-122"/>
                <a:cs typeface="Calibri" pitchFamily="34" charset="-120"/>
              </a:rPr>
              <a:t>Robo-advisors</a:t>
            </a:r>
            <a:endParaRPr lang="en-US" sz="1300" dirty="0"/>
          </a:p>
        </p:txBody>
      </p:sp>
      <p:sp>
        <p:nvSpPr>
          <p:cNvPr id="22" name="Text 20"/>
          <p:cNvSpPr/>
          <p:nvPr/>
        </p:nvSpPr>
        <p:spPr>
          <a:xfrm>
            <a:off x="3794760" y="4736592"/>
            <a:ext cx="3703320" cy="548640"/>
          </a:xfrm>
          <a:prstGeom prst="rect">
            <a:avLst/>
          </a:prstGeom>
          <a:noFill/>
          <a:ln/>
        </p:spPr>
        <p:txBody>
          <a:bodyPr wrap="square" lIns="0" tIns="0" rIns="0" bIns="0" rtlCol="0" anchor="ctr"/>
          <a:lstStyle/>
          <a:p>
            <a:pPr indent="0" marL="0">
              <a:buNone/>
            </a:pPr>
            <a:r>
              <a:rPr lang="en-US" sz="1200" dirty="0">
                <a:solidFill>
                  <a:srgbClr val="9BA8A0"/>
                </a:solidFill>
                <a:latin typeface="Calibri" pitchFamily="34" charset="0"/>
                <a:ea typeface="Calibri" pitchFamily="34" charset="-122"/>
                <a:cs typeface="Calibri" pitchFamily="34" charset="-120"/>
              </a:rPr>
              <a:t>Assets under management, one asset class</a:t>
            </a:r>
            <a:endParaRPr lang="en-US" sz="1200" dirty="0"/>
          </a:p>
        </p:txBody>
      </p:sp>
      <p:sp>
        <p:nvSpPr>
          <p:cNvPr id="23" name="Text 21"/>
          <p:cNvSpPr/>
          <p:nvPr/>
        </p:nvSpPr>
        <p:spPr>
          <a:xfrm>
            <a:off x="7635240" y="4736592"/>
            <a:ext cx="3703320" cy="548640"/>
          </a:xfrm>
          <a:prstGeom prst="rect">
            <a:avLst/>
          </a:prstGeom>
          <a:noFill/>
          <a:ln/>
        </p:spPr>
        <p:txBody>
          <a:bodyPr wrap="square" lIns="0" tIns="0" rIns="0" bIns="0" rtlCol="0" anchor="ctr"/>
          <a:lstStyle/>
          <a:p>
            <a:pPr indent="0" marL="0">
              <a:buNone/>
            </a:pPr>
            <a:r>
              <a:rPr lang="en-US" sz="1200" dirty="0">
                <a:solidFill>
                  <a:srgbClr val="F4F7F5"/>
                </a:solidFill>
                <a:latin typeface="Calibri" pitchFamily="34" charset="0"/>
                <a:ea typeface="Calibri" pitchFamily="34" charset="-122"/>
                <a:cs typeface="Calibri" pitchFamily="34" charset="-120"/>
              </a:rPr>
              <a:t>Anything outside the products they hold</a:t>
            </a:r>
            <a:endParaRPr lang="en-US" sz="1200" dirty="0"/>
          </a:p>
        </p:txBody>
      </p:sp>
      <p:sp>
        <p:nvSpPr>
          <p:cNvPr id="24" name="Shape 22"/>
          <p:cNvSpPr/>
          <p:nvPr/>
        </p:nvSpPr>
        <p:spPr>
          <a:xfrm>
            <a:off x="640080" y="5358384"/>
            <a:ext cx="10908792" cy="548640"/>
          </a:xfrm>
          <a:prstGeom prst="roundRect">
            <a:avLst>
              <a:gd name="adj" fmla="val 20000"/>
            </a:avLst>
          </a:prstGeom>
          <a:solidFill>
            <a:srgbClr val="101613"/>
          </a:solidFill>
          <a:ln w="12700">
            <a:solidFill>
              <a:srgbClr val="1C2420"/>
            </a:solidFill>
            <a:prstDash val="solid"/>
          </a:ln>
        </p:spPr>
      </p:sp>
      <p:sp>
        <p:nvSpPr>
          <p:cNvPr id="25" name="Text 23"/>
          <p:cNvSpPr/>
          <p:nvPr/>
        </p:nvSpPr>
        <p:spPr>
          <a:xfrm>
            <a:off x="868680" y="5358384"/>
            <a:ext cx="2834640" cy="548640"/>
          </a:xfrm>
          <a:prstGeom prst="rect">
            <a:avLst/>
          </a:prstGeom>
          <a:noFill/>
          <a:ln/>
        </p:spPr>
        <p:txBody>
          <a:bodyPr wrap="square" lIns="0" tIns="0" rIns="0" bIns="0" rtlCol="0" anchor="ctr"/>
          <a:lstStyle/>
          <a:p>
            <a:pPr indent="0" marL="0">
              <a:buNone/>
            </a:pPr>
            <a:r>
              <a:rPr lang="en-US" sz="1300" b="1" dirty="0">
                <a:solidFill>
                  <a:srgbClr val="F4F7F5"/>
                </a:solidFill>
                <a:latin typeface="Calibri" pitchFamily="34" charset="0"/>
                <a:ea typeface="Calibri" pitchFamily="34" charset="-122"/>
                <a:cs typeface="Calibri" pitchFamily="34" charset="-120"/>
              </a:rPr>
              <a:t>Finance social media</a:t>
            </a:r>
            <a:endParaRPr lang="en-US" sz="1300" dirty="0"/>
          </a:p>
        </p:txBody>
      </p:sp>
      <p:sp>
        <p:nvSpPr>
          <p:cNvPr id="26" name="Text 24"/>
          <p:cNvSpPr/>
          <p:nvPr/>
        </p:nvSpPr>
        <p:spPr>
          <a:xfrm>
            <a:off x="3794760" y="5358384"/>
            <a:ext cx="3703320" cy="548640"/>
          </a:xfrm>
          <a:prstGeom prst="rect">
            <a:avLst/>
          </a:prstGeom>
          <a:noFill/>
          <a:ln/>
        </p:spPr>
        <p:txBody>
          <a:bodyPr wrap="square" lIns="0" tIns="0" rIns="0" bIns="0" rtlCol="0" anchor="ctr"/>
          <a:lstStyle/>
          <a:p>
            <a:pPr indent="0" marL="0">
              <a:buNone/>
            </a:pPr>
            <a:r>
              <a:rPr lang="en-US" sz="1200" dirty="0">
                <a:solidFill>
                  <a:srgbClr val="9BA8A0"/>
                </a:solidFill>
                <a:latin typeface="Calibri" pitchFamily="34" charset="0"/>
                <a:ea typeface="Calibri" pitchFamily="34" charset="-122"/>
                <a:cs typeface="Calibri" pitchFamily="34" charset="-120"/>
              </a:rPr>
              <a:t>Engagement on the loudest claim</a:t>
            </a:r>
            <a:endParaRPr lang="en-US" sz="1200" dirty="0"/>
          </a:p>
        </p:txBody>
      </p:sp>
      <p:sp>
        <p:nvSpPr>
          <p:cNvPr id="27" name="Text 25"/>
          <p:cNvSpPr/>
          <p:nvPr/>
        </p:nvSpPr>
        <p:spPr>
          <a:xfrm>
            <a:off x="7635240" y="5358384"/>
            <a:ext cx="3703320" cy="548640"/>
          </a:xfrm>
          <a:prstGeom prst="rect">
            <a:avLst/>
          </a:prstGeom>
          <a:noFill/>
          <a:ln/>
        </p:spPr>
        <p:txBody>
          <a:bodyPr wrap="square" lIns="0" tIns="0" rIns="0" bIns="0" rtlCol="0" anchor="ctr"/>
          <a:lstStyle/>
          <a:p>
            <a:pPr indent="0" marL="0">
              <a:buNone/>
            </a:pPr>
            <a:r>
              <a:rPr lang="en-US" sz="1200" dirty="0">
                <a:solidFill>
                  <a:srgbClr val="F4F7F5"/>
                </a:solidFill>
                <a:latin typeface="Calibri" pitchFamily="34" charset="0"/>
                <a:ea typeface="Calibri" pitchFamily="34" charset="-122"/>
                <a:cs typeface="Calibri" pitchFamily="34" charset="-120"/>
              </a:rPr>
              <a:t>Anything at all, with accountability attached</a:t>
            </a:r>
            <a:endParaRPr lang="en-US" sz="1200" dirty="0"/>
          </a:p>
        </p:txBody>
      </p:sp>
      <p:sp>
        <p:nvSpPr>
          <p:cNvPr id="28" name="Shape 26"/>
          <p:cNvSpPr/>
          <p:nvPr/>
        </p:nvSpPr>
        <p:spPr>
          <a:xfrm>
            <a:off x="640080" y="6016752"/>
            <a:ext cx="10908792" cy="457200"/>
          </a:xfrm>
          <a:prstGeom prst="roundRect">
            <a:avLst>
              <a:gd name="adj" fmla="val 24000"/>
            </a:avLst>
          </a:prstGeom>
          <a:solidFill>
            <a:srgbClr val="161D19"/>
          </a:solidFill>
          <a:ln w="12700">
            <a:solidFill>
              <a:srgbClr val="2A352F"/>
            </a:solidFill>
            <a:prstDash val="solid"/>
          </a:ln>
        </p:spPr>
      </p:sp>
      <p:sp>
        <p:nvSpPr>
          <p:cNvPr id="29" name="Text 27"/>
          <p:cNvSpPr/>
          <p:nvPr/>
        </p:nvSpPr>
        <p:spPr>
          <a:xfrm>
            <a:off x="868680" y="6016752"/>
            <a:ext cx="10469880" cy="457200"/>
          </a:xfrm>
          <a:prstGeom prst="rect">
            <a:avLst/>
          </a:prstGeom>
          <a:noFill/>
          <a:ln/>
        </p:spPr>
        <p:txBody>
          <a:bodyPr wrap="square" lIns="0" tIns="0" rIns="0" bIns="0" rtlCol="0" anchor="ctr"/>
          <a:lstStyle/>
          <a:p>
            <a:pPr indent="0" marL="0">
              <a:lnSpc>
                <a:spcPct val="110000"/>
              </a:lnSpc>
              <a:buNone/>
            </a:pPr>
            <a:r>
              <a:rPr lang="en-US" sz="1250" dirty="0">
                <a:solidFill>
                  <a:srgbClr val="F4F7F5"/>
                </a:solidFill>
                <a:latin typeface="Calibri" pitchFamily="34" charset="0"/>
                <a:ea typeface="Calibri" pitchFamily="34" charset="-122"/>
                <a:cs typeface="Calibri" pitchFamily="34" charset="-120"/>
              </a:rPr>
              <a:t>Five apps, five agendas, none of them yours. So the ranking gets done by hand and badly — or, far more often, not at all.</a:t>
            </a:r>
            <a:endParaRPr lang="en-US" sz="1250" dirty="0"/>
          </a:p>
        </p:txBody>
      </p:sp>
      <p:sp>
        <p:nvSpPr>
          <p:cNvPr id="31" name="Text 28"/>
          <p:cNvSpPr/>
          <p:nvPr/>
        </p:nvSpPr>
        <p:spPr>
          <a:xfrm>
            <a:off x="9692640" y="6528816"/>
            <a:ext cx="1188720" cy="237744"/>
          </a:xfrm>
          <a:prstGeom prst="rect">
            <a:avLst/>
          </a:prstGeom>
          <a:noFill/>
          <a:ln/>
        </p:spPr>
        <p:txBody>
          <a:bodyPr wrap="square" lIns="0" tIns="0" rIns="0" bIns="0" rtlCol="0" anchor="ctr"/>
          <a:lstStyle/>
          <a:p>
            <a:pPr algn="r" indent="0" marL="0">
              <a:buNone/>
            </a:pPr>
            <a:r>
              <a:rPr lang="en-US" sz="850" b="1" spc="140" kern="0" dirty="0">
                <a:solidFill>
                  <a:srgbClr val="67726B"/>
                </a:solidFill>
                <a:latin typeface="Calibri" pitchFamily="34" charset="0"/>
                <a:ea typeface="Calibri" pitchFamily="34" charset="-122"/>
                <a:cs typeface="Calibri" pitchFamily="34" charset="-120"/>
              </a:rPr>
              <a:t>POLYPROFIT</a:t>
            </a:r>
            <a:endParaRPr lang="en-US" sz="850" dirty="0"/>
          </a:p>
        </p:txBody>
      </p:sp>
      <p:sp>
        <p:nvSpPr>
          <p:cNvPr id="32" name="Text 29"/>
          <p:cNvSpPr/>
          <p:nvPr/>
        </p:nvSpPr>
        <p:spPr>
          <a:xfrm>
            <a:off x="11018520" y="6528816"/>
            <a:ext cx="530352" cy="237744"/>
          </a:xfrm>
          <a:prstGeom prst="rect">
            <a:avLst/>
          </a:prstGeom>
          <a:noFill/>
          <a:ln/>
        </p:spPr>
        <p:txBody>
          <a:bodyPr wrap="square" lIns="0" tIns="0" rIns="0" bIns="0" rtlCol="0" anchor="ctr"/>
          <a:lstStyle/>
          <a:p>
            <a:pPr algn="r" indent="0" marL="0">
              <a:buNone/>
            </a:pPr>
            <a:r>
              <a:rPr lang="en-US" sz="850" b="1" dirty="0">
                <a:solidFill>
                  <a:srgbClr val="22C55E"/>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B09"/>
        </a:solidFill>
      </p:bgPr>
    </p:bg>
    <p:spTree>
      <p:nvGrpSpPr>
        <p:cNvPr id="1" name=""/>
        <p:cNvGrpSpPr/>
        <p:nvPr/>
      </p:nvGrpSpPr>
      <p:grpSpPr>
        <a:xfrm>
          <a:off x="0" y="0"/>
          <a:ext cx="0" cy="0"/>
          <a:chOff x="0" y="0"/>
          <a:chExt cx="0" cy="0"/>
        </a:xfrm>
      </p:grpSpPr>
      <p:sp>
        <p:nvSpPr>
          <p:cNvPr id="2" name="Shape 0"/>
          <p:cNvSpPr/>
          <p:nvPr/>
        </p:nvSpPr>
        <p:spPr>
          <a:xfrm>
            <a:off x="-2194560" y="-1645920"/>
            <a:ext cx="6035040" cy="6035040"/>
          </a:xfrm>
          <a:prstGeom prst="ellipse">
            <a:avLst/>
          </a:prstGeom>
          <a:solidFill>
            <a:srgbClr val="22C55E">
              <a:alpha val="6000"/>
            </a:srgbClr>
          </a:solidFill>
          <a:ln/>
        </p:spPr>
      </p:sp>
      <p:sp>
        <p:nvSpPr>
          <p:cNvPr id="3" name="Text 1"/>
          <p:cNvSpPr/>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22C55E"/>
                </a:solidFill>
                <a:latin typeface="Calibri" pitchFamily="34" charset="0"/>
                <a:ea typeface="Calibri" pitchFamily="34" charset="-122"/>
                <a:cs typeface="Calibri" pitchFamily="34" charset="-120"/>
              </a:rPr>
              <a:t>02  ·  THE INSIGHT</a:t>
            </a:r>
            <a:endParaRPr lang="en-US" sz="1100" dirty="0"/>
          </a:p>
        </p:txBody>
      </p:sp>
      <p:sp>
        <p:nvSpPr>
          <p:cNvPr id="4" name="Text 2"/>
          <p:cNvSpPr/>
          <p:nvPr/>
        </p:nvSpPr>
        <p:spPr>
          <a:xfrm>
            <a:off x="640080" y="777240"/>
            <a:ext cx="10881360" cy="685800"/>
          </a:xfrm>
          <a:prstGeom prst="rect">
            <a:avLst/>
          </a:prstGeom>
          <a:noFill/>
          <a:ln/>
        </p:spPr>
        <p:txBody>
          <a:bodyPr wrap="square" lIns="0" tIns="0" rIns="0" bIns="0" rtlCol="0" anchor="t"/>
          <a:lstStyle/>
          <a:p>
            <a:pPr indent="0" marL="0">
              <a:lnSpc>
                <a:spcPct val="105000"/>
              </a:lnSpc>
              <a:buNone/>
            </a:pPr>
            <a:r>
              <a:rPr lang="en-US" sz="3300" b="1" dirty="0">
                <a:solidFill>
                  <a:srgbClr val="F4F7F5"/>
                </a:solidFill>
                <a:latin typeface="Calibri" pitchFamily="34" charset="0"/>
                <a:ea typeface="Calibri" pitchFamily="34" charset="-122"/>
                <a:cs typeface="Calibri" pitchFamily="34" charset="-120"/>
              </a:rPr>
              <a:t>A money goal is one simple equation.</a:t>
            </a:r>
            <a:endParaRPr lang="en-US" sz="3300" dirty="0"/>
          </a:p>
        </p:txBody>
      </p:sp>
      <p:sp>
        <p:nvSpPr>
          <p:cNvPr id="5" name="Shape 3"/>
          <p:cNvSpPr/>
          <p:nvPr/>
        </p:nvSpPr>
        <p:spPr>
          <a:xfrm>
            <a:off x="640080" y="1627632"/>
            <a:ext cx="10908792" cy="822960"/>
          </a:xfrm>
          <a:prstGeom prst="roundRect">
            <a:avLst>
              <a:gd name="adj" fmla="val 13333"/>
            </a:avLst>
          </a:prstGeom>
          <a:solidFill>
            <a:srgbClr val="161D19"/>
          </a:solidFill>
          <a:ln w="12700">
            <a:solidFill>
              <a:srgbClr val="2A352F"/>
            </a:solidFill>
            <a:prstDash val="solid"/>
          </a:ln>
        </p:spPr>
      </p:sp>
      <p:sp>
        <p:nvSpPr>
          <p:cNvPr id="6" name="Text 4"/>
          <p:cNvSpPr/>
          <p:nvPr/>
        </p:nvSpPr>
        <p:spPr>
          <a:xfrm>
            <a:off x="640080" y="1627632"/>
            <a:ext cx="10908792" cy="822960"/>
          </a:xfrm>
          <a:prstGeom prst="rect">
            <a:avLst/>
          </a:prstGeom>
          <a:noFill/>
          <a:ln/>
        </p:spPr>
        <p:txBody>
          <a:bodyPr wrap="square" lIns="0" tIns="0" rIns="0" bIns="0" rtlCol="0" anchor="ctr"/>
          <a:lstStyle/>
          <a:p>
            <a:pPr algn="ctr" indent="0" marL="0">
              <a:buNone/>
            </a:pPr>
            <a:r>
              <a:rPr lang="en-US" sz="1800" b="1" spc="100" kern="0" dirty="0">
                <a:solidFill>
                  <a:srgbClr val="F4F7F5"/>
                </a:solidFill>
                <a:latin typeface="Calibri" pitchFamily="34" charset="0"/>
                <a:ea typeface="Calibri" pitchFamily="34" charset="-122"/>
                <a:cs typeface="Calibri" pitchFamily="34" charset="-120"/>
              </a:rPr>
              <a:t>MORE MONEY IN THE BANK</a:t>
            </a:r>
            <a:pPr algn="ctr" indent="0" marL="0">
              <a:buNone/>
            </a:pPr>
            <a:r>
              <a:rPr lang="en-US" sz="1800" b="1" spc="100" kern="0" dirty="0">
                <a:solidFill>
                  <a:srgbClr val="22C55E"/>
                </a:solidFill>
                <a:latin typeface="Calibri" pitchFamily="34" charset="0"/>
                <a:ea typeface="Calibri" pitchFamily="34" charset="-122"/>
                <a:cs typeface="Calibri" pitchFamily="34" charset="-120"/>
              </a:rPr>
              <a:t>   =   </a:t>
            </a:r>
            <a:pPr algn="ctr" indent="0" marL="0">
              <a:buNone/>
            </a:pPr>
            <a:r>
              <a:rPr lang="en-US" sz="1800" b="1" spc="100" kern="0" dirty="0">
                <a:solidFill>
                  <a:srgbClr val="22C55E"/>
                </a:solidFill>
                <a:latin typeface="Calibri" pitchFamily="34" charset="0"/>
                <a:ea typeface="Calibri" pitchFamily="34" charset="-122"/>
                <a:cs typeface="Calibri" pitchFamily="34" charset="-120"/>
              </a:rPr>
              <a:t>WHAT YOU EARN</a:t>
            </a:r>
            <a:pPr algn="ctr" indent="0" marL="0">
              <a:buNone/>
            </a:pPr>
            <a:r>
              <a:rPr lang="en-US" sz="1800" b="1" spc="100" kern="0" dirty="0">
                <a:solidFill>
                  <a:srgbClr val="22C55E"/>
                </a:solidFill>
                <a:latin typeface="Calibri" pitchFamily="34" charset="0"/>
                <a:ea typeface="Calibri" pitchFamily="34" charset="-122"/>
                <a:cs typeface="Calibri" pitchFamily="34" charset="-120"/>
              </a:rPr>
              <a:t>   +   </a:t>
            </a:r>
            <a:pPr algn="ctr" indent="0" marL="0">
              <a:buNone/>
            </a:pPr>
            <a:r>
              <a:rPr lang="en-US" sz="1800" b="1" spc="100" kern="0" dirty="0">
                <a:solidFill>
                  <a:srgbClr val="F5B43C"/>
                </a:solidFill>
                <a:latin typeface="Calibri" pitchFamily="34" charset="0"/>
                <a:ea typeface="Calibri" pitchFamily="34" charset="-122"/>
                <a:cs typeface="Calibri" pitchFamily="34" charset="-120"/>
              </a:rPr>
              <a:t>WHAT YOU STOP LOSING</a:t>
            </a:r>
            <a:endParaRPr lang="en-US" sz="1800" dirty="0"/>
          </a:p>
        </p:txBody>
      </p:sp>
      <p:sp>
        <p:nvSpPr>
          <p:cNvPr id="7" name="Shape 5"/>
          <p:cNvSpPr/>
          <p:nvPr/>
        </p:nvSpPr>
        <p:spPr>
          <a:xfrm>
            <a:off x="640080" y="2651760"/>
            <a:ext cx="5349240" cy="2999232"/>
          </a:xfrm>
          <a:prstGeom prst="roundRect">
            <a:avLst>
              <a:gd name="adj" fmla="val 3659"/>
            </a:avLst>
          </a:prstGeom>
          <a:solidFill>
            <a:srgbClr val="101613"/>
          </a:solidFill>
          <a:ln w="12700">
            <a:solidFill>
              <a:srgbClr val="1C2420"/>
            </a:solidFill>
            <a:prstDash val="solid"/>
          </a:ln>
        </p:spPr>
      </p:sp>
      <p:sp>
        <p:nvSpPr>
          <p:cNvPr id="8" name="Shape 6"/>
          <p:cNvSpPr/>
          <p:nvPr/>
        </p:nvSpPr>
        <p:spPr>
          <a:xfrm>
            <a:off x="914400" y="2852928"/>
            <a:ext cx="1234440" cy="274320"/>
          </a:xfrm>
          <a:prstGeom prst="roundRect">
            <a:avLst>
              <a:gd name="adj" fmla="val 166667"/>
            </a:avLst>
          </a:prstGeom>
          <a:solidFill>
            <a:srgbClr val="161D19"/>
          </a:solidFill>
          <a:ln w="12700">
            <a:solidFill>
              <a:srgbClr val="22C55E"/>
            </a:solidFill>
            <a:prstDash val="solid"/>
          </a:ln>
        </p:spPr>
      </p:sp>
      <p:sp>
        <p:nvSpPr>
          <p:cNvPr id="9" name="Text 7"/>
          <p:cNvSpPr/>
          <p:nvPr/>
        </p:nvSpPr>
        <p:spPr>
          <a:xfrm>
            <a:off x="914400" y="2852928"/>
            <a:ext cx="1234440" cy="274320"/>
          </a:xfrm>
          <a:prstGeom prst="rect">
            <a:avLst/>
          </a:prstGeom>
          <a:noFill/>
          <a:ln/>
        </p:spPr>
        <p:txBody>
          <a:bodyPr wrap="square" lIns="0" tIns="0" rIns="0" bIns="0" rtlCol="0" anchor="ctr"/>
          <a:lstStyle/>
          <a:p>
            <a:pPr algn="ctr" indent="0" marL="0">
              <a:buNone/>
            </a:pPr>
            <a:r>
              <a:rPr lang="en-US" sz="950" b="1" spc="80" kern="0" dirty="0">
                <a:solidFill>
                  <a:srgbClr val="22C55E"/>
                </a:solidFill>
                <a:latin typeface="Calibri" pitchFamily="34" charset="0"/>
                <a:ea typeface="Calibri" pitchFamily="34" charset="-122"/>
                <a:cs typeface="Calibri" pitchFamily="34" charset="-120"/>
              </a:rPr>
              <a:t>LIVE TODAY</a:t>
            </a:r>
            <a:endParaRPr lang="en-US" sz="950" dirty="0"/>
          </a:p>
        </p:txBody>
      </p:sp>
      <p:sp>
        <p:nvSpPr>
          <p:cNvPr id="10" name="Text 8"/>
          <p:cNvSpPr/>
          <p:nvPr/>
        </p:nvSpPr>
        <p:spPr>
          <a:xfrm>
            <a:off x="914400" y="3200400"/>
            <a:ext cx="3657600" cy="384048"/>
          </a:xfrm>
          <a:prstGeom prst="rect">
            <a:avLst/>
          </a:prstGeom>
          <a:noFill/>
          <a:ln/>
        </p:spPr>
        <p:txBody>
          <a:bodyPr wrap="square" lIns="0" tIns="0" rIns="0" bIns="0" rtlCol="0" anchor="ctr"/>
          <a:lstStyle/>
          <a:p>
            <a:pPr indent="0" marL="0">
              <a:buNone/>
            </a:pPr>
            <a:r>
              <a:rPr lang="en-US" sz="2100" b="1" dirty="0">
                <a:solidFill>
                  <a:srgbClr val="F4F7F5"/>
                </a:solidFill>
                <a:latin typeface="Calibri" pitchFamily="34" charset="0"/>
                <a:ea typeface="Calibri" pitchFamily="34" charset="-122"/>
                <a:cs typeface="Calibri" pitchFamily="34" charset="-120"/>
              </a:rPr>
              <a:t>Make more</a:t>
            </a:r>
            <a:endParaRPr lang="en-US" sz="2100" dirty="0"/>
          </a:p>
        </p:txBody>
      </p:sp>
      <p:sp>
        <p:nvSpPr>
          <p:cNvPr id="11" name="Shape 9"/>
          <p:cNvSpPr/>
          <p:nvPr/>
        </p:nvSpPr>
        <p:spPr>
          <a:xfrm>
            <a:off x="914400" y="3749040"/>
            <a:ext cx="237744" cy="237744"/>
          </a:xfrm>
          <a:prstGeom prst="ellipse">
            <a:avLst/>
          </a:prstGeom>
          <a:solidFill>
            <a:srgbClr val="22C55E"/>
          </a:solidFill>
          <a:ln/>
        </p:spPr>
      </p:sp>
      <p:sp>
        <p:nvSpPr>
          <p:cNvPr id="12" name="Text 10"/>
          <p:cNvSpPr/>
          <p:nvPr/>
        </p:nvSpPr>
        <p:spPr>
          <a:xfrm>
            <a:off x="914400" y="3749040"/>
            <a:ext cx="237744" cy="237744"/>
          </a:xfrm>
          <a:prstGeom prst="rect">
            <a:avLst/>
          </a:prstGeom>
          <a:noFill/>
          <a:ln/>
        </p:spPr>
        <p:txBody>
          <a:bodyPr wrap="square" lIns="0" tIns="0" rIns="0" bIns="0" rtlCol="0" anchor="ctr"/>
          <a:lstStyle/>
          <a:p>
            <a:pPr algn="ctr" indent="0" marL="0">
              <a:buNone/>
            </a:pPr>
            <a:r>
              <a:rPr lang="en-US" sz="1000" b="1" dirty="0">
                <a:solidFill>
                  <a:srgbClr val="06140C"/>
                </a:solidFill>
                <a:latin typeface="Calibri" pitchFamily="34" charset="0"/>
                <a:ea typeface="Calibri" pitchFamily="34" charset="-122"/>
                <a:cs typeface="Calibri" pitchFamily="34" charset="-120"/>
              </a:rPr>
              <a:t>1</a:t>
            </a:r>
            <a:endParaRPr lang="en-US" sz="1000" dirty="0"/>
          </a:p>
        </p:txBody>
      </p:sp>
      <p:sp>
        <p:nvSpPr>
          <p:cNvPr id="13" name="Text 11"/>
          <p:cNvSpPr/>
          <p:nvPr/>
        </p:nvSpPr>
        <p:spPr>
          <a:xfrm>
            <a:off x="1261872" y="3694176"/>
            <a:ext cx="4480560" cy="237744"/>
          </a:xfrm>
          <a:prstGeom prst="rect">
            <a:avLst/>
          </a:prstGeom>
          <a:noFill/>
          <a:ln/>
        </p:spPr>
        <p:txBody>
          <a:bodyPr wrap="square" lIns="0" tIns="0" rIns="0" bIns="0" rtlCol="0" anchor="ctr"/>
          <a:lstStyle/>
          <a:p>
            <a:pPr indent="0" marL="0">
              <a:buNone/>
            </a:pPr>
            <a:r>
              <a:rPr lang="en-US" sz="1300" b="1" dirty="0">
                <a:solidFill>
                  <a:srgbClr val="F4F7F5"/>
                </a:solidFill>
                <a:latin typeface="Calibri" pitchFamily="34" charset="0"/>
                <a:ea typeface="Calibri" pitchFamily="34" charset="-122"/>
                <a:cs typeface="Calibri" pitchFamily="34" charset="-120"/>
              </a:rPr>
              <a:t>Savings &amp; Treasuries</a:t>
            </a:r>
            <a:endParaRPr lang="en-US" sz="1300" dirty="0"/>
          </a:p>
        </p:txBody>
      </p:sp>
      <p:sp>
        <p:nvSpPr>
          <p:cNvPr id="14" name="Text 12"/>
          <p:cNvSpPr/>
          <p:nvPr/>
        </p:nvSpPr>
        <p:spPr>
          <a:xfrm>
            <a:off x="1261872" y="3922776"/>
            <a:ext cx="4480560" cy="237744"/>
          </a:xfrm>
          <a:prstGeom prst="rect">
            <a:avLst/>
          </a:prstGeom>
          <a:noFill/>
          <a:ln/>
        </p:spPr>
        <p:txBody>
          <a:bodyPr wrap="square" lIns="0" tIns="0" rIns="0" bIns="0" rtlCol="0" anchor="ctr"/>
          <a:lstStyle/>
          <a:p>
            <a:pPr indent="0" marL="0">
              <a:buNone/>
            </a:pPr>
            <a:r>
              <a:rPr lang="en-US" sz="1150" dirty="0">
                <a:solidFill>
                  <a:srgbClr val="9BA8A0"/>
                </a:solidFill>
                <a:latin typeface="Calibri" pitchFamily="34" charset="0"/>
                <a:ea typeface="Calibri" pitchFamily="34" charset="-122"/>
                <a:cs typeface="Calibri" pitchFamily="34" charset="-120"/>
              </a:rPr>
              <a:t>A known return, if you hold it</a:t>
            </a:r>
            <a:endParaRPr lang="en-US" sz="1150" dirty="0"/>
          </a:p>
        </p:txBody>
      </p:sp>
      <p:sp>
        <p:nvSpPr>
          <p:cNvPr id="15" name="Shape 13"/>
          <p:cNvSpPr/>
          <p:nvPr/>
        </p:nvSpPr>
        <p:spPr>
          <a:xfrm>
            <a:off x="914400" y="4224528"/>
            <a:ext cx="237744" cy="237744"/>
          </a:xfrm>
          <a:prstGeom prst="ellipse">
            <a:avLst/>
          </a:prstGeom>
          <a:solidFill>
            <a:srgbClr val="22C55E"/>
          </a:solidFill>
          <a:ln/>
        </p:spPr>
      </p:sp>
      <p:sp>
        <p:nvSpPr>
          <p:cNvPr id="16" name="Text 14"/>
          <p:cNvSpPr/>
          <p:nvPr/>
        </p:nvSpPr>
        <p:spPr>
          <a:xfrm>
            <a:off x="914400" y="4224528"/>
            <a:ext cx="237744" cy="237744"/>
          </a:xfrm>
          <a:prstGeom prst="rect">
            <a:avLst/>
          </a:prstGeom>
          <a:noFill/>
          <a:ln/>
        </p:spPr>
        <p:txBody>
          <a:bodyPr wrap="square" lIns="0" tIns="0" rIns="0" bIns="0" rtlCol="0" anchor="ctr"/>
          <a:lstStyle/>
          <a:p>
            <a:pPr algn="ctr" indent="0" marL="0">
              <a:buNone/>
            </a:pPr>
            <a:r>
              <a:rPr lang="en-US" sz="1000" b="1" dirty="0">
                <a:solidFill>
                  <a:srgbClr val="06140C"/>
                </a:solidFill>
                <a:latin typeface="Calibri" pitchFamily="34" charset="0"/>
                <a:ea typeface="Calibri" pitchFamily="34" charset="-122"/>
                <a:cs typeface="Calibri" pitchFamily="34" charset="-120"/>
              </a:rPr>
              <a:t>2</a:t>
            </a:r>
            <a:endParaRPr lang="en-US" sz="1000" dirty="0"/>
          </a:p>
        </p:txBody>
      </p:sp>
      <p:sp>
        <p:nvSpPr>
          <p:cNvPr id="17" name="Text 15"/>
          <p:cNvSpPr/>
          <p:nvPr/>
        </p:nvSpPr>
        <p:spPr>
          <a:xfrm>
            <a:off x="1261872" y="4169664"/>
            <a:ext cx="4480560" cy="237744"/>
          </a:xfrm>
          <a:prstGeom prst="rect">
            <a:avLst/>
          </a:prstGeom>
          <a:noFill/>
          <a:ln/>
        </p:spPr>
        <p:txBody>
          <a:bodyPr wrap="square" lIns="0" tIns="0" rIns="0" bIns="0" rtlCol="0" anchor="ctr"/>
          <a:lstStyle/>
          <a:p>
            <a:pPr indent="0" marL="0">
              <a:buNone/>
            </a:pPr>
            <a:r>
              <a:rPr lang="en-US" sz="1300" b="1" dirty="0">
                <a:solidFill>
                  <a:srgbClr val="F4F7F5"/>
                </a:solidFill>
                <a:latin typeface="Calibri" pitchFamily="34" charset="0"/>
                <a:ea typeface="Calibri" pitchFamily="34" charset="-122"/>
                <a:cs typeface="Calibri" pitchFamily="34" charset="-120"/>
              </a:rPr>
              <a:t>Stocks &amp; ETFs</a:t>
            </a:r>
            <a:endParaRPr lang="en-US" sz="1300" dirty="0"/>
          </a:p>
        </p:txBody>
      </p:sp>
      <p:sp>
        <p:nvSpPr>
          <p:cNvPr id="18" name="Text 16"/>
          <p:cNvSpPr/>
          <p:nvPr/>
        </p:nvSpPr>
        <p:spPr>
          <a:xfrm>
            <a:off x="1261872" y="4398264"/>
            <a:ext cx="4480560" cy="237744"/>
          </a:xfrm>
          <a:prstGeom prst="rect">
            <a:avLst/>
          </a:prstGeom>
          <a:noFill/>
          <a:ln/>
        </p:spPr>
        <p:txBody>
          <a:bodyPr wrap="square" lIns="0" tIns="0" rIns="0" bIns="0" rtlCol="0" anchor="ctr"/>
          <a:lstStyle/>
          <a:p>
            <a:pPr indent="0" marL="0">
              <a:buNone/>
            </a:pPr>
            <a:r>
              <a:rPr lang="en-US" sz="1150" dirty="0">
                <a:solidFill>
                  <a:srgbClr val="9BA8A0"/>
                </a:solidFill>
                <a:latin typeface="Calibri" pitchFamily="34" charset="0"/>
                <a:ea typeface="Calibri" pitchFamily="34" charset="-122"/>
                <a:cs typeface="Calibri" pitchFamily="34" charset="-120"/>
              </a:rPr>
              <a:t>The odds of clearing your target in time</a:t>
            </a:r>
            <a:endParaRPr lang="en-US" sz="1150" dirty="0"/>
          </a:p>
        </p:txBody>
      </p:sp>
      <p:sp>
        <p:nvSpPr>
          <p:cNvPr id="19" name="Shape 17"/>
          <p:cNvSpPr/>
          <p:nvPr/>
        </p:nvSpPr>
        <p:spPr>
          <a:xfrm>
            <a:off x="914400" y="4700016"/>
            <a:ext cx="237744" cy="237744"/>
          </a:xfrm>
          <a:prstGeom prst="ellipse">
            <a:avLst/>
          </a:prstGeom>
          <a:solidFill>
            <a:srgbClr val="22C55E"/>
          </a:solidFill>
          <a:ln/>
        </p:spPr>
      </p:sp>
      <p:sp>
        <p:nvSpPr>
          <p:cNvPr id="20" name="Text 18"/>
          <p:cNvSpPr/>
          <p:nvPr/>
        </p:nvSpPr>
        <p:spPr>
          <a:xfrm>
            <a:off x="914400" y="4700016"/>
            <a:ext cx="237744" cy="237744"/>
          </a:xfrm>
          <a:prstGeom prst="rect">
            <a:avLst/>
          </a:prstGeom>
          <a:noFill/>
          <a:ln/>
        </p:spPr>
        <p:txBody>
          <a:bodyPr wrap="square" lIns="0" tIns="0" rIns="0" bIns="0" rtlCol="0" anchor="ctr"/>
          <a:lstStyle/>
          <a:p>
            <a:pPr algn="ctr" indent="0" marL="0">
              <a:buNone/>
            </a:pPr>
            <a:r>
              <a:rPr lang="en-US" sz="1000" b="1" dirty="0">
                <a:solidFill>
                  <a:srgbClr val="06140C"/>
                </a:solidFill>
                <a:latin typeface="Calibri" pitchFamily="34" charset="0"/>
                <a:ea typeface="Calibri" pitchFamily="34" charset="-122"/>
                <a:cs typeface="Calibri" pitchFamily="34" charset="-120"/>
              </a:rPr>
              <a:t>3</a:t>
            </a:r>
            <a:endParaRPr lang="en-US" sz="1000" dirty="0"/>
          </a:p>
        </p:txBody>
      </p:sp>
      <p:sp>
        <p:nvSpPr>
          <p:cNvPr id="21" name="Text 19"/>
          <p:cNvSpPr/>
          <p:nvPr/>
        </p:nvSpPr>
        <p:spPr>
          <a:xfrm>
            <a:off x="1261872" y="4645152"/>
            <a:ext cx="4480560" cy="237744"/>
          </a:xfrm>
          <a:prstGeom prst="rect">
            <a:avLst/>
          </a:prstGeom>
          <a:noFill/>
          <a:ln/>
        </p:spPr>
        <p:txBody>
          <a:bodyPr wrap="square" lIns="0" tIns="0" rIns="0" bIns="0" rtlCol="0" anchor="ctr"/>
          <a:lstStyle/>
          <a:p>
            <a:pPr indent="0" marL="0">
              <a:buNone/>
            </a:pPr>
            <a:r>
              <a:rPr lang="en-US" sz="1300" b="1" dirty="0">
                <a:solidFill>
                  <a:srgbClr val="F4F7F5"/>
                </a:solidFill>
                <a:latin typeface="Calibri" pitchFamily="34" charset="0"/>
                <a:ea typeface="Calibri" pitchFamily="34" charset="-122"/>
                <a:cs typeface="Calibri" pitchFamily="34" charset="-120"/>
              </a:rPr>
              <a:t>Prediction markets</a:t>
            </a:r>
            <a:endParaRPr lang="en-US" sz="1300" dirty="0"/>
          </a:p>
        </p:txBody>
      </p:sp>
      <p:sp>
        <p:nvSpPr>
          <p:cNvPr id="22" name="Text 20"/>
          <p:cNvSpPr/>
          <p:nvPr/>
        </p:nvSpPr>
        <p:spPr>
          <a:xfrm>
            <a:off x="1261872" y="4873752"/>
            <a:ext cx="4480560" cy="237744"/>
          </a:xfrm>
          <a:prstGeom prst="rect">
            <a:avLst/>
          </a:prstGeom>
          <a:noFill/>
          <a:ln/>
        </p:spPr>
        <p:txBody>
          <a:bodyPr wrap="square" lIns="0" tIns="0" rIns="0" bIns="0" rtlCol="0" anchor="ctr"/>
          <a:lstStyle/>
          <a:p>
            <a:pPr indent="0" marL="0">
              <a:buNone/>
            </a:pPr>
            <a:r>
              <a:rPr lang="en-US" sz="1150" dirty="0">
                <a:solidFill>
                  <a:srgbClr val="9BA8A0"/>
                </a:solidFill>
                <a:latin typeface="Calibri" pitchFamily="34" charset="0"/>
                <a:ea typeface="Calibri" pitchFamily="34" charset="-122"/>
                <a:cs typeface="Calibri" pitchFamily="34" charset="-120"/>
              </a:rPr>
              <a:t>The crowd's live price, house cut removed</a:t>
            </a:r>
            <a:endParaRPr lang="en-US" sz="1150" dirty="0"/>
          </a:p>
        </p:txBody>
      </p:sp>
      <p:sp>
        <p:nvSpPr>
          <p:cNvPr id="23" name="Shape 21"/>
          <p:cNvSpPr/>
          <p:nvPr/>
        </p:nvSpPr>
        <p:spPr>
          <a:xfrm>
            <a:off x="914400" y="5175504"/>
            <a:ext cx="237744" cy="237744"/>
          </a:xfrm>
          <a:prstGeom prst="ellipse">
            <a:avLst/>
          </a:prstGeom>
          <a:solidFill>
            <a:srgbClr val="22C55E"/>
          </a:solidFill>
          <a:ln/>
        </p:spPr>
      </p:sp>
      <p:sp>
        <p:nvSpPr>
          <p:cNvPr id="24" name="Text 22"/>
          <p:cNvSpPr/>
          <p:nvPr/>
        </p:nvSpPr>
        <p:spPr>
          <a:xfrm>
            <a:off x="914400" y="5175504"/>
            <a:ext cx="237744" cy="237744"/>
          </a:xfrm>
          <a:prstGeom prst="rect">
            <a:avLst/>
          </a:prstGeom>
          <a:noFill/>
          <a:ln/>
        </p:spPr>
        <p:txBody>
          <a:bodyPr wrap="square" lIns="0" tIns="0" rIns="0" bIns="0" rtlCol="0" anchor="ctr"/>
          <a:lstStyle/>
          <a:p>
            <a:pPr algn="ctr" indent="0" marL="0">
              <a:buNone/>
            </a:pPr>
            <a:r>
              <a:rPr lang="en-US" sz="1000" b="1" dirty="0">
                <a:solidFill>
                  <a:srgbClr val="06140C"/>
                </a:solidFill>
                <a:latin typeface="Calibri" pitchFamily="34" charset="0"/>
                <a:ea typeface="Calibri" pitchFamily="34" charset="-122"/>
                <a:cs typeface="Calibri" pitchFamily="34" charset="-120"/>
              </a:rPr>
              <a:t>4</a:t>
            </a:r>
            <a:endParaRPr lang="en-US" sz="1000" dirty="0"/>
          </a:p>
        </p:txBody>
      </p:sp>
      <p:sp>
        <p:nvSpPr>
          <p:cNvPr id="25" name="Text 23"/>
          <p:cNvSpPr/>
          <p:nvPr/>
        </p:nvSpPr>
        <p:spPr>
          <a:xfrm>
            <a:off x="1261872" y="5120640"/>
            <a:ext cx="4480560" cy="237744"/>
          </a:xfrm>
          <a:prstGeom prst="rect">
            <a:avLst/>
          </a:prstGeom>
          <a:noFill/>
          <a:ln/>
        </p:spPr>
        <p:txBody>
          <a:bodyPr wrap="square" lIns="0" tIns="0" rIns="0" bIns="0" rtlCol="0" anchor="ctr"/>
          <a:lstStyle/>
          <a:p>
            <a:pPr indent="0" marL="0">
              <a:buNone/>
            </a:pPr>
            <a:r>
              <a:rPr lang="en-US" sz="1300" b="1" dirty="0">
                <a:solidFill>
                  <a:srgbClr val="F4F7F5"/>
                </a:solidFill>
                <a:latin typeface="Calibri" pitchFamily="34" charset="0"/>
                <a:ea typeface="Calibri" pitchFamily="34" charset="-122"/>
                <a:cs typeface="Calibri" pitchFamily="34" charset="-120"/>
              </a:rPr>
              <a:t>Two exchanges compared</a:t>
            </a:r>
            <a:endParaRPr lang="en-US" sz="1300" dirty="0"/>
          </a:p>
        </p:txBody>
      </p:sp>
      <p:sp>
        <p:nvSpPr>
          <p:cNvPr id="26" name="Text 24"/>
          <p:cNvSpPr/>
          <p:nvPr/>
        </p:nvSpPr>
        <p:spPr>
          <a:xfrm>
            <a:off x="1261872" y="5349240"/>
            <a:ext cx="4480560" cy="237744"/>
          </a:xfrm>
          <a:prstGeom prst="rect">
            <a:avLst/>
          </a:prstGeom>
          <a:noFill/>
          <a:ln/>
        </p:spPr>
        <p:txBody>
          <a:bodyPr wrap="square" lIns="0" tIns="0" rIns="0" bIns="0" rtlCol="0" anchor="ctr"/>
          <a:lstStyle/>
          <a:p>
            <a:pPr indent="0" marL="0">
              <a:buNone/>
            </a:pPr>
            <a:r>
              <a:rPr lang="en-US" sz="1150" dirty="0">
                <a:solidFill>
                  <a:srgbClr val="9BA8A0"/>
                </a:solidFill>
                <a:latin typeface="Calibri" pitchFamily="34" charset="0"/>
                <a:ea typeface="Calibri" pitchFamily="34" charset="-122"/>
                <a:cs typeface="Calibri" pitchFamily="34" charset="-120"/>
              </a:rPr>
              <a:t>The same bet, at the better price</a:t>
            </a:r>
            <a:endParaRPr lang="en-US" sz="1150" dirty="0"/>
          </a:p>
        </p:txBody>
      </p:sp>
      <p:sp>
        <p:nvSpPr>
          <p:cNvPr id="27" name="Shape 25"/>
          <p:cNvSpPr/>
          <p:nvPr/>
        </p:nvSpPr>
        <p:spPr>
          <a:xfrm>
            <a:off x="6199632" y="2651760"/>
            <a:ext cx="5349240" cy="2999232"/>
          </a:xfrm>
          <a:prstGeom prst="roundRect">
            <a:avLst>
              <a:gd name="adj" fmla="val 3659"/>
            </a:avLst>
          </a:prstGeom>
          <a:solidFill>
            <a:srgbClr val="101613"/>
          </a:solidFill>
          <a:ln w="12700">
            <a:solidFill>
              <a:srgbClr val="1C2420"/>
            </a:solidFill>
            <a:prstDash val="solid"/>
          </a:ln>
        </p:spPr>
      </p:sp>
      <p:sp>
        <p:nvSpPr>
          <p:cNvPr id="28" name="Shape 26"/>
          <p:cNvSpPr/>
          <p:nvPr/>
        </p:nvSpPr>
        <p:spPr>
          <a:xfrm>
            <a:off x="6473952" y="2852928"/>
            <a:ext cx="2103120" cy="274320"/>
          </a:xfrm>
          <a:prstGeom prst="roundRect">
            <a:avLst>
              <a:gd name="adj" fmla="val 166667"/>
            </a:avLst>
          </a:prstGeom>
          <a:solidFill>
            <a:srgbClr val="161D19"/>
          </a:solidFill>
          <a:ln w="12700">
            <a:solidFill>
              <a:srgbClr val="F5B43C"/>
            </a:solidFill>
            <a:prstDash val="solid"/>
          </a:ln>
        </p:spPr>
      </p:sp>
      <p:sp>
        <p:nvSpPr>
          <p:cNvPr id="29" name="Text 27"/>
          <p:cNvSpPr/>
          <p:nvPr/>
        </p:nvSpPr>
        <p:spPr>
          <a:xfrm>
            <a:off x="6473952" y="2852928"/>
            <a:ext cx="2103120" cy="274320"/>
          </a:xfrm>
          <a:prstGeom prst="rect">
            <a:avLst/>
          </a:prstGeom>
          <a:noFill/>
          <a:ln/>
        </p:spPr>
        <p:txBody>
          <a:bodyPr wrap="square" lIns="0" tIns="0" rIns="0" bIns="0" rtlCol="0" anchor="ctr"/>
          <a:lstStyle/>
          <a:p>
            <a:pPr algn="ctr" indent="0" marL="0">
              <a:buNone/>
            </a:pPr>
            <a:r>
              <a:rPr lang="en-US" sz="950" b="1" spc="80" kern="0" dirty="0">
                <a:solidFill>
                  <a:srgbClr val="F5B43C"/>
                </a:solidFill>
                <a:latin typeface="Calibri" pitchFamily="34" charset="0"/>
                <a:ea typeface="Calibri" pitchFamily="34" charset="-122"/>
                <a:cs typeface="Calibri" pitchFamily="34" charset="-120"/>
              </a:rPr>
              <a:t>WHAT THIS RAISE BUILDS</a:t>
            </a:r>
            <a:endParaRPr lang="en-US" sz="950" dirty="0"/>
          </a:p>
        </p:txBody>
      </p:sp>
      <p:sp>
        <p:nvSpPr>
          <p:cNvPr id="30" name="Text 28"/>
          <p:cNvSpPr/>
          <p:nvPr/>
        </p:nvSpPr>
        <p:spPr>
          <a:xfrm>
            <a:off x="6473952" y="3200400"/>
            <a:ext cx="3657600" cy="384048"/>
          </a:xfrm>
          <a:prstGeom prst="rect">
            <a:avLst/>
          </a:prstGeom>
          <a:noFill/>
          <a:ln/>
        </p:spPr>
        <p:txBody>
          <a:bodyPr wrap="square" lIns="0" tIns="0" rIns="0" bIns="0" rtlCol="0" anchor="ctr"/>
          <a:lstStyle/>
          <a:p>
            <a:pPr indent="0" marL="0">
              <a:buNone/>
            </a:pPr>
            <a:r>
              <a:rPr lang="en-US" sz="2100" b="1" dirty="0">
                <a:solidFill>
                  <a:srgbClr val="F4F7F5"/>
                </a:solidFill>
                <a:latin typeface="Calibri" pitchFamily="34" charset="0"/>
                <a:ea typeface="Calibri" pitchFamily="34" charset="-122"/>
                <a:cs typeface="Calibri" pitchFamily="34" charset="-120"/>
              </a:rPr>
              <a:t>Keep more</a:t>
            </a:r>
            <a:endParaRPr lang="en-US" sz="2100" dirty="0"/>
          </a:p>
        </p:txBody>
      </p:sp>
      <p:sp>
        <p:nvSpPr>
          <p:cNvPr id="31" name="Shape 29"/>
          <p:cNvSpPr/>
          <p:nvPr/>
        </p:nvSpPr>
        <p:spPr>
          <a:xfrm>
            <a:off x="6473952" y="3749040"/>
            <a:ext cx="237744" cy="237744"/>
          </a:xfrm>
          <a:prstGeom prst="ellipse">
            <a:avLst/>
          </a:prstGeom>
          <a:solidFill>
            <a:srgbClr val="F5B43C"/>
          </a:solidFill>
          <a:ln/>
        </p:spPr>
      </p:sp>
      <p:sp>
        <p:nvSpPr>
          <p:cNvPr id="32" name="Text 30"/>
          <p:cNvSpPr/>
          <p:nvPr/>
        </p:nvSpPr>
        <p:spPr>
          <a:xfrm>
            <a:off x="6473952" y="3749040"/>
            <a:ext cx="237744" cy="237744"/>
          </a:xfrm>
          <a:prstGeom prst="rect">
            <a:avLst/>
          </a:prstGeom>
          <a:noFill/>
          <a:ln/>
        </p:spPr>
        <p:txBody>
          <a:bodyPr wrap="square" lIns="0" tIns="0" rIns="0" bIns="0" rtlCol="0" anchor="ctr"/>
          <a:lstStyle/>
          <a:p>
            <a:pPr algn="ctr" indent="0" marL="0">
              <a:buNone/>
            </a:pPr>
            <a:r>
              <a:rPr lang="en-US" sz="1000" b="1" dirty="0">
                <a:solidFill>
                  <a:srgbClr val="06140C"/>
                </a:solidFill>
                <a:latin typeface="Calibri" pitchFamily="34" charset="0"/>
                <a:ea typeface="Calibri" pitchFamily="34" charset="-122"/>
                <a:cs typeface="Calibri" pitchFamily="34" charset="-120"/>
              </a:rPr>
              <a:t>1</a:t>
            </a:r>
            <a:endParaRPr lang="en-US" sz="1000" dirty="0"/>
          </a:p>
        </p:txBody>
      </p:sp>
      <p:sp>
        <p:nvSpPr>
          <p:cNvPr id="33" name="Text 31"/>
          <p:cNvSpPr/>
          <p:nvPr/>
        </p:nvSpPr>
        <p:spPr>
          <a:xfrm>
            <a:off x="6821424" y="3694176"/>
            <a:ext cx="4480560" cy="237744"/>
          </a:xfrm>
          <a:prstGeom prst="rect">
            <a:avLst/>
          </a:prstGeom>
          <a:noFill/>
          <a:ln/>
        </p:spPr>
        <p:txBody>
          <a:bodyPr wrap="square" lIns="0" tIns="0" rIns="0" bIns="0" rtlCol="0" anchor="ctr"/>
          <a:lstStyle/>
          <a:p>
            <a:pPr indent="0" marL="0">
              <a:buNone/>
            </a:pPr>
            <a:r>
              <a:rPr lang="en-US" sz="1300" b="1" dirty="0">
                <a:solidFill>
                  <a:srgbClr val="F4F7F5"/>
                </a:solidFill>
                <a:latin typeface="Calibri" pitchFamily="34" charset="0"/>
                <a:ea typeface="Calibri" pitchFamily="34" charset="-122"/>
                <a:cs typeface="Calibri" pitchFamily="34" charset="-120"/>
              </a:rPr>
              <a:t>Subscriptions you forgot</a:t>
            </a:r>
            <a:endParaRPr lang="en-US" sz="1300" dirty="0"/>
          </a:p>
        </p:txBody>
      </p:sp>
      <p:sp>
        <p:nvSpPr>
          <p:cNvPr id="34" name="Text 32"/>
          <p:cNvSpPr/>
          <p:nvPr/>
        </p:nvSpPr>
        <p:spPr>
          <a:xfrm>
            <a:off x="6821424" y="3922776"/>
            <a:ext cx="4480560" cy="237744"/>
          </a:xfrm>
          <a:prstGeom prst="rect">
            <a:avLst/>
          </a:prstGeom>
          <a:noFill/>
          <a:ln/>
        </p:spPr>
        <p:txBody>
          <a:bodyPr wrap="square" lIns="0" tIns="0" rIns="0" bIns="0" rtlCol="0" anchor="ctr"/>
          <a:lstStyle/>
          <a:p>
            <a:pPr indent="0" marL="0">
              <a:buNone/>
            </a:pPr>
            <a:r>
              <a:rPr lang="en-US" sz="1150" dirty="0">
                <a:solidFill>
                  <a:srgbClr val="9BA8A0"/>
                </a:solidFill>
                <a:latin typeface="Calibri" pitchFamily="34" charset="0"/>
                <a:ea typeface="Calibri" pitchFamily="34" charset="-122"/>
                <a:cs typeface="Calibri" pitchFamily="34" charset="-120"/>
              </a:rPr>
              <a:t>Find them, rank them, cancel them</a:t>
            </a:r>
            <a:endParaRPr lang="en-US" sz="1150" dirty="0"/>
          </a:p>
        </p:txBody>
      </p:sp>
      <p:sp>
        <p:nvSpPr>
          <p:cNvPr id="35" name="Shape 33"/>
          <p:cNvSpPr/>
          <p:nvPr/>
        </p:nvSpPr>
        <p:spPr>
          <a:xfrm>
            <a:off x="6473952" y="4224528"/>
            <a:ext cx="237744" cy="237744"/>
          </a:xfrm>
          <a:prstGeom prst="ellipse">
            <a:avLst/>
          </a:prstGeom>
          <a:solidFill>
            <a:srgbClr val="F5B43C"/>
          </a:solidFill>
          <a:ln/>
        </p:spPr>
      </p:sp>
      <p:sp>
        <p:nvSpPr>
          <p:cNvPr id="36" name="Text 34"/>
          <p:cNvSpPr/>
          <p:nvPr/>
        </p:nvSpPr>
        <p:spPr>
          <a:xfrm>
            <a:off x="6473952" y="4224528"/>
            <a:ext cx="237744" cy="237744"/>
          </a:xfrm>
          <a:prstGeom prst="rect">
            <a:avLst/>
          </a:prstGeom>
          <a:noFill/>
          <a:ln/>
        </p:spPr>
        <p:txBody>
          <a:bodyPr wrap="square" lIns="0" tIns="0" rIns="0" bIns="0" rtlCol="0" anchor="ctr"/>
          <a:lstStyle/>
          <a:p>
            <a:pPr algn="ctr" indent="0" marL="0">
              <a:buNone/>
            </a:pPr>
            <a:r>
              <a:rPr lang="en-US" sz="1000" b="1" dirty="0">
                <a:solidFill>
                  <a:srgbClr val="06140C"/>
                </a:solidFill>
                <a:latin typeface="Calibri" pitchFamily="34" charset="0"/>
                <a:ea typeface="Calibri" pitchFamily="34" charset="-122"/>
                <a:cs typeface="Calibri" pitchFamily="34" charset="-120"/>
              </a:rPr>
              <a:t>2</a:t>
            </a:r>
            <a:endParaRPr lang="en-US" sz="1000" dirty="0"/>
          </a:p>
        </p:txBody>
      </p:sp>
      <p:sp>
        <p:nvSpPr>
          <p:cNvPr id="37" name="Text 35"/>
          <p:cNvSpPr/>
          <p:nvPr/>
        </p:nvSpPr>
        <p:spPr>
          <a:xfrm>
            <a:off x="6821424" y="4169664"/>
            <a:ext cx="4480560" cy="237744"/>
          </a:xfrm>
          <a:prstGeom prst="rect">
            <a:avLst/>
          </a:prstGeom>
          <a:noFill/>
          <a:ln/>
        </p:spPr>
        <p:txBody>
          <a:bodyPr wrap="square" lIns="0" tIns="0" rIns="0" bIns="0" rtlCol="0" anchor="ctr"/>
          <a:lstStyle/>
          <a:p>
            <a:pPr indent="0" marL="0">
              <a:buNone/>
            </a:pPr>
            <a:r>
              <a:rPr lang="en-US" sz="1300" b="1" dirty="0">
                <a:solidFill>
                  <a:srgbClr val="F4F7F5"/>
                </a:solidFill>
                <a:latin typeface="Calibri" pitchFamily="34" charset="0"/>
                <a:ea typeface="Calibri" pitchFamily="34" charset="-122"/>
                <a:cs typeface="Calibri" pitchFamily="34" charset="-120"/>
              </a:rPr>
              <a:t>The wrong card</a:t>
            </a:r>
            <a:endParaRPr lang="en-US" sz="1300" dirty="0"/>
          </a:p>
        </p:txBody>
      </p:sp>
      <p:sp>
        <p:nvSpPr>
          <p:cNvPr id="38" name="Text 36"/>
          <p:cNvSpPr/>
          <p:nvPr/>
        </p:nvSpPr>
        <p:spPr>
          <a:xfrm>
            <a:off x="6821424" y="4398264"/>
            <a:ext cx="4480560" cy="237744"/>
          </a:xfrm>
          <a:prstGeom prst="rect">
            <a:avLst/>
          </a:prstGeom>
          <a:noFill/>
          <a:ln/>
        </p:spPr>
        <p:txBody>
          <a:bodyPr wrap="square" lIns="0" tIns="0" rIns="0" bIns="0" rtlCol="0" anchor="ctr"/>
          <a:lstStyle/>
          <a:p>
            <a:pPr indent="0" marL="0">
              <a:buNone/>
            </a:pPr>
            <a:r>
              <a:rPr lang="en-US" sz="1150" dirty="0">
                <a:solidFill>
                  <a:srgbClr val="9BA8A0"/>
                </a:solidFill>
                <a:latin typeface="Calibri" pitchFamily="34" charset="0"/>
                <a:ea typeface="Calibri" pitchFamily="34" charset="-122"/>
                <a:cs typeface="Calibri" pitchFamily="34" charset="-120"/>
              </a:rPr>
              <a:t>The right card for what you actually buy</a:t>
            </a:r>
            <a:endParaRPr lang="en-US" sz="1150" dirty="0"/>
          </a:p>
        </p:txBody>
      </p:sp>
      <p:sp>
        <p:nvSpPr>
          <p:cNvPr id="39" name="Shape 37"/>
          <p:cNvSpPr/>
          <p:nvPr/>
        </p:nvSpPr>
        <p:spPr>
          <a:xfrm>
            <a:off x="6473952" y="4700016"/>
            <a:ext cx="237744" cy="237744"/>
          </a:xfrm>
          <a:prstGeom prst="ellipse">
            <a:avLst/>
          </a:prstGeom>
          <a:solidFill>
            <a:srgbClr val="F5B43C"/>
          </a:solidFill>
          <a:ln/>
        </p:spPr>
      </p:sp>
      <p:sp>
        <p:nvSpPr>
          <p:cNvPr id="40" name="Text 38"/>
          <p:cNvSpPr/>
          <p:nvPr/>
        </p:nvSpPr>
        <p:spPr>
          <a:xfrm>
            <a:off x="6473952" y="4700016"/>
            <a:ext cx="237744" cy="237744"/>
          </a:xfrm>
          <a:prstGeom prst="rect">
            <a:avLst/>
          </a:prstGeom>
          <a:noFill/>
          <a:ln/>
        </p:spPr>
        <p:txBody>
          <a:bodyPr wrap="square" lIns="0" tIns="0" rIns="0" bIns="0" rtlCol="0" anchor="ctr"/>
          <a:lstStyle/>
          <a:p>
            <a:pPr algn="ctr" indent="0" marL="0">
              <a:buNone/>
            </a:pPr>
            <a:r>
              <a:rPr lang="en-US" sz="1000" b="1" dirty="0">
                <a:solidFill>
                  <a:srgbClr val="06140C"/>
                </a:solidFill>
                <a:latin typeface="Calibri" pitchFamily="34" charset="0"/>
                <a:ea typeface="Calibri" pitchFamily="34" charset="-122"/>
                <a:cs typeface="Calibri" pitchFamily="34" charset="-120"/>
              </a:rPr>
              <a:t>3</a:t>
            </a:r>
            <a:endParaRPr lang="en-US" sz="1000" dirty="0"/>
          </a:p>
        </p:txBody>
      </p:sp>
      <p:sp>
        <p:nvSpPr>
          <p:cNvPr id="41" name="Text 39"/>
          <p:cNvSpPr/>
          <p:nvPr/>
        </p:nvSpPr>
        <p:spPr>
          <a:xfrm>
            <a:off x="6821424" y="4645152"/>
            <a:ext cx="4480560" cy="237744"/>
          </a:xfrm>
          <a:prstGeom prst="rect">
            <a:avLst/>
          </a:prstGeom>
          <a:noFill/>
          <a:ln/>
        </p:spPr>
        <p:txBody>
          <a:bodyPr wrap="square" lIns="0" tIns="0" rIns="0" bIns="0" rtlCol="0" anchor="ctr"/>
          <a:lstStyle/>
          <a:p>
            <a:pPr indent="0" marL="0">
              <a:buNone/>
            </a:pPr>
            <a:r>
              <a:rPr lang="en-US" sz="1300" b="1" dirty="0">
                <a:solidFill>
                  <a:srgbClr val="F4F7F5"/>
                </a:solidFill>
                <a:latin typeface="Calibri" pitchFamily="34" charset="0"/>
                <a:ea typeface="Calibri" pitchFamily="34" charset="-122"/>
                <a:cs typeface="Calibri" pitchFamily="34" charset="-120"/>
              </a:rPr>
              <a:t>Fees and idle cash</a:t>
            </a:r>
            <a:endParaRPr lang="en-US" sz="1300" dirty="0"/>
          </a:p>
        </p:txBody>
      </p:sp>
      <p:sp>
        <p:nvSpPr>
          <p:cNvPr id="42" name="Text 40"/>
          <p:cNvSpPr/>
          <p:nvPr/>
        </p:nvSpPr>
        <p:spPr>
          <a:xfrm>
            <a:off x="6821424" y="4873752"/>
            <a:ext cx="4480560" cy="237744"/>
          </a:xfrm>
          <a:prstGeom prst="rect">
            <a:avLst/>
          </a:prstGeom>
          <a:noFill/>
          <a:ln/>
        </p:spPr>
        <p:txBody>
          <a:bodyPr wrap="square" lIns="0" tIns="0" rIns="0" bIns="0" rtlCol="0" anchor="ctr"/>
          <a:lstStyle/>
          <a:p>
            <a:pPr indent="0" marL="0">
              <a:buNone/>
            </a:pPr>
            <a:r>
              <a:rPr lang="en-US" sz="1150" dirty="0">
                <a:solidFill>
                  <a:srgbClr val="9BA8A0"/>
                </a:solidFill>
                <a:latin typeface="Calibri" pitchFamily="34" charset="0"/>
                <a:ea typeface="Calibri" pitchFamily="34" charset="-122"/>
                <a:cs typeface="Calibri" pitchFamily="34" charset="-120"/>
              </a:rPr>
              <a:t>Overdraft, FX, interest, money sitting flat</a:t>
            </a:r>
            <a:endParaRPr lang="en-US" sz="1150" dirty="0"/>
          </a:p>
        </p:txBody>
      </p:sp>
      <p:sp>
        <p:nvSpPr>
          <p:cNvPr id="43" name="Shape 41"/>
          <p:cNvSpPr/>
          <p:nvPr/>
        </p:nvSpPr>
        <p:spPr>
          <a:xfrm>
            <a:off x="6473952" y="5175504"/>
            <a:ext cx="237744" cy="237744"/>
          </a:xfrm>
          <a:prstGeom prst="ellipse">
            <a:avLst/>
          </a:prstGeom>
          <a:solidFill>
            <a:srgbClr val="F5B43C"/>
          </a:solidFill>
          <a:ln/>
        </p:spPr>
      </p:sp>
      <p:sp>
        <p:nvSpPr>
          <p:cNvPr id="44" name="Text 42"/>
          <p:cNvSpPr/>
          <p:nvPr/>
        </p:nvSpPr>
        <p:spPr>
          <a:xfrm>
            <a:off x="6473952" y="5175504"/>
            <a:ext cx="237744" cy="237744"/>
          </a:xfrm>
          <a:prstGeom prst="rect">
            <a:avLst/>
          </a:prstGeom>
          <a:noFill/>
          <a:ln/>
        </p:spPr>
        <p:txBody>
          <a:bodyPr wrap="square" lIns="0" tIns="0" rIns="0" bIns="0" rtlCol="0" anchor="ctr"/>
          <a:lstStyle/>
          <a:p>
            <a:pPr algn="ctr" indent="0" marL="0">
              <a:buNone/>
            </a:pPr>
            <a:r>
              <a:rPr lang="en-US" sz="1000" b="1" dirty="0">
                <a:solidFill>
                  <a:srgbClr val="06140C"/>
                </a:solidFill>
                <a:latin typeface="Calibri" pitchFamily="34" charset="0"/>
                <a:ea typeface="Calibri" pitchFamily="34" charset="-122"/>
                <a:cs typeface="Calibri" pitchFamily="34" charset="-120"/>
              </a:rPr>
              <a:t>4</a:t>
            </a:r>
            <a:endParaRPr lang="en-US" sz="1000" dirty="0"/>
          </a:p>
        </p:txBody>
      </p:sp>
      <p:sp>
        <p:nvSpPr>
          <p:cNvPr id="45" name="Text 43"/>
          <p:cNvSpPr/>
          <p:nvPr/>
        </p:nvSpPr>
        <p:spPr>
          <a:xfrm>
            <a:off x="6821424" y="5120640"/>
            <a:ext cx="4480560" cy="237744"/>
          </a:xfrm>
          <a:prstGeom prst="rect">
            <a:avLst/>
          </a:prstGeom>
          <a:noFill/>
          <a:ln/>
        </p:spPr>
        <p:txBody>
          <a:bodyPr wrap="square" lIns="0" tIns="0" rIns="0" bIns="0" rtlCol="0" anchor="ctr"/>
          <a:lstStyle/>
          <a:p>
            <a:pPr indent="0" marL="0">
              <a:buNone/>
            </a:pPr>
            <a:r>
              <a:rPr lang="en-US" sz="1300" b="1" dirty="0">
                <a:solidFill>
                  <a:srgbClr val="F4F7F5"/>
                </a:solidFill>
                <a:latin typeface="Calibri" pitchFamily="34" charset="0"/>
                <a:ea typeface="Calibri" pitchFamily="34" charset="-122"/>
                <a:cs typeface="Calibri" pitchFamily="34" charset="-120"/>
              </a:rPr>
              <a:t>Doing it for you</a:t>
            </a:r>
            <a:endParaRPr lang="en-US" sz="1300" dirty="0"/>
          </a:p>
        </p:txBody>
      </p:sp>
      <p:sp>
        <p:nvSpPr>
          <p:cNvPr id="46" name="Text 44"/>
          <p:cNvSpPr/>
          <p:nvPr/>
        </p:nvSpPr>
        <p:spPr>
          <a:xfrm>
            <a:off x="6821424" y="5349240"/>
            <a:ext cx="4480560" cy="237744"/>
          </a:xfrm>
          <a:prstGeom prst="rect">
            <a:avLst/>
          </a:prstGeom>
          <a:noFill/>
          <a:ln/>
        </p:spPr>
        <p:txBody>
          <a:bodyPr wrap="square" lIns="0" tIns="0" rIns="0" bIns="0" rtlCol="0" anchor="ctr"/>
          <a:lstStyle/>
          <a:p>
            <a:pPr indent="0" marL="0">
              <a:buNone/>
            </a:pPr>
            <a:r>
              <a:rPr lang="en-US" sz="1150" dirty="0">
                <a:solidFill>
                  <a:srgbClr val="9BA8A0"/>
                </a:solidFill>
                <a:latin typeface="Calibri" pitchFamily="34" charset="0"/>
                <a:ea typeface="Calibri" pitchFamily="34" charset="-122"/>
                <a:cs typeface="Calibri" pitchFamily="34" charset="-120"/>
              </a:rPr>
              <a:t>Move the money, don't just suggest it</a:t>
            </a:r>
            <a:endParaRPr lang="en-US" sz="1150" dirty="0"/>
          </a:p>
        </p:txBody>
      </p:sp>
      <p:sp>
        <p:nvSpPr>
          <p:cNvPr id="47" name="Shape 45"/>
          <p:cNvSpPr/>
          <p:nvPr/>
        </p:nvSpPr>
        <p:spPr>
          <a:xfrm>
            <a:off x="640080" y="5833872"/>
            <a:ext cx="10908792" cy="566928"/>
          </a:xfrm>
          <a:prstGeom prst="roundRect">
            <a:avLst>
              <a:gd name="adj" fmla="val 19355"/>
            </a:avLst>
          </a:prstGeom>
          <a:solidFill>
            <a:srgbClr val="161D19"/>
          </a:solidFill>
          <a:ln w="12700">
            <a:solidFill>
              <a:srgbClr val="2A352F"/>
            </a:solidFill>
            <a:prstDash val="solid"/>
          </a:ln>
        </p:spPr>
      </p:sp>
      <p:sp>
        <p:nvSpPr>
          <p:cNvPr id="48" name="Text 46"/>
          <p:cNvSpPr/>
          <p:nvPr/>
        </p:nvSpPr>
        <p:spPr>
          <a:xfrm>
            <a:off x="868680" y="5833872"/>
            <a:ext cx="10469880" cy="566928"/>
          </a:xfrm>
          <a:prstGeom prst="rect">
            <a:avLst/>
          </a:prstGeom>
          <a:noFill/>
          <a:ln/>
        </p:spPr>
        <p:txBody>
          <a:bodyPr wrap="square" lIns="0" tIns="0" rIns="0" bIns="0" rtlCol="0" anchor="ctr"/>
          <a:lstStyle/>
          <a:p>
            <a:pPr indent="0" marL="0">
              <a:lnSpc>
                <a:spcPct val="110000"/>
              </a:lnSpc>
              <a:buNone/>
            </a:pPr>
            <a:r>
              <a:rPr lang="en-US" sz="1250" dirty="0">
                <a:solidFill>
                  <a:srgbClr val="F4F7F5"/>
                </a:solidFill>
                <a:latin typeface="Calibri" pitchFamily="34" charset="0"/>
                <a:ea typeface="Calibri" pitchFamily="34" charset="-122"/>
                <a:cs typeface="Calibri" pitchFamily="34" charset="-120"/>
              </a:rPr>
              <a:t>The right-hand column isn't a second product — it runs on the same engine. A dollar you stop losing is scored exactly like a dollar you earn, and it's worth more, because it carries no risk and no tax.</a:t>
            </a:r>
            <a:endParaRPr lang="en-US" sz="1250" dirty="0"/>
          </a:p>
        </p:txBody>
      </p:sp>
      <p:sp>
        <p:nvSpPr>
          <p:cNvPr id="50" name="Text 47"/>
          <p:cNvSpPr/>
          <p:nvPr/>
        </p:nvSpPr>
        <p:spPr>
          <a:xfrm>
            <a:off x="9692640" y="6528816"/>
            <a:ext cx="1188720" cy="237744"/>
          </a:xfrm>
          <a:prstGeom prst="rect">
            <a:avLst/>
          </a:prstGeom>
          <a:noFill/>
          <a:ln/>
        </p:spPr>
        <p:txBody>
          <a:bodyPr wrap="square" lIns="0" tIns="0" rIns="0" bIns="0" rtlCol="0" anchor="ctr"/>
          <a:lstStyle/>
          <a:p>
            <a:pPr algn="r" indent="0" marL="0">
              <a:buNone/>
            </a:pPr>
            <a:r>
              <a:rPr lang="en-US" sz="850" b="1" spc="140" kern="0" dirty="0">
                <a:solidFill>
                  <a:srgbClr val="67726B"/>
                </a:solidFill>
                <a:latin typeface="Calibri" pitchFamily="34" charset="0"/>
                <a:ea typeface="Calibri" pitchFamily="34" charset="-122"/>
                <a:cs typeface="Calibri" pitchFamily="34" charset="-120"/>
              </a:rPr>
              <a:t>POLYPROFIT</a:t>
            </a:r>
            <a:endParaRPr lang="en-US" sz="850" dirty="0"/>
          </a:p>
        </p:txBody>
      </p:sp>
      <p:sp>
        <p:nvSpPr>
          <p:cNvPr id="51" name="Text 48"/>
          <p:cNvSpPr/>
          <p:nvPr/>
        </p:nvSpPr>
        <p:spPr>
          <a:xfrm>
            <a:off x="11018520" y="6528816"/>
            <a:ext cx="530352" cy="237744"/>
          </a:xfrm>
          <a:prstGeom prst="rect">
            <a:avLst/>
          </a:prstGeom>
          <a:noFill/>
          <a:ln/>
        </p:spPr>
        <p:txBody>
          <a:bodyPr wrap="square" lIns="0" tIns="0" rIns="0" bIns="0" rtlCol="0" anchor="ctr"/>
          <a:lstStyle/>
          <a:p>
            <a:pPr algn="r" indent="0" marL="0">
              <a:buNone/>
            </a:pPr>
            <a:r>
              <a:rPr lang="en-US" sz="850" b="1" dirty="0">
                <a:solidFill>
                  <a:srgbClr val="22C55E"/>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B09"/>
        </a:solidFill>
      </p:bgPr>
    </p:bg>
    <p:spTree>
      <p:nvGrpSpPr>
        <p:cNvPr id="1" name=""/>
        <p:cNvGrpSpPr/>
        <p:nvPr/>
      </p:nvGrpSpPr>
      <p:grpSpPr>
        <a:xfrm>
          <a:off x="0" y="0"/>
          <a:ext cx="0" cy="0"/>
          <a:chOff x="0" y="0"/>
          <a:chExt cx="0" cy="0"/>
        </a:xfrm>
      </p:grpSpPr>
      <p:sp>
        <p:nvSpPr>
          <p:cNvPr id="2" name="Shape 0"/>
          <p:cNvSpPr/>
          <p:nvPr/>
        </p:nvSpPr>
        <p:spPr>
          <a:xfrm>
            <a:off x="8046720" y="-1828800"/>
            <a:ext cx="6035040" cy="6035040"/>
          </a:xfrm>
          <a:prstGeom prst="ellipse">
            <a:avLst/>
          </a:prstGeom>
          <a:solidFill>
            <a:srgbClr val="22C55E">
              <a:alpha val="6000"/>
            </a:srgbClr>
          </a:solidFill>
          <a:ln/>
        </p:spPr>
      </p:sp>
      <p:sp>
        <p:nvSpPr>
          <p:cNvPr id="3" name="Text 1"/>
          <p:cNvSpPr/>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22C55E"/>
                </a:solidFill>
                <a:latin typeface="Calibri" pitchFamily="34" charset="0"/>
                <a:ea typeface="Calibri" pitchFamily="34" charset="-122"/>
                <a:cs typeface="Calibri" pitchFamily="34" charset="-120"/>
              </a:rPr>
              <a:t>03  ·  THE PRODUCT</a:t>
            </a:r>
            <a:endParaRPr lang="en-US" sz="1100" dirty="0"/>
          </a:p>
        </p:txBody>
      </p:sp>
      <p:sp>
        <p:nvSpPr>
          <p:cNvPr id="4" name="Text 2"/>
          <p:cNvSpPr/>
          <p:nvPr/>
        </p:nvSpPr>
        <p:spPr>
          <a:xfrm>
            <a:off x="640080" y="777240"/>
            <a:ext cx="10881360" cy="685800"/>
          </a:xfrm>
          <a:prstGeom prst="rect">
            <a:avLst/>
          </a:prstGeom>
          <a:noFill/>
          <a:ln/>
        </p:spPr>
        <p:txBody>
          <a:bodyPr wrap="square" lIns="0" tIns="0" rIns="0" bIns="0" rtlCol="0" anchor="t"/>
          <a:lstStyle/>
          <a:p>
            <a:pPr indent="0" marL="0">
              <a:lnSpc>
                <a:spcPct val="105000"/>
              </a:lnSpc>
              <a:buNone/>
            </a:pPr>
            <a:r>
              <a:rPr lang="en-US" sz="3300" b="1" dirty="0">
                <a:solidFill>
                  <a:srgbClr val="F4F7F5"/>
                </a:solidFill>
                <a:latin typeface="Calibri" pitchFamily="34" charset="0"/>
                <a:ea typeface="Calibri" pitchFamily="34" charset="-122"/>
                <a:cs typeface="Calibri" pitchFamily="34" charset="-120"/>
              </a:rPr>
              <a:t>A goal in. An honest ranked answer out.</a:t>
            </a:r>
            <a:endParaRPr lang="en-US" sz="3300" dirty="0"/>
          </a:p>
        </p:txBody>
      </p:sp>
      <p:sp>
        <p:nvSpPr>
          <p:cNvPr id="5" name="Text 3"/>
          <p:cNvSpPr/>
          <p:nvPr/>
        </p:nvSpPr>
        <p:spPr>
          <a:xfrm>
            <a:off x="640080" y="1536192"/>
            <a:ext cx="9692640" cy="384048"/>
          </a:xfrm>
          <a:prstGeom prst="rect">
            <a:avLst/>
          </a:prstGeom>
          <a:noFill/>
          <a:ln/>
        </p:spPr>
        <p:txBody>
          <a:bodyPr wrap="square" lIns="0" tIns="0" rIns="0" bIns="0" rtlCol="0" anchor="t"/>
          <a:lstStyle/>
          <a:p>
            <a:pPr indent="0" marL="0">
              <a:lnSpc>
                <a:spcPct val="115000"/>
              </a:lnSpc>
              <a:buNone/>
            </a:pPr>
            <a:r>
              <a:rPr lang="en-US" sz="1350" dirty="0">
                <a:solidFill>
                  <a:srgbClr val="9BA8A0"/>
                </a:solidFill>
                <a:latin typeface="Calibri" pitchFamily="34" charset="0"/>
                <a:ea typeface="Calibri" pitchFamily="34" charset="-122"/>
                <a:cs typeface="Calibri" pitchFamily="34" charset="-120"/>
              </a:rPr>
              <a:t>Built, live, and charging money today. Not a prototype, not a waitlist.</a:t>
            </a:r>
            <a:endParaRPr lang="en-US" sz="1350" dirty="0"/>
          </a:p>
        </p:txBody>
      </p:sp>
      <p:sp>
        <p:nvSpPr>
          <p:cNvPr id="6" name="Shape 4"/>
          <p:cNvSpPr/>
          <p:nvPr/>
        </p:nvSpPr>
        <p:spPr>
          <a:xfrm>
            <a:off x="640080" y="2084832"/>
            <a:ext cx="3502152" cy="3858768"/>
          </a:xfrm>
          <a:prstGeom prst="roundRect">
            <a:avLst>
              <a:gd name="adj" fmla="val 3133"/>
            </a:avLst>
          </a:prstGeom>
          <a:solidFill>
            <a:srgbClr val="101613"/>
          </a:solidFill>
          <a:ln w="12700">
            <a:solidFill>
              <a:srgbClr val="1C2420"/>
            </a:solidFill>
            <a:prstDash val="solid"/>
          </a:ln>
        </p:spPr>
      </p:sp>
      <p:sp>
        <p:nvSpPr>
          <p:cNvPr id="7" name="Shape 5"/>
          <p:cNvSpPr/>
          <p:nvPr/>
        </p:nvSpPr>
        <p:spPr>
          <a:xfrm>
            <a:off x="914400" y="2304288"/>
            <a:ext cx="365760" cy="365760"/>
          </a:xfrm>
          <a:prstGeom prst="ellipse">
            <a:avLst/>
          </a:prstGeom>
          <a:solidFill>
            <a:srgbClr val="22C55E"/>
          </a:solidFill>
          <a:ln/>
        </p:spPr>
      </p:sp>
      <p:sp>
        <p:nvSpPr>
          <p:cNvPr id="8" name="Text 6"/>
          <p:cNvSpPr/>
          <p:nvPr/>
        </p:nvSpPr>
        <p:spPr>
          <a:xfrm>
            <a:off x="914400" y="2304288"/>
            <a:ext cx="365760" cy="365760"/>
          </a:xfrm>
          <a:prstGeom prst="rect">
            <a:avLst/>
          </a:prstGeom>
          <a:noFill/>
          <a:ln/>
        </p:spPr>
        <p:txBody>
          <a:bodyPr wrap="square" lIns="0" tIns="0" rIns="0" bIns="0" rtlCol="0" anchor="ctr"/>
          <a:lstStyle/>
          <a:p>
            <a:pPr algn="ctr" indent="0" marL="0">
              <a:buNone/>
            </a:pPr>
            <a:r>
              <a:rPr lang="en-US" sz="1300" b="1" dirty="0">
                <a:solidFill>
                  <a:srgbClr val="06140C"/>
                </a:solidFill>
                <a:latin typeface="Calibri" pitchFamily="34" charset="0"/>
                <a:ea typeface="Calibri" pitchFamily="34" charset="-122"/>
                <a:cs typeface="Calibri" pitchFamily="34" charset="-120"/>
              </a:rPr>
              <a:t>01</a:t>
            </a:r>
            <a:endParaRPr lang="en-US" sz="1300" dirty="0"/>
          </a:p>
        </p:txBody>
      </p:sp>
      <p:sp>
        <p:nvSpPr>
          <p:cNvPr id="9" name="Text 7"/>
          <p:cNvSpPr/>
          <p:nvPr/>
        </p:nvSpPr>
        <p:spPr>
          <a:xfrm>
            <a:off x="1389888" y="2304288"/>
            <a:ext cx="2651760" cy="365760"/>
          </a:xfrm>
          <a:prstGeom prst="rect">
            <a:avLst/>
          </a:prstGeom>
          <a:noFill/>
          <a:ln/>
        </p:spPr>
        <p:txBody>
          <a:bodyPr wrap="square" lIns="0" tIns="0" rIns="0" bIns="0" rtlCol="0" anchor="ctr"/>
          <a:lstStyle/>
          <a:p>
            <a:pPr indent="0" marL="0">
              <a:buNone/>
            </a:pPr>
            <a:r>
              <a:rPr lang="en-US" sz="1700" b="1" dirty="0">
                <a:solidFill>
                  <a:srgbClr val="F4F7F5"/>
                </a:solidFill>
                <a:latin typeface="Calibri" pitchFamily="34" charset="0"/>
                <a:ea typeface="Calibri" pitchFamily="34" charset="-122"/>
                <a:cs typeface="Calibri" pitchFamily="34" charset="-120"/>
              </a:rPr>
              <a:t>Tell us the goal</a:t>
            </a:r>
            <a:endParaRPr lang="en-US" sz="1700" dirty="0"/>
          </a:p>
        </p:txBody>
      </p:sp>
      <p:sp>
        <p:nvSpPr>
          <p:cNvPr id="10" name="Text 8"/>
          <p:cNvSpPr/>
          <p:nvPr/>
        </p:nvSpPr>
        <p:spPr>
          <a:xfrm>
            <a:off x="914400" y="2779776"/>
            <a:ext cx="2953512" cy="1097280"/>
          </a:xfrm>
          <a:prstGeom prst="rect">
            <a:avLst/>
          </a:prstGeom>
          <a:noFill/>
          <a:ln/>
        </p:spPr>
        <p:txBody>
          <a:bodyPr wrap="square" lIns="0" tIns="0" rIns="0" bIns="0" rtlCol="0" anchor="t"/>
          <a:lstStyle/>
          <a:p>
            <a:pPr indent="0" marL="0">
              <a:lnSpc>
                <a:spcPct val="120000"/>
              </a:lnSpc>
              <a:buNone/>
            </a:pPr>
            <a:r>
              <a:rPr lang="en-US" sz="1200" dirty="0">
                <a:solidFill>
                  <a:srgbClr val="9BA8A0"/>
                </a:solidFill>
                <a:latin typeface="Calibri" pitchFamily="34" charset="0"/>
                <a:ea typeface="Calibri" pitchFamily="34" charset="-122"/>
                <a:cs typeface="Calibri" pitchFamily="34" charset="-120"/>
              </a:rPr>
              <a:t>How much, by when, how much you have, and how much risk you'll genuinely tolerate. Four numbers — no personality quiz standing in for them.</a:t>
            </a:r>
            <a:endParaRPr lang="en-US" sz="1200" dirty="0"/>
          </a:p>
        </p:txBody>
      </p:sp>
      <p:sp>
        <p:nvSpPr>
          <p:cNvPr id="11" name="Shape 9"/>
          <p:cNvSpPr/>
          <p:nvPr/>
        </p:nvSpPr>
        <p:spPr>
          <a:xfrm>
            <a:off x="1417320" y="3913632"/>
            <a:ext cx="1947672" cy="1773936"/>
          </a:xfrm>
          <a:prstGeom prst="roundRect">
            <a:avLst>
              <a:gd name="adj" fmla="val 3093"/>
            </a:avLst>
          </a:prstGeom>
          <a:solidFill>
            <a:srgbClr val="161D19"/>
          </a:solidFill>
          <a:ln w="15875">
            <a:solidFill>
              <a:srgbClr val="2A352F"/>
            </a:solidFill>
            <a:prstDash val="solid"/>
          </a:ln>
        </p:spPr>
      </p:sp>
      <p:sp>
        <p:nvSpPr>
          <p:cNvPr id="12" name="Shape 10"/>
          <p:cNvSpPr/>
          <p:nvPr/>
        </p:nvSpPr>
        <p:spPr>
          <a:xfrm>
            <a:off x="1508760" y="4005072"/>
            <a:ext cx="1764792" cy="1591056"/>
          </a:xfrm>
          <a:prstGeom prst="roundRect">
            <a:avLst>
              <a:gd name="adj" fmla="val 2874"/>
            </a:avLst>
          </a:prstGeom>
          <a:solidFill>
            <a:srgbClr val="0B100D"/>
          </a:solidFill>
          <a:ln w="12700">
            <a:solidFill>
              <a:srgbClr val="1C2420"/>
            </a:solidFill>
            <a:prstDash val="solid"/>
          </a:ln>
        </p:spPr>
      </p:sp>
      <p:sp>
        <p:nvSpPr>
          <p:cNvPr id="13" name="Text 11"/>
          <p:cNvSpPr/>
          <p:nvPr/>
        </p:nvSpPr>
        <p:spPr>
          <a:xfrm>
            <a:off x="1508760" y="4471416"/>
            <a:ext cx="1764792" cy="274320"/>
          </a:xfrm>
          <a:prstGeom prst="rect">
            <a:avLst/>
          </a:prstGeom>
          <a:noFill/>
          <a:ln/>
        </p:spPr>
        <p:txBody>
          <a:bodyPr wrap="square" lIns="0" tIns="0" rIns="0" bIns="0" rtlCol="0" anchor="ctr"/>
          <a:lstStyle/>
          <a:p>
            <a:pPr algn="ctr" indent="0" marL="0">
              <a:buNone/>
            </a:pPr>
            <a:r>
              <a:rPr lang="en-US" sz="1000" b="1" spc="120" kern="0" dirty="0">
                <a:solidFill>
                  <a:srgbClr val="67726B"/>
                </a:solidFill>
                <a:latin typeface="Calibri" pitchFamily="34" charset="0"/>
                <a:ea typeface="Calibri" pitchFamily="34" charset="-122"/>
                <a:cs typeface="Calibri" pitchFamily="34" charset="-120"/>
              </a:rPr>
              <a:t>DROP SCREENSHOT</a:t>
            </a:r>
            <a:endParaRPr lang="en-US" sz="1000" dirty="0"/>
          </a:p>
        </p:txBody>
      </p:sp>
      <p:sp>
        <p:nvSpPr>
          <p:cNvPr id="14" name="Text 12"/>
          <p:cNvSpPr/>
          <p:nvPr/>
        </p:nvSpPr>
        <p:spPr>
          <a:xfrm>
            <a:off x="1554480" y="4764024"/>
            <a:ext cx="1673352" cy="457200"/>
          </a:xfrm>
          <a:prstGeom prst="rect">
            <a:avLst/>
          </a:prstGeom>
          <a:noFill/>
          <a:ln/>
        </p:spPr>
        <p:txBody>
          <a:bodyPr wrap="square" lIns="0" tIns="0" rIns="0" bIns="0" rtlCol="0" anchor="t"/>
          <a:lstStyle/>
          <a:p>
            <a:pPr algn="ctr" indent="0" marL="0">
              <a:lnSpc>
                <a:spcPct val="110000"/>
              </a:lnSpc>
              <a:buNone/>
            </a:pPr>
            <a:r>
              <a:rPr lang="en-US" sz="1050" dirty="0">
                <a:solidFill>
                  <a:srgbClr val="9BA8A0"/>
                </a:solidFill>
                <a:latin typeface="Calibri" pitchFamily="34" charset="0"/>
                <a:ea typeface="Calibri" pitchFamily="34" charset="-122"/>
                <a:cs typeface="Calibri" pitchFamily="34" charset="-120"/>
              </a:rPr>
              <a:t>Goal setup</a:t>
            </a:r>
            <a:endParaRPr lang="en-US" sz="1050" dirty="0"/>
          </a:p>
        </p:txBody>
      </p:sp>
      <p:sp>
        <p:nvSpPr>
          <p:cNvPr id="15" name="Shape 13"/>
          <p:cNvSpPr/>
          <p:nvPr/>
        </p:nvSpPr>
        <p:spPr>
          <a:xfrm>
            <a:off x="4343400" y="2084832"/>
            <a:ext cx="3502152" cy="3858768"/>
          </a:xfrm>
          <a:prstGeom prst="roundRect">
            <a:avLst>
              <a:gd name="adj" fmla="val 3133"/>
            </a:avLst>
          </a:prstGeom>
          <a:solidFill>
            <a:srgbClr val="101613"/>
          </a:solidFill>
          <a:ln w="12700">
            <a:solidFill>
              <a:srgbClr val="1C2420"/>
            </a:solidFill>
            <a:prstDash val="solid"/>
          </a:ln>
        </p:spPr>
      </p:sp>
      <p:sp>
        <p:nvSpPr>
          <p:cNvPr id="16" name="Shape 14"/>
          <p:cNvSpPr/>
          <p:nvPr/>
        </p:nvSpPr>
        <p:spPr>
          <a:xfrm>
            <a:off x="4617720" y="2304288"/>
            <a:ext cx="365760" cy="365760"/>
          </a:xfrm>
          <a:prstGeom prst="ellipse">
            <a:avLst/>
          </a:prstGeom>
          <a:solidFill>
            <a:srgbClr val="22C55E"/>
          </a:solidFill>
          <a:ln/>
        </p:spPr>
      </p:sp>
      <p:sp>
        <p:nvSpPr>
          <p:cNvPr id="17" name="Text 15"/>
          <p:cNvSpPr/>
          <p:nvPr/>
        </p:nvSpPr>
        <p:spPr>
          <a:xfrm>
            <a:off x="4617720" y="2304288"/>
            <a:ext cx="365760" cy="365760"/>
          </a:xfrm>
          <a:prstGeom prst="rect">
            <a:avLst/>
          </a:prstGeom>
          <a:noFill/>
          <a:ln/>
        </p:spPr>
        <p:txBody>
          <a:bodyPr wrap="square" lIns="0" tIns="0" rIns="0" bIns="0" rtlCol="0" anchor="ctr"/>
          <a:lstStyle/>
          <a:p>
            <a:pPr algn="ctr" indent="0" marL="0">
              <a:buNone/>
            </a:pPr>
            <a:r>
              <a:rPr lang="en-US" sz="1300" b="1" dirty="0">
                <a:solidFill>
                  <a:srgbClr val="06140C"/>
                </a:solidFill>
                <a:latin typeface="Calibri" pitchFamily="34" charset="0"/>
                <a:ea typeface="Calibri" pitchFamily="34" charset="-122"/>
                <a:cs typeface="Calibri" pitchFamily="34" charset="-120"/>
              </a:rPr>
              <a:t>02</a:t>
            </a:r>
            <a:endParaRPr lang="en-US" sz="1300" dirty="0"/>
          </a:p>
        </p:txBody>
      </p:sp>
      <p:sp>
        <p:nvSpPr>
          <p:cNvPr id="18" name="Text 16"/>
          <p:cNvSpPr/>
          <p:nvPr/>
        </p:nvSpPr>
        <p:spPr>
          <a:xfrm>
            <a:off x="5093208" y="2304288"/>
            <a:ext cx="2651760" cy="365760"/>
          </a:xfrm>
          <a:prstGeom prst="rect">
            <a:avLst/>
          </a:prstGeom>
          <a:noFill/>
          <a:ln/>
        </p:spPr>
        <p:txBody>
          <a:bodyPr wrap="square" lIns="0" tIns="0" rIns="0" bIns="0" rtlCol="0" anchor="ctr"/>
          <a:lstStyle/>
          <a:p>
            <a:pPr indent="0" marL="0">
              <a:buNone/>
            </a:pPr>
            <a:r>
              <a:rPr lang="en-US" sz="1700" b="1" dirty="0">
                <a:solidFill>
                  <a:srgbClr val="F4F7F5"/>
                </a:solidFill>
                <a:latin typeface="Calibri" pitchFamily="34" charset="0"/>
                <a:ea typeface="Calibri" pitchFamily="34" charset="-122"/>
                <a:cs typeface="Calibri" pitchFamily="34" charset="-120"/>
              </a:rPr>
              <a:t>See every route ranked</a:t>
            </a:r>
            <a:endParaRPr lang="en-US" sz="1700" dirty="0"/>
          </a:p>
        </p:txBody>
      </p:sp>
      <p:sp>
        <p:nvSpPr>
          <p:cNvPr id="19" name="Text 17"/>
          <p:cNvSpPr/>
          <p:nvPr/>
        </p:nvSpPr>
        <p:spPr>
          <a:xfrm>
            <a:off x="4617720" y="2779776"/>
            <a:ext cx="2953512" cy="1097280"/>
          </a:xfrm>
          <a:prstGeom prst="rect">
            <a:avLst/>
          </a:prstGeom>
          <a:noFill/>
          <a:ln/>
        </p:spPr>
        <p:txBody>
          <a:bodyPr wrap="square" lIns="0" tIns="0" rIns="0" bIns="0" rtlCol="0" anchor="t"/>
          <a:lstStyle/>
          <a:p>
            <a:pPr indent="0" marL="0">
              <a:lnSpc>
                <a:spcPct val="120000"/>
              </a:lnSpc>
              <a:buNone/>
            </a:pPr>
            <a:r>
              <a:rPr lang="en-US" sz="1200" dirty="0">
                <a:solidFill>
                  <a:srgbClr val="9BA8A0"/>
                </a:solidFill>
                <a:latin typeface="Calibri" pitchFamily="34" charset="0"/>
                <a:ea typeface="Calibri" pitchFamily="34" charset="-122"/>
                <a:cs typeface="Calibri" pitchFamily="34" charset="-120"/>
              </a:rPr>
              <a:t>Savings, Treasuries, ETFs and live prediction markets, all scored against that one goal and sorted safest-first by default.</a:t>
            </a:r>
            <a:endParaRPr lang="en-US" sz="1200" dirty="0"/>
          </a:p>
        </p:txBody>
      </p:sp>
      <p:sp>
        <p:nvSpPr>
          <p:cNvPr id="20" name="Shape 18"/>
          <p:cNvSpPr/>
          <p:nvPr/>
        </p:nvSpPr>
        <p:spPr>
          <a:xfrm>
            <a:off x="5120640" y="3913632"/>
            <a:ext cx="1947672" cy="1773936"/>
          </a:xfrm>
          <a:prstGeom prst="roundRect">
            <a:avLst>
              <a:gd name="adj" fmla="val 3093"/>
            </a:avLst>
          </a:prstGeom>
          <a:solidFill>
            <a:srgbClr val="161D19"/>
          </a:solidFill>
          <a:ln w="15875">
            <a:solidFill>
              <a:srgbClr val="2A352F"/>
            </a:solidFill>
            <a:prstDash val="solid"/>
          </a:ln>
        </p:spPr>
      </p:sp>
      <p:sp>
        <p:nvSpPr>
          <p:cNvPr id="21" name="Shape 19"/>
          <p:cNvSpPr/>
          <p:nvPr/>
        </p:nvSpPr>
        <p:spPr>
          <a:xfrm>
            <a:off x="5212080" y="4005072"/>
            <a:ext cx="1764792" cy="1591056"/>
          </a:xfrm>
          <a:prstGeom prst="roundRect">
            <a:avLst>
              <a:gd name="adj" fmla="val 2874"/>
            </a:avLst>
          </a:prstGeom>
          <a:solidFill>
            <a:srgbClr val="0B100D"/>
          </a:solidFill>
          <a:ln w="12700">
            <a:solidFill>
              <a:srgbClr val="1C2420"/>
            </a:solidFill>
            <a:prstDash val="solid"/>
          </a:ln>
        </p:spPr>
      </p:sp>
      <p:sp>
        <p:nvSpPr>
          <p:cNvPr id="22" name="Text 20"/>
          <p:cNvSpPr/>
          <p:nvPr/>
        </p:nvSpPr>
        <p:spPr>
          <a:xfrm>
            <a:off x="5212080" y="4471416"/>
            <a:ext cx="1764792" cy="274320"/>
          </a:xfrm>
          <a:prstGeom prst="rect">
            <a:avLst/>
          </a:prstGeom>
          <a:noFill/>
          <a:ln/>
        </p:spPr>
        <p:txBody>
          <a:bodyPr wrap="square" lIns="0" tIns="0" rIns="0" bIns="0" rtlCol="0" anchor="ctr"/>
          <a:lstStyle/>
          <a:p>
            <a:pPr algn="ctr" indent="0" marL="0">
              <a:buNone/>
            </a:pPr>
            <a:r>
              <a:rPr lang="en-US" sz="1000" b="1" spc="120" kern="0" dirty="0">
                <a:solidFill>
                  <a:srgbClr val="67726B"/>
                </a:solidFill>
                <a:latin typeface="Calibri" pitchFamily="34" charset="0"/>
                <a:ea typeface="Calibri" pitchFamily="34" charset="-122"/>
                <a:cs typeface="Calibri" pitchFamily="34" charset="-120"/>
              </a:rPr>
              <a:t>DROP SCREENSHOT</a:t>
            </a:r>
            <a:endParaRPr lang="en-US" sz="1000" dirty="0"/>
          </a:p>
        </p:txBody>
      </p:sp>
      <p:sp>
        <p:nvSpPr>
          <p:cNvPr id="23" name="Text 21"/>
          <p:cNvSpPr/>
          <p:nvPr/>
        </p:nvSpPr>
        <p:spPr>
          <a:xfrm>
            <a:off x="5257800" y="4764024"/>
            <a:ext cx="1673352" cy="457200"/>
          </a:xfrm>
          <a:prstGeom prst="rect">
            <a:avLst/>
          </a:prstGeom>
          <a:noFill/>
          <a:ln/>
        </p:spPr>
        <p:txBody>
          <a:bodyPr wrap="square" lIns="0" tIns="0" rIns="0" bIns="0" rtlCol="0" anchor="t"/>
          <a:lstStyle/>
          <a:p>
            <a:pPr algn="ctr" indent="0" marL="0">
              <a:lnSpc>
                <a:spcPct val="110000"/>
              </a:lnSpc>
              <a:buNone/>
            </a:pPr>
            <a:r>
              <a:rPr lang="en-US" sz="1050" dirty="0">
                <a:solidFill>
                  <a:srgbClr val="9BA8A0"/>
                </a:solidFill>
                <a:latin typeface="Calibri" pitchFamily="34" charset="0"/>
                <a:ea typeface="Calibri" pitchFamily="34" charset="-122"/>
                <a:cs typeface="Calibri" pitchFamily="34" charset="-120"/>
              </a:rPr>
              <a:t>The ranked list</a:t>
            </a:r>
            <a:endParaRPr lang="en-US" sz="1050" dirty="0"/>
          </a:p>
        </p:txBody>
      </p:sp>
      <p:sp>
        <p:nvSpPr>
          <p:cNvPr id="24" name="Shape 22"/>
          <p:cNvSpPr/>
          <p:nvPr/>
        </p:nvSpPr>
        <p:spPr>
          <a:xfrm>
            <a:off x="8046720" y="2084832"/>
            <a:ext cx="3502152" cy="3858768"/>
          </a:xfrm>
          <a:prstGeom prst="roundRect">
            <a:avLst>
              <a:gd name="adj" fmla="val 3133"/>
            </a:avLst>
          </a:prstGeom>
          <a:solidFill>
            <a:srgbClr val="101613"/>
          </a:solidFill>
          <a:ln w="12700">
            <a:solidFill>
              <a:srgbClr val="1C2420"/>
            </a:solidFill>
            <a:prstDash val="solid"/>
          </a:ln>
        </p:spPr>
      </p:sp>
      <p:sp>
        <p:nvSpPr>
          <p:cNvPr id="25" name="Shape 23"/>
          <p:cNvSpPr/>
          <p:nvPr/>
        </p:nvSpPr>
        <p:spPr>
          <a:xfrm>
            <a:off x="8321040" y="2304288"/>
            <a:ext cx="365760" cy="365760"/>
          </a:xfrm>
          <a:prstGeom prst="ellipse">
            <a:avLst/>
          </a:prstGeom>
          <a:solidFill>
            <a:srgbClr val="22C55E"/>
          </a:solidFill>
          <a:ln/>
        </p:spPr>
      </p:sp>
      <p:sp>
        <p:nvSpPr>
          <p:cNvPr id="26" name="Text 24"/>
          <p:cNvSpPr/>
          <p:nvPr/>
        </p:nvSpPr>
        <p:spPr>
          <a:xfrm>
            <a:off x="8321040" y="2304288"/>
            <a:ext cx="365760" cy="365760"/>
          </a:xfrm>
          <a:prstGeom prst="rect">
            <a:avLst/>
          </a:prstGeom>
          <a:noFill/>
          <a:ln/>
        </p:spPr>
        <p:txBody>
          <a:bodyPr wrap="square" lIns="0" tIns="0" rIns="0" bIns="0" rtlCol="0" anchor="ctr"/>
          <a:lstStyle/>
          <a:p>
            <a:pPr algn="ctr" indent="0" marL="0">
              <a:buNone/>
            </a:pPr>
            <a:r>
              <a:rPr lang="en-US" sz="1300" b="1" dirty="0">
                <a:solidFill>
                  <a:srgbClr val="06140C"/>
                </a:solidFill>
                <a:latin typeface="Calibri" pitchFamily="34" charset="0"/>
                <a:ea typeface="Calibri" pitchFamily="34" charset="-122"/>
                <a:cs typeface="Calibri" pitchFamily="34" charset="-120"/>
              </a:rPr>
              <a:t>03</a:t>
            </a:r>
            <a:endParaRPr lang="en-US" sz="1300" dirty="0"/>
          </a:p>
        </p:txBody>
      </p:sp>
      <p:sp>
        <p:nvSpPr>
          <p:cNvPr id="27" name="Text 25"/>
          <p:cNvSpPr/>
          <p:nvPr/>
        </p:nvSpPr>
        <p:spPr>
          <a:xfrm>
            <a:off x="8796528" y="2304288"/>
            <a:ext cx="2651760" cy="365760"/>
          </a:xfrm>
          <a:prstGeom prst="rect">
            <a:avLst/>
          </a:prstGeom>
          <a:noFill/>
          <a:ln/>
        </p:spPr>
        <p:txBody>
          <a:bodyPr wrap="square" lIns="0" tIns="0" rIns="0" bIns="0" rtlCol="0" anchor="ctr"/>
          <a:lstStyle/>
          <a:p>
            <a:pPr indent="0" marL="0">
              <a:buNone/>
            </a:pPr>
            <a:r>
              <a:rPr lang="en-US" sz="1700" b="1" dirty="0">
                <a:solidFill>
                  <a:srgbClr val="F4F7F5"/>
                </a:solidFill>
                <a:latin typeface="Calibri" pitchFamily="34" charset="0"/>
                <a:ea typeface="Calibri" pitchFamily="34" charset="-122"/>
                <a:cs typeface="Calibri" pitchFamily="34" charset="-120"/>
              </a:rPr>
              <a:t>Check the reasoning</a:t>
            </a:r>
            <a:endParaRPr lang="en-US" sz="1700" dirty="0"/>
          </a:p>
        </p:txBody>
      </p:sp>
      <p:sp>
        <p:nvSpPr>
          <p:cNvPr id="28" name="Text 26"/>
          <p:cNvSpPr/>
          <p:nvPr/>
        </p:nvSpPr>
        <p:spPr>
          <a:xfrm>
            <a:off x="8321040" y="2779776"/>
            <a:ext cx="2953512" cy="1097280"/>
          </a:xfrm>
          <a:prstGeom prst="rect">
            <a:avLst/>
          </a:prstGeom>
          <a:noFill/>
          <a:ln/>
        </p:spPr>
        <p:txBody>
          <a:bodyPr wrap="square" lIns="0" tIns="0" rIns="0" bIns="0" rtlCol="0" anchor="t"/>
          <a:lstStyle/>
          <a:p>
            <a:pPr indent="0" marL="0">
              <a:lnSpc>
                <a:spcPct val="120000"/>
              </a:lnSpc>
              <a:buNone/>
            </a:pPr>
            <a:r>
              <a:rPr lang="en-US" sz="1200" dirty="0">
                <a:solidFill>
                  <a:srgbClr val="9BA8A0"/>
                </a:solidFill>
                <a:latin typeface="Calibri" pitchFamily="34" charset="0"/>
                <a:ea typeface="Calibri" pitchFamily="34" charset="-122"/>
                <a:cs typeface="Calibri" pitchFamily="34" charset="-120"/>
              </a:rPr>
              <a:t>Live price, the source, the downside, and how the score was built — attached to the route itself, not buried in a footnote.</a:t>
            </a:r>
            <a:endParaRPr lang="en-US" sz="1200" dirty="0"/>
          </a:p>
        </p:txBody>
      </p:sp>
      <p:sp>
        <p:nvSpPr>
          <p:cNvPr id="29" name="Shape 27"/>
          <p:cNvSpPr/>
          <p:nvPr/>
        </p:nvSpPr>
        <p:spPr>
          <a:xfrm>
            <a:off x="8823960" y="3913632"/>
            <a:ext cx="1947672" cy="1773936"/>
          </a:xfrm>
          <a:prstGeom prst="roundRect">
            <a:avLst>
              <a:gd name="adj" fmla="val 3093"/>
            </a:avLst>
          </a:prstGeom>
          <a:solidFill>
            <a:srgbClr val="161D19"/>
          </a:solidFill>
          <a:ln w="15875">
            <a:solidFill>
              <a:srgbClr val="2A352F"/>
            </a:solidFill>
            <a:prstDash val="solid"/>
          </a:ln>
        </p:spPr>
      </p:sp>
      <p:sp>
        <p:nvSpPr>
          <p:cNvPr id="30" name="Shape 28"/>
          <p:cNvSpPr/>
          <p:nvPr/>
        </p:nvSpPr>
        <p:spPr>
          <a:xfrm>
            <a:off x="8915400" y="4005072"/>
            <a:ext cx="1764792" cy="1591056"/>
          </a:xfrm>
          <a:prstGeom prst="roundRect">
            <a:avLst>
              <a:gd name="adj" fmla="val 2874"/>
            </a:avLst>
          </a:prstGeom>
          <a:solidFill>
            <a:srgbClr val="0B100D"/>
          </a:solidFill>
          <a:ln w="12700">
            <a:solidFill>
              <a:srgbClr val="1C2420"/>
            </a:solidFill>
            <a:prstDash val="solid"/>
          </a:ln>
        </p:spPr>
      </p:sp>
      <p:sp>
        <p:nvSpPr>
          <p:cNvPr id="31" name="Text 29"/>
          <p:cNvSpPr/>
          <p:nvPr/>
        </p:nvSpPr>
        <p:spPr>
          <a:xfrm>
            <a:off x="8915400" y="4471416"/>
            <a:ext cx="1764792" cy="274320"/>
          </a:xfrm>
          <a:prstGeom prst="rect">
            <a:avLst/>
          </a:prstGeom>
          <a:noFill/>
          <a:ln/>
        </p:spPr>
        <p:txBody>
          <a:bodyPr wrap="square" lIns="0" tIns="0" rIns="0" bIns="0" rtlCol="0" anchor="ctr"/>
          <a:lstStyle/>
          <a:p>
            <a:pPr algn="ctr" indent="0" marL="0">
              <a:buNone/>
            </a:pPr>
            <a:r>
              <a:rPr lang="en-US" sz="1000" b="1" spc="120" kern="0" dirty="0">
                <a:solidFill>
                  <a:srgbClr val="67726B"/>
                </a:solidFill>
                <a:latin typeface="Calibri" pitchFamily="34" charset="0"/>
                <a:ea typeface="Calibri" pitchFamily="34" charset="-122"/>
                <a:cs typeface="Calibri" pitchFamily="34" charset="-120"/>
              </a:rPr>
              <a:t>DROP SCREENSHOT</a:t>
            </a:r>
            <a:endParaRPr lang="en-US" sz="1000" dirty="0"/>
          </a:p>
        </p:txBody>
      </p:sp>
      <p:sp>
        <p:nvSpPr>
          <p:cNvPr id="32" name="Text 30"/>
          <p:cNvSpPr/>
          <p:nvPr/>
        </p:nvSpPr>
        <p:spPr>
          <a:xfrm>
            <a:off x="8961120" y="4764024"/>
            <a:ext cx="1673352" cy="457200"/>
          </a:xfrm>
          <a:prstGeom prst="rect">
            <a:avLst/>
          </a:prstGeom>
          <a:noFill/>
          <a:ln/>
        </p:spPr>
        <p:txBody>
          <a:bodyPr wrap="square" lIns="0" tIns="0" rIns="0" bIns="0" rtlCol="0" anchor="t"/>
          <a:lstStyle/>
          <a:p>
            <a:pPr algn="ctr" indent="0" marL="0">
              <a:lnSpc>
                <a:spcPct val="110000"/>
              </a:lnSpc>
              <a:buNone/>
            </a:pPr>
            <a:r>
              <a:rPr lang="en-US" sz="1050" dirty="0">
                <a:solidFill>
                  <a:srgbClr val="9BA8A0"/>
                </a:solidFill>
                <a:latin typeface="Calibri" pitchFamily="34" charset="0"/>
                <a:ea typeface="Calibri" pitchFamily="34" charset="-122"/>
                <a:cs typeface="Calibri" pitchFamily="34" charset="-120"/>
              </a:rPr>
              <a:t>Score breakdown</a:t>
            </a:r>
            <a:endParaRPr lang="en-US" sz="1050" dirty="0"/>
          </a:p>
        </p:txBody>
      </p:sp>
      <p:sp>
        <p:nvSpPr>
          <p:cNvPr id="33" name="Shape 31"/>
          <p:cNvSpPr/>
          <p:nvPr/>
        </p:nvSpPr>
        <p:spPr>
          <a:xfrm>
            <a:off x="640080" y="6035040"/>
            <a:ext cx="10908792" cy="420624"/>
          </a:xfrm>
          <a:prstGeom prst="roundRect">
            <a:avLst>
              <a:gd name="adj" fmla="val 26087"/>
            </a:avLst>
          </a:prstGeom>
          <a:solidFill>
            <a:srgbClr val="161D19"/>
          </a:solidFill>
          <a:ln w="12700">
            <a:solidFill>
              <a:srgbClr val="2A352F"/>
            </a:solidFill>
            <a:prstDash val="solid"/>
          </a:ln>
        </p:spPr>
      </p:sp>
      <p:sp>
        <p:nvSpPr>
          <p:cNvPr id="34" name="Text 32"/>
          <p:cNvSpPr/>
          <p:nvPr/>
        </p:nvSpPr>
        <p:spPr>
          <a:xfrm>
            <a:off x="868680" y="6035040"/>
            <a:ext cx="10469880" cy="420624"/>
          </a:xfrm>
          <a:prstGeom prst="rect">
            <a:avLst/>
          </a:prstGeom>
          <a:noFill/>
          <a:ln/>
        </p:spPr>
        <p:txBody>
          <a:bodyPr wrap="square" lIns="0" tIns="0" rIns="0" bIns="0" rtlCol="0" anchor="ctr"/>
          <a:lstStyle/>
          <a:p>
            <a:pPr indent="0" marL="0">
              <a:lnSpc>
                <a:spcPct val="110000"/>
              </a:lnSpc>
              <a:buNone/>
            </a:pPr>
            <a:r>
              <a:rPr lang="en-US" sz="1200" dirty="0">
                <a:solidFill>
                  <a:srgbClr val="F4F7F5"/>
                </a:solidFill>
                <a:latin typeface="Calibri" pitchFamily="34" charset="0"/>
                <a:ea typeface="Calibri" pitchFamily="34" charset="-122"/>
                <a:cs typeface="Calibri" pitchFamily="34" charset="-120"/>
              </a:rPr>
              <a:t>The whole thing is one screen deep. A user with $5,000 and a question gets a ranked answer in under a minute — and can see exactly why it's ranked that way.</a:t>
            </a:r>
            <a:endParaRPr lang="en-US" sz="1200" dirty="0"/>
          </a:p>
        </p:txBody>
      </p:sp>
      <p:sp>
        <p:nvSpPr>
          <p:cNvPr id="36" name="Text 33"/>
          <p:cNvSpPr/>
          <p:nvPr/>
        </p:nvSpPr>
        <p:spPr>
          <a:xfrm>
            <a:off x="9692640" y="6528816"/>
            <a:ext cx="1188720" cy="237744"/>
          </a:xfrm>
          <a:prstGeom prst="rect">
            <a:avLst/>
          </a:prstGeom>
          <a:noFill/>
          <a:ln/>
        </p:spPr>
        <p:txBody>
          <a:bodyPr wrap="square" lIns="0" tIns="0" rIns="0" bIns="0" rtlCol="0" anchor="ctr"/>
          <a:lstStyle/>
          <a:p>
            <a:pPr algn="r" indent="0" marL="0">
              <a:buNone/>
            </a:pPr>
            <a:r>
              <a:rPr lang="en-US" sz="850" b="1" spc="140" kern="0" dirty="0">
                <a:solidFill>
                  <a:srgbClr val="67726B"/>
                </a:solidFill>
                <a:latin typeface="Calibri" pitchFamily="34" charset="0"/>
                <a:ea typeface="Calibri" pitchFamily="34" charset="-122"/>
                <a:cs typeface="Calibri" pitchFamily="34" charset="-120"/>
              </a:rPr>
              <a:t>POLYPROFIT</a:t>
            </a:r>
            <a:endParaRPr lang="en-US" sz="850" dirty="0"/>
          </a:p>
        </p:txBody>
      </p:sp>
      <p:sp>
        <p:nvSpPr>
          <p:cNvPr id="37" name="Text 34"/>
          <p:cNvSpPr/>
          <p:nvPr/>
        </p:nvSpPr>
        <p:spPr>
          <a:xfrm>
            <a:off x="11018520" y="6528816"/>
            <a:ext cx="530352" cy="237744"/>
          </a:xfrm>
          <a:prstGeom prst="rect">
            <a:avLst/>
          </a:prstGeom>
          <a:noFill/>
          <a:ln/>
        </p:spPr>
        <p:txBody>
          <a:bodyPr wrap="square" lIns="0" tIns="0" rIns="0" bIns="0" rtlCol="0" anchor="ctr"/>
          <a:lstStyle/>
          <a:p>
            <a:pPr algn="r" indent="0" marL="0">
              <a:buNone/>
            </a:pPr>
            <a:r>
              <a:rPr lang="en-US" sz="850" b="1" dirty="0">
                <a:solidFill>
                  <a:srgbClr val="22C55E"/>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B09"/>
        </a:solidFill>
      </p:bgPr>
    </p:bg>
    <p:spTree>
      <p:nvGrpSpPr>
        <p:cNvPr id="1" name=""/>
        <p:cNvGrpSpPr/>
        <p:nvPr/>
      </p:nvGrpSpPr>
      <p:grpSpPr>
        <a:xfrm>
          <a:off x="0" y="0"/>
          <a:ext cx="0" cy="0"/>
          <a:chOff x="0" y="0"/>
          <a:chExt cx="0" cy="0"/>
        </a:xfrm>
      </p:grpSpPr>
      <p:sp>
        <p:nvSpPr>
          <p:cNvPr id="2" name="Shape 0"/>
          <p:cNvSpPr/>
          <p:nvPr/>
        </p:nvSpPr>
        <p:spPr>
          <a:xfrm>
            <a:off x="-2011680" y="3108960"/>
            <a:ext cx="5669280" cy="5669280"/>
          </a:xfrm>
          <a:prstGeom prst="ellipse">
            <a:avLst/>
          </a:prstGeom>
          <a:solidFill>
            <a:srgbClr val="22C55E">
              <a:alpha val="6000"/>
            </a:srgbClr>
          </a:solidFill>
          <a:ln/>
        </p:spPr>
      </p:sp>
      <p:sp>
        <p:nvSpPr>
          <p:cNvPr id="3" name="Text 1"/>
          <p:cNvSpPr/>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22C55E"/>
                </a:solidFill>
                <a:latin typeface="Calibri" pitchFamily="34" charset="0"/>
                <a:ea typeface="Calibri" pitchFamily="34" charset="-122"/>
                <a:cs typeface="Calibri" pitchFamily="34" charset="-120"/>
              </a:rPr>
              <a:t>04  ·  THE GOAL ENGINE</a:t>
            </a:r>
            <a:endParaRPr lang="en-US" sz="1100" dirty="0"/>
          </a:p>
        </p:txBody>
      </p:sp>
      <p:sp>
        <p:nvSpPr>
          <p:cNvPr id="4" name="Text 2"/>
          <p:cNvSpPr/>
          <p:nvPr/>
        </p:nvSpPr>
        <p:spPr>
          <a:xfrm>
            <a:off x="640080" y="777240"/>
            <a:ext cx="10881360" cy="685800"/>
          </a:xfrm>
          <a:prstGeom prst="rect">
            <a:avLst/>
          </a:prstGeom>
          <a:noFill/>
          <a:ln/>
        </p:spPr>
        <p:txBody>
          <a:bodyPr wrap="square" lIns="0" tIns="0" rIns="0" bIns="0" rtlCol="0" anchor="t"/>
          <a:lstStyle/>
          <a:p>
            <a:pPr indent="0" marL="0">
              <a:lnSpc>
                <a:spcPct val="105000"/>
              </a:lnSpc>
              <a:buNone/>
            </a:pPr>
            <a:r>
              <a:rPr lang="en-US" sz="3300" b="1" dirty="0">
                <a:solidFill>
                  <a:srgbClr val="F4F7F5"/>
                </a:solidFill>
                <a:latin typeface="Calibri" pitchFamily="34" charset="0"/>
                <a:ea typeface="Calibri" pitchFamily="34" charset="-122"/>
                <a:cs typeface="Calibri" pitchFamily="34" charset="-120"/>
              </a:rPr>
              <a:t>Set the goal. Watch it fill.</a:t>
            </a:r>
            <a:endParaRPr lang="en-US" sz="3300" dirty="0"/>
          </a:p>
        </p:txBody>
      </p:sp>
      <p:sp>
        <p:nvSpPr>
          <p:cNvPr id="5" name="Text 3"/>
          <p:cNvSpPr/>
          <p:nvPr/>
        </p:nvSpPr>
        <p:spPr>
          <a:xfrm>
            <a:off x="640080" y="1517904"/>
            <a:ext cx="9692640" cy="384048"/>
          </a:xfrm>
          <a:prstGeom prst="rect">
            <a:avLst/>
          </a:prstGeom>
          <a:noFill/>
          <a:ln/>
        </p:spPr>
        <p:txBody>
          <a:bodyPr wrap="square" lIns="0" tIns="0" rIns="0" bIns="0" rtlCol="0" anchor="t"/>
          <a:lstStyle/>
          <a:p>
            <a:pPr indent="0" marL="0">
              <a:lnSpc>
                <a:spcPct val="115000"/>
              </a:lnSpc>
              <a:buNone/>
            </a:pPr>
            <a:r>
              <a:rPr lang="en-US" sz="1350" dirty="0">
                <a:solidFill>
                  <a:srgbClr val="9BA8A0"/>
                </a:solidFill>
                <a:latin typeface="Calibri" pitchFamily="34" charset="0"/>
                <a:ea typeface="Calibri" pitchFamily="34" charset="-122"/>
                <a:cs typeface="Calibri" pitchFamily="34" charset="-120"/>
              </a:rPr>
              <a:t>Nobody wakes up wanting a 6.4% annualised return. They want $5,000 for a wedding by June.</a:t>
            </a:r>
            <a:endParaRPr lang="en-US" sz="1350" dirty="0"/>
          </a:p>
        </p:txBody>
      </p:sp>
      <p:sp>
        <p:nvSpPr>
          <p:cNvPr id="6" name="Shape 4"/>
          <p:cNvSpPr/>
          <p:nvPr/>
        </p:nvSpPr>
        <p:spPr>
          <a:xfrm>
            <a:off x="640080" y="2011680"/>
            <a:ext cx="4663440" cy="3913632"/>
          </a:xfrm>
          <a:prstGeom prst="roundRect">
            <a:avLst>
              <a:gd name="adj" fmla="val 3271"/>
            </a:avLst>
          </a:prstGeom>
          <a:solidFill>
            <a:srgbClr val="161D19"/>
          </a:solidFill>
          <a:ln w="12700">
            <a:solidFill>
              <a:srgbClr val="2A352F"/>
            </a:solidFill>
            <a:prstDash val="solid"/>
          </a:ln>
        </p:spPr>
      </p:sp>
      <p:sp>
        <p:nvSpPr>
          <p:cNvPr id="7" name="Text 5"/>
          <p:cNvSpPr/>
          <p:nvPr/>
        </p:nvSpPr>
        <p:spPr>
          <a:xfrm>
            <a:off x="914400" y="2286000"/>
            <a:ext cx="3108960" cy="274320"/>
          </a:xfrm>
          <a:prstGeom prst="rect">
            <a:avLst/>
          </a:prstGeom>
          <a:noFill/>
          <a:ln/>
        </p:spPr>
        <p:txBody>
          <a:bodyPr wrap="square" lIns="0" tIns="0" rIns="0" bIns="0" rtlCol="0" anchor="ctr"/>
          <a:lstStyle/>
          <a:p>
            <a:pPr indent="0" marL="0">
              <a:buNone/>
            </a:pPr>
            <a:r>
              <a:rPr lang="en-US" sz="1350" b="1" dirty="0">
                <a:solidFill>
                  <a:srgbClr val="F4F7F5"/>
                </a:solidFill>
                <a:latin typeface="Calibri" pitchFamily="34" charset="0"/>
                <a:ea typeface="Calibri" pitchFamily="34" charset="-122"/>
                <a:cs typeface="Calibri" pitchFamily="34" charset="-120"/>
              </a:rPr>
              <a:t>🏡  House deposit</a:t>
            </a:r>
            <a:endParaRPr lang="en-US" sz="1350" dirty="0"/>
          </a:p>
        </p:txBody>
      </p:sp>
      <p:sp>
        <p:nvSpPr>
          <p:cNvPr id="8" name="Shape 6"/>
          <p:cNvSpPr/>
          <p:nvPr/>
        </p:nvSpPr>
        <p:spPr>
          <a:xfrm>
            <a:off x="4041648" y="2286000"/>
            <a:ext cx="987552" cy="274320"/>
          </a:xfrm>
          <a:prstGeom prst="roundRect">
            <a:avLst>
              <a:gd name="adj" fmla="val 166667"/>
            </a:avLst>
          </a:prstGeom>
          <a:solidFill>
            <a:srgbClr val="161D19"/>
          </a:solidFill>
          <a:ln w="12700">
            <a:solidFill>
              <a:srgbClr val="22C55E"/>
            </a:solidFill>
            <a:prstDash val="solid"/>
          </a:ln>
        </p:spPr>
      </p:sp>
      <p:sp>
        <p:nvSpPr>
          <p:cNvPr id="9" name="Text 7"/>
          <p:cNvSpPr/>
          <p:nvPr/>
        </p:nvSpPr>
        <p:spPr>
          <a:xfrm>
            <a:off x="4041648" y="2286000"/>
            <a:ext cx="987552" cy="274320"/>
          </a:xfrm>
          <a:prstGeom prst="rect">
            <a:avLst/>
          </a:prstGeom>
          <a:noFill/>
          <a:ln/>
        </p:spPr>
        <p:txBody>
          <a:bodyPr wrap="square" lIns="0" tIns="0" rIns="0" bIns="0" rtlCol="0" anchor="ctr"/>
          <a:lstStyle/>
          <a:p>
            <a:pPr algn="ctr" indent="0" marL="0">
              <a:buNone/>
            </a:pPr>
            <a:r>
              <a:rPr lang="en-US" sz="950" b="1" spc="80" kern="0" dirty="0">
                <a:solidFill>
                  <a:srgbClr val="22C55E"/>
                </a:solidFill>
                <a:latin typeface="Calibri" pitchFamily="34" charset="0"/>
                <a:ea typeface="Calibri" pitchFamily="34" charset="-122"/>
                <a:cs typeface="Calibri" pitchFamily="34" charset="-120"/>
              </a:rPr>
              <a:t>ON TRACK</a:t>
            </a:r>
            <a:endParaRPr lang="en-US" sz="950" dirty="0"/>
          </a:p>
        </p:txBody>
      </p:sp>
      <p:sp>
        <p:nvSpPr>
          <p:cNvPr id="10" name="Text 8"/>
          <p:cNvSpPr/>
          <p:nvPr/>
        </p:nvSpPr>
        <p:spPr>
          <a:xfrm>
            <a:off x="914400" y="2688336"/>
            <a:ext cx="4114800" cy="548640"/>
          </a:xfrm>
          <a:prstGeom prst="rect">
            <a:avLst/>
          </a:prstGeom>
          <a:noFill/>
          <a:ln/>
        </p:spPr>
        <p:txBody>
          <a:bodyPr wrap="square" lIns="0" tIns="0" rIns="0" bIns="0" rtlCol="0" anchor="ctr"/>
          <a:lstStyle/>
          <a:p>
            <a:pPr indent="0" marL="0">
              <a:buNone/>
            </a:pPr>
            <a:r>
              <a:rPr lang="en-US" sz="3400" b="1" dirty="0">
                <a:solidFill>
                  <a:srgbClr val="F4F7F5"/>
                </a:solidFill>
                <a:latin typeface="Calibri" pitchFamily="34" charset="0"/>
                <a:ea typeface="Calibri" pitchFamily="34" charset="-122"/>
                <a:cs typeface="Calibri" pitchFamily="34" charset="-120"/>
              </a:rPr>
              <a:t>$1,240</a:t>
            </a:r>
            <a:pPr indent="0" marL="0">
              <a:buNone/>
            </a:pPr>
            <a:r>
              <a:rPr lang="en-US" sz="1500" dirty="0">
                <a:solidFill>
                  <a:srgbClr val="9BA8A0"/>
                </a:solidFill>
                <a:latin typeface="Calibri" pitchFamily="34" charset="0"/>
                <a:ea typeface="Calibri" pitchFamily="34" charset="-122"/>
                <a:cs typeface="Calibri" pitchFamily="34" charset="-120"/>
              </a:rPr>
              <a:t>  of $5,000</a:t>
            </a:r>
            <a:endParaRPr lang="en-US" sz="3400" dirty="0"/>
          </a:p>
        </p:txBody>
      </p:sp>
      <p:sp>
        <p:nvSpPr>
          <p:cNvPr id="11" name="Shape 9"/>
          <p:cNvSpPr/>
          <p:nvPr/>
        </p:nvSpPr>
        <p:spPr>
          <a:xfrm>
            <a:off x="914400" y="3310128"/>
            <a:ext cx="4114800" cy="182880"/>
          </a:xfrm>
          <a:prstGeom prst="roundRect">
            <a:avLst>
              <a:gd name="adj" fmla="val 250000"/>
            </a:avLst>
          </a:prstGeom>
          <a:solidFill>
            <a:srgbClr val="1F2823"/>
          </a:solidFill>
          <a:ln/>
        </p:spPr>
      </p:sp>
      <p:sp>
        <p:nvSpPr>
          <p:cNvPr id="12" name="Shape 10"/>
          <p:cNvSpPr/>
          <p:nvPr/>
        </p:nvSpPr>
        <p:spPr>
          <a:xfrm>
            <a:off x="914400" y="3310128"/>
            <a:ext cx="1024128" cy="182880"/>
          </a:xfrm>
          <a:prstGeom prst="roundRect">
            <a:avLst>
              <a:gd name="adj" fmla="val 250000"/>
            </a:avLst>
          </a:prstGeom>
          <a:solidFill>
            <a:srgbClr val="22C55E"/>
          </a:solidFill>
          <a:ln/>
        </p:spPr>
      </p:sp>
      <p:sp>
        <p:nvSpPr>
          <p:cNvPr id="13" name="Text 11"/>
          <p:cNvSpPr/>
          <p:nvPr/>
        </p:nvSpPr>
        <p:spPr>
          <a:xfrm>
            <a:off x="914400" y="3538728"/>
            <a:ext cx="4114800" cy="237744"/>
          </a:xfrm>
          <a:prstGeom prst="rect">
            <a:avLst/>
          </a:prstGeom>
          <a:noFill/>
          <a:ln/>
        </p:spPr>
        <p:txBody>
          <a:bodyPr wrap="square" lIns="0" tIns="0" rIns="0" bIns="0" rtlCol="0" anchor="ctr"/>
          <a:lstStyle/>
          <a:p>
            <a:pPr indent="0" marL="0">
              <a:buNone/>
            </a:pPr>
            <a:r>
              <a:rPr lang="en-US" sz="1050" dirty="0">
                <a:solidFill>
                  <a:srgbClr val="67726B"/>
                </a:solidFill>
                <a:latin typeface="Calibri" pitchFamily="34" charset="0"/>
                <a:ea typeface="Calibri" pitchFamily="34" charset="-122"/>
                <a:cs typeface="Calibri" pitchFamily="34" charset="-120"/>
              </a:rPr>
              <a:t>25% there  ·  148 days left</a:t>
            </a:r>
            <a:endParaRPr lang="en-US" sz="1050" dirty="0"/>
          </a:p>
        </p:txBody>
      </p:sp>
      <p:sp>
        <p:nvSpPr>
          <p:cNvPr id="14" name="Text 12"/>
          <p:cNvSpPr/>
          <p:nvPr/>
        </p:nvSpPr>
        <p:spPr>
          <a:xfrm>
            <a:off x="914400" y="3877056"/>
            <a:ext cx="4114800" cy="219456"/>
          </a:xfrm>
          <a:prstGeom prst="rect">
            <a:avLst/>
          </a:prstGeom>
          <a:noFill/>
          <a:ln/>
        </p:spPr>
        <p:txBody>
          <a:bodyPr wrap="square" lIns="0" tIns="0" rIns="0" bIns="0" rtlCol="0" anchor="ctr"/>
          <a:lstStyle/>
          <a:p>
            <a:pPr indent="0" marL="0">
              <a:buNone/>
            </a:pPr>
            <a:r>
              <a:rPr lang="en-US" sz="850" b="1" spc="120" kern="0" dirty="0">
                <a:solidFill>
                  <a:srgbClr val="67726B"/>
                </a:solidFill>
                <a:latin typeface="Calibri" pitchFamily="34" charset="0"/>
                <a:ea typeface="Calibri" pitchFamily="34" charset="-122"/>
                <a:cs typeface="Calibri" pitchFamily="34" charset="-120"/>
              </a:rPr>
              <a:t>WORKING TOWARD IT</a:t>
            </a:r>
            <a:endParaRPr lang="en-US" sz="850" dirty="0"/>
          </a:p>
        </p:txBody>
      </p:sp>
      <p:sp>
        <p:nvSpPr>
          <p:cNvPr id="15" name="Shape 13"/>
          <p:cNvSpPr/>
          <p:nvPr/>
        </p:nvSpPr>
        <p:spPr>
          <a:xfrm>
            <a:off x="914400" y="4169664"/>
            <a:ext cx="4114800" cy="512064"/>
          </a:xfrm>
          <a:prstGeom prst="roundRect">
            <a:avLst>
              <a:gd name="adj" fmla="val 14286"/>
            </a:avLst>
          </a:prstGeom>
          <a:solidFill>
            <a:srgbClr val="101613"/>
          </a:solidFill>
          <a:ln w="12700">
            <a:solidFill>
              <a:srgbClr val="1C2420"/>
            </a:solidFill>
            <a:prstDash val="solid"/>
          </a:ln>
        </p:spPr>
      </p:sp>
      <p:sp>
        <p:nvSpPr>
          <p:cNvPr id="16" name="Shape 14"/>
          <p:cNvSpPr/>
          <p:nvPr/>
        </p:nvSpPr>
        <p:spPr>
          <a:xfrm>
            <a:off x="1042416" y="4343400"/>
            <a:ext cx="82296" cy="164592"/>
          </a:xfrm>
          <a:prstGeom prst="roundRect">
            <a:avLst>
              <a:gd name="adj" fmla="val 44444"/>
            </a:avLst>
          </a:prstGeom>
          <a:solidFill>
            <a:srgbClr val="22C55E"/>
          </a:solidFill>
          <a:ln/>
        </p:spPr>
      </p:sp>
      <p:sp>
        <p:nvSpPr>
          <p:cNvPr id="17" name="Text 15"/>
          <p:cNvSpPr/>
          <p:nvPr/>
        </p:nvSpPr>
        <p:spPr>
          <a:xfrm>
            <a:off x="1243584" y="4169664"/>
            <a:ext cx="2286000" cy="512064"/>
          </a:xfrm>
          <a:prstGeom prst="rect">
            <a:avLst/>
          </a:prstGeom>
          <a:noFill/>
          <a:ln/>
        </p:spPr>
        <p:txBody>
          <a:bodyPr wrap="square" lIns="0" tIns="0" rIns="0" bIns="0" rtlCol="0" anchor="ctr"/>
          <a:lstStyle/>
          <a:p>
            <a:pPr indent="0" marL="0">
              <a:buNone/>
            </a:pPr>
            <a:r>
              <a:rPr lang="en-US" sz="1150" b="1" dirty="0">
                <a:solidFill>
                  <a:srgbClr val="F4F7F5"/>
                </a:solidFill>
                <a:latin typeface="Calibri" pitchFamily="34" charset="0"/>
                <a:ea typeface="Calibri" pitchFamily="34" charset="-122"/>
                <a:cs typeface="Calibri" pitchFamily="34" charset="-120"/>
              </a:rPr>
              <a:t>13-week Treasury bill</a:t>
            </a:r>
            <a:endParaRPr lang="en-US" sz="1150" dirty="0"/>
          </a:p>
        </p:txBody>
      </p:sp>
      <p:sp>
        <p:nvSpPr>
          <p:cNvPr id="18" name="Text 16"/>
          <p:cNvSpPr/>
          <p:nvPr/>
        </p:nvSpPr>
        <p:spPr>
          <a:xfrm>
            <a:off x="3520440" y="4169664"/>
            <a:ext cx="777240" cy="512064"/>
          </a:xfrm>
          <a:prstGeom prst="rect">
            <a:avLst/>
          </a:prstGeom>
          <a:noFill/>
          <a:ln/>
        </p:spPr>
        <p:txBody>
          <a:bodyPr wrap="square" lIns="0" tIns="0" rIns="0" bIns="0" rtlCol="0" anchor="ctr"/>
          <a:lstStyle/>
          <a:p>
            <a:pPr algn="r" indent="0" marL="0">
              <a:buNone/>
            </a:pPr>
            <a:r>
              <a:rPr lang="en-US" sz="1150" dirty="0">
                <a:solidFill>
                  <a:srgbClr val="9BA8A0"/>
                </a:solidFill>
                <a:latin typeface="Calibri" pitchFamily="34" charset="0"/>
                <a:ea typeface="Calibri" pitchFamily="34" charset="-122"/>
                <a:cs typeface="Calibri" pitchFamily="34" charset="-120"/>
              </a:rPr>
              <a:t>$2,000</a:t>
            </a:r>
            <a:endParaRPr lang="en-US" sz="1150" dirty="0"/>
          </a:p>
        </p:txBody>
      </p:sp>
      <p:sp>
        <p:nvSpPr>
          <p:cNvPr id="19" name="Text 17"/>
          <p:cNvSpPr/>
          <p:nvPr/>
        </p:nvSpPr>
        <p:spPr>
          <a:xfrm>
            <a:off x="4315968" y="4169664"/>
            <a:ext cx="603504" cy="512064"/>
          </a:xfrm>
          <a:prstGeom prst="rect">
            <a:avLst/>
          </a:prstGeom>
          <a:noFill/>
          <a:ln/>
        </p:spPr>
        <p:txBody>
          <a:bodyPr wrap="square" lIns="0" tIns="0" rIns="0" bIns="0" rtlCol="0" anchor="ctr"/>
          <a:lstStyle/>
          <a:p>
            <a:pPr algn="r" indent="0" marL="0">
              <a:buNone/>
            </a:pPr>
            <a:r>
              <a:rPr lang="en-US" sz="1150" b="1" dirty="0">
                <a:solidFill>
                  <a:srgbClr val="22C55E"/>
                </a:solidFill>
                <a:latin typeface="Calibri" pitchFamily="34" charset="0"/>
                <a:ea typeface="Calibri" pitchFamily="34" charset="-122"/>
                <a:cs typeface="Calibri" pitchFamily="34" charset="-120"/>
              </a:rPr>
              <a:t>+$24</a:t>
            </a:r>
            <a:endParaRPr lang="en-US" sz="1150" dirty="0"/>
          </a:p>
        </p:txBody>
      </p:sp>
      <p:sp>
        <p:nvSpPr>
          <p:cNvPr id="20" name="Shape 18"/>
          <p:cNvSpPr/>
          <p:nvPr/>
        </p:nvSpPr>
        <p:spPr>
          <a:xfrm>
            <a:off x="914400" y="4718304"/>
            <a:ext cx="4114800" cy="512064"/>
          </a:xfrm>
          <a:prstGeom prst="roundRect">
            <a:avLst>
              <a:gd name="adj" fmla="val 14286"/>
            </a:avLst>
          </a:prstGeom>
          <a:solidFill>
            <a:srgbClr val="101613"/>
          </a:solidFill>
          <a:ln w="12700">
            <a:solidFill>
              <a:srgbClr val="1C2420"/>
            </a:solidFill>
            <a:prstDash val="solid"/>
          </a:ln>
        </p:spPr>
      </p:sp>
      <p:sp>
        <p:nvSpPr>
          <p:cNvPr id="21" name="Shape 19"/>
          <p:cNvSpPr/>
          <p:nvPr/>
        </p:nvSpPr>
        <p:spPr>
          <a:xfrm>
            <a:off x="1042416" y="4892040"/>
            <a:ext cx="82296" cy="164592"/>
          </a:xfrm>
          <a:prstGeom prst="roundRect">
            <a:avLst>
              <a:gd name="adj" fmla="val 44444"/>
            </a:avLst>
          </a:prstGeom>
          <a:solidFill>
            <a:srgbClr val="22C55E"/>
          </a:solidFill>
          <a:ln/>
        </p:spPr>
      </p:sp>
      <p:sp>
        <p:nvSpPr>
          <p:cNvPr id="22" name="Text 20"/>
          <p:cNvSpPr/>
          <p:nvPr/>
        </p:nvSpPr>
        <p:spPr>
          <a:xfrm>
            <a:off x="1243584" y="4718304"/>
            <a:ext cx="2286000" cy="512064"/>
          </a:xfrm>
          <a:prstGeom prst="rect">
            <a:avLst/>
          </a:prstGeom>
          <a:noFill/>
          <a:ln/>
        </p:spPr>
        <p:txBody>
          <a:bodyPr wrap="square" lIns="0" tIns="0" rIns="0" bIns="0" rtlCol="0" anchor="ctr"/>
          <a:lstStyle/>
          <a:p>
            <a:pPr indent="0" marL="0">
              <a:buNone/>
            </a:pPr>
            <a:r>
              <a:rPr lang="en-US" sz="1150" b="1" dirty="0">
                <a:solidFill>
                  <a:srgbClr val="F4F7F5"/>
                </a:solidFill>
                <a:latin typeface="Calibri" pitchFamily="34" charset="0"/>
                <a:ea typeface="Calibri" pitchFamily="34" charset="-122"/>
                <a:cs typeface="Calibri" pitchFamily="34" charset="-120"/>
              </a:rPr>
              <a:t>Broad-market ETF</a:t>
            </a:r>
            <a:endParaRPr lang="en-US" sz="1150" dirty="0"/>
          </a:p>
        </p:txBody>
      </p:sp>
      <p:sp>
        <p:nvSpPr>
          <p:cNvPr id="23" name="Text 21"/>
          <p:cNvSpPr/>
          <p:nvPr/>
        </p:nvSpPr>
        <p:spPr>
          <a:xfrm>
            <a:off x="3520440" y="4718304"/>
            <a:ext cx="777240" cy="512064"/>
          </a:xfrm>
          <a:prstGeom prst="rect">
            <a:avLst/>
          </a:prstGeom>
          <a:noFill/>
          <a:ln/>
        </p:spPr>
        <p:txBody>
          <a:bodyPr wrap="square" lIns="0" tIns="0" rIns="0" bIns="0" rtlCol="0" anchor="ctr"/>
          <a:lstStyle/>
          <a:p>
            <a:pPr algn="r" indent="0" marL="0">
              <a:buNone/>
            </a:pPr>
            <a:r>
              <a:rPr lang="en-US" sz="1150" dirty="0">
                <a:solidFill>
                  <a:srgbClr val="9BA8A0"/>
                </a:solidFill>
                <a:latin typeface="Calibri" pitchFamily="34" charset="0"/>
                <a:ea typeface="Calibri" pitchFamily="34" charset="-122"/>
                <a:cs typeface="Calibri" pitchFamily="34" charset="-120"/>
              </a:rPr>
              <a:t>$1,500</a:t>
            </a:r>
            <a:endParaRPr lang="en-US" sz="1150" dirty="0"/>
          </a:p>
        </p:txBody>
      </p:sp>
      <p:sp>
        <p:nvSpPr>
          <p:cNvPr id="24" name="Text 22"/>
          <p:cNvSpPr/>
          <p:nvPr/>
        </p:nvSpPr>
        <p:spPr>
          <a:xfrm>
            <a:off x="4315968" y="4718304"/>
            <a:ext cx="603504" cy="512064"/>
          </a:xfrm>
          <a:prstGeom prst="rect">
            <a:avLst/>
          </a:prstGeom>
          <a:noFill/>
          <a:ln/>
        </p:spPr>
        <p:txBody>
          <a:bodyPr wrap="square" lIns="0" tIns="0" rIns="0" bIns="0" rtlCol="0" anchor="ctr"/>
          <a:lstStyle/>
          <a:p>
            <a:pPr algn="r" indent="0" marL="0">
              <a:buNone/>
            </a:pPr>
            <a:r>
              <a:rPr lang="en-US" sz="1150" b="1" dirty="0">
                <a:solidFill>
                  <a:srgbClr val="22C55E"/>
                </a:solidFill>
                <a:latin typeface="Calibri" pitchFamily="34" charset="0"/>
                <a:ea typeface="Calibri" pitchFamily="34" charset="-122"/>
                <a:cs typeface="Calibri" pitchFamily="34" charset="-120"/>
              </a:rPr>
              <a:t>+$61</a:t>
            </a:r>
            <a:endParaRPr lang="en-US" sz="1150" dirty="0"/>
          </a:p>
        </p:txBody>
      </p:sp>
      <p:sp>
        <p:nvSpPr>
          <p:cNvPr id="25" name="Shape 23"/>
          <p:cNvSpPr/>
          <p:nvPr/>
        </p:nvSpPr>
        <p:spPr>
          <a:xfrm>
            <a:off x="914400" y="5266944"/>
            <a:ext cx="4114800" cy="512064"/>
          </a:xfrm>
          <a:prstGeom prst="roundRect">
            <a:avLst>
              <a:gd name="adj" fmla="val 14286"/>
            </a:avLst>
          </a:prstGeom>
          <a:solidFill>
            <a:srgbClr val="101613"/>
          </a:solidFill>
          <a:ln w="12700">
            <a:solidFill>
              <a:srgbClr val="1C2420"/>
            </a:solidFill>
            <a:prstDash val="solid"/>
          </a:ln>
        </p:spPr>
      </p:sp>
      <p:sp>
        <p:nvSpPr>
          <p:cNvPr id="26" name="Shape 24"/>
          <p:cNvSpPr/>
          <p:nvPr/>
        </p:nvSpPr>
        <p:spPr>
          <a:xfrm>
            <a:off x="1042416" y="5440680"/>
            <a:ext cx="82296" cy="164592"/>
          </a:xfrm>
          <a:prstGeom prst="roundRect">
            <a:avLst>
              <a:gd name="adj" fmla="val 44444"/>
            </a:avLst>
          </a:prstGeom>
          <a:solidFill>
            <a:srgbClr val="F5B43C"/>
          </a:solidFill>
          <a:ln/>
        </p:spPr>
      </p:sp>
      <p:sp>
        <p:nvSpPr>
          <p:cNvPr id="27" name="Text 25"/>
          <p:cNvSpPr/>
          <p:nvPr/>
        </p:nvSpPr>
        <p:spPr>
          <a:xfrm>
            <a:off x="1243584" y="5266944"/>
            <a:ext cx="2286000" cy="512064"/>
          </a:xfrm>
          <a:prstGeom prst="rect">
            <a:avLst/>
          </a:prstGeom>
          <a:noFill/>
          <a:ln/>
        </p:spPr>
        <p:txBody>
          <a:bodyPr wrap="square" lIns="0" tIns="0" rIns="0" bIns="0" rtlCol="0" anchor="ctr"/>
          <a:lstStyle/>
          <a:p>
            <a:pPr indent="0" marL="0">
              <a:buNone/>
            </a:pPr>
            <a:r>
              <a:rPr lang="en-US" sz="1150" b="1" dirty="0">
                <a:solidFill>
                  <a:srgbClr val="F4F7F5"/>
                </a:solidFill>
                <a:latin typeface="Calibri" pitchFamily="34" charset="0"/>
                <a:ea typeface="Calibri" pitchFamily="34" charset="-122"/>
                <a:cs typeface="Calibri" pitchFamily="34" charset="-120"/>
              </a:rPr>
              <a:t>Prediction contract  92¢</a:t>
            </a:r>
            <a:endParaRPr lang="en-US" sz="1150" dirty="0"/>
          </a:p>
        </p:txBody>
      </p:sp>
      <p:sp>
        <p:nvSpPr>
          <p:cNvPr id="28" name="Text 26"/>
          <p:cNvSpPr/>
          <p:nvPr/>
        </p:nvSpPr>
        <p:spPr>
          <a:xfrm>
            <a:off x="3520440" y="5266944"/>
            <a:ext cx="777240" cy="512064"/>
          </a:xfrm>
          <a:prstGeom prst="rect">
            <a:avLst/>
          </a:prstGeom>
          <a:noFill/>
          <a:ln/>
        </p:spPr>
        <p:txBody>
          <a:bodyPr wrap="square" lIns="0" tIns="0" rIns="0" bIns="0" rtlCol="0" anchor="ctr"/>
          <a:lstStyle/>
          <a:p>
            <a:pPr algn="r" indent="0" marL="0">
              <a:buNone/>
            </a:pPr>
            <a:r>
              <a:rPr lang="en-US" sz="1150" dirty="0">
                <a:solidFill>
                  <a:srgbClr val="9BA8A0"/>
                </a:solidFill>
                <a:latin typeface="Calibri" pitchFamily="34" charset="0"/>
                <a:ea typeface="Calibri" pitchFamily="34" charset="-122"/>
                <a:cs typeface="Calibri" pitchFamily="34" charset="-120"/>
              </a:rPr>
              <a:t>$250</a:t>
            </a:r>
            <a:endParaRPr lang="en-US" sz="1150" dirty="0"/>
          </a:p>
        </p:txBody>
      </p:sp>
      <p:sp>
        <p:nvSpPr>
          <p:cNvPr id="29" name="Text 27"/>
          <p:cNvSpPr/>
          <p:nvPr/>
        </p:nvSpPr>
        <p:spPr>
          <a:xfrm>
            <a:off x="4315968" y="5266944"/>
            <a:ext cx="603504" cy="512064"/>
          </a:xfrm>
          <a:prstGeom prst="rect">
            <a:avLst/>
          </a:prstGeom>
          <a:noFill/>
          <a:ln/>
        </p:spPr>
        <p:txBody>
          <a:bodyPr wrap="square" lIns="0" tIns="0" rIns="0" bIns="0" rtlCol="0" anchor="ctr"/>
          <a:lstStyle/>
          <a:p>
            <a:pPr algn="r" indent="0" marL="0">
              <a:buNone/>
            </a:pPr>
            <a:r>
              <a:rPr lang="en-US" sz="1150" b="1" dirty="0">
                <a:solidFill>
                  <a:srgbClr val="F5B43C"/>
                </a:solidFill>
                <a:latin typeface="Calibri" pitchFamily="34" charset="0"/>
                <a:ea typeface="Calibri" pitchFamily="34" charset="-122"/>
                <a:cs typeface="Calibri" pitchFamily="34" charset="-120"/>
              </a:rPr>
              <a:t>pending</a:t>
            </a:r>
            <a:endParaRPr lang="en-US" sz="1150" dirty="0"/>
          </a:p>
        </p:txBody>
      </p:sp>
      <p:sp>
        <p:nvSpPr>
          <p:cNvPr id="30" name="Shape 28"/>
          <p:cNvSpPr/>
          <p:nvPr/>
        </p:nvSpPr>
        <p:spPr>
          <a:xfrm>
            <a:off x="5559552" y="2011680"/>
            <a:ext cx="5989320" cy="1243584"/>
          </a:xfrm>
          <a:prstGeom prst="roundRect">
            <a:avLst>
              <a:gd name="adj" fmla="val 8824"/>
            </a:avLst>
          </a:prstGeom>
          <a:solidFill>
            <a:srgbClr val="101613"/>
          </a:solidFill>
          <a:ln w="12700">
            <a:solidFill>
              <a:srgbClr val="1C2420"/>
            </a:solidFill>
            <a:prstDash val="solid"/>
          </a:ln>
        </p:spPr>
      </p:sp>
      <p:sp>
        <p:nvSpPr>
          <p:cNvPr id="31" name="Shape 29"/>
          <p:cNvSpPr/>
          <p:nvPr/>
        </p:nvSpPr>
        <p:spPr>
          <a:xfrm>
            <a:off x="5852160" y="2304288"/>
            <a:ext cx="310896" cy="310896"/>
          </a:xfrm>
          <a:prstGeom prst="ellipse">
            <a:avLst/>
          </a:prstGeom>
          <a:solidFill>
            <a:srgbClr val="22C55E"/>
          </a:solidFill>
          <a:ln/>
        </p:spPr>
      </p:sp>
      <p:sp>
        <p:nvSpPr>
          <p:cNvPr id="32" name="Text 30"/>
          <p:cNvSpPr/>
          <p:nvPr/>
        </p:nvSpPr>
        <p:spPr>
          <a:xfrm>
            <a:off x="5852160" y="2304288"/>
            <a:ext cx="310896" cy="310896"/>
          </a:xfrm>
          <a:prstGeom prst="rect">
            <a:avLst/>
          </a:prstGeom>
          <a:noFill/>
          <a:ln/>
        </p:spPr>
        <p:txBody>
          <a:bodyPr wrap="square" lIns="0" tIns="0" rIns="0" bIns="0" rtlCol="0" anchor="ctr"/>
          <a:lstStyle/>
          <a:p>
            <a:pPr algn="ctr" indent="0" marL="0">
              <a:buNone/>
            </a:pPr>
            <a:r>
              <a:rPr lang="en-US" sz="1200" b="1" dirty="0">
                <a:solidFill>
                  <a:srgbClr val="06140C"/>
                </a:solidFill>
                <a:latin typeface="Calibri" pitchFamily="34" charset="0"/>
                <a:ea typeface="Calibri" pitchFamily="34" charset="-122"/>
                <a:cs typeface="Calibri" pitchFamily="34" charset="-120"/>
              </a:rPr>
              <a:t>1</a:t>
            </a:r>
            <a:endParaRPr lang="en-US" sz="1200" dirty="0"/>
          </a:p>
        </p:txBody>
      </p:sp>
      <p:sp>
        <p:nvSpPr>
          <p:cNvPr id="33" name="Text 31"/>
          <p:cNvSpPr/>
          <p:nvPr/>
        </p:nvSpPr>
        <p:spPr>
          <a:xfrm>
            <a:off x="6272784" y="2249424"/>
            <a:ext cx="5029200" cy="310896"/>
          </a:xfrm>
          <a:prstGeom prst="rect">
            <a:avLst/>
          </a:prstGeom>
          <a:noFill/>
          <a:ln/>
        </p:spPr>
        <p:txBody>
          <a:bodyPr wrap="square" lIns="0" tIns="0" rIns="0" bIns="0" rtlCol="0" anchor="ctr"/>
          <a:lstStyle/>
          <a:p>
            <a:pPr indent="0" marL="0">
              <a:buNone/>
            </a:pPr>
            <a:r>
              <a:rPr lang="en-US" sz="1550" b="1" dirty="0">
                <a:solidFill>
                  <a:srgbClr val="F4F7F5"/>
                </a:solidFill>
                <a:latin typeface="Calibri" pitchFamily="34" charset="0"/>
                <a:ea typeface="Calibri" pitchFamily="34" charset="-122"/>
                <a:cs typeface="Calibri" pitchFamily="34" charset="-120"/>
              </a:rPr>
              <a:t>A goal is a better question than a return</a:t>
            </a:r>
            <a:endParaRPr lang="en-US" sz="1550" dirty="0"/>
          </a:p>
        </p:txBody>
      </p:sp>
      <p:sp>
        <p:nvSpPr>
          <p:cNvPr id="34" name="Text 32"/>
          <p:cNvSpPr/>
          <p:nvPr/>
        </p:nvSpPr>
        <p:spPr>
          <a:xfrm>
            <a:off x="6272784" y="2596896"/>
            <a:ext cx="5029200" cy="512064"/>
          </a:xfrm>
          <a:prstGeom prst="rect">
            <a:avLst/>
          </a:prstGeom>
          <a:noFill/>
          <a:ln/>
        </p:spPr>
        <p:txBody>
          <a:bodyPr wrap="square" lIns="0" tIns="0" rIns="0" bIns="0" rtlCol="0" anchor="t"/>
          <a:lstStyle/>
          <a:p>
            <a:pPr indent="0" marL="0">
              <a:lnSpc>
                <a:spcPct val="115000"/>
              </a:lnSpc>
              <a:buNone/>
            </a:pPr>
            <a:r>
              <a:rPr lang="en-US" sz="1200" dirty="0">
                <a:solidFill>
                  <a:srgbClr val="9BA8A0"/>
                </a:solidFill>
                <a:latin typeface="Calibri" pitchFamily="34" charset="0"/>
                <a:ea typeface="Calibri" pitchFamily="34" charset="-122"/>
                <a:cs typeface="Calibri" pitchFamily="34" charset="-120"/>
              </a:rPr>
              <a:t>Amount and deadline are things people actually know. 'What's your risk tolerance on a scale of one to ten' is not.</a:t>
            </a:r>
            <a:endParaRPr lang="en-US" sz="1200" dirty="0"/>
          </a:p>
        </p:txBody>
      </p:sp>
      <p:sp>
        <p:nvSpPr>
          <p:cNvPr id="35" name="Shape 33"/>
          <p:cNvSpPr/>
          <p:nvPr/>
        </p:nvSpPr>
        <p:spPr>
          <a:xfrm>
            <a:off x="5559552" y="3364992"/>
            <a:ext cx="5989320" cy="1243584"/>
          </a:xfrm>
          <a:prstGeom prst="roundRect">
            <a:avLst>
              <a:gd name="adj" fmla="val 8824"/>
            </a:avLst>
          </a:prstGeom>
          <a:solidFill>
            <a:srgbClr val="101613"/>
          </a:solidFill>
          <a:ln w="12700">
            <a:solidFill>
              <a:srgbClr val="1C2420"/>
            </a:solidFill>
            <a:prstDash val="solid"/>
          </a:ln>
        </p:spPr>
      </p:sp>
      <p:sp>
        <p:nvSpPr>
          <p:cNvPr id="36" name="Shape 34"/>
          <p:cNvSpPr/>
          <p:nvPr/>
        </p:nvSpPr>
        <p:spPr>
          <a:xfrm>
            <a:off x="5852160" y="3657600"/>
            <a:ext cx="310896" cy="310896"/>
          </a:xfrm>
          <a:prstGeom prst="ellipse">
            <a:avLst/>
          </a:prstGeom>
          <a:solidFill>
            <a:srgbClr val="22C55E"/>
          </a:solidFill>
          <a:ln/>
        </p:spPr>
      </p:sp>
      <p:sp>
        <p:nvSpPr>
          <p:cNvPr id="37" name="Text 35"/>
          <p:cNvSpPr/>
          <p:nvPr/>
        </p:nvSpPr>
        <p:spPr>
          <a:xfrm>
            <a:off x="5852160" y="3657600"/>
            <a:ext cx="310896" cy="310896"/>
          </a:xfrm>
          <a:prstGeom prst="rect">
            <a:avLst/>
          </a:prstGeom>
          <a:noFill/>
          <a:ln/>
        </p:spPr>
        <p:txBody>
          <a:bodyPr wrap="square" lIns="0" tIns="0" rIns="0" bIns="0" rtlCol="0" anchor="ctr"/>
          <a:lstStyle/>
          <a:p>
            <a:pPr algn="ctr" indent="0" marL="0">
              <a:buNone/>
            </a:pPr>
            <a:r>
              <a:rPr lang="en-US" sz="1200" b="1" dirty="0">
                <a:solidFill>
                  <a:srgbClr val="06140C"/>
                </a:solidFill>
                <a:latin typeface="Calibri" pitchFamily="34" charset="0"/>
                <a:ea typeface="Calibri" pitchFamily="34" charset="-122"/>
                <a:cs typeface="Calibri" pitchFamily="34" charset="-120"/>
              </a:rPr>
              <a:t>2</a:t>
            </a:r>
            <a:endParaRPr lang="en-US" sz="1200" dirty="0"/>
          </a:p>
        </p:txBody>
      </p:sp>
      <p:sp>
        <p:nvSpPr>
          <p:cNvPr id="38" name="Text 36"/>
          <p:cNvSpPr/>
          <p:nvPr/>
        </p:nvSpPr>
        <p:spPr>
          <a:xfrm>
            <a:off x="6272784" y="3602736"/>
            <a:ext cx="5029200" cy="310896"/>
          </a:xfrm>
          <a:prstGeom prst="rect">
            <a:avLst/>
          </a:prstGeom>
          <a:noFill/>
          <a:ln/>
        </p:spPr>
        <p:txBody>
          <a:bodyPr wrap="square" lIns="0" tIns="0" rIns="0" bIns="0" rtlCol="0" anchor="ctr"/>
          <a:lstStyle/>
          <a:p>
            <a:pPr indent="0" marL="0">
              <a:buNone/>
            </a:pPr>
            <a:r>
              <a:rPr lang="en-US" sz="1550" b="1" dirty="0">
                <a:solidFill>
                  <a:srgbClr val="F4F7F5"/>
                </a:solidFill>
                <a:latin typeface="Calibri" pitchFamily="34" charset="0"/>
                <a:ea typeface="Calibri" pitchFamily="34" charset="-122"/>
                <a:cs typeface="Calibri" pitchFamily="34" charset="-120"/>
              </a:rPr>
              <a:t>The portfolio grades itself</a:t>
            </a:r>
            <a:endParaRPr lang="en-US" sz="1550" dirty="0"/>
          </a:p>
        </p:txBody>
      </p:sp>
      <p:sp>
        <p:nvSpPr>
          <p:cNvPr id="39" name="Text 37"/>
          <p:cNvSpPr/>
          <p:nvPr/>
        </p:nvSpPr>
        <p:spPr>
          <a:xfrm>
            <a:off x="6272784" y="3950208"/>
            <a:ext cx="5029200" cy="512064"/>
          </a:xfrm>
          <a:prstGeom prst="rect">
            <a:avLst/>
          </a:prstGeom>
          <a:noFill/>
          <a:ln/>
        </p:spPr>
        <p:txBody>
          <a:bodyPr wrap="square" lIns="0" tIns="0" rIns="0" bIns="0" rtlCol="0" anchor="t"/>
          <a:lstStyle/>
          <a:p>
            <a:pPr indent="0" marL="0">
              <a:lnSpc>
                <a:spcPct val="115000"/>
              </a:lnSpc>
              <a:buNone/>
            </a:pPr>
            <a:r>
              <a:rPr lang="en-US" sz="1200" dirty="0">
                <a:solidFill>
                  <a:srgbClr val="9BA8A0"/>
                </a:solidFill>
                <a:latin typeface="Calibri" pitchFamily="34" charset="0"/>
                <a:ea typeface="Calibri" pitchFamily="34" charset="-122"/>
                <a:cs typeface="Calibri" pitchFamily="34" charset="-120"/>
              </a:rPr>
              <a:t>Every position is tracked against the one number that matters — are you going to get there, and by when.</a:t>
            </a:r>
            <a:endParaRPr lang="en-US" sz="1200" dirty="0"/>
          </a:p>
        </p:txBody>
      </p:sp>
      <p:sp>
        <p:nvSpPr>
          <p:cNvPr id="40" name="Shape 38"/>
          <p:cNvSpPr/>
          <p:nvPr/>
        </p:nvSpPr>
        <p:spPr>
          <a:xfrm>
            <a:off x="5559552" y="4718304"/>
            <a:ext cx="5989320" cy="1243584"/>
          </a:xfrm>
          <a:prstGeom prst="roundRect">
            <a:avLst>
              <a:gd name="adj" fmla="val 8824"/>
            </a:avLst>
          </a:prstGeom>
          <a:solidFill>
            <a:srgbClr val="101613"/>
          </a:solidFill>
          <a:ln w="12700">
            <a:solidFill>
              <a:srgbClr val="1C2420"/>
            </a:solidFill>
            <a:prstDash val="solid"/>
          </a:ln>
        </p:spPr>
      </p:sp>
      <p:sp>
        <p:nvSpPr>
          <p:cNvPr id="41" name="Shape 39"/>
          <p:cNvSpPr/>
          <p:nvPr/>
        </p:nvSpPr>
        <p:spPr>
          <a:xfrm>
            <a:off x="5852160" y="5010912"/>
            <a:ext cx="310896" cy="310896"/>
          </a:xfrm>
          <a:prstGeom prst="ellipse">
            <a:avLst/>
          </a:prstGeom>
          <a:solidFill>
            <a:srgbClr val="22C55E"/>
          </a:solidFill>
          <a:ln/>
        </p:spPr>
      </p:sp>
      <p:sp>
        <p:nvSpPr>
          <p:cNvPr id="42" name="Text 40"/>
          <p:cNvSpPr/>
          <p:nvPr/>
        </p:nvSpPr>
        <p:spPr>
          <a:xfrm>
            <a:off x="5852160" y="5010912"/>
            <a:ext cx="310896" cy="310896"/>
          </a:xfrm>
          <a:prstGeom prst="rect">
            <a:avLst/>
          </a:prstGeom>
          <a:noFill/>
          <a:ln/>
        </p:spPr>
        <p:txBody>
          <a:bodyPr wrap="square" lIns="0" tIns="0" rIns="0" bIns="0" rtlCol="0" anchor="ctr"/>
          <a:lstStyle/>
          <a:p>
            <a:pPr algn="ctr" indent="0" marL="0">
              <a:buNone/>
            </a:pPr>
            <a:r>
              <a:rPr lang="en-US" sz="1200" b="1" dirty="0">
                <a:solidFill>
                  <a:srgbClr val="06140C"/>
                </a:solidFill>
                <a:latin typeface="Calibri" pitchFamily="34" charset="0"/>
                <a:ea typeface="Calibri" pitchFamily="34" charset="-122"/>
                <a:cs typeface="Calibri" pitchFamily="34" charset="-120"/>
              </a:rPr>
              <a:t>3</a:t>
            </a:r>
            <a:endParaRPr lang="en-US" sz="1200" dirty="0"/>
          </a:p>
        </p:txBody>
      </p:sp>
      <p:sp>
        <p:nvSpPr>
          <p:cNvPr id="43" name="Text 41"/>
          <p:cNvSpPr/>
          <p:nvPr/>
        </p:nvSpPr>
        <p:spPr>
          <a:xfrm>
            <a:off x="6272784" y="4956048"/>
            <a:ext cx="5029200" cy="310896"/>
          </a:xfrm>
          <a:prstGeom prst="rect">
            <a:avLst/>
          </a:prstGeom>
          <a:noFill/>
          <a:ln/>
        </p:spPr>
        <p:txBody>
          <a:bodyPr wrap="square" lIns="0" tIns="0" rIns="0" bIns="0" rtlCol="0" anchor="ctr"/>
          <a:lstStyle/>
          <a:p>
            <a:pPr indent="0" marL="0">
              <a:buNone/>
            </a:pPr>
            <a:r>
              <a:rPr lang="en-US" sz="1550" b="1" dirty="0">
                <a:solidFill>
                  <a:srgbClr val="F4F7F5"/>
                </a:solidFill>
                <a:latin typeface="Calibri" pitchFamily="34" charset="0"/>
                <a:ea typeface="Calibri" pitchFamily="34" charset="-122"/>
                <a:cs typeface="Calibri" pitchFamily="34" charset="-120"/>
              </a:rPr>
              <a:t>It gives us a reason to be opened again</a:t>
            </a:r>
            <a:endParaRPr lang="en-US" sz="1550" dirty="0"/>
          </a:p>
        </p:txBody>
      </p:sp>
      <p:sp>
        <p:nvSpPr>
          <p:cNvPr id="44" name="Text 42"/>
          <p:cNvSpPr/>
          <p:nvPr/>
        </p:nvSpPr>
        <p:spPr>
          <a:xfrm>
            <a:off x="6272784" y="5303520"/>
            <a:ext cx="5029200" cy="512064"/>
          </a:xfrm>
          <a:prstGeom prst="rect">
            <a:avLst/>
          </a:prstGeom>
          <a:noFill/>
          <a:ln/>
        </p:spPr>
        <p:txBody>
          <a:bodyPr wrap="square" lIns="0" tIns="0" rIns="0" bIns="0" rtlCol="0" anchor="t"/>
          <a:lstStyle/>
          <a:p>
            <a:pPr indent="0" marL="0">
              <a:lnSpc>
                <a:spcPct val="115000"/>
              </a:lnSpc>
              <a:buNone/>
            </a:pPr>
            <a:r>
              <a:rPr lang="en-US" sz="1200" dirty="0">
                <a:solidFill>
                  <a:srgbClr val="9BA8A0"/>
                </a:solidFill>
                <a:latin typeface="Calibri" pitchFamily="34" charset="0"/>
                <a:ea typeface="Calibri" pitchFamily="34" charset="-122"/>
                <a:cs typeface="Calibri" pitchFamily="34" charset="-120"/>
              </a:rPr>
              <a:t>A goal that's 25% full is a standing invitation to come back. A one-off stock tip is not.</a:t>
            </a:r>
            <a:endParaRPr lang="en-US" sz="1200" dirty="0"/>
          </a:p>
        </p:txBody>
      </p:sp>
      <p:sp>
        <p:nvSpPr>
          <p:cNvPr id="45" name="Shape 43"/>
          <p:cNvSpPr/>
          <p:nvPr/>
        </p:nvSpPr>
        <p:spPr>
          <a:xfrm>
            <a:off x="640080" y="6035040"/>
            <a:ext cx="10908792" cy="420624"/>
          </a:xfrm>
          <a:prstGeom prst="roundRect">
            <a:avLst>
              <a:gd name="adj" fmla="val 26087"/>
            </a:avLst>
          </a:prstGeom>
          <a:solidFill>
            <a:srgbClr val="161D19"/>
          </a:solidFill>
          <a:ln w="12700">
            <a:solidFill>
              <a:srgbClr val="2A352F"/>
            </a:solidFill>
            <a:prstDash val="solid"/>
          </a:ln>
        </p:spPr>
      </p:sp>
      <p:sp>
        <p:nvSpPr>
          <p:cNvPr id="46" name="Text 44"/>
          <p:cNvSpPr/>
          <p:nvPr/>
        </p:nvSpPr>
        <p:spPr>
          <a:xfrm>
            <a:off x="868680" y="6035040"/>
            <a:ext cx="10469880" cy="420624"/>
          </a:xfrm>
          <a:prstGeom prst="rect">
            <a:avLst/>
          </a:prstGeom>
          <a:noFill/>
          <a:ln/>
        </p:spPr>
        <p:txBody>
          <a:bodyPr wrap="square" lIns="0" tIns="0" rIns="0" bIns="0" rtlCol="0" anchor="ctr"/>
          <a:lstStyle/>
          <a:p>
            <a:pPr indent="0" marL="0">
              <a:lnSpc>
                <a:spcPct val="110000"/>
              </a:lnSpc>
              <a:buNone/>
            </a:pPr>
            <a:r>
              <a:rPr lang="en-US" sz="1200" dirty="0">
                <a:solidFill>
                  <a:srgbClr val="F4F7F5"/>
                </a:solidFill>
                <a:latin typeface="Calibri" pitchFamily="34" charset="0"/>
                <a:ea typeface="Calibri" pitchFamily="34" charset="-122"/>
                <a:cs typeface="Calibri" pitchFamily="34" charset="-120"/>
              </a:rPr>
              <a:t>This is the retention mechanic. The goal is the reason the app is worth a subscription instead of a single visit.</a:t>
            </a:r>
            <a:endParaRPr lang="en-US" sz="1200" dirty="0"/>
          </a:p>
        </p:txBody>
      </p:sp>
      <p:sp>
        <p:nvSpPr>
          <p:cNvPr id="48" name="Text 45"/>
          <p:cNvSpPr/>
          <p:nvPr/>
        </p:nvSpPr>
        <p:spPr>
          <a:xfrm>
            <a:off x="9692640" y="6528816"/>
            <a:ext cx="1188720" cy="237744"/>
          </a:xfrm>
          <a:prstGeom prst="rect">
            <a:avLst/>
          </a:prstGeom>
          <a:noFill/>
          <a:ln/>
        </p:spPr>
        <p:txBody>
          <a:bodyPr wrap="square" lIns="0" tIns="0" rIns="0" bIns="0" rtlCol="0" anchor="ctr"/>
          <a:lstStyle/>
          <a:p>
            <a:pPr algn="r" indent="0" marL="0">
              <a:buNone/>
            </a:pPr>
            <a:r>
              <a:rPr lang="en-US" sz="850" b="1" spc="140" kern="0" dirty="0">
                <a:solidFill>
                  <a:srgbClr val="67726B"/>
                </a:solidFill>
                <a:latin typeface="Calibri" pitchFamily="34" charset="0"/>
                <a:ea typeface="Calibri" pitchFamily="34" charset="-122"/>
                <a:cs typeface="Calibri" pitchFamily="34" charset="-120"/>
              </a:rPr>
              <a:t>POLYPROFIT</a:t>
            </a:r>
            <a:endParaRPr lang="en-US" sz="850" dirty="0"/>
          </a:p>
        </p:txBody>
      </p:sp>
      <p:sp>
        <p:nvSpPr>
          <p:cNvPr id="49" name="Text 46"/>
          <p:cNvSpPr/>
          <p:nvPr/>
        </p:nvSpPr>
        <p:spPr>
          <a:xfrm>
            <a:off x="11018520" y="6528816"/>
            <a:ext cx="530352" cy="237744"/>
          </a:xfrm>
          <a:prstGeom prst="rect">
            <a:avLst/>
          </a:prstGeom>
          <a:noFill/>
          <a:ln/>
        </p:spPr>
        <p:txBody>
          <a:bodyPr wrap="square" lIns="0" tIns="0" rIns="0" bIns="0" rtlCol="0" anchor="ctr"/>
          <a:lstStyle/>
          <a:p>
            <a:pPr algn="r" indent="0" marL="0">
              <a:buNone/>
            </a:pPr>
            <a:r>
              <a:rPr lang="en-US" sz="850" b="1" dirty="0">
                <a:solidFill>
                  <a:srgbClr val="22C55E"/>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B09"/>
        </a:solidFill>
      </p:bgPr>
    </p:bg>
    <p:spTree>
      <p:nvGrpSpPr>
        <p:cNvPr id="1" name=""/>
        <p:cNvGrpSpPr/>
        <p:nvPr/>
      </p:nvGrpSpPr>
      <p:grpSpPr>
        <a:xfrm>
          <a:off x="0" y="0"/>
          <a:ext cx="0" cy="0"/>
          <a:chOff x="0" y="0"/>
          <a:chExt cx="0" cy="0"/>
        </a:xfrm>
      </p:grpSpPr>
      <p:sp>
        <p:nvSpPr>
          <p:cNvPr id="2" name="Shape 0"/>
          <p:cNvSpPr/>
          <p:nvPr/>
        </p:nvSpPr>
        <p:spPr>
          <a:xfrm>
            <a:off x="7863840" y="3291840"/>
            <a:ext cx="5852160" cy="5852160"/>
          </a:xfrm>
          <a:prstGeom prst="ellipse">
            <a:avLst/>
          </a:prstGeom>
          <a:solidFill>
            <a:srgbClr val="22C55E">
              <a:alpha val="6000"/>
            </a:srgbClr>
          </a:solidFill>
          <a:ln/>
        </p:spPr>
      </p:sp>
      <p:sp>
        <p:nvSpPr>
          <p:cNvPr id="3" name="Text 1"/>
          <p:cNvSpPr/>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22C55E"/>
                </a:solidFill>
                <a:latin typeface="Calibri" pitchFamily="34" charset="0"/>
                <a:ea typeface="Calibri" pitchFamily="34" charset="-122"/>
                <a:cs typeface="Calibri" pitchFamily="34" charset="-120"/>
              </a:rPr>
              <a:t>05  ·  THE FEATURE PEOPLE TALK ABOUT</a:t>
            </a:r>
            <a:endParaRPr lang="en-US" sz="1100" dirty="0"/>
          </a:p>
        </p:txBody>
      </p:sp>
      <p:sp>
        <p:nvSpPr>
          <p:cNvPr id="4" name="Text 2"/>
          <p:cNvSpPr/>
          <p:nvPr/>
        </p:nvSpPr>
        <p:spPr>
          <a:xfrm>
            <a:off x="640080" y="777240"/>
            <a:ext cx="10881360" cy="685800"/>
          </a:xfrm>
          <a:prstGeom prst="rect">
            <a:avLst/>
          </a:prstGeom>
          <a:noFill/>
          <a:ln/>
        </p:spPr>
        <p:txBody>
          <a:bodyPr wrap="square" lIns="0" tIns="0" rIns="0" bIns="0" rtlCol="0" anchor="t"/>
          <a:lstStyle/>
          <a:p>
            <a:pPr indent="0" marL="0">
              <a:lnSpc>
                <a:spcPct val="105000"/>
              </a:lnSpc>
              <a:buNone/>
            </a:pPr>
            <a:r>
              <a:rPr lang="en-US" sz="3300" b="1" dirty="0">
                <a:solidFill>
                  <a:srgbClr val="F4F7F5"/>
                </a:solidFill>
                <a:latin typeface="Calibri" pitchFamily="34" charset="0"/>
                <a:ea typeface="Calibri" pitchFamily="34" charset="-122"/>
                <a:cs typeface="Calibri" pitchFamily="34" charset="-120"/>
              </a:rPr>
              <a:t>Every pick answers questions.</a:t>
            </a:r>
            <a:endParaRPr lang="en-US" sz="3300" dirty="0"/>
          </a:p>
        </p:txBody>
      </p:sp>
      <p:sp>
        <p:nvSpPr>
          <p:cNvPr id="5" name="Text 3"/>
          <p:cNvSpPr/>
          <p:nvPr/>
        </p:nvSpPr>
        <p:spPr>
          <a:xfrm>
            <a:off x="640080" y="1517904"/>
            <a:ext cx="10424160" cy="384048"/>
          </a:xfrm>
          <a:prstGeom prst="rect">
            <a:avLst/>
          </a:prstGeom>
          <a:noFill/>
          <a:ln/>
        </p:spPr>
        <p:txBody>
          <a:bodyPr wrap="square" lIns="0" tIns="0" rIns="0" bIns="0" rtlCol="0" anchor="t"/>
          <a:lstStyle/>
          <a:p>
            <a:pPr indent="0" marL="0">
              <a:lnSpc>
                <a:spcPct val="115000"/>
              </a:lnSpc>
              <a:buNone/>
            </a:pPr>
            <a:r>
              <a:rPr lang="en-US" sz="1350" dirty="0">
                <a:solidFill>
                  <a:srgbClr val="9BA8A0"/>
                </a:solidFill>
                <a:latin typeface="Calibri" pitchFamily="34" charset="0"/>
                <a:ea typeface="Calibri" pitchFamily="34" charset="-122"/>
                <a:cs typeface="Calibri" pitchFamily="34" charset="-120"/>
              </a:rPr>
              <a:t>Tap any route and ask it anything — why it's ranked there, what could go wrong, how much to put in. In plain English, about that specific pick.</a:t>
            </a:r>
            <a:endParaRPr lang="en-US" sz="1350" dirty="0"/>
          </a:p>
        </p:txBody>
      </p:sp>
      <p:sp>
        <p:nvSpPr>
          <p:cNvPr id="6" name="Shape 4"/>
          <p:cNvSpPr/>
          <p:nvPr/>
        </p:nvSpPr>
        <p:spPr>
          <a:xfrm>
            <a:off x="640080" y="2084832"/>
            <a:ext cx="5943600" cy="3822192"/>
          </a:xfrm>
          <a:prstGeom prst="roundRect">
            <a:avLst>
              <a:gd name="adj" fmla="val 3349"/>
            </a:avLst>
          </a:prstGeom>
          <a:solidFill>
            <a:srgbClr val="161D19"/>
          </a:solidFill>
          <a:ln w="12700">
            <a:solidFill>
              <a:srgbClr val="2A352F"/>
            </a:solidFill>
            <a:prstDash val="solid"/>
          </a:ln>
        </p:spPr>
      </p:sp>
      <p:sp>
        <p:nvSpPr>
          <p:cNvPr id="7" name="Text 5"/>
          <p:cNvSpPr/>
          <p:nvPr/>
        </p:nvSpPr>
        <p:spPr>
          <a:xfrm>
            <a:off x="914400" y="2304288"/>
            <a:ext cx="1828800" cy="274320"/>
          </a:xfrm>
          <a:prstGeom prst="rect">
            <a:avLst/>
          </a:prstGeom>
          <a:noFill/>
          <a:ln/>
        </p:spPr>
        <p:txBody>
          <a:bodyPr wrap="square" lIns="0" tIns="0" rIns="0" bIns="0" rtlCol="0" anchor="ctr"/>
          <a:lstStyle/>
          <a:p>
            <a:pPr indent="0" marL="0">
              <a:buNone/>
            </a:pPr>
            <a:r>
              <a:rPr lang="en-US" sz="1400" b="1" dirty="0">
                <a:solidFill>
                  <a:srgbClr val="F4F7F5"/>
                </a:solidFill>
                <a:latin typeface="Calibri" pitchFamily="34" charset="0"/>
                <a:ea typeface="Calibri" pitchFamily="34" charset="-122"/>
                <a:cs typeface="Calibri" pitchFamily="34" charset="-120"/>
              </a:rPr>
              <a:t>AI Coach</a:t>
            </a:r>
            <a:endParaRPr lang="en-US" sz="1400" dirty="0"/>
          </a:p>
        </p:txBody>
      </p:sp>
      <p:sp>
        <p:nvSpPr>
          <p:cNvPr id="8" name="Shape 6"/>
          <p:cNvSpPr/>
          <p:nvPr/>
        </p:nvSpPr>
        <p:spPr>
          <a:xfrm>
            <a:off x="5650992" y="2322576"/>
            <a:ext cx="658368" cy="237744"/>
          </a:xfrm>
          <a:prstGeom prst="roundRect">
            <a:avLst>
              <a:gd name="adj" fmla="val 192308"/>
            </a:avLst>
          </a:prstGeom>
          <a:solidFill>
            <a:srgbClr val="161D19"/>
          </a:solidFill>
          <a:ln w="12700">
            <a:solidFill>
              <a:srgbClr val="22C55E"/>
            </a:solidFill>
            <a:prstDash val="solid"/>
          </a:ln>
        </p:spPr>
      </p:sp>
      <p:sp>
        <p:nvSpPr>
          <p:cNvPr id="9" name="Text 7"/>
          <p:cNvSpPr/>
          <p:nvPr/>
        </p:nvSpPr>
        <p:spPr>
          <a:xfrm>
            <a:off x="5650992" y="2322576"/>
            <a:ext cx="658368" cy="237744"/>
          </a:xfrm>
          <a:prstGeom prst="rect">
            <a:avLst/>
          </a:prstGeom>
          <a:noFill/>
          <a:ln/>
        </p:spPr>
        <p:txBody>
          <a:bodyPr wrap="square" lIns="0" tIns="0" rIns="0" bIns="0" rtlCol="0" anchor="ctr"/>
          <a:lstStyle/>
          <a:p>
            <a:pPr algn="ctr" indent="0" marL="0">
              <a:buNone/>
            </a:pPr>
            <a:r>
              <a:rPr lang="en-US" sz="850" b="1" spc="80" kern="0" dirty="0">
                <a:solidFill>
                  <a:srgbClr val="22C55E"/>
                </a:solidFill>
                <a:latin typeface="Calibri" pitchFamily="34" charset="0"/>
                <a:ea typeface="Calibri" pitchFamily="34" charset="-122"/>
                <a:cs typeface="Calibri" pitchFamily="34" charset="-120"/>
              </a:rPr>
              <a:t>BETA</a:t>
            </a:r>
            <a:endParaRPr lang="en-US" sz="850" dirty="0"/>
          </a:p>
        </p:txBody>
      </p:sp>
      <p:sp>
        <p:nvSpPr>
          <p:cNvPr id="10" name="Shape 8"/>
          <p:cNvSpPr/>
          <p:nvPr/>
        </p:nvSpPr>
        <p:spPr>
          <a:xfrm>
            <a:off x="914400" y="2651760"/>
            <a:ext cx="5394960" cy="566928"/>
          </a:xfrm>
          <a:prstGeom prst="roundRect">
            <a:avLst>
              <a:gd name="adj" fmla="val 16129"/>
            </a:avLst>
          </a:prstGeom>
          <a:solidFill>
            <a:srgbClr val="101613"/>
          </a:solidFill>
          <a:ln w="12700">
            <a:solidFill>
              <a:srgbClr val="1C2420"/>
            </a:solidFill>
            <a:prstDash val="solid"/>
          </a:ln>
        </p:spPr>
      </p:sp>
      <p:sp>
        <p:nvSpPr>
          <p:cNvPr id="11" name="Text 9"/>
          <p:cNvSpPr/>
          <p:nvPr/>
        </p:nvSpPr>
        <p:spPr>
          <a:xfrm>
            <a:off x="1060704" y="2651760"/>
            <a:ext cx="5120640" cy="566928"/>
          </a:xfrm>
          <a:prstGeom prst="rect">
            <a:avLst/>
          </a:prstGeom>
          <a:noFill/>
          <a:ln/>
        </p:spPr>
        <p:txBody>
          <a:bodyPr wrap="square" lIns="0" tIns="0" rIns="0" bIns="0" rtlCol="0" anchor="ctr"/>
          <a:lstStyle/>
          <a:p>
            <a:pPr indent="0" marL="0">
              <a:lnSpc>
                <a:spcPct val="110000"/>
              </a:lnSpc>
              <a:buNone/>
            </a:pPr>
            <a:r>
              <a:rPr lang="en-US" sz="1050" dirty="0">
                <a:solidFill>
                  <a:srgbClr val="9BA8A0"/>
                </a:solidFill>
                <a:latin typeface="Calibri" pitchFamily="34" charset="0"/>
                <a:ea typeface="Calibri" pitchFamily="34" charset="-122"/>
                <a:cs typeface="Calibri" pitchFamily="34" charset="-120"/>
              </a:rPr>
              <a:t>This route has an 88% chance of reaching your goal, with $120 of potential profit. Ask me why it ranks here, what could go wrong, or how to size it.</a:t>
            </a:r>
            <a:endParaRPr lang="en-US" sz="1050" dirty="0"/>
          </a:p>
        </p:txBody>
      </p:sp>
      <p:sp>
        <p:nvSpPr>
          <p:cNvPr id="12" name="Shape 10"/>
          <p:cNvSpPr/>
          <p:nvPr/>
        </p:nvSpPr>
        <p:spPr>
          <a:xfrm>
            <a:off x="4114800" y="3328416"/>
            <a:ext cx="2194560" cy="365760"/>
          </a:xfrm>
          <a:prstGeom prst="roundRect">
            <a:avLst>
              <a:gd name="adj" fmla="val 25000"/>
            </a:avLst>
          </a:prstGeom>
          <a:solidFill>
            <a:srgbClr val="22C55E"/>
          </a:solidFill>
          <a:ln/>
        </p:spPr>
      </p:sp>
      <p:sp>
        <p:nvSpPr>
          <p:cNvPr id="13" name="Text 11"/>
          <p:cNvSpPr/>
          <p:nvPr/>
        </p:nvSpPr>
        <p:spPr>
          <a:xfrm>
            <a:off x="4261104" y="3328416"/>
            <a:ext cx="1901952" cy="365760"/>
          </a:xfrm>
          <a:prstGeom prst="rect">
            <a:avLst/>
          </a:prstGeom>
          <a:noFill/>
          <a:ln/>
        </p:spPr>
        <p:txBody>
          <a:bodyPr wrap="square" lIns="0" tIns="0" rIns="0" bIns="0" rtlCol="0" anchor="ctr"/>
          <a:lstStyle/>
          <a:p>
            <a:pPr indent="0" marL="0">
              <a:lnSpc>
                <a:spcPct val="110000"/>
              </a:lnSpc>
              <a:buNone/>
            </a:pPr>
            <a:r>
              <a:rPr lang="en-US" sz="1050" b="1" dirty="0">
                <a:solidFill>
                  <a:srgbClr val="06140C"/>
                </a:solidFill>
                <a:latin typeface="Calibri" pitchFamily="34" charset="0"/>
                <a:ea typeface="Calibri" pitchFamily="34" charset="-122"/>
                <a:cs typeface="Calibri" pitchFamily="34" charset="-120"/>
              </a:rPr>
              <a:t>Why is this above the ETF?</a:t>
            </a:r>
            <a:endParaRPr lang="en-US" sz="1050" dirty="0"/>
          </a:p>
        </p:txBody>
      </p:sp>
      <p:sp>
        <p:nvSpPr>
          <p:cNvPr id="14" name="Shape 12"/>
          <p:cNvSpPr/>
          <p:nvPr/>
        </p:nvSpPr>
        <p:spPr>
          <a:xfrm>
            <a:off x="914400" y="3822192"/>
            <a:ext cx="5394960" cy="786384"/>
          </a:xfrm>
          <a:prstGeom prst="roundRect">
            <a:avLst>
              <a:gd name="adj" fmla="val 11628"/>
            </a:avLst>
          </a:prstGeom>
          <a:solidFill>
            <a:srgbClr val="101613"/>
          </a:solidFill>
          <a:ln w="12700">
            <a:solidFill>
              <a:srgbClr val="1C2420"/>
            </a:solidFill>
            <a:prstDash val="solid"/>
          </a:ln>
        </p:spPr>
      </p:sp>
      <p:sp>
        <p:nvSpPr>
          <p:cNvPr id="15" name="Text 13"/>
          <p:cNvSpPr/>
          <p:nvPr/>
        </p:nvSpPr>
        <p:spPr>
          <a:xfrm>
            <a:off x="1060704" y="3822192"/>
            <a:ext cx="5102352" cy="786384"/>
          </a:xfrm>
          <a:prstGeom prst="rect">
            <a:avLst/>
          </a:prstGeom>
          <a:noFill/>
          <a:ln/>
        </p:spPr>
        <p:txBody>
          <a:bodyPr wrap="square" lIns="0" tIns="0" rIns="0" bIns="0" rtlCol="0" anchor="ctr"/>
          <a:lstStyle/>
          <a:p>
            <a:pPr indent="0" marL="0">
              <a:lnSpc>
                <a:spcPct val="110000"/>
              </a:lnSpc>
              <a:buNone/>
            </a:pPr>
            <a:r>
              <a:rPr lang="en-US" sz="1050" dirty="0">
                <a:solidFill>
                  <a:srgbClr val="F4F7F5"/>
                </a:solidFill>
                <a:latin typeface="Calibri" pitchFamily="34" charset="0"/>
                <a:ea typeface="Calibri" pitchFamily="34" charset="-122"/>
                <a:cs typeface="Calibri" pitchFamily="34" charset="-120"/>
              </a:rPr>
              <a:t>The ETF needs the market to move about 2% in 91 days — close to a coin flip. This contract is already priced at 88¢ and the order book is deep enough to fill you. Less hope, more certainty.</a:t>
            </a:r>
            <a:endParaRPr lang="en-US" sz="1050" dirty="0"/>
          </a:p>
        </p:txBody>
      </p:sp>
      <p:sp>
        <p:nvSpPr>
          <p:cNvPr id="16" name="Shape 14"/>
          <p:cNvSpPr/>
          <p:nvPr/>
        </p:nvSpPr>
        <p:spPr>
          <a:xfrm>
            <a:off x="4297680" y="4736592"/>
            <a:ext cx="2011680" cy="365760"/>
          </a:xfrm>
          <a:prstGeom prst="roundRect">
            <a:avLst>
              <a:gd name="adj" fmla="val 25000"/>
            </a:avLst>
          </a:prstGeom>
          <a:solidFill>
            <a:srgbClr val="22C55E"/>
          </a:solidFill>
          <a:ln/>
        </p:spPr>
      </p:sp>
      <p:sp>
        <p:nvSpPr>
          <p:cNvPr id="17" name="Text 15"/>
          <p:cNvSpPr/>
          <p:nvPr/>
        </p:nvSpPr>
        <p:spPr>
          <a:xfrm>
            <a:off x="4443984" y="4736592"/>
            <a:ext cx="1719072" cy="365760"/>
          </a:xfrm>
          <a:prstGeom prst="rect">
            <a:avLst/>
          </a:prstGeom>
          <a:noFill/>
          <a:ln/>
        </p:spPr>
        <p:txBody>
          <a:bodyPr wrap="square" lIns="0" tIns="0" rIns="0" bIns="0" rtlCol="0" anchor="ctr"/>
          <a:lstStyle/>
          <a:p>
            <a:pPr indent="0" marL="0">
              <a:lnSpc>
                <a:spcPct val="110000"/>
              </a:lnSpc>
              <a:buNone/>
            </a:pPr>
            <a:r>
              <a:rPr lang="en-US" sz="1050" b="1" dirty="0">
                <a:solidFill>
                  <a:srgbClr val="06140C"/>
                </a:solidFill>
                <a:latin typeface="Calibri" pitchFamily="34" charset="0"/>
                <a:ea typeface="Calibri" pitchFamily="34" charset="-122"/>
                <a:cs typeface="Calibri" pitchFamily="34" charset="-120"/>
              </a:rPr>
              <a:t>What could go wrong?</a:t>
            </a:r>
            <a:endParaRPr lang="en-US" sz="1050" dirty="0"/>
          </a:p>
        </p:txBody>
      </p:sp>
      <p:sp>
        <p:nvSpPr>
          <p:cNvPr id="18" name="Shape 16"/>
          <p:cNvSpPr/>
          <p:nvPr/>
        </p:nvSpPr>
        <p:spPr>
          <a:xfrm>
            <a:off x="914400" y="5230368"/>
            <a:ext cx="5394960" cy="658368"/>
          </a:xfrm>
          <a:prstGeom prst="roundRect">
            <a:avLst>
              <a:gd name="adj" fmla="val 13889"/>
            </a:avLst>
          </a:prstGeom>
          <a:solidFill>
            <a:srgbClr val="101613"/>
          </a:solidFill>
          <a:ln w="12700">
            <a:solidFill>
              <a:srgbClr val="1C2420"/>
            </a:solidFill>
            <a:prstDash val="solid"/>
          </a:ln>
        </p:spPr>
      </p:sp>
      <p:sp>
        <p:nvSpPr>
          <p:cNvPr id="19" name="Text 17"/>
          <p:cNvSpPr/>
          <p:nvPr/>
        </p:nvSpPr>
        <p:spPr>
          <a:xfrm>
            <a:off x="1060704" y="5230368"/>
            <a:ext cx="5102352" cy="658368"/>
          </a:xfrm>
          <a:prstGeom prst="rect">
            <a:avLst/>
          </a:prstGeom>
          <a:noFill/>
          <a:ln/>
        </p:spPr>
        <p:txBody>
          <a:bodyPr wrap="square" lIns="0" tIns="0" rIns="0" bIns="0" rtlCol="0" anchor="ctr"/>
          <a:lstStyle/>
          <a:p>
            <a:pPr indent="0" marL="0">
              <a:lnSpc>
                <a:spcPct val="110000"/>
              </a:lnSpc>
              <a:buNone/>
            </a:pPr>
            <a:r>
              <a:rPr lang="en-US" sz="1050" dirty="0">
                <a:solidFill>
                  <a:srgbClr val="F4F7F5"/>
                </a:solidFill>
                <a:latin typeface="Calibri" pitchFamily="34" charset="0"/>
                <a:ea typeface="Calibri" pitchFamily="34" charset="-122"/>
                <a:cs typeface="Calibri" pitchFamily="34" charset="-120"/>
              </a:rPr>
              <a:t>It's all-or-nothing. If it misses, the whole stake is gone — which is exactly why we cap what a bet like this can score, no matter how good the odds look.</a:t>
            </a:r>
            <a:endParaRPr lang="en-US" sz="1050" dirty="0"/>
          </a:p>
        </p:txBody>
      </p:sp>
      <p:sp>
        <p:nvSpPr>
          <p:cNvPr id="20" name="Shape 18"/>
          <p:cNvSpPr/>
          <p:nvPr/>
        </p:nvSpPr>
        <p:spPr>
          <a:xfrm>
            <a:off x="6903720" y="2084832"/>
            <a:ext cx="4645152" cy="1188720"/>
          </a:xfrm>
          <a:prstGeom prst="roundRect">
            <a:avLst>
              <a:gd name="adj" fmla="val 9231"/>
            </a:avLst>
          </a:prstGeom>
          <a:solidFill>
            <a:srgbClr val="101613"/>
          </a:solidFill>
          <a:ln w="12700">
            <a:solidFill>
              <a:srgbClr val="1C2420"/>
            </a:solidFill>
            <a:prstDash val="solid"/>
          </a:ln>
        </p:spPr>
      </p:sp>
      <p:sp>
        <p:nvSpPr>
          <p:cNvPr id="21" name="Text 19"/>
          <p:cNvSpPr/>
          <p:nvPr/>
        </p:nvSpPr>
        <p:spPr>
          <a:xfrm>
            <a:off x="7178040" y="2231136"/>
            <a:ext cx="4114800" cy="292608"/>
          </a:xfrm>
          <a:prstGeom prst="rect">
            <a:avLst/>
          </a:prstGeom>
          <a:noFill/>
          <a:ln/>
        </p:spPr>
        <p:txBody>
          <a:bodyPr wrap="square" lIns="0" tIns="0" rIns="0" bIns="0" rtlCol="0" anchor="ctr"/>
          <a:lstStyle/>
          <a:p>
            <a:pPr indent="0" marL="0">
              <a:buNone/>
            </a:pPr>
            <a:r>
              <a:rPr lang="en-US" sz="1450" b="1" dirty="0">
                <a:solidFill>
                  <a:srgbClr val="22C55E"/>
                </a:solidFill>
                <a:latin typeface="Calibri" pitchFamily="34" charset="0"/>
                <a:ea typeface="Calibri" pitchFamily="34" charset="-122"/>
                <a:cs typeface="Calibri" pitchFamily="34" charset="-120"/>
              </a:rPr>
              <a:t>It kills the intimidation</a:t>
            </a:r>
            <a:endParaRPr lang="en-US" sz="1450" dirty="0"/>
          </a:p>
        </p:txBody>
      </p:sp>
      <p:sp>
        <p:nvSpPr>
          <p:cNvPr id="22" name="Text 20"/>
          <p:cNvSpPr/>
          <p:nvPr/>
        </p:nvSpPr>
        <p:spPr>
          <a:xfrm>
            <a:off x="7178040" y="2542032"/>
            <a:ext cx="4114800" cy="658368"/>
          </a:xfrm>
          <a:prstGeom prst="rect">
            <a:avLst/>
          </a:prstGeom>
          <a:noFill/>
          <a:ln/>
        </p:spPr>
        <p:txBody>
          <a:bodyPr wrap="square" lIns="0" tIns="0" rIns="0" bIns="0" rtlCol="0" anchor="t"/>
          <a:lstStyle/>
          <a:p>
            <a:pPr indent="0" marL="0">
              <a:lnSpc>
                <a:spcPct val="115000"/>
              </a:lnSpc>
              <a:buNone/>
            </a:pPr>
            <a:r>
              <a:rPr lang="en-US" sz="1150" dirty="0">
                <a:solidFill>
                  <a:srgbClr val="9BA8A0"/>
                </a:solidFill>
                <a:latin typeface="Calibri" pitchFamily="34" charset="0"/>
                <a:ea typeface="Calibri" pitchFamily="34" charset="-122"/>
                <a:cs typeface="Calibri" pitchFamily="34" charset="-120"/>
              </a:rPr>
              <a:t>Our first customers are not afraid of losing money. They're afraid of looking stupid. A private answer, on demand, removes the only real barrier to using this.</a:t>
            </a:r>
            <a:endParaRPr lang="en-US" sz="1150" dirty="0"/>
          </a:p>
        </p:txBody>
      </p:sp>
      <p:sp>
        <p:nvSpPr>
          <p:cNvPr id="23" name="Shape 21"/>
          <p:cNvSpPr/>
          <p:nvPr/>
        </p:nvSpPr>
        <p:spPr>
          <a:xfrm>
            <a:off x="6903720" y="3401568"/>
            <a:ext cx="4645152" cy="1188720"/>
          </a:xfrm>
          <a:prstGeom prst="roundRect">
            <a:avLst>
              <a:gd name="adj" fmla="val 9231"/>
            </a:avLst>
          </a:prstGeom>
          <a:solidFill>
            <a:srgbClr val="101613"/>
          </a:solidFill>
          <a:ln w="12700">
            <a:solidFill>
              <a:srgbClr val="1C2420"/>
            </a:solidFill>
            <a:prstDash val="solid"/>
          </a:ln>
        </p:spPr>
      </p:sp>
      <p:sp>
        <p:nvSpPr>
          <p:cNvPr id="24" name="Text 22"/>
          <p:cNvSpPr/>
          <p:nvPr/>
        </p:nvSpPr>
        <p:spPr>
          <a:xfrm>
            <a:off x="7178040" y="3547872"/>
            <a:ext cx="4114800" cy="292608"/>
          </a:xfrm>
          <a:prstGeom prst="rect">
            <a:avLst/>
          </a:prstGeom>
          <a:noFill/>
          <a:ln/>
        </p:spPr>
        <p:txBody>
          <a:bodyPr wrap="square" lIns="0" tIns="0" rIns="0" bIns="0" rtlCol="0" anchor="ctr"/>
          <a:lstStyle/>
          <a:p>
            <a:pPr indent="0" marL="0">
              <a:buNone/>
            </a:pPr>
            <a:r>
              <a:rPr lang="en-US" sz="1450" b="1" dirty="0">
                <a:solidFill>
                  <a:srgbClr val="22C55E"/>
                </a:solidFill>
                <a:latin typeface="Calibri" pitchFamily="34" charset="0"/>
                <a:ea typeface="Calibri" pitchFamily="34" charset="-122"/>
                <a:cs typeface="Calibri" pitchFamily="34" charset="-120"/>
              </a:rPr>
              <a:t>The AI can't invent anything</a:t>
            </a:r>
            <a:endParaRPr lang="en-US" sz="1450" dirty="0"/>
          </a:p>
        </p:txBody>
      </p:sp>
      <p:sp>
        <p:nvSpPr>
          <p:cNvPr id="25" name="Text 23"/>
          <p:cNvSpPr/>
          <p:nvPr/>
        </p:nvSpPr>
        <p:spPr>
          <a:xfrm>
            <a:off x="7178040" y="3858768"/>
            <a:ext cx="4114800" cy="658368"/>
          </a:xfrm>
          <a:prstGeom prst="rect">
            <a:avLst/>
          </a:prstGeom>
          <a:noFill/>
          <a:ln/>
        </p:spPr>
        <p:txBody>
          <a:bodyPr wrap="square" lIns="0" tIns="0" rIns="0" bIns="0" rtlCol="0" anchor="t"/>
          <a:lstStyle/>
          <a:p>
            <a:pPr indent="0" marL="0">
              <a:lnSpc>
                <a:spcPct val="115000"/>
              </a:lnSpc>
              <a:buNone/>
            </a:pPr>
            <a:r>
              <a:rPr lang="en-US" sz="1150" dirty="0">
                <a:solidFill>
                  <a:srgbClr val="9BA8A0"/>
                </a:solidFill>
                <a:latin typeface="Calibri" pitchFamily="34" charset="0"/>
                <a:ea typeface="Calibri" pitchFamily="34" charset="-122"/>
                <a:cs typeface="Calibri" pitchFamily="34" charset="-120"/>
              </a:rPr>
              <a:t>It explains the ranking; it never produces it. Every number it cites comes from a live price or the scoring engine — so it can't talk anyone into a route the data doesn't support.</a:t>
            </a:r>
            <a:endParaRPr lang="en-US" sz="1150" dirty="0"/>
          </a:p>
        </p:txBody>
      </p:sp>
      <p:sp>
        <p:nvSpPr>
          <p:cNvPr id="26" name="Shape 24"/>
          <p:cNvSpPr/>
          <p:nvPr/>
        </p:nvSpPr>
        <p:spPr>
          <a:xfrm>
            <a:off x="6903720" y="4718304"/>
            <a:ext cx="4645152" cy="1188720"/>
          </a:xfrm>
          <a:prstGeom prst="roundRect">
            <a:avLst>
              <a:gd name="adj" fmla="val 9231"/>
            </a:avLst>
          </a:prstGeom>
          <a:solidFill>
            <a:srgbClr val="101613"/>
          </a:solidFill>
          <a:ln w="12700">
            <a:solidFill>
              <a:srgbClr val="1C2420"/>
            </a:solidFill>
            <a:prstDash val="solid"/>
          </a:ln>
        </p:spPr>
      </p:sp>
      <p:sp>
        <p:nvSpPr>
          <p:cNvPr id="27" name="Text 25"/>
          <p:cNvSpPr/>
          <p:nvPr/>
        </p:nvSpPr>
        <p:spPr>
          <a:xfrm>
            <a:off x="7178040" y="4864608"/>
            <a:ext cx="4114800" cy="292608"/>
          </a:xfrm>
          <a:prstGeom prst="rect">
            <a:avLst/>
          </a:prstGeom>
          <a:noFill/>
          <a:ln/>
        </p:spPr>
        <p:txBody>
          <a:bodyPr wrap="square" lIns="0" tIns="0" rIns="0" bIns="0" rtlCol="0" anchor="ctr"/>
          <a:lstStyle/>
          <a:p>
            <a:pPr indent="0" marL="0">
              <a:buNone/>
            </a:pPr>
            <a:r>
              <a:rPr lang="en-US" sz="1450" b="1" dirty="0">
                <a:solidFill>
                  <a:srgbClr val="22C55E"/>
                </a:solidFill>
                <a:latin typeface="Calibri" pitchFamily="34" charset="0"/>
                <a:ea typeface="Calibri" pitchFamily="34" charset="-122"/>
                <a:cs typeface="Calibri" pitchFamily="34" charset="-120"/>
              </a:rPr>
              <a:t>It's the demo that sells the app</a:t>
            </a:r>
            <a:endParaRPr lang="en-US" sz="1450" dirty="0"/>
          </a:p>
        </p:txBody>
      </p:sp>
      <p:sp>
        <p:nvSpPr>
          <p:cNvPr id="28" name="Text 26"/>
          <p:cNvSpPr/>
          <p:nvPr/>
        </p:nvSpPr>
        <p:spPr>
          <a:xfrm>
            <a:off x="7178040" y="5175504"/>
            <a:ext cx="4114800" cy="658368"/>
          </a:xfrm>
          <a:prstGeom prst="rect">
            <a:avLst/>
          </a:prstGeom>
          <a:noFill/>
          <a:ln/>
        </p:spPr>
        <p:txBody>
          <a:bodyPr wrap="square" lIns="0" tIns="0" rIns="0" bIns="0" rtlCol="0" anchor="t"/>
          <a:lstStyle/>
          <a:p>
            <a:pPr indent="0" marL="0">
              <a:lnSpc>
                <a:spcPct val="115000"/>
              </a:lnSpc>
              <a:buNone/>
            </a:pPr>
            <a:r>
              <a:rPr lang="en-US" sz="1150" dirty="0">
                <a:solidFill>
                  <a:srgbClr val="9BA8A0"/>
                </a:solidFill>
                <a:latin typeface="Calibri" pitchFamily="34" charset="0"/>
                <a:ea typeface="Calibri" pitchFamily="34" charset="-122"/>
                <a:cs typeface="Calibri" pitchFamily="34" charset="-120"/>
              </a:rPr>
              <a:t>This is the moment in a demo where people lean in. It's also the screenshot they send to a friend, which is the cheapest customer acquisition we have.</a:t>
            </a:r>
            <a:endParaRPr lang="en-US" sz="1150" dirty="0"/>
          </a:p>
        </p:txBody>
      </p:sp>
      <p:sp>
        <p:nvSpPr>
          <p:cNvPr id="29" name="Shape 27"/>
          <p:cNvSpPr/>
          <p:nvPr/>
        </p:nvSpPr>
        <p:spPr>
          <a:xfrm>
            <a:off x="640080" y="6035040"/>
            <a:ext cx="10908792" cy="420624"/>
          </a:xfrm>
          <a:prstGeom prst="roundRect">
            <a:avLst>
              <a:gd name="adj" fmla="val 26087"/>
            </a:avLst>
          </a:prstGeom>
          <a:solidFill>
            <a:srgbClr val="161D19"/>
          </a:solidFill>
          <a:ln w="12700">
            <a:solidFill>
              <a:srgbClr val="2A352F"/>
            </a:solidFill>
            <a:prstDash val="solid"/>
          </a:ln>
        </p:spPr>
      </p:sp>
      <p:sp>
        <p:nvSpPr>
          <p:cNvPr id="30" name="Text 28"/>
          <p:cNvSpPr/>
          <p:nvPr/>
        </p:nvSpPr>
        <p:spPr>
          <a:xfrm>
            <a:off x="868680" y="6035040"/>
            <a:ext cx="10469880" cy="420624"/>
          </a:xfrm>
          <a:prstGeom prst="rect">
            <a:avLst/>
          </a:prstGeom>
          <a:noFill/>
          <a:ln/>
        </p:spPr>
        <p:txBody>
          <a:bodyPr wrap="square" lIns="0" tIns="0" rIns="0" bIns="0" rtlCol="0" anchor="ctr"/>
          <a:lstStyle/>
          <a:p>
            <a:pPr indent="0" marL="0">
              <a:lnSpc>
                <a:spcPct val="110000"/>
              </a:lnSpc>
              <a:buNone/>
            </a:pPr>
            <a:r>
              <a:rPr lang="en-US" sz="1200" dirty="0">
                <a:solidFill>
                  <a:srgbClr val="F4F7F5"/>
                </a:solidFill>
                <a:latin typeface="Calibri" pitchFamily="34" charset="0"/>
                <a:ea typeface="Calibri" pitchFamily="34" charset="-122"/>
                <a:cs typeface="Calibri" pitchFamily="34" charset="-120"/>
              </a:rPr>
              <a:t>Shipped and running on every route in the app today.</a:t>
            </a:r>
            <a:endParaRPr lang="en-US" sz="1200" dirty="0"/>
          </a:p>
        </p:txBody>
      </p:sp>
      <p:sp>
        <p:nvSpPr>
          <p:cNvPr id="32" name="Text 29"/>
          <p:cNvSpPr/>
          <p:nvPr/>
        </p:nvSpPr>
        <p:spPr>
          <a:xfrm>
            <a:off x="9692640" y="6528816"/>
            <a:ext cx="1188720" cy="237744"/>
          </a:xfrm>
          <a:prstGeom prst="rect">
            <a:avLst/>
          </a:prstGeom>
          <a:noFill/>
          <a:ln/>
        </p:spPr>
        <p:txBody>
          <a:bodyPr wrap="square" lIns="0" tIns="0" rIns="0" bIns="0" rtlCol="0" anchor="ctr"/>
          <a:lstStyle/>
          <a:p>
            <a:pPr algn="r" indent="0" marL="0">
              <a:buNone/>
            </a:pPr>
            <a:r>
              <a:rPr lang="en-US" sz="850" b="1" spc="140" kern="0" dirty="0">
                <a:solidFill>
                  <a:srgbClr val="67726B"/>
                </a:solidFill>
                <a:latin typeface="Calibri" pitchFamily="34" charset="0"/>
                <a:ea typeface="Calibri" pitchFamily="34" charset="-122"/>
                <a:cs typeface="Calibri" pitchFamily="34" charset="-120"/>
              </a:rPr>
              <a:t>POLYPROFIT</a:t>
            </a:r>
            <a:endParaRPr lang="en-US" sz="850" dirty="0"/>
          </a:p>
        </p:txBody>
      </p:sp>
      <p:sp>
        <p:nvSpPr>
          <p:cNvPr id="33" name="Text 30"/>
          <p:cNvSpPr/>
          <p:nvPr/>
        </p:nvSpPr>
        <p:spPr>
          <a:xfrm>
            <a:off x="11018520" y="6528816"/>
            <a:ext cx="530352" cy="237744"/>
          </a:xfrm>
          <a:prstGeom prst="rect">
            <a:avLst/>
          </a:prstGeom>
          <a:noFill/>
          <a:ln/>
        </p:spPr>
        <p:txBody>
          <a:bodyPr wrap="square" lIns="0" tIns="0" rIns="0" bIns="0" rtlCol="0" anchor="ctr"/>
          <a:lstStyle/>
          <a:p>
            <a:pPr algn="r" indent="0" marL="0">
              <a:buNone/>
            </a:pPr>
            <a:r>
              <a:rPr lang="en-US" sz="850" b="1" dirty="0">
                <a:solidFill>
                  <a:srgbClr val="22C55E"/>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B09"/>
        </a:solidFill>
      </p:bgPr>
    </p:bg>
    <p:spTree>
      <p:nvGrpSpPr>
        <p:cNvPr id="1" name=""/>
        <p:cNvGrpSpPr/>
        <p:nvPr/>
      </p:nvGrpSpPr>
      <p:grpSpPr>
        <a:xfrm>
          <a:off x="0" y="0"/>
          <a:ext cx="0" cy="0"/>
          <a:chOff x="0" y="0"/>
          <a:chExt cx="0" cy="0"/>
        </a:xfrm>
      </p:grpSpPr>
      <p:sp>
        <p:nvSpPr>
          <p:cNvPr id="2" name="Shape 0"/>
          <p:cNvSpPr/>
          <p:nvPr/>
        </p:nvSpPr>
        <p:spPr>
          <a:xfrm>
            <a:off x="-1828800" y="-2011680"/>
            <a:ext cx="5852160" cy="5852160"/>
          </a:xfrm>
          <a:prstGeom prst="ellipse">
            <a:avLst/>
          </a:prstGeom>
          <a:solidFill>
            <a:srgbClr val="22C55E">
              <a:alpha val="6000"/>
            </a:srgbClr>
          </a:solidFill>
          <a:ln/>
        </p:spPr>
      </p:sp>
      <p:sp>
        <p:nvSpPr>
          <p:cNvPr id="3" name="Text 1"/>
          <p:cNvSpPr/>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22C55E"/>
                </a:solidFill>
                <a:latin typeface="Calibri" pitchFamily="34" charset="0"/>
                <a:ea typeface="Calibri" pitchFamily="34" charset="-122"/>
                <a:cs typeface="Calibri" pitchFamily="34" charset="-120"/>
              </a:rPr>
              <a:t>06  ·  HOW THE RANKING WORKS</a:t>
            </a:r>
            <a:endParaRPr lang="en-US" sz="1100" dirty="0"/>
          </a:p>
        </p:txBody>
      </p:sp>
      <p:sp>
        <p:nvSpPr>
          <p:cNvPr id="4" name="Text 2"/>
          <p:cNvSpPr/>
          <p:nvPr/>
        </p:nvSpPr>
        <p:spPr>
          <a:xfrm>
            <a:off x="640080" y="777240"/>
            <a:ext cx="10881360" cy="685800"/>
          </a:xfrm>
          <a:prstGeom prst="rect">
            <a:avLst/>
          </a:prstGeom>
          <a:noFill/>
          <a:ln/>
        </p:spPr>
        <p:txBody>
          <a:bodyPr wrap="square" lIns="0" tIns="0" rIns="0" bIns="0" rtlCol="0" anchor="t"/>
          <a:lstStyle/>
          <a:p>
            <a:pPr indent="0" marL="0">
              <a:lnSpc>
                <a:spcPct val="105000"/>
              </a:lnSpc>
              <a:buNone/>
            </a:pPr>
            <a:r>
              <a:rPr lang="en-US" sz="3300" b="1" dirty="0">
                <a:solidFill>
                  <a:srgbClr val="F4F7F5"/>
                </a:solidFill>
                <a:latin typeface="Calibri" pitchFamily="34" charset="0"/>
                <a:ea typeface="Calibri" pitchFamily="34" charset="-122"/>
                <a:cs typeface="Calibri" pitchFamily="34" charset="-120"/>
              </a:rPr>
              <a:t>Four questions. One score. Nothing hidden.</a:t>
            </a:r>
            <a:endParaRPr lang="en-US" sz="3300" dirty="0"/>
          </a:p>
        </p:txBody>
      </p:sp>
      <p:sp>
        <p:nvSpPr>
          <p:cNvPr id="5" name="Text 3"/>
          <p:cNvSpPr/>
          <p:nvPr/>
        </p:nvSpPr>
        <p:spPr>
          <a:xfrm>
            <a:off x="640080" y="1517904"/>
            <a:ext cx="10424160" cy="384048"/>
          </a:xfrm>
          <a:prstGeom prst="rect">
            <a:avLst/>
          </a:prstGeom>
          <a:noFill/>
          <a:ln/>
        </p:spPr>
        <p:txBody>
          <a:bodyPr wrap="square" lIns="0" tIns="0" rIns="0" bIns="0" rtlCol="0" anchor="t"/>
          <a:lstStyle/>
          <a:p>
            <a:pPr indent="0" marL="0">
              <a:lnSpc>
                <a:spcPct val="115000"/>
              </a:lnSpc>
              <a:buNone/>
            </a:pPr>
            <a:r>
              <a:rPr lang="en-US" sz="1350" dirty="0">
                <a:solidFill>
                  <a:srgbClr val="9BA8A0"/>
                </a:solidFill>
                <a:latin typeface="Calibri" pitchFamily="34" charset="0"/>
                <a:ea typeface="Calibri" pitchFamily="34" charset="-122"/>
                <a:cs typeface="Calibri" pitchFamily="34" charset="-120"/>
              </a:rPr>
              <a:t>Every route on the list — a Treasury bill, an index fund, a live market contract — gets asked the same four questions. The answers are weighted, and the weights are published inside the app.</a:t>
            </a:r>
            <a:endParaRPr lang="en-US" sz="1350" dirty="0"/>
          </a:p>
        </p:txBody>
      </p:sp>
      <p:sp>
        <p:nvSpPr>
          <p:cNvPr id="6" name="Shape 4"/>
          <p:cNvSpPr/>
          <p:nvPr/>
        </p:nvSpPr>
        <p:spPr>
          <a:xfrm>
            <a:off x="640080" y="2212848"/>
            <a:ext cx="2569464" cy="1810512"/>
          </a:xfrm>
          <a:prstGeom prst="roundRect">
            <a:avLst>
              <a:gd name="adj" fmla="val 6061"/>
            </a:avLst>
          </a:prstGeom>
          <a:solidFill>
            <a:srgbClr val="101613"/>
          </a:solidFill>
          <a:ln w="12700">
            <a:solidFill>
              <a:srgbClr val="1C2420"/>
            </a:solidFill>
            <a:prstDash val="solid"/>
          </a:ln>
        </p:spPr>
      </p:sp>
      <p:sp>
        <p:nvSpPr>
          <p:cNvPr id="7" name="Text 5"/>
          <p:cNvSpPr/>
          <p:nvPr/>
        </p:nvSpPr>
        <p:spPr>
          <a:xfrm>
            <a:off x="896112" y="2395728"/>
            <a:ext cx="2103120" cy="566928"/>
          </a:xfrm>
          <a:prstGeom prst="rect">
            <a:avLst/>
          </a:prstGeom>
          <a:noFill/>
          <a:ln/>
        </p:spPr>
        <p:txBody>
          <a:bodyPr wrap="square" lIns="0" tIns="0" rIns="0" bIns="0" rtlCol="0" anchor="ctr"/>
          <a:lstStyle/>
          <a:p>
            <a:pPr indent="0" marL="0">
              <a:buNone/>
            </a:pPr>
            <a:r>
              <a:rPr lang="en-US" sz="3400" b="1" spc="-100" kern="0" dirty="0">
                <a:solidFill>
                  <a:srgbClr val="22C55E"/>
                </a:solidFill>
                <a:latin typeface="Calibri" pitchFamily="34" charset="0"/>
                <a:ea typeface="Calibri" pitchFamily="34" charset="-122"/>
                <a:cs typeface="Calibri" pitchFamily="34" charset="-120"/>
              </a:rPr>
              <a:t>35%</a:t>
            </a:r>
            <a:endParaRPr lang="en-US" sz="3400" dirty="0"/>
          </a:p>
        </p:txBody>
      </p:sp>
      <p:sp>
        <p:nvSpPr>
          <p:cNvPr id="8" name="Text 6"/>
          <p:cNvSpPr/>
          <p:nvPr/>
        </p:nvSpPr>
        <p:spPr>
          <a:xfrm>
            <a:off x="896112" y="2980944"/>
            <a:ext cx="2103120" cy="292608"/>
          </a:xfrm>
          <a:prstGeom prst="rect">
            <a:avLst/>
          </a:prstGeom>
          <a:noFill/>
          <a:ln/>
        </p:spPr>
        <p:txBody>
          <a:bodyPr wrap="square" lIns="0" tIns="0" rIns="0" bIns="0" rtlCol="0" anchor="ctr"/>
          <a:lstStyle/>
          <a:p>
            <a:pPr indent="0" marL="0">
              <a:buNone/>
            </a:pPr>
            <a:r>
              <a:rPr lang="en-US" sz="1500" b="1" dirty="0">
                <a:solidFill>
                  <a:srgbClr val="F4F7F5"/>
                </a:solidFill>
                <a:latin typeface="Calibri" pitchFamily="34" charset="0"/>
                <a:ea typeface="Calibri" pitchFamily="34" charset="-122"/>
                <a:cs typeface="Calibri" pitchFamily="34" charset="-120"/>
              </a:rPr>
              <a:t>Will it work?</a:t>
            </a:r>
            <a:endParaRPr lang="en-US" sz="1500" dirty="0"/>
          </a:p>
        </p:txBody>
      </p:sp>
      <p:sp>
        <p:nvSpPr>
          <p:cNvPr id="9" name="Text 7"/>
          <p:cNvSpPr/>
          <p:nvPr/>
        </p:nvSpPr>
        <p:spPr>
          <a:xfrm>
            <a:off x="896112" y="3310128"/>
            <a:ext cx="2103120" cy="566928"/>
          </a:xfrm>
          <a:prstGeom prst="rect">
            <a:avLst/>
          </a:prstGeom>
          <a:noFill/>
          <a:ln/>
        </p:spPr>
        <p:txBody>
          <a:bodyPr wrap="square" lIns="0" tIns="0" rIns="0" bIns="0" rtlCol="0" anchor="t"/>
          <a:lstStyle/>
          <a:p>
            <a:pPr indent="0" marL="0">
              <a:lnSpc>
                <a:spcPct val="115000"/>
              </a:lnSpc>
              <a:buNone/>
            </a:pPr>
            <a:r>
              <a:rPr lang="en-US" sz="1150" dirty="0">
                <a:solidFill>
                  <a:srgbClr val="9BA8A0"/>
                </a:solidFill>
                <a:latin typeface="Calibri" pitchFamily="34" charset="0"/>
                <a:ea typeface="Calibri" pitchFamily="34" charset="-122"/>
                <a:cs typeface="Calibri" pitchFamily="34" charset="-120"/>
              </a:rPr>
              <a:t>How likely is this to actually hit the goal?</a:t>
            </a:r>
            <a:endParaRPr lang="en-US" sz="1150" dirty="0"/>
          </a:p>
        </p:txBody>
      </p:sp>
      <p:sp>
        <p:nvSpPr>
          <p:cNvPr id="10" name="Shape 8"/>
          <p:cNvSpPr/>
          <p:nvPr/>
        </p:nvSpPr>
        <p:spPr>
          <a:xfrm>
            <a:off x="3410712" y="2212848"/>
            <a:ext cx="2569464" cy="1810512"/>
          </a:xfrm>
          <a:prstGeom prst="roundRect">
            <a:avLst>
              <a:gd name="adj" fmla="val 6061"/>
            </a:avLst>
          </a:prstGeom>
          <a:solidFill>
            <a:srgbClr val="101613"/>
          </a:solidFill>
          <a:ln w="12700">
            <a:solidFill>
              <a:srgbClr val="1C2420"/>
            </a:solidFill>
            <a:prstDash val="solid"/>
          </a:ln>
        </p:spPr>
      </p:sp>
      <p:sp>
        <p:nvSpPr>
          <p:cNvPr id="11" name="Text 9"/>
          <p:cNvSpPr/>
          <p:nvPr/>
        </p:nvSpPr>
        <p:spPr>
          <a:xfrm>
            <a:off x="3666744" y="2395728"/>
            <a:ext cx="2103120" cy="566928"/>
          </a:xfrm>
          <a:prstGeom prst="rect">
            <a:avLst/>
          </a:prstGeom>
          <a:noFill/>
          <a:ln/>
        </p:spPr>
        <p:txBody>
          <a:bodyPr wrap="square" lIns="0" tIns="0" rIns="0" bIns="0" rtlCol="0" anchor="ctr"/>
          <a:lstStyle/>
          <a:p>
            <a:pPr indent="0" marL="0">
              <a:buNone/>
            </a:pPr>
            <a:r>
              <a:rPr lang="en-US" sz="3400" b="1" spc="-100" kern="0" dirty="0">
                <a:solidFill>
                  <a:srgbClr val="22C55E"/>
                </a:solidFill>
                <a:latin typeface="Calibri" pitchFamily="34" charset="0"/>
                <a:ea typeface="Calibri" pitchFamily="34" charset="-122"/>
                <a:cs typeface="Calibri" pitchFamily="34" charset="-120"/>
              </a:rPr>
              <a:t>30%</a:t>
            </a:r>
            <a:endParaRPr lang="en-US" sz="3400" dirty="0"/>
          </a:p>
        </p:txBody>
      </p:sp>
      <p:sp>
        <p:nvSpPr>
          <p:cNvPr id="12" name="Text 10"/>
          <p:cNvSpPr/>
          <p:nvPr/>
        </p:nvSpPr>
        <p:spPr>
          <a:xfrm>
            <a:off x="3666744" y="2980944"/>
            <a:ext cx="2103120" cy="292608"/>
          </a:xfrm>
          <a:prstGeom prst="rect">
            <a:avLst/>
          </a:prstGeom>
          <a:noFill/>
          <a:ln/>
        </p:spPr>
        <p:txBody>
          <a:bodyPr wrap="square" lIns="0" tIns="0" rIns="0" bIns="0" rtlCol="0" anchor="ctr"/>
          <a:lstStyle/>
          <a:p>
            <a:pPr indent="0" marL="0">
              <a:buNone/>
            </a:pPr>
            <a:r>
              <a:rPr lang="en-US" sz="1500" b="1" dirty="0">
                <a:solidFill>
                  <a:srgbClr val="F4F7F5"/>
                </a:solidFill>
                <a:latin typeface="Calibri" pitchFamily="34" charset="0"/>
                <a:ea typeface="Calibri" pitchFamily="34" charset="-122"/>
                <a:cs typeface="Calibri" pitchFamily="34" charset="-120"/>
              </a:rPr>
              <a:t>What does it tie up?</a:t>
            </a:r>
            <a:endParaRPr lang="en-US" sz="1500" dirty="0"/>
          </a:p>
        </p:txBody>
      </p:sp>
      <p:sp>
        <p:nvSpPr>
          <p:cNvPr id="13" name="Text 11"/>
          <p:cNvSpPr/>
          <p:nvPr/>
        </p:nvSpPr>
        <p:spPr>
          <a:xfrm>
            <a:off x="3666744" y="3310128"/>
            <a:ext cx="2103120" cy="566928"/>
          </a:xfrm>
          <a:prstGeom prst="rect">
            <a:avLst/>
          </a:prstGeom>
          <a:noFill/>
          <a:ln/>
        </p:spPr>
        <p:txBody>
          <a:bodyPr wrap="square" lIns="0" tIns="0" rIns="0" bIns="0" rtlCol="0" anchor="t"/>
          <a:lstStyle/>
          <a:p>
            <a:pPr indent="0" marL="0">
              <a:lnSpc>
                <a:spcPct val="115000"/>
              </a:lnSpc>
              <a:buNone/>
            </a:pPr>
            <a:r>
              <a:rPr lang="en-US" sz="1150" dirty="0">
                <a:solidFill>
                  <a:srgbClr val="9BA8A0"/>
                </a:solidFill>
                <a:latin typeface="Calibri" pitchFamily="34" charset="0"/>
                <a:ea typeface="Calibri" pitchFamily="34" charset="-122"/>
                <a:cs typeface="Calibri" pitchFamily="34" charset="-120"/>
              </a:rPr>
              <a:t>How little of your money does it need to do it?</a:t>
            </a:r>
            <a:endParaRPr lang="en-US" sz="1150" dirty="0"/>
          </a:p>
        </p:txBody>
      </p:sp>
      <p:sp>
        <p:nvSpPr>
          <p:cNvPr id="14" name="Shape 12"/>
          <p:cNvSpPr/>
          <p:nvPr/>
        </p:nvSpPr>
        <p:spPr>
          <a:xfrm>
            <a:off x="6181344" y="2212848"/>
            <a:ext cx="2569464" cy="1810512"/>
          </a:xfrm>
          <a:prstGeom prst="roundRect">
            <a:avLst>
              <a:gd name="adj" fmla="val 6061"/>
            </a:avLst>
          </a:prstGeom>
          <a:solidFill>
            <a:srgbClr val="101613"/>
          </a:solidFill>
          <a:ln w="12700">
            <a:solidFill>
              <a:srgbClr val="1C2420"/>
            </a:solidFill>
            <a:prstDash val="solid"/>
          </a:ln>
        </p:spPr>
      </p:sp>
      <p:sp>
        <p:nvSpPr>
          <p:cNvPr id="15" name="Text 13"/>
          <p:cNvSpPr/>
          <p:nvPr/>
        </p:nvSpPr>
        <p:spPr>
          <a:xfrm>
            <a:off x="6437376" y="2395728"/>
            <a:ext cx="2103120" cy="566928"/>
          </a:xfrm>
          <a:prstGeom prst="rect">
            <a:avLst/>
          </a:prstGeom>
          <a:noFill/>
          <a:ln/>
        </p:spPr>
        <p:txBody>
          <a:bodyPr wrap="square" lIns="0" tIns="0" rIns="0" bIns="0" rtlCol="0" anchor="ctr"/>
          <a:lstStyle/>
          <a:p>
            <a:pPr indent="0" marL="0">
              <a:buNone/>
            </a:pPr>
            <a:r>
              <a:rPr lang="en-US" sz="3400" b="1" spc="-100" kern="0" dirty="0">
                <a:solidFill>
                  <a:srgbClr val="F5B43C"/>
                </a:solidFill>
                <a:latin typeface="Calibri" pitchFamily="34" charset="0"/>
                <a:ea typeface="Calibri" pitchFamily="34" charset="-122"/>
                <a:cs typeface="Calibri" pitchFamily="34" charset="-120"/>
              </a:rPr>
              <a:t>25%</a:t>
            </a:r>
            <a:endParaRPr lang="en-US" sz="3400" dirty="0"/>
          </a:p>
        </p:txBody>
      </p:sp>
      <p:sp>
        <p:nvSpPr>
          <p:cNvPr id="16" name="Text 14"/>
          <p:cNvSpPr/>
          <p:nvPr/>
        </p:nvSpPr>
        <p:spPr>
          <a:xfrm>
            <a:off x="6437376" y="2980944"/>
            <a:ext cx="2103120" cy="292608"/>
          </a:xfrm>
          <a:prstGeom prst="rect">
            <a:avLst/>
          </a:prstGeom>
          <a:noFill/>
          <a:ln/>
        </p:spPr>
        <p:txBody>
          <a:bodyPr wrap="square" lIns="0" tIns="0" rIns="0" bIns="0" rtlCol="0" anchor="ctr"/>
          <a:lstStyle/>
          <a:p>
            <a:pPr indent="0" marL="0">
              <a:buNone/>
            </a:pPr>
            <a:r>
              <a:rPr lang="en-US" sz="1500" b="1" dirty="0">
                <a:solidFill>
                  <a:srgbClr val="F4F7F5"/>
                </a:solidFill>
                <a:latin typeface="Calibri" pitchFamily="34" charset="0"/>
                <a:ea typeface="Calibri" pitchFamily="34" charset="-122"/>
                <a:cs typeface="Calibri" pitchFamily="34" charset="-120"/>
              </a:rPr>
              <a:t>What if it misses?</a:t>
            </a:r>
            <a:endParaRPr lang="en-US" sz="1500" dirty="0"/>
          </a:p>
        </p:txBody>
      </p:sp>
      <p:sp>
        <p:nvSpPr>
          <p:cNvPr id="17" name="Text 15"/>
          <p:cNvSpPr/>
          <p:nvPr/>
        </p:nvSpPr>
        <p:spPr>
          <a:xfrm>
            <a:off x="6437376" y="3310128"/>
            <a:ext cx="2103120" cy="566928"/>
          </a:xfrm>
          <a:prstGeom prst="rect">
            <a:avLst/>
          </a:prstGeom>
          <a:noFill/>
          <a:ln/>
        </p:spPr>
        <p:txBody>
          <a:bodyPr wrap="square" lIns="0" tIns="0" rIns="0" bIns="0" rtlCol="0" anchor="t"/>
          <a:lstStyle/>
          <a:p>
            <a:pPr indent="0" marL="0">
              <a:lnSpc>
                <a:spcPct val="115000"/>
              </a:lnSpc>
              <a:buNone/>
            </a:pPr>
            <a:r>
              <a:rPr lang="en-US" sz="1150" dirty="0">
                <a:solidFill>
                  <a:srgbClr val="9BA8A0"/>
                </a:solidFill>
                <a:latin typeface="Calibri" pitchFamily="34" charset="0"/>
                <a:ea typeface="Calibri" pitchFamily="34" charset="-122"/>
                <a:cs typeface="Calibri" pitchFamily="34" charset="-120"/>
              </a:rPr>
              <a:t>How much of your stake survives a bad outcome?</a:t>
            </a:r>
            <a:endParaRPr lang="en-US" sz="1150" dirty="0"/>
          </a:p>
        </p:txBody>
      </p:sp>
      <p:sp>
        <p:nvSpPr>
          <p:cNvPr id="18" name="Shape 16"/>
          <p:cNvSpPr/>
          <p:nvPr/>
        </p:nvSpPr>
        <p:spPr>
          <a:xfrm>
            <a:off x="8951976" y="2212848"/>
            <a:ext cx="2569464" cy="1810512"/>
          </a:xfrm>
          <a:prstGeom prst="roundRect">
            <a:avLst>
              <a:gd name="adj" fmla="val 6061"/>
            </a:avLst>
          </a:prstGeom>
          <a:solidFill>
            <a:srgbClr val="101613"/>
          </a:solidFill>
          <a:ln w="12700">
            <a:solidFill>
              <a:srgbClr val="1C2420"/>
            </a:solidFill>
            <a:prstDash val="solid"/>
          </a:ln>
        </p:spPr>
      </p:sp>
      <p:sp>
        <p:nvSpPr>
          <p:cNvPr id="19" name="Text 17"/>
          <p:cNvSpPr/>
          <p:nvPr/>
        </p:nvSpPr>
        <p:spPr>
          <a:xfrm>
            <a:off x="9208008" y="2395728"/>
            <a:ext cx="2103120" cy="566928"/>
          </a:xfrm>
          <a:prstGeom prst="rect">
            <a:avLst/>
          </a:prstGeom>
          <a:noFill/>
          <a:ln/>
        </p:spPr>
        <p:txBody>
          <a:bodyPr wrap="square" lIns="0" tIns="0" rIns="0" bIns="0" rtlCol="0" anchor="ctr"/>
          <a:lstStyle/>
          <a:p>
            <a:pPr indent="0" marL="0">
              <a:buNone/>
            </a:pPr>
            <a:r>
              <a:rPr lang="en-US" sz="3400" b="1" spc="-100" kern="0" dirty="0">
                <a:solidFill>
                  <a:srgbClr val="3B82F6"/>
                </a:solidFill>
                <a:latin typeface="Calibri" pitchFamily="34" charset="0"/>
                <a:ea typeface="Calibri" pitchFamily="34" charset="-122"/>
                <a:cs typeface="Calibri" pitchFamily="34" charset="-120"/>
              </a:rPr>
              <a:t>10%</a:t>
            </a:r>
            <a:endParaRPr lang="en-US" sz="3400" dirty="0"/>
          </a:p>
        </p:txBody>
      </p:sp>
      <p:sp>
        <p:nvSpPr>
          <p:cNvPr id="20" name="Text 18"/>
          <p:cNvSpPr/>
          <p:nvPr/>
        </p:nvSpPr>
        <p:spPr>
          <a:xfrm>
            <a:off x="9208008" y="2980944"/>
            <a:ext cx="2103120" cy="292608"/>
          </a:xfrm>
          <a:prstGeom prst="rect">
            <a:avLst/>
          </a:prstGeom>
          <a:noFill/>
          <a:ln/>
        </p:spPr>
        <p:txBody>
          <a:bodyPr wrap="square" lIns="0" tIns="0" rIns="0" bIns="0" rtlCol="0" anchor="ctr"/>
          <a:lstStyle/>
          <a:p>
            <a:pPr indent="0" marL="0">
              <a:buNone/>
            </a:pPr>
            <a:r>
              <a:rPr lang="en-US" sz="1500" b="1" dirty="0">
                <a:solidFill>
                  <a:srgbClr val="F4F7F5"/>
                </a:solidFill>
                <a:latin typeface="Calibri" pitchFamily="34" charset="0"/>
                <a:ea typeface="Calibri" pitchFamily="34" charset="-122"/>
                <a:cs typeface="Calibri" pitchFamily="34" charset="-120"/>
              </a:rPr>
              <a:t>How fast?</a:t>
            </a:r>
            <a:endParaRPr lang="en-US" sz="1500" dirty="0"/>
          </a:p>
        </p:txBody>
      </p:sp>
      <p:sp>
        <p:nvSpPr>
          <p:cNvPr id="21" name="Text 19"/>
          <p:cNvSpPr/>
          <p:nvPr/>
        </p:nvSpPr>
        <p:spPr>
          <a:xfrm>
            <a:off x="9208008" y="3310128"/>
            <a:ext cx="2103120" cy="566928"/>
          </a:xfrm>
          <a:prstGeom prst="rect">
            <a:avLst/>
          </a:prstGeom>
          <a:noFill/>
          <a:ln/>
        </p:spPr>
        <p:txBody>
          <a:bodyPr wrap="square" lIns="0" tIns="0" rIns="0" bIns="0" rtlCol="0" anchor="t"/>
          <a:lstStyle/>
          <a:p>
            <a:pPr indent="0" marL="0">
              <a:lnSpc>
                <a:spcPct val="115000"/>
              </a:lnSpc>
              <a:buNone/>
            </a:pPr>
            <a:r>
              <a:rPr lang="en-US" sz="1150" dirty="0">
                <a:solidFill>
                  <a:srgbClr val="9BA8A0"/>
                </a:solidFill>
                <a:latin typeface="Calibri" pitchFamily="34" charset="0"/>
                <a:ea typeface="Calibri" pitchFamily="34" charset="-122"/>
                <a:cs typeface="Calibri" pitchFamily="34" charset="-120"/>
              </a:rPr>
              <a:t>Does it pay out well inside your deadline?</a:t>
            </a:r>
            <a:endParaRPr lang="en-US" sz="1150" dirty="0"/>
          </a:p>
        </p:txBody>
      </p:sp>
      <p:sp>
        <p:nvSpPr>
          <p:cNvPr id="22" name="Text 20"/>
          <p:cNvSpPr/>
          <p:nvPr/>
        </p:nvSpPr>
        <p:spPr>
          <a:xfrm>
            <a:off x="640080" y="4224528"/>
            <a:ext cx="7315200" cy="256032"/>
          </a:xfrm>
          <a:prstGeom prst="rect">
            <a:avLst/>
          </a:prstGeom>
          <a:noFill/>
          <a:ln/>
        </p:spPr>
        <p:txBody>
          <a:bodyPr wrap="square" lIns="0" tIns="0" rIns="0" bIns="0" rtlCol="0" anchor="ctr"/>
          <a:lstStyle/>
          <a:p>
            <a:pPr indent="0" marL="0">
              <a:buNone/>
            </a:pPr>
            <a:r>
              <a:rPr lang="en-US" sz="1000" b="1" spc="160" kern="0" dirty="0">
                <a:solidFill>
                  <a:srgbClr val="22C55E"/>
                </a:solidFill>
                <a:latin typeface="Calibri" pitchFamily="34" charset="0"/>
                <a:ea typeface="Calibri" pitchFamily="34" charset="-122"/>
                <a:cs typeface="Calibri" pitchFamily="34" charset="-120"/>
              </a:rPr>
              <a:t>AND THREE THINGS IT REFUSES TO DO</a:t>
            </a:r>
            <a:endParaRPr lang="en-US" sz="1000" dirty="0"/>
          </a:p>
        </p:txBody>
      </p:sp>
      <p:sp>
        <p:nvSpPr>
          <p:cNvPr id="23" name="Shape 21"/>
          <p:cNvSpPr/>
          <p:nvPr/>
        </p:nvSpPr>
        <p:spPr>
          <a:xfrm>
            <a:off x="640080" y="4535424"/>
            <a:ext cx="3502152" cy="1298448"/>
          </a:xfrm>
          <a:prstGeom prst="roundRect">
            <a:avLst>
              <a:gd name="adj" fmla="val 8451"/>
            </a:avLst>
          </a:prstGeom>
          <a:solidFill>
            <a:srgbClr val="161D19"/>
          </a:solidFill>
          <a:ln w="12700">
            <a:solidFill>
              <a:srgbClr val="2A352F"/>
            </a:solidFill>
            <a:prstDash val="solid"/>
          </a:ln>
        </p:spPr>
      </p:sp>
      <p:sp>
        <p:nvSpPr>
          <p:cNvPr id="24" name="Text 22"/>
          <p:cNvSpPr/>
          <p:nvPr/>
        </p:nvSpPr>
        <p:spPr>
          <a:xfrm>
            <a:off x="896112" y="4700016"/>
            <a:ext cx="274320" cy="274320"/>
          </a:xfrm>
          <a:prstGeom prst="rect">
            <a:avLst/>
          </a:prstGeom>
          <a:noFill/>
          <a:ln/>
        </p:spPr>
        <p:txBody>
          <a:bodyPr wrap="square" lIns="0" tIns="0" rIns="0" bIns="0" rtlCol="0" anchor="ctr"/>
          <a:lstStyle/>
          <a:p>
            <a:pPr indent="0" marL="0">
              <a:buNone/>
            </a:pPr>
            <a:r>
              <a:rPr lang="en-US" sz="1400" b="1" dirty="0">
                <a:solidFill>
                  <a:srgbClr val="EF4444"/>
                </a:solidFill>
                <a:latin typeface="Calibri" pitchFamily="34" charset="0"/>
                <a:ea typeface="Calibri" pitchFamily="34" charset="-122"/>
                <a:cs typeface="Calibri" pitchFamily="34" charset="-120"/>
              </a:rPr>
              <a:t>✕</a:t>
            </a:r>
            <a:endParaRPr lang="en-US" sz="1400" dirty="0"/>
          </a:p>
        </p:txBody>
      </p:sp>
      <p:sp>
        <p:nvSpPr>
          <p:cNvPr id="25" name="Text 23"/>
          <p:cNvSpPr/>
          <p:nvPr/>
        </p:nvSpPr>
        <p:spPr>
          <a:xfrm>
            <a:off x="1207008" y="4700016"/>
            <a:ext cx="2743200" cy="274320"/>
          </a:xfrm>
          <a:prstGeom prst="rect">
            <a:avLst/>
          </a:prstGeom>
          <a:noFill/>
          <a:ln/>
        </p:spPr>
        <p:txBody>
          <a:bodyPr wrap="square" lIns="0" tIns="0" rIns="0" bIns="0" rtlCol="0" anchor="ctr"/>
          <a:lstStyle/>
          <a:p>
            <a:pPr indent="0" marL="0">
              <a:buNone/>
            </a:pPr>
            <a:r>
              <a:rPr lang="en-US" sz="1300" b="1" dirty="0">
                <a:solidFill>
                  <a:srgbClr val="F4F7F5"/>
                </a:solidFill>
                <a:latin typeface="Calibri" pitchFamily="34" charset="0"/>
                <a:ea typeface="Calibri" pitchFamily="34" charset="-122"/>
                <a:cs typeface="Calibri" pitchFamily="34" charset="-120"/>
              </a:rPr>
              <a:t>Guess when it doesn't know</a:t>
            </a:r>
            <a:endParaRPr lang="en-US" sz="1300" dirty="0"/>
          </a:p>
        </p:txBody>
      </p:sp>
      <p:sp>
        <p:nvSpPr>
          <p:cNvPr id="26" name="Text 24"/>
          <p:cNvSpPr/>
          <p:nvPr/>
        </p:nvSpPr>
        <p:spPr>
          <a:xfrm>
            <a:off x="896112" y="5029200"/>
            <a:ext cx="2999232" cy="694944"/>
          </a:xfrm>
          <a:prstGeom prst="rect">
            <a:avLst/>
          </a:prstGeom>
          <a:noFill/>
          <a:ln/>
        </p:spPr>
        <p:txBody>
          <a:bodyPr wrap="square" lIns="0" tIns="0" rIns="0" bIns="0" rtlCol="0" anchor="t"/>
          <a:lstStyle/>
          <a:p>
            <a:pPr indent="0" marL="0">
              <a:lnSpc>
                <a:spcPct val="115000"/>
              </a:lnSpc>
              <a:buNone/>
            </a:pPr>
            <a:r>
              <a:rPr lang="en-US" sz="1100" dirty="0">
                <a:solidFill>
                  <a:srgbClr val="9BA8A0"/>
                </a:solidFill>
                <a:latin typeface="Calibri" pitchFamily="34" charset="0"/>
                <a:ea typeface="Calibri" pitchFamily="34" charset="-122"/>
                <a:cs typeface="Calibri" pitchFamily="34" charset="-120"/>
              </a:rPr>
              <a:t>No price history, no route. We'd rather show nothing than a confident-looking number built on a missing input.</a:t>
            </a:r>
            <a:endParaRPr lang="en-US" sz="1100" dirty="0"/>
          </a:p>
        </p:txBody>
      </p:sp>
      <p:sp>
        <p:nvSpPr>
          <p:cNvPr id="27" name="Shape 25"/>
          <p:cNvSpPr/>
          <p:nvPr/>
        </p:nvSpPr>
        <p:spPr>
          <a:xfrm>
            <a:off x="4343400" y="4535424"/>
            <a:ext cx="3502152" cy="1298448"/>
          </a:xfrm>
          <a:prstGeom prst="roundRect">
            <a:avLst>
              <a:gd name="adj" fmla="val 8451"/>
            </a:avLst>
          </a:prstGeom>
          <a:solidFill>
            <a:srgbClr val="161D19"/>
          </a:solidFill>
          <a:ln w="12700">
            <a:solidFill>
              <a:srgbClr val="2A352F"/>
            </a:solidFill>
            <a:prstDash val="solid"/>
          </a:ln>
        </p:spPr>
      </p:sp>
      <p:sp>
        <p:nvSpPr>
          <p:cNvPr id="28" name="Text 26"/>
          <p:cNvSpPr/>
          <p:nvPr/>
        </p:nvSpPr>
        <p:spPr>
          <a:xfrm>
            <a:off x="4599432" y="4700016"/>
            <a:ext cx="274320" cy="274320"/>
          </a:xfrm>
          <a:prstGeom prst="rect">
            <a:avLst/>
          </a:prstGeom>
          <a:noFill/>
          <a:ln/>
        </p:spPr>
        <p:txBody>
          <a:bodyPr wrap="square" lIns="0" tIns="0" rIns="0" bIns="0" rtlCol="0" anchor="ctr"/>
          <a:lstStyle/>
          <a:p>
            <a:pPr indent="0" marL="0">
              <a:buNone/>
            </a:pPr>
            <a:r>
              <a:rPr lang="en-US" sz="1400" b="1" dirty="0">
                <a:solidFill>
                  <a:srgbClr val="EF4444"/>
                </a:solidFill>
                <a:latin typeface="Calibri" pitchFamily="34" charset="0"/>
                <a:ea typeface="Calibri" pitchFamily="34" charset="-122"/>
                <a:cs typeface="Calibri" pitchFamily="34" charset="-120"/>
              </a:rPr>
              <a:t>✕</a:t>
            </a:r>
            <a:endParaRPr lang="en-US" sz="1400" dirty="0"/>
          </a:p>
        </p:txBody>
      </p:sp>
      <p:sp>
        <p:nvSpPr>
          <p:cNvPr id="29" name="Text 27"/>
          <p:cNvSpPr/>
          <p:nvPr/>
        </p:nvSpPr>
        <p:spPr>
          <a:xfrm>
            <a:off x="4910328" y="4700016"/>
            <a:ext cx="2743200" cy="274320"/>
          </a:xfrm>
          <a:prstGeom prst="rect">
            <a:avLst/>
          </a:prstGeom>
          <a:noFill/>
          <a:ln/>
        </p:spPr>
        <p:txBody>
          <a:bodyPr wrap="square" lIns="0" tIns="0" rIns="0" bIns="0" rtlCol="0" anchor="ctr"/>
          <a:lstStyle/>
          <a:p>
            <a:pPr indent="0" marL="0">
              <a:buNone/>
            </a:pPr>
            <a:r>
              <a:rPr lang="en-US" sz="1300" b="1" dirty="0">
                <a:solidFill>
                  <a:srgbClr val="F4F7F5"/>
                </a:solidFill>
                <a:latin typeface="Calibri" pitchFamily="34" charset="0"/>
                <a:ea typeface="Calibri" pitchFamily="34" charset="-122"/>
                <a:cs typeface="Calibri" pitchFamily="34" charset="-120"/>
              </a:rPr>
              <a:t>Let a long shot look safe</a:t>
            </a:r>
            <a:endParaRPr lang="en-US" sz="1300" dirty="0"/>
          </a:p>
        </p:txBody>
      </p:sp>
      <p:sp>
        <p:nvSpPr>
          <p:cNvPr id="30" name="Text 28"/>
          <p:cNvSpPr/>
          <p:nvPr/>
        </p:nvSpPr>
        <p:spPr>
          <a:xfrm>
            <a:off x="4599432" y="5029200"/>
            <a:ext cx="2999232" cy="694944"/>
          </a:xfrm>
          <a:prstGeom prst="rect">
            <a:avLst/>
          </a:prstGeom>
          <a:noFill/>
          <a:ln/>
        </p:spPr>
        <p:txBody>
          <a:bodyPr wrap="square" lIns="0" tIns="0" rIns="0" bIns="0" rtlCol="0" anchor="t"/>
          <a:lstStyle/>
          <a:p>
            <a:pPr indent="0" marL="0">
              <a:lnSpc>
                <a:spcPct val="115000"/>
              </a:lnSpc>
              <a:buNone/>
            </a:pPr>
            <a:r>
              <a:rPr lang="en-US" sz="1100" dirty="0">
                <a:solidFill>
                  <a:srgbClr val="9BA8A0"/>
                </a:solidFill>
                <a:latin typeface="Calibri" pitchFamily="34" charset="0"/>
                <a:ea typeface="Calibri" pitchFamily="34" charset="-122"/>
                <a:cs typeface="Calibri" pitchFamily="34" charset="-120"/>
              </a:rPr>
              <a:t>A bet that loses everything when it misses is penalised twice, so a tempting payout can never outrank a boring certainty.</a:t>
            </a:r>
            <a:endParaRPr lang="en-US" sz="1100" dirty="0"/>
          </a:p>
        </p:txBody>
      </p:sp>
      <p:sp>
        <p:nvSpPr>
          <p:cNvPr id="31" name="Shape 29"/>
          <p:cNvSpPr/>
          <p:nvPr/>
        </p:nvSpPr>
        <p:spPr>
          <a:xfrm>
            <a:off x="8046720" y="4535424"/>
            <a:ext cx="3502152" cy="1298448"/>
          </a:xfrm>
          <a:prstGeom prst="roundRect">
            <a:avLst>
              <a:gd name="adj" fmla="val 8451"/>
            </a:avLst>
          </a:prstGeom>
          <a:solidFill>
            <a:srgbClr val="161D19"/>
          </a:solidFill>
          <a:ln w="12700">
            <a:solidFill>
              <a:srgbClr val="2A352F"/>
            </a:solidFill>
            <a:prstDash val="solid"/>
          </a:ln>
        </p:spPr>
      </p:sp>
      <p:sp>
        <p:nvSpPr>
          <p:cNvPr id="32" name="Text 30"/>
          <p:cNvSpPr/>
          <p:nvPr/>
        </p:nvSpPr>
        <p:spPr>
          <a:xfrm>
            <a:off x="8302752" y="4700016"/>
            <a:ext cx="274320" cy="274320"/>
          </a:xfrm>
          <a:prstGeom prst="rect">
            <a:avLst/>
          </a:prstGeom>
          <a:noFill/>
          <a:ln/>
        </p:spPr>
        <p:txBody>
          <a:bodyPr wrap="square" lIns="0" tIns="0" rIns="0" bIns="0" rtlCol="0" anchor="ctr"/>
          <a:lstStyle/>
          <a:p>
            <a:pPr indent="0" marL="0">
              <a:buNone/>
            </a:pPr>
            <a:r>
              <a:rPr lang="en-US" sz="1400" b="1" dirty="0">
                <a:solidFill>
                  <a:srgbClr val="EF4444"/>
                </a:solidFill>
                <a:latin typeface="Calibri" pitchFamily="34" charset="0"/>
                <a:ea typeface="Calibri" pitchFamily="34" charset="-122"/>
                <a:cs typeface="Calibri" pitchFamily="34" charset="-120"/>
              </a:rPr>
              <a:t>✕</a:t>
            </a:r>
            <a:endParaRPr lang="en-US" sz="1400" dirty="0"/>
          </a:p>
        </p:txBody>
      </p:sp>
      <p:sp>
        <p:nvSpPr>
          <p:cNvPr id="33" name="Text 31"/>
          <p:cNvSpPr/>
          <p:nvPr/>
        </p:nvSpPr>
        <p:spPr>
          <a:xfrm>
            <a:off x="8613648" y="4700016"/>
            <a:ext cx="2743200" cy="274320"/>
          </a:xfrm>
          <a:prstGeom prst="rect">
            <a:avLst/>
          </a:prstGeom>
          <a:noFill/>
          <a:ln/>
        </p:spPr>
        <p:txBody>
          <a:bodyPr wrap="square" lIns="0" tIns="0" rIns="0" bIns="0" rtlCol="0" anchor="ctr"/>
          <a:lstStyle/>
          <a:p>
            <a:pPr indent="0" marL="0">
              <a:buNone/>
            </a:pPr>
            <a:r>
              <a:rPr lang="en-US" sz="1300" b="1" dirty="0">
                <a:solidFill>
                  <a:srgbClr val="F4F7F5"/>
                </a:solidFill>
                <a:latin typeface="Calibri" pitchFamily="34" charset="0"/>
                <a:ea typeface="Calibri" pitchFamily="34" charset="-122"/>
                <a:cs typeface="Calibri" pitchFamily="34" charset="-120"/>
              </a:rPr>
              <a:t>Hide where a number came from</a:t>
            </a:r>
            <a:endParaRPr lang="en-US" sz="1300" dirty="0"/>
          </a:p>
        </p:txBody>
      </p:sp>
      <p:sp>
        <p:nvSpPr>
          <p:cNvPr id="34" name="Text 32"/>
          <p:cNvSpPr/>
          <p:nvPr/>
        </p:nvSpPr>
        <p:spPr>
          <a:xfrm>
            <a:off x="8302752" y="5029200"/>
            <a:ext cx="2999232" cy="694944"/>
          </a:xfrm>
          <a:prstGeom prst="rect">
            <a:avLst/>
          </a:prstGeom>
          <a:noFill/>
          <a:ln/>
        </p:spPr>
        <p:txBody>
          <a:bodyPr wrap="square" lIns="0" tIns="0" rIns="0" bIns="0" rtlCol="0" anchor="t"/>
          <a:lstStyle/>
          <a:p>
            <a:pPr indent="0" marL="0">
              <a:lnSpc>
                <a:spcPct val="115000"/>
              </a:lnSpc>
              <a:buNone/>
            </a:pPr>
            <a:r>
              <a:rPr lang="en-US" sz="1100" dirty="0">
                <a:solidFill>
                  <a:srgbClr val="9BA8A0"/>
                </a:solidFill>
                <a:latin typeface="Calibri" pitchFamily="34" charset="0"/>
                <a:ea typeface="Calibri" pitchFamily="34" charset="-122"/>
                <a:cs typeface="Calibri" pitchFamily="34" charset="-120"/>
              </a:rPr>
              <a:t>Each route says whether its odds are contractual, market-priced, or modelled by us — never blurred into one figure.</a:t>
            </a:r>
            <a:endParaRPr lang="en-US" sz="1100" dirty="0"/>
          </a:p>
        </p:txBody>
      </p:sp>
      <p:sp>
        <p:nvSpPr>
          <p:cNvPr id="35" name="Shape 33"/>
          <p:cNvSpPr/>
          <p:nvPr/>
        </p:nvSpPr>
        <p:spPr>
          <a:xfrm>
            <a:off x="640080" y="5943600"/>
            <a:ext cx="10908792" cy="502920"/>
          </a:xfrm>
          <a:prstGeom prst="roundRect">
            <a:avLst>
              <a:gd name="adj" fmla="val 21818"/>
            </a:avLst>
          </a:prstGeom>
          <a:solidFill>
            <a:srgbClr val="161D19"/>
          </a:solidFill>
          <a:ln w="12700">
            <a:solidFill>
              <a:srgbClr val="2A352F"/>
            </a:solidFill>
            <a:prstDash val="solid"/>
          </a:ln>
        </p:spPr>
      </p:sp>
      <p:sp>
        <p:nvSpPr>
          <p:cNvPr id="36" name="Text 34"/>
          <p:cNvSpPr/>
          <p:nvPr/>
        </p:nvSpPr>
        <p:spPr>
          <a:xfrm>
            <a:off x="868680" y="5943600"/>
            <a:ext cx="10469880" cy="502920"/>
          </a:xfrm>
          <a:prstGeom prst="rect">
            <a:avLst/>
          </a:prstGeom>
          <a:noFill/>
          <a:ln/>
        </p:spPr>
        <p:txBody>
          <a:bodyPr wrap="square" lIns="0" tIns="0" rIns="0" bIns="0" rtlCol="0" anchor="ctr"/>
          <a:lstStyle/>
          <a:p>
            <a:pPr indent="0" marL="0">
              <a:lnSpc>
                <a:spcPct val="110000"/>
              </a:lnSpc>
              <a:buNone/>
            </a:pPr>
            <a:r>
              <a:rPr lang="en-US" sz="1250" dirty="0">
                <a:solidFill>
                  <a:srgbClr val="F4F7F5"/>
                </a:solidFill>
                <a:latin typeface="Calibri" pitchFamily="34" charset="0"/>
                <a:ea typeface="Calibri" pitchFamily="34" charset="-122"/>
                <a:cs typeface="Calibri" pitchFamily="34" charset="-120"/>
              </a:rPr>
              <a:t>Every adjustment the engine makes takes confidence away. Nothing in it can add confidence the market data doesn't already contain — which is why the number holds up when a route loses.</a:t>
            </a:r>
            <a:endParaRPr lang="en-US" sz="1250" dirty="0"/>
          </a:p>
        </p:txBody>
      </p:sp>
      <p:sp>
        <p:nvSpPr>
          <p:cNvPr id="38" name="Text 35"/>
          <p:cNvSpPr/>
          <p:nvPr/>
        </p:nvSpPr>
        <p:spPr>
          <a:xfrm>
            <a:off x="9692640" y="6528816"/>
            <a:ext cx="1188720" cy="237744"/>
          </a:xfrm>
          <a:prstGeom prst="rect">
            <a:avLst/>
          </a:prstGeom>
          <a:noFill/>
          <a:ln/>
        </p:spPr>
        <p:txBody>
          <a:bodyPr wrap="square" lIns="0" tIns="0" rIns="0" bIns="0" rtlCol="0" anchor="ctr"/>
          <a:lstStyle/>
          <a:p>
            <a:pPr algn="r" indent="0" marL="0">
              <a:buNone/>
            </a:pPr>
            <a:r>
              <a:rPr lang="en-US" sz="850" b="1" spc="140" kern="0" dirty="0">
                <a:solidFill>
                  <a:srgbClr val="67726B"/>
                </a:solidFill>
                <a:latin typeface="Calibri" pitchFamily="34" charset="0"/>
                <a:ea typeface="Calibri" pitchFamily="34" charset="-122"/>
                <a:cs typeface="Calibri" pitchFamily="34" charset="-120"/>
              </a:rPr>
              <a:t>POLYPROFIT</a:t>
            </a:r>
            <a:endParaRPr lang="en-US" sz="850" dirty="0"/>
          </a:p>
        </p:txBody>
      </p:sp>
      <p:sp>
        <p:nvSpPr>
          <p:cNvPr id="39" name="Text 36"/>
          <p:cNvSpPr/>
          <p:nvPr/>
        </p:nvSpPr>
        <p:spPr>
          <a:xfrm>
            <a:off x="11018520" y="6528816"/>
            <a:ext cx="530352" cy="237744"/>
          </a:xfrm>
          <a:prstGeom prst="rect">
            <a:avLst/>
          </a:prstGeom>
          <a:noFill/>
          <a:ln/>
        </p:spPr>
        <p:txBody>
          <a:bodyPr wrap="square" lIns="0" tIns="0" rIns="0" bIns="0" rtlCol="0" anchor="ctr"/>
          <a:lstStyle/>
          <a:p>
            <a:pPr algn="r" indent="0" marL="0">
              <a:buNone/>
            </a:pPr>
            <a:r>
              <a:rPr lang="en-US" sz="850" b="1" dirty="0">
                <a:solidFill>
                  <a:srgbClr val="22C55E"/>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B09"/>
        </a:solidFill>
      </p:bgPr>
    </p:bg>
    <p:spTree>
      <p:nvGrpSpPr>
        <p:cNvPr id="1" name=""/>
        <p:cNvGrpSpPr/>
        <p:nvPr/>
      </p:nvGrpSpPr>
      <p:grpSpPr>
        <a:xfrm>
          <a:off x="0" y="0"/>
          <a:ext cx="0" cy="0"/>
          <a:chOff x="0" y="0"/>
          <a:chExt cx="0" cy="0"/>
        </a:xfrm>
      </p:grpSpPr>
      <p:sp>
        <p:nvSpPr>
          <p:cNvPr id="2" name="Shape 0"/>
          <p:cNvSpPr/>
          <p:nvPr/>
        </p:nvSpPr>
        <p:spPr>
          <a:xfrm>
            <a:off x="8229600" y="3474720"/>
            <a:ext cx="5486400" cy="5486400"/>
          </a:xfrm>
          <a:prstGeom prst="ellipse">
            <a:avLst/>
          </a:prstGeom>
          <a:solidFill>
            <a:srgbClr val="22C55E">
              <a:alpha val="6000"/>
            </a:srgbClr>
          </a:solidFill>
          <a:ln/>
        </p:spPr>
      </p:sp>
      <p:sp>
        <p:nvSpPr>
          <p:cNvPr id="3" name="Text 1"/>
          <p:cNvSpPr/>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22C55E"/>
                </a:solidFill>
                <a:latin typeface="Calibri" pitchFamily="34" charset="0"/>
                <a:ea typeface="Calibri" pitchFamily="34" charset="-122"/>
                <a:cs typeface="Calibri" pitchFamily="34" charset="-120"/>
              </a:rPr>
              <a:t>07  ·  A FEATURE THAT PAYS FOR THE SUBSCRIPTION</a:t>
            </a:r>
            <a:endParaRPr lang="en-US" sz="1100" dirty="0"/>
          </a:p>
        </p:txBody>
      </p:sp>
      <p:sp>
        <p:nvSpPr>
          <p:cNvPr id="4" name="Text 2"/>
          <p:cNvSpPr/>
          <p:nvPr/>
        </p:nvSpPr>
        <p:spPr>
          <a:xfrm>
            <a:off x="640080" y="777240"/>
            <a:ext cx="10881360" cy="685800"/>
          </a:xfrm>
          <a:prstGeom prst="rect">
            <a:avLst/>
          </a:prstGeom>
          <a:noFill/>
          <a:ln/>
        </p:spPr>
        <p:txBody>
          <a:bodyPr wrap="square" lIns="0" tIns="0" rIns="0" bIns="0" rtlCol="0" anchor="t"/>
          <a:lstStyle/>
          <a:p>
            <a:pPr indent="0" marL="0">
              <a:lnSpc>
                <a:spcPct val="105000"/>
              </a:lnSpc>
              <a:buNone/>
            </a:pPr>
            <a:r>
              <a:rPr lang="en-US" sz="3300" b="1" dirty="0">
                <a:solidFill>
                  <a:srgbClr val="F4F7F5"/>
                </a:solidFill>
                <a:latin typeface="Calibri" pitchFamily="34" charset="0"/>
                <a:ea typeface="Calibri" pitchFamily="34" charset="-122"/>
                <a:cs typeface="Calibri" pitchFamily="34" charset="-120"/>
              </a:rPr>
              <a:t>The same bet, two prices.</a:t>
            </a:r>
            <a:endParaRPr lang="en-US" sz="3300" dirty="0"/>
          </a:p>
          <a:p>
            <a:pPr indent="0" marL="0">
              <a:lnSpc>
                <a:spcPct val="105000"/>
              </a:lnSpc>
              <a:buNone/>
            </a:pPr>
            <a:r>
              <a:rPr lang="en-US" sz="3300" b="1" dirty="0">
                <a:solidFill>
                  <a:srgbClr val="F4F7F5"/>
                </a:solidFill>
                <a:latin typeface="Calibri" pitchFamily="34" charset="0"/>
                <a:ea typeface="Calibri" pitchFamily="34" charset="-122"/>
                <a:cs typeface="Calibri" pitchFamily="34" charset="-120"/>
              </a:rPr>
              <a:t>We always show you the cheaper one.</a:t>
            </a:r>
            <a:endParaRPr lang="en-US" sz="3300" dirty="0"/>
          </a:p>
        </p:txBody>
      </p:sp>
      <p:sp>
        <p:nvSpPr>
          <p:cNvPr id="5" name="Text 3"/>
          <p:cNvSpPr/>
          <p:nvPr/>
        </p:nvSpPr>
        <p:spPr>
          <a:xfrm>
            <a:off x="640080" y="1956816"/>
            <a:ext cx="10424160" cy="384048"/>
          </a:xfrm>
          <a:prstGeom prst="rect">
            <a:avLst/>
          </a:prstGeom>
          <a:noFill/>
          <a:ln/>
        </p:spPr>
        <p:txBody>
          <a:bodyPr wrap="square" lIns="0" tIns="0" rIns="0" bIns="0" rtlCol="0" anchor="t"/>
          <a:lstStyle/>
          <a:p>
            <a:pPr indent="0" marL="0">
              <a:lnSpc>
                <a:spcPct val="115000"/>
              </a:lnSpc>
              <a:buNone/>
            </a:pPr>
            <a:r>
              <a:rPr lang="en-US" sz="1350" dirty="0">
                <a:solidFill>
                  <a:srgbClr val="9BA8A0"/>
                </a:solidFill>
                <a:latin typeface="Calibri" pitchFamily="34" charset="0"/>
                <a:ea typeface="Calibri" pitchFamily="34" charset="-122"/>
                <a:cs typeface="Calibri" pitchFamily="34" charset="-120"/>
              </a:rPr>
              <a:t>The identical contract trades on two exchanges at once. Almost nobody checks both, and the fee structures aren't comparable at a glance — so the difference just gets left on the table.</a:t>
            </a:r>
            <a:endParaRPr lang="en-US" sz="1350" dirty="0"/>
          </a:p>
        </p:txBody>
      </p:sp>
      <p:sp>
        <p:nvSpPr>
          <p:cNvPr id="6" name="Shape 4"/>
          <p:cNvSpPr/>
          <p:nvPr/>
        </p:nvSpPr>
        <p:spPr>
          <a:xfrm>
            <a:off x="640080" y="2633472"/>
            <a:ext cx="2834640" cy="2139696"/>
          </a:xfrm>
          <a:prstGeom prst="roundRect">
            <a:avLst>
              <a:gd name="adj" fmla="val 5128"/>
            </a:avLst>
          </a:prstGeom>
          <a:solidFill>
            <a:srgbClr val="101613"/>
          </a:solidFill>
          <a:ln w="12700">
            <a:solidFill>
              <a:srgbClr val="1C2420"/>
            </a:solidFill>
            <a:prstDash val="solid"/>
          </a:ln>
        </p:spPr>
      </p:sp>
      <p:sp>
        <p:nvSpPr>
          <p:cNvPr id="7" name="Text 5"/>
          <p:cNvSpPr/>
          <p:nvPr/>
        </p:nvSpPr>
        <p:spPr>
          <a:xfrm>
            <a:off x="896112" y="2798064"/>
            <a:ext cx="2011680" cy="292608"/>
          </a:xfrm>
          <a:prstGeom prst="rect">
            <a:avLst/>
          </a:prstGeom>
          <a:noFill/>
          <a:ln/>
        </p:spPr>
        <p:txBody>
          <a:bodyPr wrap="square" lIns="0" tIns="0" rIns="0" bIns="0" rtlCol="0" anchor="ctr"/>
          <a:lstStyle/>
          <a:p>
            <a:pPr indent="0" marL="0">
              <a:buNone/>
            </a:pPr>
            <a:r>
              <a:rPr lang="en-US" sz="1450" b="1" dirty="0">
                <a:solidFill>
                  <a:srgbClr val="F4F7F5"/>
                </a:solidFill>
                <a:latin typeface="Calibri" pitchFamily="34" charset="0"/>
                <a:ea typeface="Calibri" pitchFamily="34" charset="-122"/>
                <a:cs typeface="Calibri" pitchFamily="34" charset="-120"/>
              </a:rPr>
              <a:t>Polymarket</a:t>
            </a:r>
            <a:endParaRPr lang="en-US" sz="1450" dirty="0"/>
          </a:p>
        </p:txBody>
      </p:sp>
      <p:sp>
        <p:nvSpPr>
          <p:cNvPr id="8" name="Text 6"/>
          <p:cNvSpPr/>
          <p:nvPr/>
        </p:nvSpPr>
        <p:spPr>
          <a:xfrm>
            <a:off x="896112" y="3182112"/>
            <a:ext cx="2286000" cy="201168"/>
          </a:xfrm>
          <a:prstGeom prst="rect">
            <a:avLst/>
          </a:prstGeom>
          <a:noFill/>
          <a:ln/>
        </p:spPr>
        <p:txBody>
          <a:bodyPr wrap="square" lIns="0" tIns="0" rIns="0" bIns="0" rtlCol="0" anchor="ctr"/>
          <a:lstStyle/>
          <a:p>
            <a:pPr indent="0" marL="0">
              <a:buNone/>
            </a:pPr>
            <a:r>
              <a:rPr lang="en-US" sz="850" b="1" spc="120" kern="0" dirty="0">
                <a:solidFill>
                  <a:srgbClr val="67726B"/>
                </a:solidFill>
                <a:latin typeface="Calibri" pitchFamily="34" charset="0"/>
                <a:ea typeface="Calibri" pitchFamily="34" charset="-122"/>
                <a:cs typeface="Calibri" pitchFamily="34" charset="-120"/>
              </a:rPr>
              <a:t>LISTED</a:t>
            </a:r>
            <a:endParaRPr lang="en-US" sz="850" dirty="0"/>
          </a:p>
        </p:txBody>
      </p:sp>
      <p:sp>
        <p:nvSpPr>
          <p:cNvPr id="9" name="Text 7"/>
          <p:cNvSpPr/>
          <p:nvPr/>
        </p:nvSpPr>
        <p:spPr>
          <a:xfrm>
            <a:off x="896112" y="3383280"/>
            <a:ext cx="2286000" cy="384048"/>
          </a:xfrm>
          <a:prstGeom prst="rect">
            <a:avLst/>
          </a:prstGeom>
          <a:noFill/>
          <a:ln/>
        </p:spPr>
        <p:txBody>
          <a:bodyPr wrap="square" lIns="0" tIns="0" rIns="0" bIns="0" rtlCol="0" anchor="ctr"/>
          <a:lstStyle/>
          <a:p>
            <a:pPr indent="0" marL="0">
              <a:buNone/>
            </a:pPr>
            <a:r>
              <a:rPr lang="en-US" sz="2600" b="1" dirty="0">
                <a:solidFill>
                  <a:srgbClr val="9BA8A0"/>
                </a:solidFill>
                <a:latin typeface="Calibri" pitchFamily="34" charset="0"/>
                <a:ea typeface="Calibri" pitchFamily="34" charset="-122"/>
                <a:cs typeface="Calibri" pitchFamily="34" charset="-120"/>
              </a:rPr>
              <a:t>62¢</a:t>
            </a:r>
            <a:endParaRPr lang="en-US" sz="2600" dirty="0"/>
          </a:p>
        </p:txBody>
      </p:sp>
      <p:sp>
        <p:nvSpPr>
          <p:cNvPr id="10" name="Text 8"/>
          <p:cNvSpPr/>
          <p:nvPr/>
        </p:nvSpPr>
        <p:spPr>
          <a:xfrm>
            <a:off x="896112" y="3785616"/>
            <a:ext cx="2331720" cy="237744"/>
          </a:xfrm>
          <a:prstGeom prst="rect">
            <a:avLst/>
          </a:prstGeom>
          <a:noFill/>
          <a:ln/>
        </p:spPr>
        <p:txBody>
          <a:bodyPr wrap="square" lIns="0" tIns="0" rIns="0" bIns="0" rtlCol="0" anchor="ctr"/>
          <a:lstStyle/>
          <a:p>
            <a:pPr indent="0" marL="0">
              <a:buNone/>
            </a:pPr>
            <a:r>
              <a:rPr lang="en-US" sz="1050" dirty="0">
                <a:solidFill>
                  <a:srgbClr val="67726B"/>
                </a:solidFill>
                <a:latin typeface="Calibri" pitchFamily="34" charset="0"/>
                <a:ea typeface="Calibri" pitchFamily="34" charset="-122"/>
                <a:cs typeface="Calibri" pitchFamily="34" charset="-120"/>
              </a:rPr>
              <a:t>spread only</a:t>
            </a:r>
            <a:endParaRPr lang="en-US" sz="1050" dirty="0"/>
          </a:p>
        </p:txBody>
      </p:sp>
      <p:sp>
        <p:nvSpPr>
          <p:cNvPr id="11" name="Text 9"/>
          <p:cNvSpPr/>
          <p:nvPr/>
        </p:nvSpPr>
        <p:spPr>
          <a:xfrm>
            <a:off x="896112" y="4078224"/>
            <a:ext cx="2377440" cy="201168"/>
          </a:xfrm>
          <a:prstGeom prst="rect">
            <a:avLst/>
          </a:prstGeom>
          <a:noFill/>
          <a:ln/>
        </p:spPr>
        <p:txBody>
          <a:bodyPr wrap="square" lIns="0" tIns="0" rIns="0" bIns="0" rtlCol="0" anchor="ctr"/>
          <a:lstStyle/>
          <a:p>
            <a:pPr indent="0" marL="0">
              <a:buNone/>
            </a:pPr>
            <a:r>
              <a:rPr lang="en-US" sz="850" b="1" spc="120" kern="0" dirty="0">
                <a:solidFill>
                  <a:srgbClr val="22C55E"/>
                </a:solidFill>
                <a:latin typeface="Calibri" pitchFamily="34" charset="0"/>
                <a:ea typeface="Calibri" pitchFamily="34" charset="-122"/>
                <a:cs typeface="Calibri" pitchFamily="34" charset="-120"/>
              </a:rPr>
              <a:t>WHAT IT ACTUALLY COSTS</a:t>
            </a:r>
            <a:endParaRPr lang="en-US" sz="850" dirty="0"/>
          </a:p>
        </p:txBody>
      </p:sp>
      <p:sp>
        <p:nvSpPr>
          <p:cNvPr id="12" name="Text 10"/>
          <p:cNvSpPr/>
          <p:nvPr/>
        </p:nvSpPr>
        <p:spPr>
          <a:xfrm>
            <a:off x="896112" y="4279392"/>
            <a:ext cx="2286000" cy="384048"/>
          </a:xfrm>
          <a:prstGeom prst="rect">
            <a:avLst/>
          </a:prstGeom>
          <a:noFill/>
          <a:ln/>
        </p:spPr>
        <p:txBody>
          <a:bodyPr wrap="square" lIns="0" tIns="0" rIns="0" bIns="0" rtlCol="0" anchor="ctr"/>
          <a:lstStyle/>
          <a:p>
            <a:pPr indent="0" marL="0">
              <a:buNone/>
            </a:pPr>
            <a:r>
              <a:rPr lang="en-US" sz="2600" b="1" dirty="0">
                <a:solidFill>
                  <a:srgbClr val="9BA8A0"/>
                </a:solidFill>
                <a:latin typeface="Calibri" pitchFamily="34" charset="0"/>
                <a:ea typeface="Calibri" pitchFamily="34" charset="-122"/>
                <a:cs typeface="Calibri" pitchFamily="34" charset="-120"/>
              </a:rPr>
              <a:t>62.0¢</a:t>
            </a:r>
            <a:endParaRPr lang="en-US" sz="2600" dirty="0"/>
          </a:p>
        </p:txBody>
      </p:sp>
      <p:sp>
        <p:nvSpPr>
          <p:cNvPr id="13" name="Shape 11"/>
          <p:cNvSpPr/>
          <p:nvPr/>
        </p:nvSpPr>
        <p:spPr>
          <a:xfrm>
            <a:off x="3703320" y="2633472"/>
            <a:ext cx="2834640" cy="2139696"/>
          </a:xfrm>
          <a:prstGeom prst="roundRect">
            <a:avLst>
              <a:gd name="adj" fmla="val 5128"/>
            </a:avLst>
          </a:prstGeom>
          <a:solidFill>
            <a:srgbClr val="161D19"/>
          </a:solidFill>
          <a:ln w="12700">
            <a:solidFill>
              <a:srgbClr val="22C55E"/>
            </a:solidFill>
            <a:prstDash val="solid"/>
          </a:ln>
        </p:spPr>
      </p:sp>
      <p:sp>
        <p:nvSpPr>
          <p:cNvPr id="14" name="Text 12"/>
          <p:cNvSpPr/>
          <p:nvPr/>
        </p:nvSpPr>
        <p:spPr>
          <a:xfrm>
            <a:off x="3959352" y="2798064"/>
            <a:ext cx="2011680" cy="292608"/>
          </a:xfrm>
          <a:prstGeom prst="rect">
            <a:avLst/>
          </a:prstGeom>
          <a:noFill/>
          <a:ln/>
        </p:spPr>
        <p:txBody>
          <a:bodyPr wrap="square" lIns="0" tIns="0" rIns="0" bIns="0" rtlCol="0" anchor="ctr"/>
          <a:lstStyle/>
          <a:p>
            <a:pPr indent="0" marL="0">
              <a:buNone/>
            </a:pPr>
            <a:r>
              <a:rPr lang="en-US" sz="1450" b="1" dirty="0">
                <a:solidFill>
                  <a:srgbClr val="F4F7F5"/>
                </a:solidFill>
                <a:latin typeface="Calibri" pitchFamily="34" charset="0"/>
                <a:ea typeface="Calibri" pitchFamily="34" charset="-122"/>
                <a:cs typeface="Calibri" pitchFamily="34" charset="-120"/>
              </a:rPr>
              <a:t>Kalshi</a:t>
            </a:r>
            <a:endParaRPr lang="en-US" sz="1450" dirty="0"/>
          </a:p>
        </p:txBody>
      </p:sp>
      <p:sp>
        <p:nvSpPr>
          <p:cNvPr id="15" name="Shape 13"/>
          <p:cNvSpPr/>
          <p:nvPr/>
        </p:nvSpPr>
        <p:spPr>
          <a:xfrm>
            <a:off x="5577840" y="2816352"/>
            <a:ext cx="731520" cy="256032"/>
          </a:xfrm>
          <a:prstGeom prst="roundRect">
            <a:avLst>
              <a:gd name="adj" fmla="val 178571"/>
            </a:avLst>
          </a:prstGeom>
          <a:solidFill>
            <a:srgbClr val="161D19"/>
          </a:solidFill>
          <a:ln w="12700">
            <a:solidFill>
              <a:srgbClr val="22C55E"/>
            </a:solidFill>
            <a:prstDash val="solid"/>
          </a:ln>
        </p:spPr>
      </p:sp>
      <p:sp>
        <p:nvSpPr>
          <p:cNvPr id="16" name="Text 14"/>
          <p:cNvSpPr/>
          <p:nvPr/>
        </p:nvSpPr>
        <p:spPr>
          <a:xfrm>
            <a:off x="5577840" y="2816352"/>
            <a:ext cx="731520" cy="256032"/>
          </a:xfrm>
          <a:prstGeom prst="rect">
            <a:avLst/>
          </a:prstGeom>
          <a:noFill/>
          <a:ln/>
        </p:spPr>
        <p:txBody>
          <a:bodyPr wrap="square" lIns="0" tIns="0" rIns="0" bIns="0" rtlCol="0" anchor="ctr"/>
          <a:lstStyle/>
          <a:p>
            <a:pPr algn="ctr" indent="0" marL="0">
              <a:buNone/>
            </a:pPr>
            <a:r>
              <a:rPr lang="en-US" sz="850" b="1" spc="80" kern="0" dirty="0">
                <a:solidFill>
                  <a:srgbClr val="22C55E"/>
                </a:solidFill>
                <a:latin typeface="Calibri" pitchFamily="34" charset="0"/>
                <a:ea typeface="Calibri" pitchFamily="34" charset="-122"/>
                <a:cs typeface="Calibri" pitchFamily="34" charset="-120"/>
              </a:rPr>
              <a:t>BETTER</a:t>
            </a:r>
            <a:endParaRPr lang="en-US" sz="850" dirty="0"/>
          </a:p>
        </p:txBody>
      </p:sp>
      <p:sp>
        <p:nvSpPr>
          <p:cNvPr id="17" name="Text 15"/>
          <p:cNvSpPr/>
          <p:nvPr/>
        </p:nvSpPr>
        <p:spPr>
          <a:xfrm>
            <a:off x="3959352" y="3182112"/>
            <a:ext cx="2286000" cy="201168"/>
          </a:xfrm>
          <a:prstGeom prst="rect">
            <a:avLst/>
          </a:prstGeom>
          <a:noFill/>
          <a:ln/>
        </p:spPr>
        <p:txBody>
          <a:bodyPr wrap="square" lIns="0" tIns="0" rIns="0" bIns="0" rtlCol="0" anchor="ctr"/>
          <a:lstStyle/>
          <a:p>
            <a:pPr indent="0" marL="0">
              <a:buNone/>
            </a:pPr>
            <a:r>
              <a:rPr lang="en-US" sz="850" b="1" spc="120" kern="0" dirty="0">
                <a:solidFill>
                  <a:srgbClr val="67726B"/>
                </a:solidFill>
                <a:latin typeface="Calibri" pitchFamily="34" charset="0"/>
                <a:ea typeface="Calibri" pitchFamily="34" charset="-122"/>
                <a:cs typeface="Calibri" pitchFamily="34" charset="-120"/>
              </a:rPr>
              <a:t>LISTED</a:t>
            </a:r>
            <a:endParaRPr lang="en-US" sz="850" dirty="0"/>
          </a:p>
        </p:txBody>
      </p:sp>
      <p:sp>
        <p:nvSpPr>
          <p:cNvPr id="18" name="Text 16"/>
          <p:cNvSpPr/>
          <p:nvPr/>
        </p:nvSpPr>
        <p:spPr>
          <a:xfrm>
            <a:off x="3959352" y="3383280"/>
            <a:ext cx="2286000" cy="384048"/>
          </a:xfrm>
          <a:prstGeom prst="rect">
            <a:avLst/>
          </a:prstGeom>
          <a:noFill/>
          <a:ln/>
        </p:spPr>
        <p:txBody>
          <a:bodyPr wrap="square" lIns="0" tIns="0" rIns="0" bIns="0" rtlCol="0" anchor="ctr"/>
          <a:lstStyle/>
          <a:p>
            <a:pPr indent="0" marL="0">
              <a:buNone/>
            </a:pPr>
            <a:r>
              <a:rPr lang="en-US" sz="2600" b="1" dirty="0">
                <a:solidFill>
                  <a:srgbClr val="9BA8A0"/>
                </a:solidFill>
                <a:latin typeface="Calibri" pitchFamily="34" charset="0"/>
                <a:ea typeface="Calibri" pitchFamily="34" charset="-122"/>
                <a:cs typeface="Calibri" pitchFamily="34" charset="-120"/>
              </a:rPr>
              <a:t>60¢</a:t>
            </a:r>
            <a:endParaRPr lang="en-US" sz="2600" dirty="0"/>
          </a:p>
        </p:txBody>
      </p:sp>
      <p:sp>
        <p:nvSpPr>
          <p:cNvPr id="19" name="Text 17"/>
          <p:cNvSpPr/>
          <p:nvPr/>
        </p:nvSpPr>
        <p:spPr>
          <a:xfrm>
            <a:off x="3959352" y="3785616"/>
            <a:ext cx="2331720" cy="237744"/>
          </a:xfrm>
          <a:prstGeom prst="rect">
            <a:avLst/>
          </a:prstGeom>
          <a:noFill/>
          <a:ln/>
        </p:spPr>
        <p:txBody>
          <a:bodyPr wrap="square" lIns="0" tIns="0" rIns="0" bIns="0" rtlCol="0" anchor="ctr"/>
          <a:lstStyle/>
          <a:p>
            <a:pPr indent="0" marL="0">
              <a:buNone/>
            </a:pPr>
            <a:r>
              <a:rPr lang="en-US" sz="1050" dirty="0">
                <a:solidFill>
                  <a:srgbClr val="67726B"/>
                </a:solidFill>
                <a:latin typeface="Calibri" pitchFamily="34" charset="0"/>
                <a:ea typeface="Calibri" pitchFamily="34" charset="-122"/>
                <a:cs typeface="Calibri" pitchFamily="34" charset="-120"/>
              </a:rPr>
              <a:t>plus a per-contract fee</a:t>
            </a:r>
            <a:endParaRPr lang="en-US" sz="1050" dirty="0"/>
          </a:p>
        </p:txBody>
      </p:sp>
      <p:sp>
        <p:nvSpPr>
          <p:cNvPr id="20" name="Text 18"/>
          <p:cNvSpPr/>
          <p:nvPr/>
        </p:nvSpPr>
        <p:spPr>
          <a:xfrm>
            <a:off x="3959352" y="4078224"/>
            <a:ext cx="2377440" cy="201168"/>
          </a:xfrm>
          <a:prstGeom prst="rect">
            <a:avLst/>
          </a:prstGeom>
          <a:noFill/>
          <a:ln/>
        </p:spPr>
        <p:txBody>
          <a:bodyPr wrap="square" lIns="0" tIns="0" rIns="0" bIns="0" rtlCol="0" anchor="ctr"/>
          <a:lstStyle/>
          <a:p>
            <a:pPr indent="0" marL="0">
              <a:buNone/>
            </a:pPr>
            <a:r>
              <a:rPr lang="en-US" sz="850" b="1" spc="120" kern="0" dirty="0">
                <a:solidFill>
                  <a:srgbClr val="22C55E"/>
                </a:solidFill>
                <a:latin typeface="Calibri" pitchFamily="34" charset="0"/>
                <a:ea typeface="Calibri" pitchFamily="34" charset="-122"/>
                <a:cs typeface="Calibri" pitchFamily="34" charset="-120"/>
              </a:rPr>
              <a:t>WHAT IT ACTUALLY COSTS</a:t>
            </a:r>
            <a:endParaRPr lang="en-US" sz="850" dirty="0"/>
          </a:p>
        </p:txBody>
      </p:sp>
      <p:sp>
        <p:nvSpPr>
          <p:cNvPr id="21" name="Text 19"/>
          <p:cNvSpPr/>
          <p:nvPr/>
        </p:nvSpPr>
        <p:spPr>
          <a:xfrm>
            <a:off x="3959352" y="4279392"/>
            <a:ext cx="2286000" cy="384048"/>
          </a:xfrm>
          <a:prstGeom prst="rect">
            <a:avLst/>
          </a:prstGeom>
          <a:noFill/>
          <a:ln/>
        </p:spPr>
        <p:txBody>
          <a:bodyPr wrap="square" lIns="0" tIns="0" rIns="0" bIns="0" rtlCol="0" anchor="ctr"/>
          <a:lstStyle/>
          <a:p>
            <a:pPr indent="0" marL="0">
              <a:buNone/>
            </a:pPr>
            <a:r>
              <a:rPr lang="en-US" sz="2600" b="1" dirty="0">
                <a:solidFill>
                  <a:srgbClr val="22C55E"/>
                </a:solidFill>
                <a:latin typeface="Calibri" pitchFamily="34" charset="0"/>
                <a:ea typeface="Calibri" pitchFamily="34" charset="-122"/>
                <a:cs typeface="Calibri" pitchFamily="34" charset="-120"/>
              </a:rPr>
              <a:t>61.7¢</a:t>
            </a:r>
            <a:endParaRPr lang="en-US" sz="2600" dirty="0"/>
          </a:p>
        </p:txBody>
      </p:sp>
      <p:sp>
        <p:nvSpPr>
          <p:cNvPr id="22" name="Shape 20"/>
          <p:cNvSpPr/>
          <p:nvPr/>
        </p:nvSpPr>
        <p:spPr>
          <a:xfrm>
            <a:off x="6858000" y="2633472"/>
            <a:ext cx="4690872" cy="2139696"/>
          </a:xfrm>
          <a:prstGeom prst="roundRect">
            <a:avLst>
              <a:gd name="adj" fmla="val 5128"/>
            </a:avLst>
          </a:prstGeom>
          <a:solidFill>
            <a:srgbClr val="161D19"/>
          </a:solidFill>
          <a:ln w="12700">
            <a:solidFill>
              <a:srgbClr val="2A352F"/>
            </a:solidFill>
            <a:prstDash val="solid"/>
          </a:ln>
        </p:spPr>
      </p:sp>
      <p:sp>
        <p:nvSpPr>
          <p:cNvPr id="23" name="Text 21"/>
          <p:cNvSpPr/>
          <p:nvPr/>
        </p:nvSpPr>
        <p:spPr>
          <a:xfrm>
            <a:off x="7132320" y="2798064"/>
            <a:ext cx="4206240" cy="310896"/>
          </a:xfrm>
          <a:prstGeom prst="rect">
            <a:avLst/>
          </a:prstGeom>
          <a:noFill/>
          <a:ln/>
        </p:spPr>
        <p:txBody>
          <a:bodyPr wrap="square" lIns="0" tIns="0" rIns="0" bIns="0" rtlCol="0" anchor="ctr"/>
          <a:lstStyle/>
          <a:p>
            <a:pPr indent="0" marL="0">
              <a:buNone/>
            </a:pPr>
            <a:r>
              <a:rPr lang="en-US" sz="1600" b="1" dirty="0">
                <a:solidFill>
                  <a:srgbClr val="F4F7F5"/>
                </a:solidFill>
                <a:latin typeface="Calibri" pitchFamily="34" charset="0"/>
                <a:ea typeface="Calibri" pitchFamily="34" charset="-122"/>
                <a:cs typeface="Calibri" pitchFamily="34" charset="-120"/>
              </a:rPr>
              <a:t>The 2¢ "edge" is really 0.3¢</a:t>
            </a:r>
            <a:endParaRPr lang="en-US" sz="1600" dirty="0"/>
          </a:p>
        </p:txBody>
      </p:sp>
      <p:sp>
        <p:nvSpPr>
          <p:cNvPr id="24" name="Text 22"/>
          <p:cNvSpPr/>
          <p:nvPr/>
        </p:nvSpPr>
        <p:spPr>
          <a:xfrm>
            <a:off x="7132320" y="3145536"/>
            <a:ext cx="4160520" cy="1463040"/>
          </a:xfrm>
          <a:prstGeom prst="rect">
            <a:avLst/>
          </a:prstGeom>
          <a:noFill/>
          <a:ln/>
        </p:spPr>
        <p:txBody>
          <a:bodyPr wrap="square" lIns="0" tIns="0" rIns="0" bIns="0" rtlCol="0" anchor="t"/>
          <a:lstStyle/>
          <a:p>
            <a:pPr indent="0" marL="0">
              <a:lnSpc>
                <a:spcPct val="118000"/>
              </a:lnSpc>
              <a:buNone/>
            </a:pPr>
            <a:r>
              <a:rPr lang="en-US" sz="1150" dirty="0">
                <a:solidFill>
                  <a:srgbClr val="9BA8A0"/>
                </a:solidFill>
                <a:latin typeface="Calibri" pitchFamily="34" charset="0"/>
                <a:ea typeface="Calibri" pitchFamily="34" charset="-122"/>
                <a:cs typeface="Calibri" pitchFamily="34" charset="-120"/>
              </a:rPr>
              <a:t>Kalshi looks 2¢ cheaper until its per-contract fee is added back. We net both venues' real costs before comparing, so the app never invents an edge that vanishes at execution.</a:t>
            </a:r>
            <a:endParaRPr lang="en-US" sz="1150" dirty="0"/>
          </a:p>
          <a:p>
            <a:pPr indent="0" marL="0">
              <a:lnSpc>
                <a:spcPct val="118000"/>
              </a:lnSpc>
              <a:buNone/>
            </a:pPr>
            <a:endParaRPr lang="en-US" sz="1150" dirty="0"/>
          </a:p>
          <a:p>
            <a:pPr indent="0" marL="0">
              <a:lnSpc>
                <a:spcPct val="118000"/>
              </a:lnSpc>
              <a:buNone/>
            </a:pPr>
            <a:r>
              <a:rPr lang="en-US" sz="1150" dirty="0">
                <a:solidFill>
                  <a:srgbClr val="9BA8A0"/>
                </a:solidFill>
                <a:latin typeface="Calibri" pitchFamily="34" charset="0"/>
                <a:ea typeface="Calibri" pitchFamily="34" charset="-122"/>
                <a:cs typeface="Calibri" pitchFamily="34" charset="-120"/>
              </a:rPr>
              <a:t>We also cross-check both against Metaculus — independent forecasters with no money in the trade.</a:t>
            </a:r>
            <a:endParaRPr lang="en-US" sz="1150" dirty="0"/>
          </a:p>
        </p:txBody>
      </p:sp>
      <p:sp>
        <p:nvSpPr>
          <p:cNvPr id="25" name="Shape 23"/>
          <p:cNvSpPr/>
          <p:nvPr/>
        </p:nvSpPr>
        <p:spPr>
          <a:xfrm>
            <a:off x="640080" y="4937760"/>
            <a:ext cx="3502152" cy="1097280"/>
          </a:xfrm>
          <a:prstGeom prst="roundRect">
            <a:avLst>
              <a:gd name="adj" fmla="val 10000"/>
            </a:avLst>
          </a:prstGeom>
          <a:solidFill>
            <a:srgbClr val="101613"/>
          </a:solidFill>
          <a:ln w="12700">
            <a:solidFill>
              <a:srgbClr val="1C2420"/>
            </a:solidFill>
            <a:prstDash val="solid"/>
          </a:ln>
        </p:spPr>
      </p:sp>
      <p:sp>
        <p:nvSpPr>
          <p:cNvPr id="26" name="Text 24"/>
          <p:cNvSpPr/>
          <p:nvPr/>
        </p:nvSpPr>
        <p:spPr>
          <a:xfrm>
            <a:off x="896112" y="5084064"/>
            <a:ext cx="2999232" cy="274320"/>
          </a:xfrm>
          <a:prstGeom prst="rect">
            <a:avLst/>
          </a:prstGeom>
          <a:noFill/>
          <a:ln/>
        </p:spPr>
        <p:txBody>
          <a:bodyPr wrap="square" lIns="0" tIns="0" rIns="0" bIns="0" rtlCol="0" anchor="ctr"/>
          <a:lstStyle/>
          <a:p>
            <a:pPr indent="0" marL="0">
              <a:buNone/>
            </a:pPr>
            <a:r>
              <a:rPr lang="en-US" sz="1350" b="1" dirty="0">
                <a:solidFill>
                  <a:srgbClr val="22C55E"/>
                </a:solidFill>
                <a:latin typeface="Calibri" pitchFamily="34" charset="0"/>
                <a:ea typeface="Calibri" pitchFamily="34" charset="-122"/>
                <a:cs typeface="Calibri" pitchFamily="34" charset="-120"/>
              </a:rPr>
              <a:t>It's free money</a:t>
            </a:r>
            <a:endParaRPr lang="en-US" sz="1350" dirty="0"/>
          </a:p>
        </p:txBody>
      </p:sp>
      <p:sp>
        <p:nvSpPr>
          <p:cNvPr id="27" name="Text 25"/>
          <p:cNvSpPr/>
          <p:nvPr/>
        </p:nvSpPr>
        <p:spPr>
          <a:xfrm>
            <a:off x="896112" y="5394960"/>
            <a:ext cx="2999232" cy="530352"/>
          </a:xfrm>
          <a:prstGeom prst="rect">
            <a:avLst/>
          </a:prstGeom>
          <a:noFill/>
          <a:ln/>
        </p:spPr>
        <p:txBody>
          <a:bodyPr wrap="square" lIns="0" tIns="0" rIns="0" bIns="0" rtlCol="0" anchor="t"/>
          <a:lstStyle/>
          <a:p>
            <a:pPr indent="0" marL="0">
              <a:lnSpc>
                <a:spcPct val="115000"/>
              </a:lnSpc>
              <a:buNone/>
            </a:pPr>
            <a:r>
              <a:rPr lang="en-US" sz="1150" dirty="0">
                <a:solidFill>
                  <a:srgbClr val="9BA8A0"/>
                </a:solidFill>
                <a:latin typeface="Calibri" pitchFamily="34" charset="0"/>
                <a:ea typeface="Calibri" pitchFamily="34" charset="-122"/>
                <a:cs typeface="Calibri" pitchFamily="34" charset="-120"/>
              </a:rPr>
              <a:t>The same event, priced twice, with the difference paid to whoever noticed.</a:t>
            </a:r>
            <a:endParaRPr lang="en-US" sz="1150" dirty="0"/>
          </a:p>
        </p:txBody>
      </p:sp>
      <p:sp>
        <p:nvSpPr>
          <p:cNvPr id="28" name="Shape 26"/>
          <p:cNvSpPr/>
          <p:nvPr/>
        </p:nvSpPr>
        <p:spPr>
          <a:xfrm>
            <a:off x="4343400" y="4937760"/>
            <a:ext cx="3502152" cy="1097280"/>
          </a:xfrm>
          <a:prstGeom prst="roundRect">
            <a:avLst>
              <a:gd name="adj" fmla="val 10000"/>
            </a:avLst>
          </a:prstGeom>
          <a:solidFill>
            <a:srgbClr val="101613"/>
          </a:solidFill>
          <a:ln w="12700">
            <a:solidFill>
              <a:srgbClr val="1C2420"/>
            </a:solidFill>
            <a:prstDash val="solid"/>
          </a:ln>
        </p:spPr>
      </p:sp>
      <p:sp>
        <p:nvSpPr>
          <p:cNvPr id="29" name="Text 27"/>
          <p:cNvSpPr/>
          <p:nvPr/>
        </p:nvSpPr>
        <p:spPr>
          <a:xfrm>
            <a:off x="4599432" y="5084064"/>
            <a:ext cx="2999232" cy="274320"/>
          </a:xfrm>
          <a:prstGeom prst="rect">
            <a:avLst/>
          </a:prstGeom>
          <a:noFill/>
          <a:ln/>
        </p:spPr>
        <p:txBody>
          <a:bodyPr wrap="square" lIns="0" tIns="0" rIns="0" bIns="0" rtlCol="0" anchor="ctr"/>
          <a:lstStyle/>
          <a:p>
            <a:pPr indent="0" marL="0">
              <a:buNone/>
            </a:pPr>
            <a:r>
              <a:rPr lang="en-US" sz="1350" b="1" dirty="0">
                <a:solidFill>
                  <a:srgbClr val="22C55E"/>
                </a:solidFill>
                <a:latin typeface="Calibri" pitchFamily="34" charset="0"/>
                <a:ea typeface="Calibri" pitchFamily="34" charset="-122"/>
                <a:cs typeface="Calibri" pitchFamily="34" charset="-120"/>
              </a:rPr>
              <a:t>It's instantly checkable</a:t>
            </a:r>
            <a:endParaRPr lang="en-US" sz="1350" dirty="0"/>
          </a:p>
        </p:txBody>
      </p:sp>
      <p:sp>
        <p:nvSpPr>
          <p:cNvPr id="30" name="Text 28"/>
          <p:cNvSpPr/>
          <p:nvPr/>
        </p:nvSpPr>
        <p:spPr>
          <a:xfrm>
            <a:off x="4599432" y="5394960"/>
            <a:ext cx="2999232" cy="530352"/>
          </a:xfrm>
          <a:prstGeom prst="rect">
            <a:avLst/>
          </a:prstGeom>
          <a:noFill/>
          <a:ln/>
        </p:spPr>
        <p:txBody>
          <a:bodyPr wrap="square" lIns="0" tIns="0" rIns="0" bIns="0" rtlCol="0" anchor="t"/>
          <a:lstStyle/>
          <a:p>
            <a:pPr indent="0" marL="0">
              <a:lnSpc>
                <a:spcPct val="115000"/>
              </a:lnSpc>
              <a:buNone/>
            </a:pPr>
            <a:r>
              <a:rPr lang="en-US" sz="1150" dirty="0">
                <a:solidFill>
                  <a:srgbClr val="9BA8A0"/>
                </a:solidFill>
                <a:latin typeface="Calibri" pitchFamily="34" charset="0"/>
                <a:ea typeface="Calibri" pitchFamily="34" charset="-122"/>
                <a:cs typeface="Calibri" pitchFamily="34" charset="-120"/>
              </a:rPr>
              <a:t>A user can verify it in thirty seconds on two websites. That builds trust fast.</a:t>
            </a:r>
            <a:endParaRPr lang="en-US" sz="1150" dirty="0"/>
          </a:p>
        </p:txBody>
      </p:sp>
      <p:sp>
        <p:nvSpPr>
          <p:cNvPr id="31" name="Shape 29"/>
          <p:cNvSpPr/>
          <p:nvPr/>
        </p:nvSpPr>
        <p:spPr>
          <a:xfrm>
            <a:off x="8046720" y="4937760"/>
            <a:ext cx="3502152" cy="1097280"/>
          </a:xfrm>
          <a:prstGeom prst="roundRect">
            <a:avLst>
              <a:gd name="adj" fmla="val 10000"/>
            </a:avLst>
          </a:prstGeom>
          <a:solidFill>
            <a:srgbClr val="101613"/>
          </a:solidFill>
          <a:ln w="12700">
            <a:solidFill>
              <a:srgbClr val="1C2420"/>
            </a:solidFill>
            <a:prstDash val="solid"/>
          </a:ln>
        </p:spPr>
      </p:sp>
      <p:sp>
        <p:nvSpPr>
          <p:cNvPr id="32" name="Text 30"/>
          <p:cNvSpPr/>
          <p:nvPr/>
        </p:nvSpPr>
        <p:spPr>
          <a:xfrm>
            <a:off x="8302752" y="5084064"/>
            <a:ext cx="2999232" cy="274320"/>
          </a:xfrm>
          <a:prstGeom prst="rect">
            <a:avLst/>
          </a:prstGeom>
          <a:noFill/>
          <a:ln/>
        </p:spPr>
        <p:txBody>
          <a:bodyPr wrap="square" lIns="0" tIns="0" rIns="0" bIns="0" rtlCol="0" anchor="ctr"/>
          <a:lstStyle/>
          <a:p>
            <a:pPr indent="0" marL="0">
              <a:buNone/>
            </a:pPr>
            <a:r>
              <a:rPr lang="en-US" sz="1350" b="1" dirty="0">
                <a:solidFill>
                  <a:srgbClr val="22C55E"/>
                </a:solidFill>
                <a:latin typeface="Calibri" pitchFamily="34" charset="0"/>
                <a:ea typeface="Calibri" pitchFamily="34" charset="-122"/>
                <a:cs typeface="Calibri" pitchFamily="34" charset="-120"/>
              </a:rPr>
              <a:t>It's a reason to open the app</a:t>
            </a:r>
            <a:endParaRPr lang="en-US" sz="1350" dirty="0"/>
          </a:p>
        </p:txBody>
      </p:sp>
      <p:sp>
        <p:nvSpPr>
          <p:cNvPr id="33" name="Text 31"/>
          <p:cNvSpPr/>
          <p:nvPr/>
        </p:nvSpPr>
        <p:spPr>
          <a:xfrm>
            <a:off x="8302752" y="5394960"/>
            <a:ext cx="2999232" cy="530352"/>
          </a:xfrm>
          <a:prstGeom prst="rect">
            <a:avLst/>
          </a:prstGeom>
          <a:noFill/>
          <a:ln/>
        </p:spPr>
        <p:txBody>
          <a:bodyPr wrap="square" lIns="0" tIns="0" rIns="0" bIns="0" rtlCol="0" anchor="t"/>
          <a:lstStyle/>
          <a:p>
            <a:pPr indent="0" marL="0">
              <a:lnSpc>
                <a:spcPct val="115000"/>
              </a:lnSpc>
              <a:buNone/>
            </a:pPr>
            <a:r>
              <a:rPr lang="en-US" sz="1150" dirty="0">
                <a:solidFill>
                  <a:srgbClr val="9BA8A0"/>
                </a:solidFill>
                <a:latin typeface="Calibri" pitchFamily="34" charset="0"/>
                <a:ea typeface="Calibri" pitchFamily="34" charset="-122"/>
                <a:cs typeface="Calibri" pitchFamily="34" charset="-120"/>
              </a:rPr>
              <a:t>The gap changes hourly. This is a live feed, not a one-time answer.</a:t>
            </a:r>
            <a:endParaRPr lang="en-US" sz="1150" dirty="0"/>
          </a:p>
        </p:txBody>
      </p:sp>
      <p:sp>
        <p:nvSpPr>
          <p:cNvPr id="34" name="Text 32"/>
          <p:cNvSpPr/>
          <p:nvPr/>
        </p:nvSpPr>
        <p:spPr>
          <a:xfrm>
            <a:off x="640080" y="6181344"/>
            <a:ext cx="10881360" cy="256032"/>
          </a:xfrm>
          <a:prstGeom prst="rect">
            <a:avLst/>
          </a:prstGeom>
          <a:noFill/>
          <a:ln/>
        </p:spPr>
        <p:txBody>
          <a:bodyPr wrap="square" lIns="0" tIns="0" rIns="0" bIns="0" rtlCol="0" anchor="ctr"/>
          <a:lstStyle/>
          <a:p>
            <a:pPr indent="0" marL="0">
              <a:buNone/>
            </a:pPr>
            <a:r>
              <a:rPr lang="en-US" sz="950" dirty="0">
                <a:solidFill>
                  <a:srgbClr val="67726B"/>
                </a:solidFill>
                <a:latin typeface="Calibri" pitchFamily="34" charset="0"/>
                <a:ea typeface="Calibri" pitchFamily="34" charset="-122"/>
                <a:cs typeface="Calibri" pitchFamily="34" charset="-120"/>
              </a:rPr>
              <a:t>Illustrative prices. Kalshi's fee is roughly 7% of price × (1 − price) per contract, peaking near 50¢.</a:t>
            </a:r>
            <a:endParaRPr lang="en-US" sz="950" dirty="0"/>
          </a:p>
        </p:txBody>
      </p:sp>
      <p:sp>
        <p:nvSpPr>
          <p:cNvPr id="36" name="Text 33"/>
          <p:cNvSpPr/>
          <p:nvPr/>
        </p:nvSpPr>
        <p:spPr>
          <a:xfrm>
            <a:off x="9692640" y="6528816"/>
            <a:ext cx="1188720" cy="237744"/>
          </a:xfrm>
          <a:prstGeom prst="rect">
            <a:avLst/>
          </a:prstGeom>
          <a:noFill/>
          <a:ln/>
        </p:spPr>
        <p:txBody>
          <a:bodyPr wrap="square" lIns="0" tIns="0" rIns="0" bIns="0" rtlCol="0" anchor="ctr"/>
          <a:lstStyle/>
          <a:p>
            <a:pPr algn="r" indent="0" marL="0">
              <a:buNone/>
            </a:pPr>
            <a:r>
              <a:rPr lang="en-US" sz="850" b="1" spc="140" kern="0" dirty="0">
                <a:solidFill>
                  <a:srgbClr val="67726B"/>
                </a:solidFill>
                <a:latin typeface="Calibri" pitchFamily="34" charset="0"/>
                <a:ea typeface="Calibri" pitchFamily="34" charset="-122"/>
                <a:cs typeface="Calibri" pitchFamily="34" charset="-120"/>
              </a:rPr>
              <a:t>POLYPROFIT</a:t>
            </a:r>
            <a:endParaRPr lang="en-US" sz="850" dirty="0"/>
          </a:p>
        </p:txBody>
      </p:sp>
      <p:sp>
        <p:nvSpPr>
          <p:cNvPr id="37" name="Text 34"/>
          <p:cNvSpPr/>
          <p:nvPr/>
        </p:nvSpPr>
        <p:spPr>
          <a:xfrm>
            <a:off x="11018520" y="6528816"/>
            <a:ext cx="530352" cy="237744"/>
          </a:xfrm>
          <a:prstGeom prst="rect">
            <a:avLst/>
          </a:prstGeom>
          <a:noFill/>
          <a:ln/>
        </p:spPr>
        <p:txBody>
          <a:bodyPr wrap="square" lIns="0" tIns="0" rIns="0" bIns="0" rtlCol="0" anchor="ctr"/>
          <a:lstStyle/>
          <a:p>
            <a:pPr algn="r" indent="0" marL="0">
              <a:buNone/>
            </a:pPr>
            <a:r>
              <a:rPr lang="en-US" sz="850" b="1" dirty="0">
                <a:solidFill>
                  <a:srgbClr val="22C55E"/>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B09"/>
        </a:solidFill>
      </p:bgPr>
    </p:bg>
    <p:spTree>
      <p:nvGrpSpPr>
        <p:cNvPr id="1" name=""/>
        <p:cNvGrpSpPr/>
        <p:nvPr/>
      </p:nvGrpSpPr>
      <p:grpSpPr>
        <a:xfrm>
          <a:off x="0" y="0"/>
          <a:ext cx="0" cy="0"/>
          <a:chOff x="0" y="0"/>
          <a:chExt cx="0" cy="0"/>
        </a:xfrm>
      </p:grpSpPr>
      <p:sp>
        <p:nvSpPr>
          <p:cNvPr id="2" name="Shape 0"/>
          <p:cNvSpPr/>
          <p:nvPr/>
        </p:nvSpPr>
        <p:spPr>
          <a:xfrm>
            <a:off x="-2011680" y="-1828800"/>
            <a:ext cx="5852160" cy="5852160"/>
          </a:xfrm>
          <a:prstGeom prst="ellipse">
            <a:avLst/>
          </a:prstGeom>
          <a:solidFill>
            <a:srgbClr val="22C55E">
              <a:alpha val="6000"/>
            </a:srgbClr>
          </a:solidFill>
          <a:ln/>
        </p:spPr>
      </p:sp>
      <p:sp>
        <p:nvSpPr>
          <p:cNvPr id="3" name="Text 1"/>
          <p:cNvSpPr/>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22C55E"/>
                </a:solidFill>
                <a:latin typeface="Calibri" pitchFamily="34" charset="0"/>
                <a:ea typeface="Calibri" pitchFamily="34" charset="-122"/>
                <a:cs typeface="Calibri" pitchFamily="34" charset="-120"/>
              </a:rPr>
              <a:t>08  ·  WHERE WE ARE</a:t>
            </a:r>
            <a:endParaRPr lang="en-US" sz="1100" dirty="0"/>
          </a:p>
        </p:txBody>
      </p:sp>
      <p:sp>
        <p:nvSpPr>
          <p:cNvPr id="4" name="Text 2"/>
          <p:cNvSpPr/>
          <p:nvPr/>
        </p:nvSpPr>
        <p:spPr>
          <a:xfrm>
            <a:off x="640080" y="777240"/>
            <a:ext cx="10881360" cy="685800"/>
          </a:xfrm>
          <a:prstGeom prst="rect">
            <a:avLst/>
          </a:prstGeom>
          <a:noFill/>
          <a:ln/>
        </p:spPr>
        <p:txBody>
          <a:bodyPr wrap="square" lIns="0" tIns="0" rIns="0" bIns="0" rtlCol="0" anchor="t"/>
          <a:lstStyle/>
          <a:p>
            <a:pPr indent="0" marL="0">
              <a:lnSpc>
                <a:spcPct val="105000"/>
              </a:lnSpc>
              <a:buNone/>
            </a:pPr>
            <a:r>
              <a:rPr lang="en-US" sz="3300" b="1" dirty="0">
                <a:solidFill>
                  <a:srgbClr val="F4F7F5"/>
                </a:solidFill>
                <a:latin typeface="Calibri" pitchFamily="34" charset="0"/>
                <a:ea typeface="Calibri" pitchFamily="34" charset="-122"/>
                <a:cs typeface="Calibri" pitchFamily="34" charset="-120"/>
              </a:rPr>
              <a:t>This is not a prototype.</a:t>
            </a:r>
            <a:endParaRPr lang="en-US" sz="3300" dirty="0"/>
          </a:p>
        </p:txBody>
      </p:sp>
      <p:sp>
        <p:nvSpPr>
          <p:cNvPr id="5" name="Text 3"/>
          <p:cNvSpPr/>
          <p:nvPr/>
        </p:nvSpPr>
        <p:spPr>
          <a:xfrm>
            <a:off x="640080" y="1517904"/>
            <a:ext cx="9692640" cy="384048"/>
          </a:xfrm>
          <a:prstGeom prst="rect">
            <a:avLst/>
          </a:prstGeom>
          <a:noFill/>
          <a:ln/>
        </p:spPr>
        <p:txBody>
          <a:bodyPr wrap="square" lIns="0" tIns="0" rIns="0" bIns="0" rtlCol="0" anchor="t"/>
          <a:lstStyle/>
          <a:p>
            <a:pPr indent="0" marL="0">
              <a:lnSpc>
                <a:spcPct val="115000"/>
              </a:lnSpc>
              <a:buNone/>
            </a:pPr>
            <a:r>
              <a:rPr lang="en-US" sz="1350" dirty="0">
                <a:solidFill>
                  <a:srgbClr val="9BA8A0"/>
                </a:solidFill>
                <a:latin typeface="Calibri" pitchFamily="34" charset="0"/>
                <a:ea typeface="Calibri" pitchFamily="34" charset="-122"/>
                <a:cs typeface="Calibri" pitchFamily="34" charset="-120"/>
              </a:rPr>
              <a:t>One engineer, ten live integrations, a working scoring engine, auth, payments and an AI layer — shipped and running.</a:t>
            </a:r>
            <a:endParaRPr lang="en-US" sz="1350" dirty="0"/>
          </a:p>
        </p:txBody>
      </p:sp>
      <p:sp>
        <p:nvSpPr>
          <p:cNvPr id="6" name="Shape 4"/>
          <p:cNvSpPr/>
          <p:nvPr/>
        </p:nvSpPr>
        <p:spPr>
          <a:xfrm>
            <a:off x="640080" y="2048256"/>
            <a:ext cx="2569464" cy="1078992"/>
          </a:xfrm>
          <a:prstGeom prst="roundRect">
            <a:avLst>
              <a:gd name="adj" fmla="val 10169"/>
            </a:avLst>
          </a:prstGeom>
          <a:solidFill>
            <a:srgbClr val="161D19"/>
          </a:solidFill>
          <a:ln w="12700">
            <a:solidFill>
              <a:srgbClr val="2A352F"/>
            </a:solidFill>
            <a:prstDash val="solid"/>
          </a:ln>
        </p:spPr>
      </p:sp>
      <p:sp>
        <p:nvSpPr>
          <p:cNvPr id="7" name="Text 5"/>
          <p:cNvSpPr/>
          <p:nvPr/>
        </p:nvSpPr>
        <p:spPr>
          <a:xfrm>
            <a:off x="896112" y="2157984"/>
            <a:ext cx="2103120" cy="530352"/>
          </a:xfrm>
          <a:prstGeom prst="rect">
            <a:avLst/>
          </a:prstGeom>
          <a:noFill/>
          <a:ln/>
        </p:spPr>
        <p:txBody>
          <a:bodyPr wrap="square" lIns="0" tIns="0" rIns="0" bIns="0" rtlCol="0" anchor="ctr"/>
          <a:lstStyle/>
          <a:p>
            <a:pPr indent="0" marL="0">
              <a:buNone/>
            </a:pPr>
            <a:r>
              <a:rPr lang="en-US" sz="3300" b="1" spc="-100" kern="0" dirty="0">
                <a:solidFill>
                  <a:srgbClr val="22C55E"/>
                </a:solidFill>
                <a:latin typeface="Calibri" pitchFamily="34" charset="0"/>
                <a:ea typeface="Calibri" pitchFamily="34" charset="-122"/>
                <a:cs typeface="Calibri" pitchFamily="34" charset="-120"/>
              </a:rPr>
              <a:t>10</a:t>
            </a:r>
            <a:endParaRPr lang="en-US" sz="3300" dirty="0"/>
          </a:p>
        </p:txBody>
      </p:sp>
      <p:sp>
        <p:nvSpPr>
          <p:cNvPr id="8" name="Text 6"/>
          <p:cNvSpPr/>
          <p:nvPr/>
        </p:nvSpPr>
        <p:spPr>
          <a:xfrm>
            <a:off x="896112" y="2688336"/>
            <a:ext cx="2103120" cy="274320"/>
          </a:xfrm>
          <a:prstGeom prst="rect">
            <a:avLst/>
          </a:prstGeom>
          <a:noFill/>
          <a:ln/>
        </p:spPr>
        <p:txBody>
          <a:bodyPr wrap="square" lIns="0" tIns="0" rIns="0" bIns="0" rtlCol="0" anchor="ctr"/>
          <a:lstStyle/>
          <a:p>
            <a:pPr indent="0" marL="0">
              <a:buNone/>
            </a:pPr>
            <a:r>
              <a:rPr lang="en-US" sz="1150" dirty="0">
                <a:solidFill>
                  <a:srgbClr val="9BA8A0"/>
                </a:solidFill>
                <a:latin typeface="Calibri" pitchFamily="34" charset="0"/>
                <a:ea typeface="Calibri" pitchFamily="34" charset="-122"/>
                <a:cs typeface="Calibri" pitchFamily="34" charset="-120"/>
              </a:rPr>
              <a:t>live data feeds</a:t>
            </a:r>
            <a:endParaRPr lang="en-US" sz="1150" dirty="0"/>
          </a:p>
        </p:txBody>
      </p:sp>
      <p:sp>
        <p:nvSpPr>
          <p:cNvPr id="9" name="Shape 7"/>
          <p:cNvSpPr/>
          <p:nvPr/>
        </p:nvSpPr>
        <p:spPr>
          <a:xfrm>
            <a:off x="3410712" y="2048256"/>
            <a:ext cx="2569464" cy="1078992"/>
          </a:xfrm>
          <a:prstGeom prst="roundRect">
            <a:avLst>
              <a:gd name="adj" fmla="val 10169"/>
            </a:avLst>
          </a:prstGeom>
          <a:solidFill>
            <a:srgbClr val="161D19"/>
          </a:solidFill>
          <a:ln w="12700">
            <a:solidFill>
              <a:srgbClr val="2A352F"/>
            </a:solidFill>
            <a:prstDash val="solid"/>
          </a:ln>
        </p:spPr>
      </p:sp>
      <p:sp>
        <p:nvSpPr>
          <p:cNvPr id="10" name="Text 8"/>
          <p:cNvSpPr/>
          <p:nvPr/>
        </p:nvSpPr>
        <p:spPr>
          <a:xfrm>
            <a:off x="3666744" y="2157984"/>
            <a:ext cx="2103120" cy="530352"/>
          </a:xfrm>
          <a:prstGeom prst="rect">
            <a:avLst/>
          </a:prstGeom>
          <a:noFill/>
          <a:ln/>
        </p:spPr>
        <p:txBody>
          <a:bodyPr wrap="square" lIns="0" tIns="0" rIns="0" bIns="0" rtlCol="0" anchor="ctr"/>
          <a:lstStyle/>
          <a:p>
            <a:pPr indent="0" marL="0">
              <a:buNone/>
            </a:pPr>
            <a:r>
              <a:rPr lang="en-US" sz="3300" b="1" spc="-100" kern="0" dirty="0">
                <a:solidFill>
                  <a:srgbClr val="22C55E"/>
                </a:solidFill>
                <a:latin typeface="Calibri" pitchFamily="34" charset="0"/>
                <a:ea typeface="Calibri" pitchFamily="34" charset="-122"/>
                <a:cs typeface="Calibri" pitchFamily="34" charset="-120"/>
              </a:rPr>
              <a:t>4</a:t>
            </a:r>
            <a:endParaRPr lang="en-US" sz="3300" dirty="0"/>
          </a:p>
        </p:txBody>
      </p:sp>
      <p:sp>
        <p:nvSpPr>
          <p:cNvPr id="11" name="Text 9"/>
          <p:cNvSpPr/>
          <p:nvPr/>
        </p:nvSpPr>
        <p:spPr>
          <a:xfrm>
            <a:off x="3666744" y="2688336"/>
            <a:ext cx="2103120" cy="274320"/>
          </a:xfrm>
          <a:prstGeom prst="rect">
            <a:avLst/>
          </a:prstGeom>
          <a:noFill/>
          <a:ln/>
        </p:spPr>
        <p:txBody>
          <a:bodyPr wrap="square" lIns="0" tIns="0" rIns="0" bIns="0" rtlCol="0" anchor="ctr"/>
          <a:lstStyle/>
          <a:p>
            <a:pPr indent="0" marL="0">
              <a:buNone/>
            </a:pPr>
            <a:r>
              <a:rPr lang="en-US" sz="1150" dirty="0">
                <a:solidFill>
                  <a:srgbClr val="9BA8A0"/>
                </a:solidFill>
                <a:latin typeface="Calibri" pitchFamily="34" charset="0"/>
                <a:ea typeface="Calibri" pitchFamily="34" charset="-122"/>
                <a:cs typeface="Calibri" pitchFamily="34" charset="-120"/>
              </a:rPr>
              <a:t>route types scored</a:t>
            </a:r>
            <a:endParaRPr lang="en-US" sz="1150" dirty="0"/>
          </a:p>
        </p:txBody>
      </p:sp>
      <p:sp>
        <p:nvSpPr>
          <p:cNvPr id="12" name="Shape 10"/>
          <p:cNvSpPr/>
          <p:nvPr/>
        </p:nvSpPr>
        <p:spPr>
          <a:xfrm>
            <a:off x="6181344" y="2048256"/>
            <a:ext cx="2569464" cy="1078992"/>
          </a:xfrm>
          <a:prstGeom prst="roundRect">
            <a:avLst>
              <a:gd name="adj" fmla="val 10169"/>
            </a:avLst>
          </a:prstGeom>
          <a:solidFill>
            <a:srgbClr val="161D19"/>
          </a:solidFill>
          <a:ln w="12700">
            <a:solidFill>
              <a:srgbClr val="2A352F"/>
            </a:solidFill>
            <a:prstDash val="solid"/>
          </a:ln>
        </p:spPr>
      </p:sp>
      <p:sp>
        <p:nvSpPr>
          <p:cNvPr id="13" name="Text 11"/>
          <p:cNvSpPr/>
          <p:nvPr/>
        </p:nvSpPr>
        <p:spPr>
          <a:xfrm>
            <a:off x="6437376" y="2157984"/>
            <a:ext cx="2103120" cy="530352"/>
          </a:xfrm>
          <a:prstGeom prst="rect">
            <a:avLst/>
          </a:prstGeom>
          <a:noFill/>
          <a:ln/>
        </p:spPr>
        <p:txBody>
          <a:bodyPr wrap="square" lIns="0" tIns="0" rIns="0" bIns="0" rtlCol="0" anchor="ctr"/>
          <a:lstStyle/>
          <a:p>
            <a:pPr indent="0" marL="0">
              <a:buNone/>
            </a:pPr>
            <a:r>
              <a:rPr lang="en-US" sz="3300" b="1" spc="-100" kern="0" dirty="0">
                <a:solidFill>
                  <a:srgbClr val="22C55E"/>
                </a:solidFill>
                <a:latin typeface="Calibri" pitchFamily="34" charset="0"/>
                <a:ea typeface="Calibri" pitchFamily="34" charset="-122"/>
                <a:cs typeface="Calibri" pitchFamily="34" charset="-120"/>
              </a:rPr>
              <a:t>$9.99</a:t>
            </a:r>
            <a:endParaRPr lang="en-US" sz="3300" dirty="0"/>
          </a:p>
        </p:txBody>
      </p:sp>
      <p:sp>
        <p:nvSpPr>
          <p:cNvPr id="14" name="Text 12"/>
          <p:cNvSpPr/>
          <p:nvPr/>
        </p:nvSpPr>
        <p:spPr>
          <a:xfrm>
            <a:off x="6437376" y="2688336"/>
            <a:ext cx="2103120" cy="274320"/>
          </a:xfrm>
          <a:prstGeom prst="rect">
            <a:avLst/>
          </a:prstGeom>
          <a:noFill/>
          <a:ln/>
        </p:spPr>
        <p:txBody>
          <a:bodyPr wrap="square" lIns="0" tIns="0" rIns="0" bIns="0" rtlCol="0" anchor="ctr"/>
          <a:lstStyle/>
          <a:p>
            <a:pPr indent="0" marL="0">
              <a:buNone/>
            </a:pPr>
            <a:r>
              <a:rPr lang="en-US" sz="1150" dirty="0">
                <a:solidFill>
                  <a:srgbClr val="9BA8A0"/>
                </a:solidFill>
                <a:latin typeface="Calibri" pitchFamily="34" charset="0"/>
                <a:ea typeface="Calibri" pitchFamily="34" charset="-122"/>
                <a:cs typeface="Calibri" pitchFamily="34" charset="-120"/>
              </a:rPr>
              <a:t>a month, charging now</a:t>
            </a:r>
            <a:endParaRPr lang="en-US" sz="1150" dirty="0"/>
          </a:p>
        </p:txBody>
      </p:sp>
      <p:sp>
        <p:nvSpPr>
          <p:cNvPr id="15" name="Shape 13"/>
          <p:cNvSpPr/>
          <p:nvPr/>
        </p:nvSpPr>
        <p:spPr>
          <a:xfrm>
            <a:off x="8951976" y="2048256"/>
            <a:ext cx="2569464" cy="1078992"/>
          </a:xfrm>
          <a:prstGeom prst="roundRect">
            <a:avLst>
              <a:gd name="adj" fmla="val 10169"/>
            </a:avLst>
          </a:prstGeom>
          <a:solidFill>
            <a:srgbClr val="161D19"/>
          </a:solidFill>
          <a:ln w="12700">
            <a:solidFill>
              <a:srgbClr val="2A352F"/>
            </a:solidFill>
            <a:prstDash val="solid"/>
          </a:ln>
        </p:spPr>
      </p:sp>
      <p:sp>
        <p:nvSpPr>
          <p:cNvPr id="16" name="Text 14"/>
          <p:cNvSpPr/>
          <p:nvPr/>
        </p:nvSpPr>
        <p:spPr>
          <a:xfrm>
            <a:off x="9208008" y="2157984"/>
            <a:ext cx="2103120" cy="530352"/>
          </a:xfrm>
          <a:prstGeom prst="rect">
            <a:avLst/>
          </a:prstGeom>
          <a:noFill/>
          <a:ln/>
        </p:spPr>
        <p:txBody>
          <a:bodyPr wrap="square" lIns="0" tIns="0" rIns="0" bIns="0" rtlCol="0" anchor="ctr"/>
          <a:lstStyle/>
          <a:p>
            <a:pPr indent="0" marL="0">
              <a:buNone/>
            </a:pPr>
            <a:r>
              <a:rPr lang="en-US" sz="3300" b="1" spc="-100" kern="0" dirty="0">
                <a:solidFill>
                  <a:srgbClr val="F5B43C"/>
                </a:solidFill>
                <a:latin typeface="Calibri" pitchFamily="34" charset="0"/>
                <a:ea typeface="Calibri" pitchFamily="34" charset="-122"/>
                <a:cs typeface="Calibri" pitchFamily="34" charset="-120"/>
              </a:rPr>
              <a:t>1</a:t>
            </a:r>
            <a:endParaRPr lang="en-US" sz="3300" dirty="0"/>
          </a:p>
        </p:txBody>
      </p:sp>
      <p:sp>
        <p:nvSpPr>
          <p:cNvPr id="17" name="Text 15"/>
          <p:cNvSpPr/>
          <p:nvPr/>
        </p:nvSpPr>
        <p:spPr>
          <a:xfrm>
            <a:off x="9208008" y="2688336"/>
            <a:ext cx="2103120" cy="274320"/>
          </a:xfrm>
          <a:prstGeom prst="rect">
            <a:avLst/>
          </a:prstGeom>
          <a:noFill/>
          <a:ln/>
        </p:spPr>
        <p:txBody>
          <a:bodyPr wrap="square" lIns="0" tIns="0" rIns="0" bIns="0" rtlCol="0" anchor="ctr"/>
          <a:lstStyle/>
          <a:p>
            <a:pPr indent="0" marL="0">
              <a:buNone/>
            </a:pPr>
            <a:r>
              <a:rPr lang="en-US" sz="1150" dirty="0">
                <a:solidFill>
                  <a:srgbClr val="9BA8A0"/>
                </a:solidFill>
                <a:latin typeface="Calibri" pitchFamily="34" charset="0"/>
                <a:ea typeface="Calibri" pitchFamily="34" charset="-122"/>
                <a:cs typeface="Calibri" pitchFamily="34" charset="-120"/>
              </a:rPr>
              <a:t>engineer</a:t>
            </a:r>
            <a:endParaRPr lang="en-US" sz="1150" dirty="0"/>
          </a:p>
        </p:txBody>
      </p:sp>
      <p:sp>
        <p:nvSpPr>
          <p:cNvPr id="18" name="Text 16"/>
          <p:cNvSpPr/>
          <p:nvPr/>
        </p:nvSpPr>
        <p:spPr>
          <a:xfrm>
            <a:off x="640080" y="3310128"/>
            <a:ext cx="5029200" cy="237744"/>
          </a:xfrm>
          <a:prstGeom prst="rect">
            <a:avLst/>
          </a:prstGeom>
          <a:noFill/>
          <a:ln/>
        </p:spPr>
        <p:txBody>
          <a:bodyPr wrap="square" lIns="0" tIns="0" rIns="0" bIns="0" rtlCol="0" anchor="ctr"/>
          <a:lstStyle/>
          <a:p>
            <a:pPr indent="0" marL="0">
              <a:buNone/>
            </a:pPr>
            <a:r>
              <a:rPr lang="en-US" sz="950" b="1" spc="140" kern="0" dirty="0">
                <a:solidFill>
                  <a:srgbClr val="22C55E"/>
                </a:solidFill>
                <a:latin typeface="Calibri" pitchFamily="34" charset="0"/>
                <a:ea typeface="Calibri" pitchFamily="34" charset="-122"/>
                <a:cs typeface="Calibri" pitchFamily="34" charset="-120"/>
              </a:rPr>
              <a:t>SHIPPED AND IN USERS' HANDS</a:t>
            </a:r>
            <a:endParaRPr lang="en-US" sz="950" dirty="0"/>
          </a:p>
        </p:txBody>
      </p:sp>
      <p:sp>
        <p:nvSpPr>
          <p:cNvPr id="19" name="Shape 17"/>
          <p:cNvSpPr/>
          <p:nvPr/>
        </p:nvSpPr>
        <p:spPr>
          <a:xfrm>
            <a:off x="640080" y="3602736"/>
            <a:ext cx="3502152" cy="512064"/>
          </a:xfrm>
          <a:prstGeom prst="roundRect">
            <a:avLst>
              <a:gd name="adj" fmla="val 14286"/>
            </a:avLst>
          </a:prstGeom>
          <a:solidFill>
            <a:srgbClr val="101613"/>
          </a:solidFill>
          <a:ln w="12700">
            <a:solidFill>
              <a:srgbClr val="1C2420"/>
            </a:solidFill>
            <a:prstDash val="solid"/>
          </a:ln>
        </p:spPr>
      </p:sp>
      <p:sp>
        <p:nvSpPr>
          <p:cNvPr id="20" name="Text 18"/>
          <p:cNvSpPr/>
          <p:nvPr/>
        </p:nvSpPr>
        <p:spPr>
          <a:xfrm>
            <a:off x="841248" y="3602736"/>
            <a:ext cx="237744" cy="512064"/>
          </a:xfrm>
          <a:prstGeom prst="rect">
            <a:avLst/>
          </a:prstGeom>
          <a:noFill/>
          <a:ln/>
        </p:spPr>
        <p:txBody>
          <a:bodyPr wrap="square" lIns="0" tIns="0" rIns="0" bIns="0" rtlCol="0" anchor="ctr"/>
          <a:lstStyle/>
          <a:p>
            <a:pPr indent="0" marL="0">
              <a:buNone/>
            </a:pPr>
            <a:r>
              <a:rPr lang="en-US" sz="1200" b="1" dirty="0">
                <a:solidFill>
                  <a:srgbClr val="22C55E"/>
                </a:solidFill>
                <a:latin typeface="Calibri" pitchFamily="34" charset="0"/>
                <a:ea typeface="Calibri" pitchFamily="34" charset="-122"/>
                <a:cs typeface="Calibri" pitchFamily="34" charset="-120"/>
              </a:rPr>
              <a:t>✓</a:t>
            </a:r>
            <a:endParaRPr lang="en-US" sz="1200" dirty="0"/>
          </a:p>
        </p:txBody>
      </p:sp>
      <p:sp>
        <p:nvSpPr>
          <p:cNvPr id="21" name="Text 19"/>
          <p:cNvSpPr/>
          <p:nvPr/>
        </p:nvSpPr>
        <p:spPr>
          <a:xfrm>
            <a:off x="1133856" y="3602736"/>
            <a:ext cx="2880360" cy="512064"/>
          </a:xfrm>
          <a:prstGeom prst="rect">
            <a:avLst/>
          </a:prstGeom>
          <a:noFill/>
          <a:ln/>
        </p:spPr>
        <p:txBody>
          <a:bodyPr wrap="square" lIns="0" tIns="0" rIns="0" bIns="0" rtlCol="0" anchor="ctr"/>
          <a:lstStyle/>
          <a:p>
            <a:pPr indent="0" marL="0">
              <a:buNone/>
            </a:pPr>
            <a:r>
              <a:rPr lang="en-US" sz="1150" dirty="0">
                <a:solidFill>
                  <a:srgbClr val="F4F7F5"/>
                </a:solidFill>
                <a:latin typeface="Calibri" pitchFamily="34" charset="0"/>
                <a:ea typeface="Calibri" pitchFamily="34" charset="-122"/>
                <a:cs typeface="Calibri" pitchFamily="34" charset="-120"/>
              </a:rPr>
              <a:t>Goal setup and ranked routes</a:t>
            </a:r>
            <a:endParaRPr lang="en-US" sz="1150" dirty="0"/>
          </a:p>
        </p:txBody>
      </p:sp>
      <p:sp>
        <p:nvSpPr>
          <p:cNvPr id="22" name="Shape 20"/>
          <p:cNvSpPr/>
          <p:nvPr/>
        </p:nvSpPr>
        <p:spPr>
          <a:xfrm>
            <a:off x="4343400" y="3602736"/>
            <a:ext cx="3502152" cy="512064"/>
          </a:xfrm>
          <a:prstGeom prst="roundRect">
            <a:avLst>
              <a:gd name="adj" fmla="val 14286"/>
            </a:avLst>
          </a:prstGeom>
          <a:solidFill>
            <a:srgbClr val="101613"/>
          </a:solidFill>
          <a:ln w="12700">
            <a:solidFill>
              <a:srgbClr val="1C2420"/>
            </a:solidFill>
            <a:prstDash val="solid"/>
          </a:ln>
        </p:spPr>
      </p:sp>
      <p:sp>
        <p:nvSpPr>
          <p:cNvPr id="23" name="Text 21"/>
          <p:cNvSpPr/>
          <p:nvPr/>
        </p:nvSpPr>
        <p:spPr>
          <a:xfrm>
            <a:off x="4544568" y="3602736"/>
            <a:ext cx="237744" cy="512064"/>
          </a:xfrm>
          <a:prstGeom prst="rect">
            <a:avLst/>
          </a:prstGeom>
          <a:noFill/>
          <a:ln/>
        </p:spPr>
        <p:txBody>
          <a:bodyPr wrap="square" lIns="0" tIns="0" rIns="0" bIns="0" rtlCol="0" anchor="ctr"/>
          <a:lstStyle/>
          <a:p>
            <a:pPr indent="0" marL="0">
              <a:buNone/>
            </a:pPr>
            <a:r>
              <a:rPr lang="en-US" sz="1200" b="1" dirty="0">
                <a:solidFill>
                  <a:srgbClr val="22C55E"/>
                </a:solidFill>
                <a:latin typeface="Calibri" pitchFamily="34" charset="0"/>
                <a:ea typeface="Calibri" pitchFamily="34" charset="-122"/>
                <a:cs typeface="Calibri" pitchFamily="34" charset="-120"/>
              </a:rPr>
              <a:t>✓</a:t>
            </a:r>
            <a:endParaRPr lang="en-US" sz="1200" dirty="0"/>
          </a:p>
        </p:txBody>
      </p:sp>
      <p:sp>
        <p:nvSpPr>
          <p:cNvPr id="24" name="Text 22"/>
          <p:cNvSpPr/>
          <p:nvPr/>
        </p:nvSpPr>
        <p:spPr>
          <a:xfrm>
            <a:off x="4837176" y="3602736"/>
            <a:ext cx="2880360" cy="512064"/>
          </a:xfrm>
          <a:prstGeom prst="rect">
            <a:avLst/>
          </a:prstGeom>
          <a:noFill/>
          <a:ln/>
        </p:spPr>
        <p:txBody>
          <a:bodyPr wrap="square" lIns="0" tIns="0" rIns="0" bIns="0" rtlCol="0" anchor="ctr"/>
          <a:lstStyle/>
          <a:p>
            <a:pPr indent="0" marL="0">
              <a:buNone/>
            </a:pPr>
            <a:r>
              <a:rPr lang="en-US" sz="1150" dirty="0">
                <a:solidFill>
                  <a:srgbClr val="F4F7F5"/>
                </a:solidFill>
                <a:latin typeface="Calibri" pitchFamily="34" charset="0"/>
                <a:ea typeface="Calibri" pitchFamily="34" charset="-122"/>
                <a:cs typeface="Calibri" pitchFamily="34" charset="-120"/>
              </a:rPr>
              <a:t>Score breakdown on every route</a:t>
            </a:r>
            <a:endParaRPr lang="en-US" sz="1150" dirty="0"/>
          </a:p>
        </p:txBody>
      </p:sp>
      <p:sp>
        <p:nvSpPr>
          <p:cNvPr id="25" name="Shape 23"/>
          <p:cNvSpPr/>
          <p:nvPr/>
        </p:nvSpPr>
        <p:spPr>
          <a:xfrm>
            <a:off x="8046720" y="3602736"/>
            <a:ext cx="3502152" cy="512064"/>
          </a:xfrm>
          <a:prstGeom prst="roundRect">
            <a:avLst>
              <a:gd name="adj" fmla="val 14286"/>
            </a:avLst>
          </a:prstGeom>
          <a:solidFill>
            <a:srgbClr val="101613"/>
          </a:solidFill>
          <a:ln w="12700">
            <a:solidFill>
              <a:srgbClr val="1C2420"/>
            </a:solidFill>
            <a:prstDash val="solid"/>
          </a:ln>
        </p:spPr>
      </p:sp>
      <p:sp>
        <p:nvSpPr>
          <p:cNvPr id="26" name="Text 24"/>
          <p:cNvSpPr/>
          <p:nvPr/>
        </p:nvSpPr>
        <p:spPr>
          <a:xfrm>
            <a:off x="8247888" y="3602736"/>
            <a:ext cx="237744" cy="512064"/>
          </a:xfrm>
          <a:prstGeom prst="rect">
            <a:avLst/>
          </a:prstGeom>
          <a:noFill/>
          <a:ln/>
        </p:spPr>
        <p:txBody>
          <a:bodyPr wrap="square" lIns="0" tIns="0" rIns="0" bIns="0" rtlCol="0" anchor="ctr"/>
          <a:lstStyle/>
          <a:p>
            <a:pPr indent="0" marL="0">
              <a:buNone/>
            </a:pPr>
            <a:r>
              <a:rPr lang="en-US" sz="1200" b="1" dirty="0">
                <a:solidFill>
                  <a:srgbClr val="22C55E"/>
                </a:solidFill>
                <a:latin typeface="Calibri" pitchFamily="34" charset="0"/>
                <a:ea typeface="Calibri" pitchFamily="34" charset="-122"/>
                <a:cs typeface="Calibri" pitchFamily="34" charset="-120"/>
              </a:rPr>
              <a:t>✓</a:t>
            </a:r>
            <a:endParaRPr lang="en-US" sz="1200" dirty="0"/>
          </a:p>
        </p:txBody>
      </p:sp>
      <p:sp>
        <p:nvSpPr>
          <p:cNvPr id="27" name="Text 25"/>
          <p:cNvSpPr/>
          <p:nvPr/>
        </p:nvSpPr>
        <p:spPr>
          <a:xfrm>
            <a:off x="8540496" y="3602736"/>
            <a:ext cx="2880360" cy="512064"/>
          </a:xfrm>
          <a:prstGeom prst="rect">
            <a:avLst/>
          </a:prstGeom>
          <a:noFill/>
          <a:ln/>
        </p:spPr>
        <p:txBody>
          <a:bodyPr wrap="square" lIns="0" tIns="0" rIns="0" bIns="0" rtlCol="0" anchor="ctr"/>
          <a:lstStyle/>
          <a:p>
            <a:pPr indent="0" marL="0">
              <a:buNone/>
            </a:pPr>
            <a:r>
              <a:rPr lang="en-US" sz="1150" dirty="0">
                <a:solidFill>
                  <a:srgbClr val="F4F7F5"/>
                </a:solidFill>
                <a:latin typeface="Calibri" pitchFamily="34" charset="0"/>
                <a:ea typeface="Calibri" pitchFamily="34" charset="-122"/>
                <a:cs typeface="Calibri" pitchFamily="34" charset="-120"/>
              </a:rPr>
              <a:t>AI coach on every pick</a:t>
            </a:r>
            <a:endParaRPr lang="en-US" sz="1150" dirty="0"/>
          </a:p>
        </p:txBody>
      </p:sp>
      <p:sp>
        <p:nvSpPr>
          <p:cNvPr id="28" name="Shape 26"/>
          <p:cNvSpPr/>
          <p:nvPr/>
        </p:nvSpPr>
        <p:spPr>
          <a:xfrm>
            <a:off x="640080" y="4187952"/>
            <a:ext cx="3502152" cy="512064"/>
          </a:xfrm>
          <a:prstGeom prst="roundRect">
            <a:avLst>
              <a:gd name="adj" fmla="val 14286"/>
            </a:avLst>
          </a:prstGeom>
          <a:solidFill>
            <a:srgbClr val="101613"/>
          </a:solidFill>
          <a:ln w="12700">
            <a:solidFill>
              <a:srgbClr val="1C2420"/>
            </a:solidFill>
            <a:prstDash val="solid"/>
          </a:ln>
        </p:spPr>
      </p:sp>
      <p:sp>
        <p:nvSpPr>
          <p:cNvPr id="29" name="Text 27"/>
          <p:cNvSpPr/>
          <p:nvPr/>
        </p:nvSpPr>
        <p:spPr>
          <a:xfrm>
            <a:off x="841248" y="4187952"/>
            <a:ext cx="237744" cy="512064"/>
          </a:xfrm>
          <a:prstGeom prst="rect">
            <a:avLst/>
          </a:prstGeom>
          <a:noFill/>
          <a:ln/>
        </p:spPr>
        <p:txBody>
          <a:bodyPr wrap="square" lIns="0" tIns="0" rIns="0" bIns="0" rtlCol="0" anchor="ctr"/>
          <a:lstStyle/>
          <a:p>
            <a:pPr indent="0" marL="0">
              <a:buNone/>
            </a:pPr>
            <a:r>
              <a:rPr lang="en-US" sz="1200" b="1" dirty="0">
                <a:solidFill>
                  <a:srgbClr val="22C55E"/>
                </a:solidFill>
                <a:latin typeface="Calibri" pitchFamily="34" charset="0"/>
                <a:ea typeface="Calibri" pitchFamily="34" charset="-122"/>
                <a:cs typeface="Calibri" pitchFamily="34" charset="-120"/>
              </a:rPr>
              <a:t>✓</a:t>
            </a:r>
            <a:endParaRPr lang="en-US" sz="1200" dirty="0"/>
          </a:p>
        </p:txBody>
      </p:sp>
      <p:sp>
        <p:nvSpPr>
          <p:cNvPr id="30" name="Text 28"/>
          <p:cNvSpPr/>
          <p:nvPr/>
        </p:nvSpPr>
        <p:spPr>
          <a:xfrm>
            <a:off x="1133856" y="4187952"/>
            <a:ext cx="2880360" cy="512064"/>
          </a:xfrm>
          <a:prstGeom prst="rect">
            <a:avLst/>
          </a:prstGeom>
          <a:noFill/>
          <a:ln/>
        </p:spPr>
        <p:txBody>
          <a:bodyPr wrap="square" lIns="0" tIns="0" rIns="0" bIns="0" rtlCol="0" anchor="ctr"/>
          <a:lstStyle/>
          <a:p>
            <a:pPr indent="0" marL="0">
              <a:buNone/>
            </a:pPr>
            <a:r>
              <a:rPr lang="en-US" sz="1150" dirty="0">
                <a:solidFill>
                  <a:srgbClr val="F4F7F5"/>
                </a:solidFill>
                <a:latin typeface="Calibri" pitchFamily="34" charset="0"/>
                <a:ea typeface="Calibri" pitchFamily="34" charset="-122"/>
                <a:cs typeface="Calibri" pitchFamily="34" charset="-120"/>
              </a:rPr>
              <a:t>Goal-based portfolio tracking</a:t>
            </a:r>
            <a:endParaRPr lang="en-US" sz="1150" dirty="0"/>
          </a:p>
        </p:txBody>
      </p:sp>
      <p:sp>
        <p:nvSpPr>
          <p:cNvPr id="31" name="Shape 29"/>
          <p:cNvSpPr/>
          <p:nvPr/>
        </p:nvSpPr>
        <p:spPr>
          <a:xfrm>
            <a:off x="4343400" y="4187952"/>
            <a:ext cx="3502152" cy="512064"/>
          </a:xfrm>
          <a:prstGeom prst="roundRect">
            <a:avLst>
              <a:gd name="adj" fmla="val 14286"/>
            </a:avLst>
          </a:prstGeom>
          <a:solidFill>
            <a:srgbClr val="101613"/>
          </a:solidFill>
          <a:ln w="12700">
            <a:solidFill>
              <a:srgbClr val="1C2420"/>
            </a:solidFill>
            <a:prstDash val="solid"/>
          </a:ln>
        </p:spPr>
      </p:sp>
      <p:sp>
        <p:nvSpPr>
          <p:cNvPr id="32" name="Text 30"/>
          <p:cNvSpPr/>
          <p:nvPr/>
        </p:nvSpPr>
        <p:spPr>
          <a:xfrm>
            <a:off x="4544568" y="4187952"/>
            <a:ext cx="237744" cy="512064"/>
          </a:xfrm>
          <a:prstGeom prst="rect">
            <a:avLst/>
          </a:prstGeom>
          <a:noFill/>
          <a:ln/>
        </p:spPr>
        <p:txBody>
          <a:bodyPr wrap="square" lIns="0" tIns="0" rIns="0" bIns="0" rtlCol="0" anchor="ctr"/>
          <a:lstStyle/>
          <a:p>
            <a:pPr indent="0" marL="0">
              <a:buNone/>
            </a:pPr>
            <a:r>
              <a:rPr lang="en-US" sz="1200" b="1" dirty="0">
                <a:solidFill>
                  <a:srgbClr val="22C55E"/>
                </a:solidFill>
                <a:latin typeface="Calibri" pitchFamily="34" charset="0"/>
                <a:ea typeface="Calibri" pitchFamily="34" charset="-122"/>
                <a:cs typeface="Calibri" pitchFamily="34" charset="-120"/>
              </a:rPr>
              <a:t>✓</a:t>
            </a:r>
            <a:endParaRPr lang="en-US" sz="1200" dirty="0"/>
          </a:p>
        </p:txBody>
      </p:sp>
      <p:sp>
        <p:nvSpPr>
          <p:cNvPr id="33" name="Text 31"/>
          <p:cNvSpPr/>
          <p:nvPr/>
        </p:nvSpPr>
        <p:spPr>
          <a:xfrm>
            <a:off x="4837176" y="4187952"/>
            <a:ext cx="2880360" cy="512064"/>
          </a:xfrm>
          <a:prstGeom prst="rect">
            <a:avLst/>
          </a:prstGeom>
          <a:noFill/>
          <a:ln/>
        </p:spPr>
        <p:txBody>
          <a:bodyPr wrap="square" lIns="0" tIns="0" rIns="0" bIns="0" rtlCol="0" anchor="ctr"/>
          <a:lstStyle/>
          <a:p>
            <a:pPr indent="0" marL="0">
              <a:buNone/>
            </a:pPr>
            <a:r>
              <a:rPr lang="en-US" sz="1150" dirty="0">
                <a:solidFill>
                  <a:srgbClr val="F4F7F5"/>
                </a:solidFill>
                <a:latin typeface="Calibri" pitchFamily="34" charset="0"/>
                <a:ea typeface="Calibri" pitchFamily="34" charset="-122"/>
                <a:cs typeface="Calibri" pitchFamily="34" charset="-120"/>
              </a:rPr>
              <a:t>Cross-exchange price comparison</a:t>
            </a:r>
            <a:endParaRPr lang="en-US" sz="1150" dirty="0"/>
          </a:p>
        </p:txBody>
      </p:sp>
      <p:sp>
        <p:nvSpPr>
          <p:cNvPr id="34" name="Shape 32"/>
          <p:cNvSpPr/>
          <p:nvPr/>
        </p:nvSpPr>
        <p:spPr>
          <a:xfrm>
            <a:off x="8046720" y="4187952"/>
            <a:ext cx="3502152" cy="512064"/>
          </a:xfrm>
          <a:prstGeom prst="roundRect">
            <a:avLst>
              <a:gd name="adj" fmla="val 14286"/>
            </a:avLst>
          </a:prstGeom>
          <a:solidFill>
            <a:srgbClr val="101613"/>
          </a:solidFill>
          <a:ln w="12700">
            <a:solidFill>
              <a:srgbClr val="1C2420"/>
            </a:solidFill>
            <a:prstDash val="solid"/>
          </a:ln>
        </p:spPr>
      </p:sp>
      <p:sp>
        <p:nvSpPr>
          <p:cNvPr id="35" name="Text 33"/>
          <p:cNvSpPr/>
          <p:nvPr/>
        </p:nvSpPr>
        <p:spPr>
          <a:xfrm>
            <a:off x="8247888" y="4187952"/>
            <a:ext cx="237744" cy="512064"/>
          </a:xfrm>
          <a:prstGeom prst="rect">
            <a:avLst/>
          </a:prstGeom>
          <a:noFill/>
          <a:ln/>
        </p:spPr>
        <p:txBody>
          <a:bodyPr wrap="square" lIns="0" tIns="0" rIns="0" bIns="0" rtlCol="0" anchor="ctr"/>
          <a:lstStyle/>
          <a:p>
            <a:pPr indent="0" marL="0">
              <a:buNone/>
            </a:pPr>
            <a:r>
              <a:rPr lang="en-US" sz="1200" b="1" dirty="0">
                <a:solidFill>
                  <a:srgbClr val="22C55E"/>
                </a:solidFill>
                <a:latin typeface="Calibri" pitchFamily="34" charset="0"/>
                <a:ea typeface="Calibri" pitchFamily="34" charset="-122"/>
                <a:cs typeface="Calibri" pitchFamily="34" charset="-120"/>
              </a:rPr>
              <a:t>✓</a:t>
            </a:r>
            <a:endParaRPr lang="en-US" sz="1200" dirty="0"/>
          </a:p>
        </p:txBody>
      </p:sp>
      <p:sp>
        <p:nvSpPr>
          <p:cNvPr id="36" name="Text 34"/>
          <p:cNvSpPr/>
          <p:nvPr/>
        </p:nvSpPr>
        <p:spPr>
          <a:xfrm>
            <a:off x="8540496" y="4187952"/>
            <a:ext cx="2880360" cy="512064"/>
          </a:xfrm>
          <a:prstGeom prst="rect">
            <a:avLst/>
          </a:prstGeom>
          <a:noFill/>
          <a:ln/>
        </p:spPr>
        <p:txBody>
          <a:bodyPr wrap="square" lIns="0" tIns="0" rIns="0" bIns="0" rtlCol="0" anchor="ctr"/>
          <a:lstStyle/>
          <a:p>
            <a:pPr indent="0" marL="0">
              <a:buNone/>
            </a:pPr>
            <a:r>
              <a:rPr lang="en-US" sz="1150" dirty="0">
                <a:solidFill>
                  <a:srgbClr val="F4F7F5"/>
                </a:solidFill>
                <a:latin typeface="Calibri" pitchFamily="34" charset="0"/>
                <a:ea typeface="Calibri" pitchFamily="34" charset="-122"/>
                <a:cs typeface="Calibri" pitchFamily="34" charset="-120"/>
              </a:rPr>
              <a:t>Accounts, payments, share-to-unlock</a:t>
            </a:r>
            <a:endParaRPr lang="en-US" sz="1150" dirty="0"/>
          </a:p>
        </p:txBody>
      </p:sp>
      <p:sp>
        <p:nvSpPr>
          <p:cNvPr id="37" name="Text 35"/>
          <p:cNvSpPr/>
          <p:nvPr/>
        </p:nvSpPr>
        <p:spPr>
          <a:xfrm>
            <a:off x="640080" y="4901184"/>
            <a:ext cx="5029200" cy="237744"/>
          </a:xfrm>
          <a:prstGeom prst="rect">
            <a:avLst/>
          </a:prstGeom>
          <a:noFill/>
          <a:ln/>
        </p:spPr>
        <p:txBody>
          <a:bodyPr wrap="square" lIns="0" tIns="0" rIns="0" bIns="0" rtlCol="0" anchor="ctr"/>
          <a:lstStyle/>
          <a:p>
            <a:pPr indent="0" marL="0">
              <a:buNone/>
            </a:pPr>
            <a:r>
              <a:rPr lang="en-US" sz="950" b="1" spc="140" kern="0" dirty="0">
                <a:solidFill>
                  <a:srgbClr val="22C55E"/>
                </a:solidFill>
                <a:latin typeface="Calibri" pitchFamily="34" charset="0"/>
                <a:ea typeface="Calibri" pitchFamily="34" charset="-122"/>
                <a:cs typeface="Calibri" pitchFamily="34" charset="-120"/>
              </a:rPr>
              <a:t>THE LIVE FEEDS BEHIND IT</a:t>
            </a:r>
            <a:endParaRPr lang="en-US" sz="950" dirty="0"/>
          </a:p>
        </p:txBody>
      </p:sp>
      <p:sp>
        <p:nvSpPr>
          <p:cNvPr id="38" name="Shape 36"/>
          <p:cNvSpPr/>
          <p:nvPr/>
        </p:nvSpPr>
        <p:spPr>
          <a:xfrm>
            <a:off x="640080" y="5193792"/>
            <a:ext cx="1271016" cy="457200"/>
          </a:xfrm>
          <a:prstGeom prst="roundRect">
            <a:avLst>
              <a:gd name="adj" fmla="val 20000"/>
            </a:avLst>
          </a:prstGeom>
          <a:solidFill>
            <a:srgbClr val="161D19"/>
          </a:solidFill>
          <a:ln w="12700">
            <a:solidFill>
              <a:srgbClr val="2A352F"/>
            </a:solidFill>
            <a:prstDash val="solid"/>
          </a:ln>
        </p:spPr>
      </p:sp>
      <p:sp>
        <p:nvSpPr>
          <p:cNvPr id="39" name="Text 37"/>
          <p:cNvSpPr/>
          <p:nvPr/>
        </p:nvSpPr>
        <p:spPr>
          <a:xfrm>
            <a:off x="694944" y="5193792"/>
            <a:ext cx="1161288" cy="457200"/>
          </a:xfrm>
          <a:prstGeom prst="rect">
            <a:avLst/>
          </a:prstGeom>
          <a:noFill/>
          <a:ln/>
        </p:spPr>
        <p:txBody>
          <a:bodyPr wrap="square" lIns="0" tIns="0" rIns="0" bIns="0" rtlCol="0" anchor="ctr"/>
          <a:lstStyle/>
          <a:p>
            <a:pPr algn="ctr" indent="0" marL="0">
              <a:buNone/>
            </a:pPr>
            <a:r>
              <a:rPr lang="en-US" sz="950" b="1" dirty="0">
                <a:solidFill>
                  <a:srgbClr val="F4F7F5"/>
                </a:solidFill>
                <a:latin typeface="Calibri" pitchFamily="34" charset="0"/>
                <a:ea typeface="Calibri" pitchFamily="34" charset="-122"/>
                <a:cs typeface="Calibri" pitchFamily="34" charset="-120"/>
              </a:rPr>
              <a:t>Polymarket</a:t>
            </a:r>
            <a:endParaRPr lang="en-US" sz="950" dirty="0"/>
          </a:p>
        </p:txBody>
      </p:sp>
      <p:sp>
        <p:nvSpPr>
          <p:cNvPr id="40" name="Shape 38"/>
          <p:cNvSpPr/>
          <p:nvPr/>
        </p:nvSpPr>
        <p:spPr>
          <a:xfrm>
            <a:off x="2016252" y="5193792"/>
            <a:ext cx="1271016" cy="457200"/>
          </a:xfrm>
          <a:prstGeom prst="roundRect">
            <a:avLst>
              <a:gd name="adj" fmla="val 20000"/>
            </a:avLst>
          </a:prstGeom>
          <a:solidFill>
            <a:srgbClr val="161D19"/>
          </a:solidFill>
          <a:ln w="12700">
            <a:solidFill>
              <a:srgbClr val="2A352F"/>
            </a:solidFill>
            <a:prstDash val="solid"/>
          </a:ln>
        </p:spPr>
      </p:sp>
      <p:sp>
        <p:nvSpPr>
          <p:cNvPr id="41" name="Text 39"/>
          <p:cNvSpPr/>
          <p:nvPr/>
        </p:nvSpPr>
        <p:spPr>
          <a:xfrm>
            <a:off x="2071116" y="5193792"/>
            <a:ext cx="1161288" cy="457200"/>
          </a:xfrm>
          <a:prstGeom prst="rect">
            <a:avLst/>
          </a:prstGeom>
          <a:noFill/>
          <a:ln/>
        </p:spPr>
        <p:txBody>
          <a:bodyPr wrap="square" lIns="0" tIns="0" rIns="0" bIns="0" rtlCol="0" anchor="ctr"/>
          <a:lstStyle/>
          <a:p>
            <a:pPr algn="ctr" indent="0" marL="0">
              <a:buNone/>
            </a:pPr>
            <a:r>
              <a:rPr lang="en-US" sz="950" b="1" dirty="0">
                <a:solidFill>
                  <a:srgbClr val="F4F7F5"/>
                </a:solidFill>
                <a:latin typeface="Calibri" pitchFamily="34" charset="0"/>
                <a:ea typeface="Calibri" pitchFamily="34" charset="-122"/>
                <a:cs typeface="Calibri" pitchFamily="34" charset="-120"/>
              </a:rPr>
              <a:t>Kalshi</a:t>
            </a:r>
            <a:endParaRPr lang="en-US" sz="950" dirty="0"/>
          </a:p>
        </p:txBody>
      </p:sp>
      <p:sp>
        <p:nvSpPr>
          <p:cNvPr id="42" name="Shape 40"/>
          <p:cNvSpPr/>
          <p:nvPr/>
        </p:nvSpPr>
        <p:spPr>
          <a:xfrm>
            <a:off x="3392424" y="5193792"/>
            <a:ext cx="1271016" cy="457200"/>
          </a:xfrm>
          <a:prstGeom prst="roundRect">
            <a:avLst>
              <a:gd name="adj" fmla="val 20000"/>
            </a:avLst>
          </a:prstGeom>
          <a:solidFill>
            <a:srgbClr val="161D19"/>
          </a:solidFill>
          <a:ln w="12700">
            <a:solidFill>
              <a:srgbClr val="2A352F"/>
            </a:solidFill>
            <a:prstDash val="solid"/>
          </a:ln>
        </p:spPr>
      </p:sp>
      <p:sp>
        <p:nvSpPr>
          <p:cNvPr id="43" name="Text 41"/>
          <p:cNvSpPr/>
          <p:nvPr/>
        </p:nvSpPr>
        <p:spPr>
          <a:xfrm>
            <a:off x="3447288" y="5193792"/>
            <a:ext cx="1161288" cy="457200"/>
          </a:xfrm>
          <a:prstGeom prst="rect">
            <a:avLst/>
          </a:prstGeom>
          <a:noFill/>
          <a:ln/>
        </p:spPr>
        <p:txBody>
          <a:bodyPr wrap="square" lIns="0" tIns="0" rIns="0" bIns="0" rtlCol="0" anchor="ctr"/>
          <a:lstStyle/>
          <a:p>
            <a:pPr algn="ctr" indent="0" marL="0">
              <a:buNone/>
            </a:pPr>
            <a:r>
              <a:rPr lang="en-US" sz="950" b="1" dirty="0">
                <a:solidFill>
                  <a:srgbClr val="F4F7F5"/>
                </a:solidFill>
                <a:latin typeface="Calibri" pitchFamily="34" charset="0"/>
                <a:ea typeface="Calibri" pitchFamily="34" charset="-122"/>
                <a:cs typeface="Calibri" pitchFamily="34" charset="-120"/>
              </a:rPr>
              <a:t>Metaculus</a:t>
            </a:r>
            <a:endParaRPr lang="en-US" sz="950" dirty="0"/>
          </a:p>
        </p:txBody>
      </p:sp>
      <p:sp>
        <p:nvSpPr>
          <p:cNvPr id="44" name="Shape 42"/>
          <p:cNvSpPr/>
          <p:nvPr/>
        </p:nvSpPr>
        <p:spPr>
          <a:xfrm>
            <a:off x="4768596" y="5193792"/>
            <a:ext cx="1271016" cy="457200"/>
          </a:xfrm>
          <a:prstGeom prst="roundRect">
            <a:avLst>
              <a:gd name="adj" fmla="val 20000"/>
            </a:avLst>
          </a:prstGeom>
          <a:solidFill>
            <a:srgbClr val="161D19"/>
          </a:solidFill>
          <a:ln w="12700">
            <a:solidFill>
              <a:srgbClr val="2A352F"/>
            </a:solidFill>
            <a:prstDash val="solid"/>
          </a:ln>
        </p:spPr>
      </p:sp>
      <p:sp>
        <p:nvSpPr>
          <p:cNvPr id="45" name="Text 43"/>
          <p:cNvSpPr/>
          <p:nvPr/>
        </p:nvSpPr>
        <p:spPr>
          <a:xfrm>
            <a:off x="4823460" y="5193792"/>
            <a:ext cx="1161288" cy="457200"/>
          </a:xfrm>
          <a:prstGeom prst="rect">
            <a:avLst/>
          </a:prstGeom>
          <a:noFill/>
          <a:ln/>
        </p:spPr>
        <p:txBody>
          <a:bodyPr wrap="square" lIns="0" tIns="0" rIns="0" bIns="0" rtlCol="0" anchor="ctr"/>
          <a:lstStyle/>
          <a:p>
            <a:pPr algn="ctr" indent="0" marL="0">
              <a:buNone/>
            </a:pPr>
            <a:r>
              <a:rPr lang="en-US" sz="950" b="1" dirty="0">
                <a:solidFill>
                  <a:srgbClr val="F4F7F5"/>
                </a:solidFill>
                <a:latin typeface="Calibri" pitchFamily="34" charset="0"/>
                <a:ea typeface="Calibri" pitchFamily="34" charset="-122"/>
                <a:cs typeface="Calibri" pitchFamily="34" charset="-120"/>
              </a:rPr>
              <a:t>US Treasury</a:t>
            </a:r>
            <a:endParaRPr lang="en-US" sz="950" dirty="0"/>
          </a:p>
        </p:txBody>
      </p:sp>
      <p:sp>
        <p:nvSpPr>
          <p:cNvPr id="46" name="Shape 44"/>
          <p:cNvSpPr/>
          <p:nvPr/>
        </p:nvSpPr>
        <p:spPr>
          <a:xfrm>
            <a:off x="6144768" y="5193792"/>
            <a:ext cx="1271016" cy="457200"/>
          </a:xfrm>
          <a:prstGeom prst="roundRect">
            <a:avLst>
              <a:gd name="adj" fmla="val 20000"/>
            </a:avLst>
          </a:prstGeom>
          <a:solidFill>
            <a:srgbClr val="161D19"/>
          </a:solidFill>
          <a:ln w="12700">
            <a:solidFill>
              <a:srgbClr val="2A352F"/>
            </a:solidFill>
            <a:prstDash val="solid"/>
          </a:ln>
        </p:spPr>
      </p:sp>
      <p:sp>
        <p:nvSpPr>
          <p:cNvPr id="47" name="Text 45"/>
          <p:cNvSpPr/>
          <p:nvPr/>
        </p:nvSpPr>
        <p:spPr>
          <a:xfrm>
            <a:off x="6199632" y="5193792"/>
            <a:ext cx="1161288" cy="457200"/>
          </a:xfrm>
          <a:prstGeom prst="rect">
            <a:avLst/>
          </a:prstGeom>
          <a:noFill/>
          <a:ln/>
        </p:spPr>
        <p:txBody>
          <a:bodyPr wrap="square" lIns="0" tIns="0" rIns="0" bIns="0" rtlCol="0" anchor="ctr"/>
          <a:lstStyle/>
          <a:p>
            <a:pPr algn="ctr" indent="0" marL="0">
              <a:buNone/>
            </a:pPr>
            <a:r>
              <a:rPr lang="en-US" sz="950" b="1" dirty="0">
                <a:solidFill>
                  <a:srgbClr val="F4F7F5"/>
                </a:solidFill>
                <a:latin typeface="Calibri" pitchFamily="34" charset="0"/>
                <a:ea typeface="Calibri" pitchFamily="34" charset="-122"/>
                <a:cs typeface="Calibri" pitchFamily="34" charset="-120"/>
              </a:rPr>
              <a:t>Yahoo Finance</a:t>
            </a:r>
            <a:endParaRPr lang="en-US" sz="950" dirty="0"/>
          </a:p>
        </p:txBody>
      </p:sp>
      <p:sp>
        <p:nvSpPr>
          <p:cNvPr id="48" name="Shape 46"/>
          <p:cNvSpPr/>
          <p:nvPr/>
        </p:nvSpPr>
        <p:spPr>
          <a:xfrm>
            <a:off x="7520940" y="5193792"/>
            <a:ext cx="1271016" cy="457200"/>
          </a:xfrm>
          <a:prstGeom prst="roundRect">
            <a:avLst>
              <a:gd name="adj" fmla="val 20000"/>
            </a:avLst>
          </a:prstGeom>
          <a:solidFill>
            <a:srgbClr val="161D19"/>
          </a:solidFill>
          <a:ln w="12700">
            <a:solidFill>
              <a:srgbClr val="2A352F"/>
            </a:solidFill>
            <a:prstDash val="solid"/>
          </a:ln>
        </p:spPr>
      </p:sp>
      <p:sp>
        <p:nvSpPr>
          <p:cNvPr id="49" name="Text 47"/>
          <p:cNvSpPr/>
          <p:nvPr/>
        </p:nvSpPr>
        <p:spPr>
          <a:xfrm>
            <a:off x="7575804" y="5193792"/>
            <a:ext cx="1161288" cy="457200"/>
          </a:xfrm>
          <a:prstGeom prst="rect">
            <a:avLst/>
          </a:prstGeom>
          <a:noFill/>
          <a:ln/>
        </p:spPr>
        <p:txBody>
          <a:bodyPr wrap="square" lIns="0" tIns="0" rIns="0" bIns="0" rtlCol="0" anchor="ctr"/>
          <a:lstStyle/>
          <a:p>
            <a:pPr algn="ctr" indent="0" marL="0">
              <a:buNone/>
            </a:pPr>
            <a:r>
              <a:rPr lang="en-US" sz="950" b="1" dirty="0">
                <a:solidFill>
                  <a:srgbClr val="F4F7F5"/>
                </a:solidFill>
                <a:latin typeface="Calibri" pitchFamily="34" charset="0"/>
                <a:ea typeface="Calibri" pitchFamily="34" charset="-122"/>
                <a:cs typeface="Calibri" pitchFamily="34" charset="-120"/>
              </a:rPr>
              <a:t>iShares</a:t>
            </a:r>
            <a:endParaRPr lang="en-US" sz="950" dirty="0"/>
          </a:p>
        </p:txBody>
      </p:sp>
      <p:sp>
        <p:nvSpPr>
          <p:cNvPr id="50" name="Shape 48"/>
          <p:cNvSpPr/>
          <p:nvPr/>
        </p:nvSpPr>
        <p:spPr>
          <a:xfrm>
            <a:off x="8897112" y="5193792"/>
            <a:ext cx="1271016" cy="457200"/>
          </a:xfrm>
          <a:prstGeom prst="roundRect">
            <a:avLst>
              <a:gd name="adj" fmla="val 20000"/>
            </a:avLst>
          </a:prstGeom>
          <a:solidFill>
            <a:srgbClr val="161D19"/>
          </a:solidFill>
          <a:ln w="12700">
            <a:solidFill>
              <a:srgbClr val="2A352F"/>
            </a:solidFill>
            <a:prstDash val="solid"/>
          </a:ln>
        </p:spPr>
      </p:sp>
      <p:sp>
        <p:nvSpPr>
          <p:cNvPr id="51" name="Text 49"/>
          <p:cNvSpPr/>
          <p:nvPr/>
        </p:nvSpPr>
        <p:spPr>
          <a:xfrm>
            <a:off x="8951976" y="5193792"/>
            <a:ext cx="1161288" cy="457200"/>
          </a:xfrm>
          <a:prstGeom prst="rect">
            <a:avLst/>
          </a:prstGeom>
          <a:noFill/>
          <a:ln/>
        </p:spPr>
        <p:txBody>
          <a:bodyPr wrap="square" lIns="0" tIns="0" rIns="0" bIns="0" rtlCol="0" anchor="ctr"/>
          <a:lstStyle/>
          <a:p>
            <a:pPr algn="ctr" indent="0" marL="0">
              <a:buNone/>
            </a:pPr>
            <a:r>
              <a:rPr lang="en-US" sz="950" b="1" dirty="0">
                <a:solidFill>
                  <a:srgbClr val="F4F7F5"/>
                </a:solidFill>
                <a:latin typeface="Calibri" pitchFamily="34" charset="0"/>
                <a:ea typeface="Calibri" pitchFamily="34" charset="-122"/>
                <a:cs typeface="Calibri" pitchFamily="34" charset="-120"/>
              </a:rPr>
              <a:t>ESPN + odds</a:t>
            </a:r>
            <a:endParaRPr lang="en-US" sz="950" dirty="0"/>
          </a:p>
        </p:txBody>
      </p:sp>
      <p:sp>
        <p:nvSpPr>
          <p:cNvPr id="52" name="Shape 50"/>
          <p:cNvSpPr/>
          <p:nvPr/>
        </p:nvSpPr>
        <p:spPr>
          <a:xfrm>
            <a:off x="10273284" y="5193792"/>
            <a:ext cx="1271016" cy="457200"/>
          </a:xfrm>
          <a:prstGeom prst="roundRect">
            <a:avLst>
              <a:gd name="adj" fmla="val 20000"/>
            </a:avLst>
          </a:prstGeom>
          <a:solidFill>
            <a:srgbClr val="161D19"/>
          </a:solidFill>
          <a:ln w="12700">
            <a:solidFill>
              <a:srgbClr val="2A352F"/>
            </a:solidFill>
            <a:prstDash val="solid"/>
          </a:ln>
        </p:spPr>
      </p:sp>
      <p:sp>
        <p:nvSpPr>
          <p:cNvPr id="53" name="Text 51"/>
          <p:cNvSpPr/>
          <p:nvPr/>
        </p:nvSpPr>
        <p:spPr>
          <a:xfrm>
            <a:off x="10328148" y="5193792"/>
            <a:ext cx="1161288" cy="457200"/>
          </a:xfrm>
          <a:prstGeom prst="rect">
            <a:avLst/>
          </a:prstGeom>
          <a:noFill/>
          <a:ln/>
        </p:spPr>
        <p:txBody>
          <a:bodyPr wrap="square" lIns="0" tIns="0" rIns="0" bIns="0" rtlCol="0" anchor="ctr"/>
          <a:lstStyle/>
          <a:p>
            <a:pPr algn="ctr" indent="0" marL="0">
              <a:buNone/>
            </a:pPr>
            <a:r>
              <a:rPr lang="en-US" sz="950" b="1" dirty="0">
                <a:solidFill>
                  <a:srgbClr val="F4F7F5"/>
                </a:solidFill>
                <a:latin typeface="Calibri" pitchFamily="34" charset="0"/>
                <a:ea typeface="Calibri" pitchFamily="34" charset="-122"/>
                <a:cs typeface="Calibri" pitchFamily="34" charset="-120"/>
              </a:rPr>
              <a:t>Fenced LLM layer</a:t>
            </a:r>
            <a:endParaRPr lang="en-US" sz="950" dirty="0"/>
          </a:p>
        </p:txBody>
      </p:sp>
      <p:sp>
        <p:nvSpPr>
          <p:cNvPr id="54" name="Shape 52"/>
          <p:cNvSpPr/>
          <p:nvPr/>
        </p:nvSpPr>
        <p:spPr>
          <a:xfrm>
            <a:off x="640080" y="5907024"/>
            <a:ext cx="10908792" cy="457200"/>
          </a:xfrm>
          <a:prstGeom prst="roundRect">
            <a:avLst>
              <a:gd name="adj" fmla="val 24000"/>
            </a:avLst>
          </a:prstGeom>
          <a:solidFill>
            <a:srgbClr val="161D19"/>
          </a:solidFill>
          <a:ln w="12700">
            <a:solidFill>
              <a:srgbClr val="2A352F"/>
            </a:solidFill>
            <a:prstDash val="solid"/>
          </a:ln>
        </p:spPr>
      </p:sp>
      <p:sp>
        <p:nvSpPr>
          <p:cNvPr id="55" name="Text 53"/>
          <p:cNvSpPr/>
          <p:nvPr/>
        </p:nvSpPr>
        <p:spPr>
          <a:xfrm>
            <a:off x="868680" y="5907024"/>
            <a:ext cx="10469880" cy="457200"/>
          </a:xfrm>
          <a:prstGeom prst="rect">
            <a:avLst/>
          </a:prstGeom>
          <a:noFill/>
          <a:ln/>
        </p:spPr>
        <p:txBody>
          <a:bodyPr wrap="square" lIns="0" tIns="0" rIns="0" bIns="0" rtlCol="0" anchor="ctr"/>
          <a:lstStyle/>
          <a:p>
            <a:pPr indent="0" marL="0">
              <a:lnSpc>
                <a:spcPct val="110000"/>
              </a:lnSpc>
              <a:buNone/>
            </a:pPr>
            <a:r>
              <a:rPr lang="en-US" sz="1200" dirty="0">
                <a:solidFill>
                  <a:srgbClr val="F4F7F5"/>
                </a:solidFill>
                <a:latin typeface="Calibri" pitchFamily="34" charset="0"/>
                <a:ea typeface="Calibri" pitchFamily="34" charset="-122"/>
                <a:cs typeface="Calibri" pitchFamily="34" charset="-120"/>
              </a:rPr>
              <a:t>The honest gap: no users yet outside the founder. Closing that is the first line item in this raise and the first thing to judge us on.</a:t>
            </a:r>
            <a:endParaRPr lang="en-US" sz="1200" dirty="0"/>
          </a:p>
        </p:txBody>
      </p:sp>
      <p:sp>
        <p:nvSpPr>
          <p:cNvPr id="57" name="Text 54"/>
          <p:cNvSpPr/>
          <p:nvPr/>
        </p:nvSpPr>
        <p:spPr>
          <a:xfrm>
            <a:off x="9692640" y="6528816"/>
            <a:ext cx="1188720" cy="237744"/>
          </a:xfrm>
          <a:prstGeom prst="rect">
            <a:avLst/>
          </a:prstGeom>
          <a:noFill/>
          <a:ln/>
        </p:spPr>
        <p:txBody>
          <a:bodyPr wrap="square" lIns="0" tIns="0" rIns="0" bIns="0" rtlCol="0" anchor="ctr"/>
          <a:lstStyle/>
          <a:p>
            <a:pPr algn="r" indent="0" marL="0">
              <a:buNone/>
            </a:pPr>
            <a:r>
              <a:rPr lang="en-US" sz="850" b="1" spc="140" kern="0" dirty="0">
                <a:solidFill>
                  <a:srgbClr val="67726B"/>
                </a:solidFill>
                <a:latin typeface="Calibri" pitchFamily="34" charset="0"/>
                <a:ea typeface="Calibri" pitchFamily="34" charset="-122"/>
                <a:cs typeface="Calibri" pitchFamily="34" charset="-120"/>
              </a:rPr>
              <a:t>POLYPROFIT</a:t>
            </a:r>
            <a:endParaRPr lang="en-US" sz="850" dirty="0"/>
          </a:p>
        </p:txBody>
      </p:sp>
      <p:sp>
        <p:nvSpPr>
          <p:cNvPr id="58" name="Text 55"/>
          <p:cNvSpPr/>
          <p:nvPr/>
        </p:nvSpPr>
        <p:spPr>
          <a:xfrm>
            <a:off x="11018520" y="6528816"/>
            <a:ext cx="530352" cy="237744"/>
          </a:xfrm>
          <a:prstGeom prst="rect">
            <a:avLst/>
          </a:prstGeom>
          <a:noFill/>
          <a:ln/>
        </p:spPr>
        <p:txBody>
          <a:bodyPr wrap="square" lIns="0" tIns="0" rIns="0" bIns="0" rtlCol="0" anchor="ctr"/>
          <a:lstStyle/>
          <a:p>
            <a:pPr algn="r" indent="0" marL="0">
              <a:buNone/>
            </a:pPr>
            <a:r>
              <a:rPr lang="en-US" sz="850" b="1" dirty="0">
                <a:solidFill>
                  <a:srgbClr val="22C55E"/>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B09"/>
        </a:solidFill>
      </p:bgPr>
    </p:bg>
    <p:spTree>
      <p:nvGrpSpPr>
        <p:cNvPr id="1" name=""/>
        <p:cNvGrpSpPr/>
        <p:nvPr/>
      </p:nvGrpSpPr>
      <p:grpSpPr>
        <a:xfrm>
          <a:off x="0" y="0"/>
          <a:ext cx="0" cy="0"/>
          <a:chOff x="0" y="0"/>
          <a:chExt cx="0" cy="0"/>
        </a:xfrm>
      </p:grpSpPr>
      <p:sp>
        <p:nvSpPr>
          <p:cNvPr id="2" name="Shape 0"/>
          <p:cNvSpPr/>
          <p:nvPr/>
        </p:nvSpPr>
        <p:spPr>
          <a:xfrm>
            <a:off x="8046720" y="-2011680"/>
            <a:ext cx="5852160" cy="5852160"/>
          </a:xfrm>
          <a:prstGeom prst="ellipse">
            <a:avLst/>
          </a:prstGeom>
          <a:solidFill>
            <a:srgbClr val="22C55E">
              <a:alpha val="6000"/>
            </a:srgbClr>
          </a:solidFill>
          <a:ln/>
        </p:spPr>
      </p:sp>
      <p:sp>
        <p:nvSpPr>
          <p:cNvPr id="3" name="Text 1"/>
          <p:cNvSpPr/>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22C55E"/>
                </a:solidFill>
                <a:latin typeface="Calibri" pitchFamily="34" charset="0"/>
                <a:ea typeface="Calibri" pitchFamily="34" charset="-122"/>
                <a:cs typeface="Calibri" pitchFamily="34" charset="-120"/>
              </a:rPr>
              <a:t>09  ·  THE ROADMAP</a:t>
            </a:r>
            <a:endParaRPr lang="en-US" sz="1100" dirty="0"/>
          </a:p>
        </p:txBody>
      </p:sp>
      <p:sp>
        <p:nvSpPr>
          <p:cNvPr id="4" name="Text 2"/>
          <p:cNvSpPr/>
          <p:nvPr/>
        </p:nvSpPr>
        <p:spPr>
          <a:xfrm>
            <a:off x="640080" y="777240"/>
            <a:ext cx="10881360" cy="685800"/>
          </a:xfrm>
          <a:prstGeom prst="rect">
            <a:avLst/>
          </a:prstGeom>
          <a:noFill/>
          <a:ln/>
        </p:spPr>
        <p:txBody>
          <a:bodyPr wrap="square" lIns="0" tIns="0" rIns="0" bIns="0" rtlCol="0" anchor="t"/>
          <a:lstStyle/>
          <a:p>
            <a:pPr indent="0" marL="0">
              <a:lnSpc>
                <a:spcPct val="105000"/>
              </a:lnSpc>
              <a:buNone/>
            </a:pPr>
            <a:r>
              <a:rPr lang="en-US" sz="3300" b="1" dirty="0">
                <a:solidFill>
                  <a:srgbClr val="F4F7F5"/>
                </a:solidFill>
                <a:latin typeface="Calibri" pitchFamily="34" charset="0"/>
                <a:ea typeface="Calibri" pitchFamily="34" charset="-122"/>
                <a:cs typeface="Calibri" pitchFamily="34" charset="-120"/>
              </a:rPr>
              <a:t>The bigger half is the one</a:t>
            </a:r>
            <a:endParaRPr lang="en-US" sz="3300" dirty="0"/>
          </a:p>
          <a:p>
            <a:pPr indent="0" marL="0">
              <a:lnSpc>
                <a:spcPct val="105000"/>
              </a:lnSpc>
              <a:buNone/>
            </a:pPr>
            <a:r>
              <a:rPr lang="en-US" sz="3300" b="1" dirty="0">
                <a:solidFill>
                  <a:srgbClr val="F4F7F5"/>
                </a:solidFill>
                <a:latin typeface="Calibri" pitchFamily="34" charset="0"/>
                <a:ea typeface="Calibri" pitchFamily="34" charset="-122"/>
                <a:cs typeface="Calibri" pitchFamily="34" charset="-120"/>
              </a:rPr>
              <a:t>we can't see yet.</a:t>
            </a:r>
            <a:endParaRPr lang="en-US" sz="3300" dirty="0"/>
          </a:p>
        </p:txBody>
      </p:sp>
      <p:sp>
        <p:nvSpPr>
          <p:cNvPr id="5" name="Text 3"/>
          <p:cNvSpPr/>
          <p:nvPr/>
        </p:nvSpPr>
        <p:spPr>
          <a:xfrm>
            <a:off x="640080" y="1956816"/>
            <a:ext cx="10424160" cy="384048"/>
          </a:xfrm>
          <a:prstGeom prst="rect">
            <a:avLst/>
          </a:prstGeom>
          <a:noFill/>
          <a:ln/>
        </p:spPr>
        <p:txBody>
          <a:bodyPr wrap="square" lIns="0" tIns="0" rIns="0" bIns="0" rtlCol="0" anchor="t"/>
          <a:lstStyle/>
          <a:p>
            <a:pPr indent="0" marL="0">
              <a:lnSpc>
                <a:spcPct val="115000"/>
              </a:lnSpc>
              <a:buNone/>
            </a:pPr>
            <a:r>
              <a:rPr lang="en-US" sz="1350" dirty="0">
                <a:solidFill>
                  <a:srgbClr val="9BA8A0"/>
                </a:solidFill>
                <a:latin typeface="Calibri" pitchFamily="34" charset="0"/>
                <a:ea typeface="Calibri" pitchFamily="34" charset="-122"/>
                <a:cs typeface="Calibri" pitchFamily="34" charset="-120"/>
              </a:rPr>
              <a:t>Ask someone how they want $600 more in the bank this year. The honest answer almost never starts with an investment.</a:t>
            </a:r>
            <a:endParaRPr lang="en-US" sz="1350" dirty="0"/>
          </a:p>
        </p:txBody>
      </p:sp>
      <p:sp>
        <p:nvSpPr>
          <p:cNvPr id="6" name="Shape 4"/>
          <p:cNvSpPr/>
          <p:nvPr/>
        </p:nvSpPr>
        <p:spPr>
          <a:xfrm>
            <a:off x="640080" y="2615184"/>
            <a:ext cx="5349240" cy="2286000"/>
          </a:xfrm>
          <a:prstGeom prst="roundRect">
            <a:avLst>
              <a:gd name="adj" fmla="val 4800"/>
            </a:avLst>
          </a:prstGeom>
          <a:solidFill>
            <a:srgbClr val="161D19"/>
          </a:solidFill>
          <a:ln w="12700">
            <a:solidFill>
              <a:srgbClr val="2A352F"/>
            </a:solidFill>
            <a:prstDash val="solid"/>
          </a:ln>
        </p:spPr>
      </p:sp>
      <p:sp>
        <p:nvSpPr>
          <p:cNvPr id="7" name="Shape 5"/>
          <p:cNvSpPr/>
          <p:nvPr/>
        </p:nvSpPr>
        <p:spPr>
          <a:xfrm>
            <a:off x="896112" y="2779776"/>
            <a:ext cx="1371600" cy="256032"/>
          </a:xfrm>
          <a:prstGeom prst="roundRect">
            <a:avLst>
              <a:gd name="adj" fmla="val 178571"/>
            </a:avLst>
          </a:prstGeom>
          <a:solidFill>
            <a:srgbClr val="161D19"/>
          </a:solidFill>
          <a:ln w="12700">
            <a:solidFill>
              <a:srgbClr val="9BA8A0"/>
            </a:solidFill>
            <a:prstDash val="solid"/>
          </a:ln>
        </p:spPr>
      </p:sp>
      <p:sp>
        <p:nvSpPr>
          <p:cNvPr id="8" name="Text 6"/>
          <p:cNvSpPr/>
          <p:nvPr/>
        </p:nvSpPr>
        <p:spPr>
          <a:xfrm>
            <a:off x="896112" y="2779776"/>
            <a:ext cx="1371600" cy="256032"/>
          </a:xfrm>
          <a:prstGeom prst="rect">
            <a:avLst/>
          </a:prstGeom>
          <a:noFill/>
          <a:ln/>
        </p:spPr>
        <p:txBody>
          <a:bodyPr wrap="square" lIns="0" tIns="0" rIns="0" bIns="0" rtlCol="0" anchor="ctr"/>
          <a:lstStyle/>
          <a:p>
            <a:pPr algn="ctr" indent="0" marL="0">
              <a:buNone/>
            </a:pPr>
            <a:r>
              <a:rPr lang="en-US" sz="900" b="1" spc="80" kern="0" dirty="0">
                <a:solidFill>
                  <a:srgbClr val="9BA8A0"/>
                </a:solidFill>
                <a:latin typeface="Calibri" pitchFamily="34" charset="0"/>
                <a:ea typeface="Calibri" pitchFamily="34" charset="-122"/>
                <a:cs typeface="Calibri" pitchFamily="34" charset="-120"/>
              </a:rPr>
              <a:t>EARN IT</a:t>
            </a:r>
            <a:endParaRPr lang="en-US" sz="900" dirty="0"/>
          </a:p>
        </p:txBody>
      </p:sp>
      <p:sp>
        <p:nvSpPr>
          <p:cNvPr id="9" name="Text 7"/>
          <p:cNvSpPr/>
          <p:nvPr/>
        </p:nvSpPr>
        <p:spPr>
          <a:xfrm>
            <a:off x="896112" y="3108960"/>
            <a:ext cx="3840480" cy="310896"/>
          </a:xfrm>
          <a:prstGeom prst="rect">
            <a:avLst/>
          </a:prstGeom>
          <a:noFill/>
          <a:ln/>
        </p:spPr>
        <p:txBody>
          <a:bodyPr wrap="square" lIns="0" tIns="0" rIns="0" bIns="0" rtlCol="0" anchor="ctr"/>
          <a:lstStyle/>
          <a:p>
            <a:pPr indent="0" marL="0">
              <a:buNone/>
            </a:pPr>
            <a:r>
              <a:rPr lang="en-US" sz="1600" b="1" dirty="0">
                <a:solidFill>
                  <a:srgbClr val="F4F7F5"/>
                </a:solidFill>
                <a:latin typeface="Calibri" pitchFamily="34" charset="0"/>
                <a:ea typeface="Calibri" pitchFamily="34" charset="-122"/>
                <a:cs typeface="Calibri" pitchFamily="34" charset="-120"/>
              </a:rPr>
              <a:t>+$600 from $5,000 invested</a:t>
            </a:r>
            <a:endParaRPr lang="en-US" sz="1600" dirty="0"/>
          </a:p>
        </p:txBody>
      </p:sp>
      <p:sp>
        <p:nvSpPr>
          <p:cNvPr id="10" name="Text 8"/>
          <p:cNvSpPr/>
          <p:nvPr/>
        </p:nvSpPr>
        <p:spPr>
          <a:xfrm>
            <a:off x="896112" y="3401568"/>
            <a:ext cx="3840480" cy="237744"/>
          </a:xfrm>
          <a:prstGeom prst="rect">
            <a:avLst/>
          </a:prstGeom>
          <a:noFill/>
          <a:ln/>
        </p:spPr>
        <p:txBody>
          <a:bodyPr wrap="square" lIns="0" tIns="0" rIns="0" bIns="0" rtlCol="0" anchor="ctr"/>
          <a:lstStyle/>
          <a:p>
            <a:pPr indent="0" marL="0">
              <a:buNone/>
            </a:pPr>
            <a:r>
              <a:rPr lang="en-US" sz="1100" dirty="0">
                <a:solidFill>
                  <a:srgbClr val="9BA8A0"/>
                </a:solidFill>
                <a:latin typeface="Calibri" pitchFamily="34" charset="0"/>
                <a:ea typeface="Calibri" pitchFamily="34" charset="-122"/>
                <a:cs typeface="Calibri" pitchFamily="34" charset="-120"/>
              </a:rPr>
              <a:t>= a 12% return, inside twelve months</a:t>
            </a:r>
            <a:endParaRPr lang="en-US" sz="1100" dirty="0"/>
          </a:p>
        </p:txBody>
      </p:sp>
      <p:sp>
        <p:nvSpPr>
          <p:cNvPr id="11" name="Text 9"/>
          <p:cNvSpPr/>
          <p:nvPr/>
        </p:nvSpPr>
        <p:spPr>
          <a:xfrm>
            <a:off x="4572000" y="2834640"/>
            <a:ext cx="1188720" cy="685800"/>
          </a:xfrm>
          <a:prstGeom prst="rect">
            <a:avLst/>
          </a:prstGeom>
          <a:noFill/>
          <a:ln/>
        </p:spPr>
        <p:txBody>
          <a:bodyPr wrap="square" lIns="0" tIns="0" rIns="0" bIns="0" rtlCol="0" anchor="ctr"/>
          <a:lstStyle/>
          <a:p>
            <a:pPr algn="r" indent="0" marL="0">
              <a:buNone/>
            </a:pPr>
            <a:r>
              <a:rPr lang="en-US" sz="4200" b="1" spc="-150" kern="0" dirty="0">
                <a:solidFill>
                  <a:srgbClr val="F5B43C"/>
                </a:solidFill>
                <a:latin typeface="Calibri" pitchFamily="34" charset="0"/>
                <a:ea typeface="Calibri" pitchFamily="34" charset="-122"/>
                <a:cs typeface="Calibri" pitchFamily="34" charset="-120"/>
              </a:rPr>
              <a:t>37</a:t>
            </a:r>
            <a:endParaRPr lang="en-US" sz="4200" dirty="0"/>
          </a:p>
        </p:txBody>
      </p:sp>
      <p:sp>
        <p:nvSpPr>
          <p:cNvPr id="12" name="Text 10"/>
          <p:cNvSpPr/>
          <p:nvPr/>
        </p:nvSpPr>
        <p:spPr>
          <a:xfrm>
            <a:off x="4572000" y="3474720"/>
            <a:ext cx="1188720" cy="201168"/>
          </a:xfrm>
          <a:prstGeom prst="rect">
            <a:avLst/>
          </a:prstGeom>
          <a:noFill/>
          <a:ln/>
        </p:spPr>
        <p:txBody>
          <a:bodyPr wrap="square" lIns="0" tIns="0" rIns="0" bIns="0" rtlCol="0" anchor="ctr"/>
          <a:lstStyle/>
          <a:p>
            <a:pPr algn="r" indent="0" marL="0">
              <a:buNone/>
            </a:pPr>
            <a:r>
              <a:rPr lang="en-US" sz="850" b="1" spc="120" kern="0" dirty="0">
                <a:solidFill>
                  <a:srgbClr val="67726B"/>
                </a:solidFill>
                <a:latin typeface="Calibri" pitchFamily="34" charset="0"/>
                <a:ea typeface="Calibri" pitchFamily="34" charset="-122"/>
                <a:cs typeface="Calibri" pitchFamily="34" charset="-120"/>
              </a:rPr>
              <a:t>SCORE</a:t>
            </a:r>
            <a:endParaRPr lang="en-US" sz="850" dirty="0"/>
          </a:p>
        </p:txBody>
      </p:sp>
      <p:sp>
        <p:nvSpPr>
          <p:cNvPr id="13" name="Text 11"/>
          <p:cNvSpPr/>
          <p:nvPr/>
        </p:nvSpPr>
        <p:spPr>
          <a:xfrm>
            <a:off x="896112" y="3749040"/>
            <a:ext cx="2743200" cy="256032"/>
          </a:xfrm>
          <a:prstGeom prst="rect">
            <a:avLst/>
          </a:prstGeom>
          <a:noFill/>
          <a:ln/>
        </p:spPr>
        <p:txBody>
          <a:bodyPr wrap="square" lIns="0" tIns="0" rIns="0" bIns="0" rtlCol="0" anchor="ctr"/>
          <a:lstStyle/>
          <a:p>
            <a:pPr indent="0" marL="0">
              <a:buNone/>
            </a:pPr>
            <a:r>
              <a:rPr lang="en-US" sz="1150" dirty="0">
                <a:solidFill>
                  <a:srgbClr val="9BA8A0"/>
                </a:solidFill>
                <a:latin typeface="Calibri" pitchFamily="34" charset="0"/>
                <a:ea typeface="Calibri" pitchFamily="34" charset="-122"/>
                <a:cs typeface="Calibri" pitchFamily="34" charset="-120"/>
              </a:rPr>
              <a:t>Odds of hitting it</a:t>
            </a:r>
            <a:endParaRPr lang="en-US" sz="1150" dirty="0"/>
          </a:p>
        </p:txBody>
      </p:sp>
      <p:sp>
        <p:nvSpPr>
          <p:cNvPr id="14" name="Text 12"/>
          <p:cNvSpPr/>
          <p:nvPr/>
        </p:nvSpPr>
        <p:spPr>
          <a:xfrm>
            <a:off x="3657600" y="3749040"/>
            <a:ext cx="2084832" cy="256032"/>
          </a:xfrm>
          <a:prstGeom prst="rect">
            <a:avLst/>
          </a:prstGeom>
          <a:noFill/>
          <a:ln/>
        </p:spPr>
        <p:txBody>
          <a:bodyPr wrap="square" lIns="0" tIns="0" rIns="0" bIns="0" rtlCol="0" anchor="ctr"/>
          <a:lstStyle/>
          <a:p>
            <a:pPr algn="r" indent="0" marL="0">
              <a:buNone/>
            </a:pPr>
            <a:r>
              <a:rPr lang="en-US" sz="1150" b="1" dirty="0">
                <a:solidFill>
                  <a:srgbClr val="F4F7F5"/>
                </a:solidFill>
                <a:latin typeface="Calibri" pitchFamily="34" charset="0"/>
                <a:ea typeface="Calibri" pitchFamily="34" charset="-122"/>
                <a:cs typeface="Calibri" pitchFamily="34" charset="-120"/>
              </a:rPr>
              <a:t>39%</a:t>
            </a:r>
            <a:endParaRPr lang="en-US" sz="1150" dirty="0"/>
          </a:p>
        </p:txBody>
      </p:sp>
      <p:sp>
        <p:nvSpPr>
          <p:cNvPr id="15" name="Text 13"/>
          <p:cNvSpPr/>
          <p:nvPr/>
        </p:nvSpPr>
        <p:spPr>
          <a:xfrm>
            <a:off x="896112" y="4023360"/>
            <a:ext cx="2743200" cy="256032"/>
          </a:xfrm>
          <a:prstGeom prst="rect">
            <a:avLst/>
          </a:prstGeom>
          <a:noFill/>
          <a:ln/>
        </p:spPr>
        <p:txBody>
          <a:bodyPr wrap="square" lIns="0" tIns="0" rIns="0" bIns="0" rtlCol="0" anchor="ctr"/>
          <a:lstStyle/>
          <a:p>
            <a:pPr indent="0" marL="0">
              <a:buNone/>
            </a:pPr>
            <a:r>
              <a:rPr lang="en-US" sz="1150" dirty="0">
                <a:solidFill>
                  <a:srgbClr val="9BA8A0"/>
                </a:solidFill>
                <a:latin typeface="Calibri" pitchFamily="34" charset="0"/>
                <a:ea typeface="Calibri" pitchFamily="34" charset="-122"/>
                <a:cs typeface="Calibri" pitchFamily="34" charset="-120"/>
              </a:rPr>
              <a:t>Money tied up</a:t>
            </a:r>
            <a:endParaRPr lang="en-US" sz="1150" dirty="0"/>
          </a:p>
        </p:txBody>
      </p:sp>
      <p:sp>
        <p:nvSpPr>
          <p:cNvPr id="16" name="Text 14"/>
          <p:cNvSpPr/>
          <p:nvPr/>
        </p:nvSpPr>
        <p:spPr>
          <a:xfrm>
            <a:off x="3657600" y="4023360"/>
            <a:ext cx="2084832" cy="256032"/>
          </a:xfrm>
          <a:prstGeom prst="rect">
            <a:avLst/>
          </a:prstGeom>
          <a:noFill/>
          <a:ln/>
        </p:spPr>
        <p:txBody>
          <a:bodyPr wrap="square" lIns="0" tIns="0" rIns="0" bIns="0" rtlCol="0" anchor="ctr"/>
          <a:lstStyle/>
          <a:p>
            <a:pPr algn="r" indent="0" marL="0">
              <a:buNone/>
            </a:pPr>
            <a:r>
              <a:rPr lang="en-US" sz="1150" b="1" dirty="0">
                <a:solidFill>
                  <a:srgbClr val="F4F7F5"/>
                </a:solidFill>
                <a:latin typeface="Calibri" pitchFamily="34" charset="0"/>
                <a:ea typeface="Calibri" pitchFamily="34" charset="-122"/>
                <a:cs typeface="Calibri" pitchFamily="34" charset="-120"/>
              </a:rPr>
              <a:t>$5,000</a:t>
            </a:r>
            <a:endParaRPr lang="en-US" sz="1150" dirty="0"/>
          </a:p>
        </p:txBody>
      </p:sp>
      <p:sp>
        <p:nvSpPr>
          <p:cNvPr id="17" name="Text 15"/>
          <p:cNvSpPr/>
          <p:nvPr/>
        </p:nvSpPr>
        <p:spPr>
          <a:xfrm>
            <a:off x="896112" y="4297680"/>
            <a:ext cx="2743200" cy="256032"/>
          </a:xfrm>
          <a:prstGeom prst="rect">
            <a:avLst/>
          </a:prstGeom>
          <a:noFill/>
          <a:ln/>
        </p:spPr>
        <p:txBody>
          <a:bodyPr wrap="square" lIns="0" tIns="0" rIns="0" bIns="0" rtlCol="0" anchor="ctr"/>
          <a:lstStyle/>
          <a:p>
            <a:pPr indent="0" marL="0">
              <a:buNone/>
            </a:pPr>
            <a:r>
              <a:rPr lang="en-US" sz="1150" dirty="0">
                <a:solidFill>
                  <a:srgbClr val="9BA8A0"/>
                </a:solidFill>
                <a:latin typeface="Calibri" pitchFamily="34" charset="0"/>
                <a:ea typeface="Calibri" pitchFamily="34" charset="-122"/>
                <a:cs typeface="Calibri" pitchFamily="34" charset="-120"/>
              </a:rPr>
              <a:t>Taxable?</a:t>
            </a:r>
            <a:endParaRPr lang="en-US" sz="1150" dirty="0"/>
          </a:p>
        </p:txBody>
      </p:sp>
      <p:sp>
        <p:nvSpPr>
          <p:cNvPr id="18" name="Text 16"/>
          <p:cNvSpPr/>
          <p:nvPr/>
        </p:nvSpPr>
        <p:spPr>
          <a:xfrm>
            <a:off x="3657600" y="4297680"/>
            <a:ext cx="2084832" cy="256032"/>
          </a:xfrm>
          <a:prstGeom prst="rect">
            <a:avLst/>
          </a:prstGeom>
          <a:noFill/>
          <a:ln/>
        </p:spPr>
        <p:txBody>
          <a:bodyPr wrap="square" lIns="0" tIns="0" rIns="0" bIns="0" rtlCol="0" anchor="ctr"/>
          <a:lstStyle/>
          <a:p>
            <a:pPr algn="r" indent="0" marL="0">
              <a:buNone/>
            </a:pPr>
            <a:r>
              <a:rPr lang="en-US" sz="1150" b="1" dirty="0">
                <a:solidFill>
                  <a:srgbClr val="F4F7F5"/>
                </a:solidFill>
                <a:latin typeface="Calibri" pitchFamily="34" charset="0"/>
                <a:ea typeface="Calibri" pitchFamily="34" charset="-122"/>
                <a:cs typeface="Calibri" pitchFamily="34" charset="-120"/>
              </a:rPr>
              <a:t>Yes</a:t>
            </a:r>
            <a:endParaRPr lang="en-US" sz="1150" dirty="0"/>
          </a:p>
        </p:txBody>
      </p:sp>
      <p:sp>
        <p:nvSpPr>
          <p:cNvPr id="19" name="Text 17"/>
          <p:cNvSpPr/>
          <p:nvPr/>
        </p:nvSpPr>
        <p:spPr>
          <a:xfrm>
            <a:off x="896112" y="4572000"/>
            <a:ext cx="2743200" cy="256032"/>
          </a:xfrm>
          <a:prstGeom prst="rect">
            <a:avLst/>
          </a:prstGeom>
          <a:noFill/>
          <a:ln/>
        </p:spPr>
        <p:txBody>
          <a:bodyPr wrap="square" lIns="0" tIns="0" rIns="0" bIns="0" rtlCol="0" anchor="ctr"/>
          <a:lstStyle/>
          <a:p>
            <a:pPr indent="0" marL="0">
              <a:buNone/>
            </a:pPr>
            <a:r>
              <a:rPr lang="en-US" sz="1150" dirty="0">
                <a:solidFill>
                  <a:srgbClr val="9BA8A0"/>
                </a:solidFill>
                <a:latin typeface="Calibri" pitchFamily="34" charset="0"/>
                <a:ea typeface="Calibri" pitchFamily="34" charset="-122"/>
                <a:cs typeface="Calibri" pitchFamily="34" charset="-120"/>
              </a:rPr>
              <a:t>Repeats next year?</a:t>
            </a:r>
            <a:endParaRPr lang="en-US" sz="1150" dirty="0"/>
          </a:p>
        </p:txBody>
      </p:sp>
      <p:sp>
        <p:nvSpPr>
          <p:cNvPr id="20" name="Text 18"/>
          <p:cNvSpPr/>
          <p:nvPr/>
        </p:nvSpPr>
        <p:spPr>
          <a:xfrm>
            <a:off x="3657600" y="4572000"/>
            <a:ext cx="2084832" cy="256032"/>
          </a:xfrm>
          <a:prstGeom prst="rect">
            <a:avLst/>
          </a:prstGeom>
          <a:noFill/>
          <a:ln/>
        </p:spPr>
        <p:txBody>
          <a:bodyPr wrap="square" lIns="0" tIns="0" rIns="0" bIns="0" rtlCol="0" anchor="ctr"/>
          <a:lstStyle/>
          <a:p>
            <a:pPr algn="r" indent="0" marL="0">
              <a:buNone/>
            </a:pPr>
            <a:r>
              <a:rPr lang="en-US" sz="1150" b="1" dirty="0">
                <a:solidFill>
                  <a:srgbClr val="F4F7F5"/>
                </a:solidFill>
                <a:latin typeface="Calibri" pitchFamily="34" charset="0"/>
                <a:ea typeface="Calibri" pitchFamily="34" charset="-122"/>
                <a:cs typeface="Calibri" pitchFamily="34" charset="-120"/>
              </a:rPr>
              <a:t>Only if you do it again</a:t>
            </a:r>
            <a:endParaRPr lang="en-US" sz="1150" dirty="0"/>
          </a:p>
        </p:txBody>
      </p:sp>
      <p:sp>
        <p:nvSpPr>
          <p:cNvPr id="21" name="Shape 19"/>
          <p:cNvSpPr/>
          <p:nvPr/>
        </p:nvSpPr>
        <p:spPr>
          <a:xfrm>
            <a:off x="6199632" y="2615184"/>
            <a:ext cx="5349240" cy="2286000"/>
          </a:xfrm>
          <a:prstGeom prst="roundRect">
            <a:avLst>
              <a:gd name="adj" fmla="val 4800"/>
            </a:avLst>
          </a:prstGeom>
          <a:solidFill>
            <a:srgbClr val="161D19"/>
          </a:solidFill>
          <a:ln w="12700">
            <a:solidFill>
              <a:srgbClr val="22C55E"/>
            </a:solidFill>
            <a:prstDash val="solid"/>
          </a:ln>
        </p:spPr>
      </p:sp>
      <p:sp>
        <p:nvSpPr>
          <p:cNvPr id="22" name="Shape 20"/>
          <p:cNvSpPr/>
          <p:nvPr/>
        </p:nvSpPr>
        <p:spPr>
          <a:xfrm>
            <a:off x="6455664" y="2779776"/>
            <a:ext cx="1371600" cy="256032"/>
          </a:xfrm>
          <a:prstGeom prst="roundRect">
            <a:avLst>
              <a:gd name="adj" fmla="val 178571"/>
            </a:avLst>
          </a:prstGeom>
          <a:solidFill>
            <a:srgbClr val="161D19"/>
          </a:solidFill>
          <a:ln w="12700">
            <a:solidFill>
              <a:srgbClr val="22C55E"/>
            </a:solidFill>
            <a:prstDash val="solid"/>
          </a:ln>
        </p:spPr>
      </p:sp>
      <p:sp>
        <p:nvSpPr>
          <p:cNvPr id="23" name="Text 21"/>
          <p:cNvSpPr/>
          <p:nvPr/>
        </p:nvSpPr>
        <p:spPr>
          <a:xfrm>
            <a:off x="6455664" y="2779776"/>
            <a:ext cx="1371600" cy="256032"/>
          </a:xfrm>
          <a:prstGeom prst="rect">
            <a:avLst/>
          </a:prstGeom>
          <a:noFill/>
          <a:ln/>
        </p:spPr>
        <p:txBody>
          <a:bodyPr wrap="square" lIns="0" tIns="0" rIns="0" bIns="0" rtlCol="0" anchor="ctr"/>
          <a:lstStyle/>
          <a:p>
            <a:pPr algn="ctr" indent="0" marL="0">
              <a:buNone/>
            </a:pPr>
            <a:r>
              <a:rPr lang="en-US" sz="900" b="1" spc="80" kern="0" dirty="0">
                <a:solidFill>
                  <a:srgbClr val="22C55E"/>
                </a:solidFill>
                <a:latin typeface="Calibri" pitchFamily="34" charset="0"/>
                <a:ea typeface="Calibri" pitchFamily="34" charset="-122"/>
                <a:cs typeface="Calibri" pitchFamily="34" charset="-120"/>
              </a:rPr>
              <a:t>STOP LOSING IT</a:t>
            </a:r>
            <a:endParaRPr lang="en-US" sz="900" dirty="0"/>
          </a:p>
        </p:txBody>
      </p:sp>
      <p:sp>
        <p:nvSpPr>
          <p:cNvPr id="24" name="Text 22"/>
          <p:cNvSpPr/>
          <p:nvPr/>
        </p:nvSpPr>
        <p:spPr>
          <a:xfrm>
            <a:off x="6455664" y="3108960"/>
            <a:ext cx="3840480" cy="310896"/>
          </a:xfrm>
          <a:prstGeom prst="rect">
            <a:avLst/>
          </a:prstGeom>
          <a:noFill/>
          <a:ln/>
        </p:spPr>
        <p:txBody>
          <a:bodyPr wrap="square" lIns="0" tIns="0" rIns="0" bIns="0" rtlCol="0" anchor="ctr"/>
          <a:lstStyle/>
          <a:p>
            <a:pPr indent="0" marL="0">
              <a:buNone/>
            </a:pPr>
            <a:r>
              <a:rPr lang="en-US" sz="1600" b="1" dirty="0">
                <a:solidFill>
                  <a:srgbClr val="F4F7F5"/>
                </a:solidFill>
                <a:latin typeface="Calibri" pitchFamily="34" charset="0"/>
                <a:ea typeface="Calibri" pitchFamily="34" charset="-122"/>
                <a:cs typeface="Calibri" pitchFamily="34" charset="-120"/>
              </a:rPr>
              <a:t>+$600 from $50/month cancelled</a:t>
            </a:r>
            <a:endParaRPr lang="en-US" sz="1600" dirty="0"/>
          </a:p>
        </p:txBody>
      </p:sp>
      <p:sp>
        <p:nvSpPr>
          <p:cNvPr id="25" name="Text 23"/>
          <p:cNvSpPr/>
          <p:nvPr/>
        </p:nvSpPr>
        <p:spPr>
          <a:xfrm>
            <a:off x="6455664" y="3401568"/>
            <a:ext cx="3840480" cy="237744"/>
          </a:xfrm>
          <a:prstGeom prst="rect">
            <a:avLst/>
          </a:prstGeom>
          <a:noFill/>
          <a:ln/>
        </p:spPr>
        <p:txBody>
          <a:bodyPr wrap="square" lIns="0" tIns="0" rIns="0" bIns="0" rtlCol="0" anchor="ctr"/>
          <a:lstStyle/>
          <a:p>
            <a:pPr indent="0" marL="0">
              <a:buNone/>
            </a:pPr>
            <a:r>
              <a:rPr lang="en-US" sz="1100" dirty="0">
                <a:solidFill>
                  <a:srgbClr val="9BA8A0"/>
                </a:solidFill>
                <a:latin typeface="Calibri" pitchFamily="34" charset="0"/>
                <a:ea typeface="Calibri" pitchFamily="34" charset="-122"/>
                <a:cs typeface="Calibri" pitchFamily="34" charset="-120"/>
              </a:rPr>
              <a:t>= no return required at all</a:t>
            </a:r>
            <a:endParaRPr lang="en-US" sz="1100" dirty="0"/>
          </a:p>
        </p:txBody>
      </p:sp>
      <p:sp>
        <p:nvSpPr>
          <p:cNvPr id="26" name="Text 24"/>
          <p:cNvSpPr/>
          <p:nvPr/>
        </p:nvSpPr>
        <p:spPr>
          <a:xfrm>
            <a:off x="10131552" y="2834640"/>
            <a:ext cx="1188720" cy="685800"/>
          </a:xfrm>
          <a:prstGeom prst="rect">
            <a:avLst/>
          </a:prstGeom>
          <a:noFill/>
          <a:ln/>
        </p:spPr>
        <p:txBody>
          <a:bodyPr wrap="square" lIns="0" tIns="0" rIns="0" bIns="0" rtlCol="0" anchor="ctr"/>
          <a:lstStyle/>
          <a:p>
            <a:pPr algn="r" indent="0" marL="0">
              <a:buNone/>
            </a:pPr>
            <a:r>
              <a:rPr lang="en-US" sz="4200" b="1" spc="-150" kern="0" dirty="0">
                <a:solidFill>
                  <a:srgbClr val="22C55E"/>
                </a:solidFill>
                <a:latin typeface="Calibri" pitchFamily="34" charset="0"/>
                <a:ea typeface="Calibri" pitchFamily="34" charset="-122"/>
                <a:cs typeface="Calibri" pitchFamily="34" charset="-120"/>
              </a:rPr>
              <a:t>99</a:t>
            </a:r>
            <a:endParaRPr lang="en-US" sz="4200" dirty="0"/>
          </a:p>
        </p:txBody>
      </p:sp>
      <p:sp>
        <p:nvSpPr>
          <p:cNvPr id="27" name="Text 25"/>
          <p:cNvSpPr/>
          <p:nvPr/>
        </p:nvSpPr>
        <p:spPr>
          <a:xfrm>
            <a:off x="10131552" y="3474720"/>
            <a:ext cx="1188720" cy="201168"/>
          </a:xfrm>
          <a:prstGeom prst="rect">
            <a:avLst/>
          </a:prstGeom>
          <a:noFill/>
          <a:ln/>
        </p:spPr>
        <p:txBody>
          <a:bodyPr wrap="square" lIns="0" tIns="0" rIns="0" bIns="0" rtlCol="0" anchor="ctr"/>
          <a:lstStyle/>
          <a:p>
            <a:pPr algn="r" indent="0" marL="0">
              <a:buNone/>
            </a:pPr>
            <a:r>
              <a:rPr lang="en-US" sz="850" b="1" spc="120" kern="0" dirty="0">
                <a:solidFill>
                  <a:srgbClr val="67726B"/>
                </a:solidFill>
                <a:latin typeface="Calibri" pitchFamily="34" charset="0"/>
                <a:ea typeface="Calibri" pitchFamily="34" charset="-122"/>
                <a:cs typeface="Calibri" pitchFamily="34" charset="-120"/>
              </a:rPr>
              <a:t>SCORE</a:t>
            </a:r>
            <a:endParaRPr lang="en-US" sz="850" dirty="0"/>
          </a:p>
        </p:txBody>
      </p:sp>
      <p:sp>
        <p:nvSpPr>
          <p:cNvPr id="28" name="Text 26"/>
          <p:cNvSpPr/>
          <p:nvPr/>
        </p:nvSpPr>
        <p:spPr>
          <a:xfrm>
            <a:off x="6455664" y="3749040"/>
            <a:ext cx="2743200" cy="256032"/>
          </a:xfrm>
          <a:prstGeom prst="rect">
            <a:avLst/>
          </a:prstGeom>
          <a:noFill/>
          <a:ln/>
        </p:spPr>
        <p:txBody>
          <a:bodyPr wrap="square" lIns="0" tIns="0" rIns="0" bIns="0" rtlCol="0" anchor="ctr"/>
          <a:lstStyle/>
          <a:p>
            <a:pPr indent="0" marL="0">
              <a:buNone/>
            </a:pPr>
            <a:r>
              <a:rPr lang="en-US" sz="1150" dirty="0">
                <a:solidFill>
                  <a:srgbClr val="9BA8A0"/>
                </a:solidFill>
                <a:latin typeface="Calibri" pitchFamily="34" charset="0"/>
                <a:ea typeface="Calibri" pitchFamily="34" charset="-122"/>
                <a:cs typeface="Calibri" pitchFamily="34" charset="-120"/>
              </a:rPr>
              <a:t>Odds of hitting it</a:t>
            </a:r>
            <a:endParaRPr lang="en-US" sz="1150" dirty="0"/>
          </a:p>
        </p:txBody>
      </p:sp>
      <p:sp>
        <p:nvSpPr>
          <p:cNvPr id="29" name="Text 27"/>
          <p:cNvSpPr/>
          <p:nvPr/>
        </p:nvSpPr>
        <p:spPr>
          <a:xfrm>
            <a:off x="9217152" y="3749040"/>
            <a:ext cx="2084832" cy="256032"/>
          </a:xfrm>
          <a:prstGeom prst="rect">
            <a:avLst/>
          </a:prstGeom>
          <a:noFill/>
          <a:ln/>
        </p:spPr>
        <p:txBody>
          <a:bodyPr wrap="square" lIns="0" tIns="0" rIns="0" bIns="0" rtlCol="0" anchor="ctr"/>
          <a:lstStyle/>
          <a:p>
            <a:pPr algn="r" indent="0" marL="0">
              <a:buNone/>
            </a:pPr>
            <a:r>
              <a:rPr lang="en-US" sz="1150" b="1" dirty="0">
                <a:solidFill>
                  <a:srgbClr val="F4F7F5"/>
                </a:solidFill>
                <a:latin typeface="Calibri" pitchFamily="34" charset="0"/>
                <a:ea typeface="Calibri" pitchFamily="34" charset="-122"/>
                <a:cs typeface="Calibri" pitchFamily="34" charset="-120"/>
              </a:rPr>
              <a:t>98%</a:t>
            </a:r>
            <a:endParaRPr lang="en-US" sz="1150" dirty="0"/>
          </a:p>
        </p:txBody>
      </p:sp>
      <p:sp>
        <p:nvSpPr>
          <p:cNvPr id="30" name="Text 28"/>
          <p:cNvSpPr/>
          <p:nvPr/>
        </p:nvSpPr>
        <p:spPr>
          <a:xfrm>
            <a:off x="6455664" y="4023360"/>
            <a:ext cx="2743200" cy="256032"/>
          </a:xfrm>
          <a:prstGeom prst="rect">
            <a:avLst/>
          </a:prstGeom>
          <a:noFill/>
          <a:ln/>
        </p:spPr>
        <p:txBody>
          <a:bodyPr wrap="square" lIns="0" tIns="0" rIns="0" bIns="0" rtlCol="0" anchor="ctr"/>
          <a:lstStyle/>
          <a:p>
            <a:pPr indent="0" marL="0">
              <a:buNone/>
            </a:pPr>
            <a:r>
              <a:rPr lang="en-US" sz="1150" dirty="0">
                <a:solidFill>
                  <a:srgbClr val="9BA8A0"/>
                </a:solidFill>
                <a:latin typeface="Calibri" pitchFamily="34" charset="0"/>
                <a:ea typeface="Calibri" pitchFamily="34" charset="-122"/>
                <a:cs typeface="Calibri" pitchFamily="34" charset="-120"/>
              </a:rPr>
              <a:t>Money tied up</a:t>
            </a:r>
            <a:endParaRPr lang="en-US" sz="1150" dirty="0"/>
          </a:p>
        </p:txBody>
      </p:sp>
      <p:sp>
        <p:nvSpPr>
          <p:cNvPr id="31" name="Text 29"/>
          <p:cNvSpPr/>
          <p:nvPr/>
        </p:nvSpPr>
        <p:spPr>
          <a:xfrm>
            <a:off x="9217152" y="4023360"/>
            <a:ext cx="2084832" cy="256032"/>
          </a:xfrm>
          <a:prstGeom prst="rect">
            <a:avLst/>
          </a:prstGeom>
          <a:noFill/>
          <a:ln/>
        </p:spPr>
        <p:txBody>
          <a:bodyPr wrap="square" lIns="0" tIns="0" rIns="0" bIns="0" rtlCol="0" anchor="ctr"/>
          <a:lstStyle/>
          <a:p>
            <a:pPr algn="r" indent="0" marL="0">
              <a:buNone/>
            </a:pPr>
            <a:r>
              <a:rPr lang="en-US" sz="1150" b="1" dirty="0">
                <a:solidFill>
                  <a:srgbClr val="F4F7F5"/>
                </a:solidFill>
                <a:latin typeface="Calibri" pitchFamily="34" charset="0"/>
                <a:ea typeface="Calibri" pitchFamily="34" charset="-122"/>
                <a:cs typeface="Calibri" pitchFamily="34" charset="-120"/>
              </a:rPr>
              <a:t>$0</a:t>
            </a:r>
            <a:endParaRPr lang="en-US" sz="1150" dirty="0"/>
          </a:p>
        </p:txBody>
      </p:sp>
      <p:sp>
        <p:nvSpPr>
          <p:cNvPr id="32" name="Text 30"/>
          <p:cNvSpPr/>
          <p:nvPr/>
        </p:nvSpPr>
        <p:spPr>
          <a:xfrm>
            <a:off x="6455664" y="4297680"/>
            <a:ext cx="2743200" cy="256032"/>
          </a:xfrm>
          <a:prstGeom prst="rect">
            <a:avLst/>
          </a:prstGeom>
          <a:noFill/>
          <a:ln/>
        </p:spPr>
        <p:txBody>
          <a:bodyPr wrap="square" lIns="0" tIns="0" rIns="0" bIns="0" rtlCol="0" anchor="ctr"/>
          <a:lstStyle/>
          <a:p>
            <a:pPr indent="0" marL="0">
              <a:buNone/>
            </a:pPr>
            <a:r>
              <a:rPr lang="en-US" sz="1150" dirty="0">
                <a:solidFill>
                  <a:srgbClr val="9BA8A0"/>
                </a:solidFill>
                <a:latin typeface="Calibri" pitchFamily="34" charset="0"/>
                <a:ea typeface="Calibri" pitchFamily="34" charset="-122"/>
                <a:cs typeface="Calibri" pitchFamily="34" charset="-120"/>
              </a:rPr>
              <a:t>Taxable?</a:t>
            </a:r>
            <a:endParaRPr lang="en-US" sz="1150" dirty="0"/>
          </a:p>
        </p:txBody>
      </p:sp>
      <p:sp>
        <p:nvSpPr>
          <p:cNvPr id="33" name="Text 31"/>
          <p:cNvSpPr/>
          <p:nvPr/>
        </p:nvSpPr>
        <p:spPr>
          <a:xfrm>
            <a:off x="9217152" y="4297680"/>
            <a:ext cx="2084832" cy="256032"/>
          </a:xfrm>
          <a:prstGeom prst="rect">
            <a:avLst/>
          </a:prstGeom>
          <a:noFill/>
          <a:ln/>
        </p:spPr>
        <p:txBody>
          <a:bodyPr wrap="square" lIns="0" tIns="0" rIns="0" bIns="0" rtlCol="0" anchor="ctr"/>
          <a:lstStyle/>
          <a:p>
            <a:pPr algn="r" indent="0" marL="0">
              <a:buNone/>
            </a:pPr>
            <a:r>
              <a:rPr lang="en-US" sz="1150" b="1" dirty="0">
                <a:solidFill>
                  <a:srgbClr val="F4F7F5"/>
                </a:solidFill>
                <a:latin typeface="Calibri" pitchFamily="34" charset="0"/>
                <a:ea typeface="Calibri" pitchFamily="34" charset="-122"/>
                <a:cs typeface="Calibri" pitchFamily="34" charset="-120"/>
              </a:rPr>
              <a:t>No</a:t>
            </a:r>
            <a:endParaRPr lang="en-US" sz="1150" dirty="0"/>
          </a:p>
        </p:txBody>
      </p:sp>
      <p:sp>
        <p:nvSpPr>
          <p:cNvPr id="34" name="Text 32"/>
          <p:cNvSpPr/>
          <p:nvPr/>
        </p:nvSpPr>
        <p:spPr>
          <a:xfrm>
            <a:off x="6455664" y="4572000"/>
            <a:ext cx="2743200" cy="256032"/>
          </a:xfrm>
          <a:prstGeom prst="rect">
            <a:avLst/>
          </a:prstGeom>
          <a:noFill/>
          <a:ln/>
        </p:spPr>
        <p:txBody>
          <a:bodyPr wrap="square" lIns="0" tIns="0" rIns="0" bIns="0" rtlCol="0" anchor="ctr"/>
          <a:lstStyle/>
          <a:p>
            <a:pPr indent="0" marL="0">
              <a:buNone/>
            </a:pPr>
            <a:r>
              <a:rPr lang="en-US" sz="1150" dirty="0">
                <a:solidFill>
                  <a:srgbClr val="9BA8A0"/>
                </a:solidFill>
                <a:latin typeface="Calibri" pitchFamily="34" charset="0"/>
                <a:ea typeface="Calibri" pitchFamily="34" charset="-122"/>
                <a:cs typeface="Calibri" pitchFamily="34" charset="-120"/>
              </a:rPr>
              <a:t>Repeats next year?</a:t>
            </a:r>
            <a:endParaRPr lang="en-US" sz="1150" dirty="0"/>
          </a:p>
        </p:txBody>
      </p:sp>
      <p:sp>
        <p:nvSpPr>
          <p:cNvPr id="35" name="Text 33"/>
          <p:cNvSpPr/>
          <p:nvPr/>
        </p:nvSpPr>
        <p:spPr>
          <a:xfrm>
            <a:off x="9217152" y="4572000"/>
            <a:ext cx="2084832" cy="256032"/>
          </a:xfrm>
          <a:prstGeom prst="rect">
            <a:avLst/>
          </a:prstGeom>
          <a:noFill/>
          <a:ln/>
        </p:spPr>
        <p:txBody>
          <a:bodyPr wrap="square" lIns="0" tIns="0" rIns="0" bIns="0" rtlCol="0" anchor="ctr"/>
          <a:lstStyle/>
          <a:p>
            <a:pPr algn="r" indent="0" marL="0">
              <a:buNone/>
            </a:pPr>
            <a:r>
              <a:rPr lang="en-US" sz="1150" b="1" dirty="0">
                <a:solidFill>
                  <a:srgbClr val="F4F7F5"/>
                </a:solidFill>
                <a:latin typeface="Calibri" pitchFamily="34" charset="0"/>
                <a:ea typeface="Calibri" pitchFamily="34" charset="-122"/>
                <a:cs typeface="Calibri" pitchFamily="34" charset="-120"/>
              </a:rPr>
              <a:t>Automatically</a:t>
            </a:r>
            <a:endParaRPr lang="en-US" sz="1150" dirty="0"/>
          </a:p>
        </p:txBody>
      </p:sp>
      <p:sp>
        <p:nvSpPr>
          <p:cNvPr id="36" name="Text 34"/>
          <p:cNvSpPr/>
          <p:nvPr/>
        </p:nvSpPr>
        <p:spPr>
          <a:xfrm>
            <a:off x="640080" y="5029200"/>
            <a:ext cx="8229600" cy="237744"/>
          </a:xfrm>
          <a:prstGeom prst="rect">
            <a:avLst/>
          </a:prstGeom>
          <a:noFill/>
          <a:ln/>
        </p:spPr>
        <p:txBody>
          <a:bodyPr wrap="square" lIns="0" tIns="0" rIns="0" bIns="0" rtlCol="0" anchor="ctr"/>
          <a:lstStyle/>
          <a:p>
            <a:pPr indent="0" marL="0">
              <a:buNone/>
            </a:pPr>
            <a:r>
              <a:rPr lang="en-US" sz="950" b="1" spc="130" kern="0" dirty="0">
                <a:solidFill>
                  <a:srgbClr val="22C55E"/>
                </a:solidFill>
                <a:latin typeface="Calibri" pitchFamily="34" charset="0"/>
                <a:ea typeface="Calibri" pitchFamily="34" charset="-122"/>
                <a:cs typeface="Calibri" pitchFamily="34" charset="-120"/>
              </a:rPr>
              <a:t>FOUR LEAKS THE ENGINE COULD RANK TOMORROW — IF IT COULD SEE THEM</a:t>
            </a:r>
            <a:endParaRPr lang="en-US" sz="950" dirty="0"/>
          </a:p>
        </p:txBody>
      </p:sp>
      <p:sp>
        <p:nvSpPr>
          <p:cNvPr id="37" name="Shape 35"/>
          <p:cNvSpPr/>
          <p:nvPr/>
        </p:nvSpPr>
        <p:spPr>
          <a:xfrm>
            <a:off x="640080" y="5303520"/>
            <a:ext cx="2569464" cy="640080"/>
          </a:xfrm>
          <a:prstGeom prst="roundRect">
            <a:avLst>
              <a:gd name="adj" fmla="val 14286"/>
            </a:avLst>
          </a:prstGeom>
          <a:solidFill>
            <a:srgbClr val="101613"/>
          </a:solidFill>
          <a:ln w="12700">
            <a:solidFill>
              <a:srgbClr val="1C2420"/>
            </a:solidFill>
            <a:prstDash val="solid"/>
          </a:ln>
        </p:spPr>
      </p:sp>
      <p:sp>
        <p:nvSpPr>
          <p:cNvPr id="38" name="Text 36"/>
          <p:cNvSpPr/>
          <p:nvPr/>
        </p:nvSpPr>
        <p:spPr>
          <a:xfrm>
            <a:off x="859536" y="5358384"/>
            <a:ext cx="2148840" cy="274320"/>
          </a:xfrm>
          <a:prstGeom prst="rect">
            <a:avLst/>
          </a:prstGeom>
          <a:noFill/>
          <a:ln/>
        </p:spPr>
        <p:txBody>
          <a:bodyPr wrap="square" lIns="0" tIns="0" rIns="0" bIns="0" rtlCol="0" anchor="ctr"/>
          <a:lstStyle/>
          <a:p>
            <a:pPr indent="0" marL="0">
              <a:buNone/>
            </a:pPr>
            <a:r>
              <a:rPr lang="en-US" sz="1150" b="1" dirty="0">
                <a:solidFill>
                  <a:srgbClr val="F4F7F5"/>
                </a:solidFill>
                <a:latin typeface="Calibri" pitchFamily="34" charset="0"/>
                <a:ea typeface="Calibri" pitchFamily="34" charset="-122"/>
                <a:cs typeface="Calibri" pitchFamily="34" charset="-120"/>
              </a:rPr>
              <a:t>Forgotten subscriptions</a:t>
            </a:r>
            <a:endParaRPr lang="en-US" sz="1150" dirty="0"/>
          </a:p>
        </p:txBody>
      </p:sp>
      <p:sp>
        <p:nvSpPr>
          <p:cNvPr id="39" name="Text 37"/>
          <p:cNvSpPr/>
          <p:nvPr/>
        </p:nvSpPr>
        <p:spPr>
          <a:xfrm>
            <a:off x="859536" y="5614416"/>
            <a:ext cx="2148840" cy="237744"/>
          </a:xfrm>
          <a:prstGeom prst="rect">
            <a:avLst/>
          </a:prstGeom>
          <a:noFill/>
          <a:ln/>
        </p:spPr>
        <p:txBody>
          <a:bodyPr wrap="square" lIns="0" tIns="0" rIns="0" bIns="0" rtlCol="0" anchor="ctr"/>
          <a:lstStyle/>
          <a:p>
            <a:pPr indent="0" marL="0">
              <a:buNone/>
            </a:pPr>
            <a:r>
              <a:rPr lang="en-US" sz="1000" dirty="0">
                <a:solidFill>
                  <a:srgbClr val="F5B43C"/>
                </a:solidFill>
                <a:latin typeface="Calibri" pitchFamily="34" charset="0"/>
                <a:ea typeface="Calibri" pitchFamily="34" charset="-122"/>
                <a:cs typeface="Calibri" pitchFamily="34" charset="-120"/>
              </a:rPr>
              <a:t>3–6 mo</a:t>
            </a:r>
            <a:endParaRPr lang="en-US" sz="1000" dirty="0"/>
          </a:p>
        </p:txBody>
      </p:sp>
      <p:sp>
        <p:nvSpPr>
          <p:cNvPr id="40" name="Shape 38"/>
          <p:cNvSpPr/>
          <p:nvPr/>
        </p:nvSpPr>
        <p:spPr>
          <a:xfrm>
            <a:off x="3410712" y="5303520"/>
            <a:ext cx="2569464" cy="640080"/>
          </a:xfrm>
          <a:prstGeom prst="roundRect">
            <a:avLst>
              <a:gd name="adj" fmla="val 14286"/>
            </a:avLst>
          </a:prstGeom>
          <a:solidFill>
            <a:srgbClr val="101613"/>
          </a:solidFill>
          <a:ln w="12700">
            <a:solidFill>
              <a:srgbClr val="1C2420"/>
            </a:solidFill>
            <a:prstDash val="solid"/>
          </a:ln>
        </p:spPr>
      </p:sp>
      <p:sp>
        <p:nvSpPr>
          <p:cNvPr id="41" name="Text 39"/>
          <p:cNvSpPr/>
          <p:nvPr/>
        </p:nvSpPr>
        <p:spPr>
          <a:xfrm>
            <a:off x="3630168" y="5358384"/>
            <a:ext cx="2148840" cy="274320"/>
          </a:xfrm>
          <a:prstGeom prst="rect">
            <a:avLst/>
          </a:prstGeom>
          <a:noFill/>
          <a:ln/>
        </p:spPr>
        <p:txBody>
          <a:bodyPr wrap="square" lIns="0" tIns="0" rIns="0" bIns="0" rtlCol="0" anchor="ctr"/>
          <a:lstStyle/>
          <a:p>
            <a:pPr indent="0" marL="0">
              <a:buNone/>
            </a:pPr>
            <a:r>
              <a:rPr lang="en-US" sz="1150" b="1" dirty="0">
                <a:solidFill>
                  <a:srgbClr val="F4F7F5"/>
                </a:solidFill>
                <a:latin typeface="Calibri" pitchFamily="34" charset="0"/>
                <a:ea typeface="Calibri" pitchFamily="34" charset="-122"/>
                <a:cs typeface="Calibri" pitchFamily="34" charset="-120"/>
              </a:rPr>
              <a:t>The wrong card for your spend</a:t>
            </a:r>
            <a:endParaRPr lang="en-US" sz="1150" dirty="0"/>
          </a:p>
        </p:txBody>
      </p:sp>
      <p:sp>
        <p:nvSpPr>
          <p:cNvPr id="42" name="Text 40"/>
          <p:cNvSpPr/>
          <p:nvPr/>
        </p:nvSpPr>
        <p:spPr>
          <a:xfrm>
            <a:off x="3630168" y="5614416"/>
            <a:ext cx="2148840" cy="237744"/>
          </a:xfrm>
          <a:prstGeom prst="rect">
            <a:avLst/>
          </a:prstGeom>
          <a:noFill/>
          <a:ln/>
        </p:spPr>
        <p:txBody>
          <a:bodyPr wrap="square" lIns="0" tIns="0" rIns="0" bIns="0" rtlCol="0" anchor="ctr"/>
          <a:lstStyle/>
          <a:p>
            <a:pPr indent="0" marL="0">
              <a:buNone/>
            </a:pPr>
            <a:r>
              <a:rPr lang="en-US" sz="1000" dirty="0">
                <a:solidFill>
                  <a:srgbClr val="F5B43C"/>
                </a:solidFill>
                <a:latin typeface="Calibri" pitchFamily="34" charset="0"/>
                <a:ea typeface="Calibri" pitchFamily="34" charset="-122"/>
                <a:cs typeface="Calibri" pitchFamily="34" charset="-120"/>
              </a:rPr>
              <a:t>6–12 mo</a:t>
            </a:r>
            <a:endParaRPr lang="en-US" sz="1000" dirty="0"/>
          </a:p>
        </p:txBody>
      </p:sp>
      <p:sp>
        <p:nvSpPr>
          <p:cNvPr id="43" name="Shape 41"/>
          <p:cNvSpPr/>
          <p:nvPr/>
        </p:nvSpPr>
        <p:spPr>
          <a:xfrm>
            <a:off x="6181344" y="5303520"/>
            <a:ext cx="2569464" cy="640080"/>
          </a:xfrm>
          <a:prstGeom prst="roundRect">
            <a:avLst>
              <a:gd name="adj" fmla="val 14286"/>
            </a:avLst>
          </a:prstGeom>
          <a:solidFill>
            <a:srgbClr val="101613"/>
          </a:solidFill>
          <a:ln w="12700">
            <a:solidFill>
              <a:srgbClr val="1C2420"/>
            </a:solidFill>
            <a:prstDash val="solid"/>
          </a:ln>
        </p:spPr>
      </p:sp>
      <p:sp>
        <p:nvSpPr>
          <p:cNvPr id="44" name="Text 42"/>
          <p:cNvSpPr/>
          <p:nvPr/>
        </p:nvSpPr>
        <p:spPr>
          <a:xfrm>
            <a:off x="6400800" y="5358384"/>
            <a:ext cx="2148840" cy="274320"/>
          </a:xfrm>
          <a:prstGeom prst="rect">
            <a:avLst/>
          </a:prstGeom>
          <a:noFill/>
          <a:ln/>
        </p:spPr>
        <p:txBody>
          <a:bodyPr wrap="square" lIns="0" tIns="0" rIns="0" bIns="0" rtlCol="0" anchor="ctr"/>
          <a:lstStyle/>
          <a:p>
            <a:pPr indent="0" marL="0">
              <a:buNone/>
            </a:pPr>
            <a:r>
              <a:rPr lang="en-US" sz="1150" b="1" dirty="0">
                <a:solidFill>
                  <a:srgbClr val="F4F7F5"/>
                </a:solidFill>
                <a:latin typeface="Calibri" pitchFamily="34" charset="0"/>
                <a:ea typeface="Calibri" pitchFamily="34" charset="-122"/>
                <a:cs typeface="Calibri" pitchFamily="34" charset="-120"/>
              </a:rPr>
              <a:t>Fees and idle cash</a:t>
            </a:r>
            <a:endParaRPr lang="en-US" sz="1150" dirty="0"/>
          </a:p>
        </p:txBody>
      </p:sp>
      <p:sp>
        <p:nvSpPr>
          <p:cNvPr id="45" name="Text 43"/>
          <p:cNvSpPr/>
          <p:nvPr/>
        </p:nvSpPr>
        <p:spPr>
          <a:xfrm>
            <a:off x="6400800" y="5614416"/>
            <a:ext cx="2148840" cy="237744"/>
          </a:xfrm>
          <a:prstGeom prst="rect">
            <a:avLst/>
          </a:prstGeom>
          <a:noFill/>
          <a:ln/>
        </p:spPr>
        <p:txBody>
          <a:bodyPr wrap="square" lIns="0" tIns="0" rIns="0" bIns="0" rtlCol="0" anchor="ctr"/>
          <a:lstStyle/>
          <a:p>
            <a:pPr indent="0" marL="0">
              <a:buNone/>
            </a:pPr>
            <a:r>
              <a:rPr lang="en-US" sz="1000" dirty="0">
                <a:solidFill>
                  <a:srgbClr val="F5B43C"/>
                </a:solidFill>
                <a:latin typeface="Calibri" pitchFamily="34" charset="0"/>
                <a:ea typeface="Calibri" pitchFamily="34" charset="-122"/>
                <a:cs typeface="Calibri" pitchFamily="34" charset="-120"/>
              </a:rPr>
              <a:t>6–12 mo</a:t>
            </a:r>
            <a:endParaRPr lang="en-US" sz="1000" dirty="0"/>
          </a:p>
        </p:txBody>
      </p:sp>
      <p:sp>
        <p:nvSpPr>
          <p:cNvPr id="46" name="Shape 44"/>
          <p:cNvSpPr/>
          <p:nvPr/>
        </p:nvSpPr>
        <p:spPr>
          <a:xfrm>
            <a:off x="8951976" y="5303520"/>
            <a:ext cx="2569464" cy="640080"/>
          </a:xfrm>
          <a:prstGeom prst="roundRect">
            <a:avLst>
              <a:gd name="adj" fmla="val 14286"/>
            </a:avLst>
          </a:prstGeom>
          <a:solidFill>
            <a:srgbClr val="101613"/>
          </a:solidFill>
          <a:ln w="12700">
            <a:solidFill>
              <a:srgbClr val="1C2420"/>
            </a:solidFill>
            <a:prstDash val="solid"/>
          </a:ln>
        </p:spPr>
      </p:sp>
      <p:sp>
        <p:nvSpPr>
          <p:cNvPr id="47" name="Text 45"/>
          <p:cNvSpPr/>
          <p:nvPr/>
        </p:nvSpPr>
        <p:spPr>
          <a:xfrm>
            <a:off x="9171432" y="5358384"/>
            <a:ext cx="2148840" cy="274320"/>
          </a:xfrm>
          <a:prstGeom prst="rect">
            <a:avLst/>
          </a:prstGeom>
          <a:noFill/>
          <a:ln/>
        </p:spPr>
        <p:txBody>
          <a:bodyPr wrap="square" lIns="0" tIns="0" rIns="0" bIns="0" rtlCol="0" anchor="ctr"/>
          <a:lstStyle/>
          <a:p>
            <a:pPr indent="0" marL="0">
              <a:buNone/>
            </a:pPr>
            <a:r>
              <a:rPr lang="en-US" sz="1150" b="1" dirty="0">
                <a:solidFill>
                  <a:srgbClr val="F4F7F5"/>
                </a:solidFill>
                <a:latin typeface="Calibri" pitchFamily="34" charset="0"/>
                <a:ea typeface="Calibri" pitchFamily="34" charset="-122"/>
                <a:cs typeface="Calibri" pitchFamily="34" charset="-120"/>
              </a:rPr>
              <a:t>Doing it for you, automatically</a:t>
            </a:r>
            <a:endParaRPr lang="en-US" sz="1150" dirty="0"/>
          </a:p>
        </p:txBody>
      </p:sp>
      <p:sp>
        <p:nvSpPr>
          <p:cNvPr id="48" name="Text 46"/>
          <p:cNvSpPr/>
          <p:nvPr/>
        </p:nvSpPr>
        <p:spPr>
          <a:xfrm>
            <a:off x="9171432" y="5614416"/>
            <a:ext cx="2148840" cy="237744"/>
          </a:xfrm>
          <a:prstGeom prst="rect">
            <a:avLst/>
          </a:prstGeom>
          <a:noFill/>
          <a:ln/>
        </p:spPr>
        <p:txBody>
          <a:bodyPr wrap="square" lIns="0" tIns="0" rIns="0" bIns="0" rtlCol="0" anchor="ctr"/>
          <a:lstStyle/>
          <a:p>
            <a:pPr indent="0" marL="0">
              <a:buNone/>
            </a:pPr>
            <a:r>
              <a:rPr lang="en-US" sz="1000" dirty="0">
                <a:solidFill>
                  <a:srgbClr val="F5B43C"/>
                </a:solidFill>
                <a:latin typeface="Calibri" pitchFamily="34" charset="0"/>
                <a:ea typeface="Calibri" pitchFamily="34" charset="-122"/>
                <a:cs typeface="Calibri" pitchFamily="34" charset="-120"/>
              </a:rPr>
              <a:t>12 mo+</a:t>
            </a:r>
            <a:endParaRPr lang="en-US" sz="1000" dirty="0"/>
          </a:p>
        </p:txBody>
      </p:sp>
      <p:sp>
        <p:nvSpPr>
          <p:cNvPr id="49" name="Shape 47"/>
          <p:cNvSpPr/>
          <p:nvPr/>
        </p:nvSpPr>
        <p:spPr>
          <a:xfrm>
            <a:off x="640080" y="6035040"/>
            <a:ext cx="10908792" cy="420624"/>
          </a:xfrm>
          <a:prstGeom prst="roundRect">
            <a:avLst>
              <a:gd name="adj" fmla="val 26087"/>
            </a:avLst>
          </a:prstGeom>
          <a:solidFill>
            <a:srgbClr val="161D19"/>
          </a:solidFill>
          <a:ln w="12700">
            <a:solidFill>
              <a:srgbClr val="2A352F"/>
            </a:solidFill>
            <a:prstDash val="solid"/>
          </a:ln>
        </p:spPr>
      </p:sp>
      <p:sp>
        <p:nvSpPr>
          <p:cNvPr id="50" name="Text 48"/>
          <p:cNvSpPr/>
          <p:nvPr/>
        </p:nvSpPr>
        <p:spPr>
          <a:xfrm>
            <a:off x="868680" y="6035040"/>
            <a:ext cx="10469880" cy="420624"/>
          </a:xfrm>
          <a:prstGeom prst="rect">
            <a:avLst/>
          </a:prstGeom>
          <a:noFill/>
          <a:ln/>
        </p:spPr>
        <p:txBody>
          <a:bodyPr wrap="square" lIns="0" tIns="0" rIns="0" bIns="0" rtlCol="0" anchor="ctr"/>
          <a:lstStyle/>
          <a:p>
            <a:pPr indent="0" marL="0">
              <a:lnSpc>
                <a:spcPct val="110000"/>
              </a:lnSpc>
              <a:buNone/>
            </a:pPr>
            <a:r>
              <a:rPr lang="en-US" sz="1200" dirty="0">
                <a:solidFill>
                  <a:srgbClr val="F4F7F5"/>
                </a:solidFill>
                <a:latin typeface="Calibri" pitchFamily="34" charset="0"/>
                <a:ea typeface="Calibri" pitchFamily="34" charset="-122"/>
                <a:cs typeface="Calibri" pitchFamily="34" charset="-120"/>
              </a:rPr>
              <a:t>Same engine, same list, no new maths — it just needs bank data to see a subscription. That connection is what this raise buys.</a:t>
            </a:r>
            <a:endParaRPr lang="en-US" sz="1200" dirty="0"/>
          </a:p>
        </p:txBody>
      </p:sp>
      <p:sp>
        <p:nvSpPr>
          <p:cNvPr id="52" name="Text 49"/>
          <p:cNvSpPr/>
          <p:nvPr/>
        </p:nvSpPr>
        <p:spPr>
          <a:xfrm>
            <a:off x="9692640" y="6528816"/>
            <a:ext cx="1188720" cy="237744"/>
          </a:xfrm>
          <a:prstGeom prst="rect">
            <a:avLst/>
          </a:prstGeom>
          <a:noFill/>
          <a:ln/>
        </p:spPr>
        <p:txBody>
          <a:bodyPr wrap="square" lIns="0" tIns="0" rIns="0" bIns="0" rtlCol="0" anchor="ctr"/>
          <a:lstStyle/>
          <a:p>
            <a:pPr algn="r" indent="0" marL="0">
              <a:buNone/>
            </a:pPr>
            <a:r>
              <a:rPr lang="en-US" sz="850" b="1" spc="140" kern="0" dirty="0">
                <a:solidFill>
                  <a:srgbClr val="67726B"/>
                </a:solidFill>
                <a:latin typeface="Calibri" pitchFamily="34" charset="0"/>
                <a:ea typeface="Calibri" pitchFamily="34" charset="-122"/>
                <a:cs typeface="Calibri" pitchFamily="34" charset="-120"/>
              </a:rPr>
              <a:t>POLYPROFIT</a:t>
            </a:r>
            <a:endParaRPr lang="en-US" sz="850" dirty="0"/>
          </a:p>
        </p:txBody>
      </p:sp>
      <p:sp>
        <p:nvSpPr>
          <p:cNvPr id="53" name="Text 50"/>
          <p:cNvSpPr/>
          <p:nvPr/>
        </p:nvSpPr>
        <p:spPr>
          <a:xfrm>
            <a:off x="11018520" y="6528816"/>
            <a:ext cx="530352" cy="237744"/>
          </a:xfrm>
          <a:prstGeom prst="rect">
            <a:avLst/>
          </a:prstGeom>
          <a:noFill/>
          <a:ln/>
        </p:spPr>
        <p:txBody>
          <a:bodyPr wrap="square" lIns="0" tIns="0" rIns="0" bIns="0" rtlCol="0" anchor="ctr"/>
          <a:lstStyle/>
          <a:p>
            <a:pPr algn="r" indent="0" marL="0">
              <a:buNone/>
            </a:pPr>
            <a:r>
              <a:rPr lang="en-US" sz="850" b="1" dirty="0">
                <a:solidFill>
                  <a:srgbClr val="22C55E"/>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B09"/>
        </a:solidFill>
      </p:bgPr>
    </p:bg>
    <p:spTree>
      <p:nvGrpSpPr>
        <p:cNvPr id="1" name=""/>
        <p:cNvGrpSpPr/>
        <p:nvPr/>
      </p:nvGrpSpPr>
      <p:grpSpPr>
        <a:xfrm>
          <a:off x="0" y="0"/>
          <a:ext cx="0" cy="0"/>
          <a:chOff x="0" y="0"/>
          <a:chExt cx="0" cy="0"/>
        </a:xfrm>
      </p:grpSpPr>
      <p:sp>
        <p:nvSpPr>
          <p:cNvPr id="2" name="Shape 0"/>
          <p:cNvSpPr/>
          <p:nvPr/>
        </p:nvSpPr>
        <p:spPr>
          <a:xfrm>
            <a:off x="-1828800" y="3291840"/>
            <a:ext cx="5669280" cy="5669280"/>
          </a:xfrm>
          <a:prstGeom prst="ellipse">
            <a:avLst/>
          </a:prstGeom>
          <a:solidFill>
            <a:srgbClr val="22C55E">
              <a:alpha val="6000"/>
            </a:srgbClr>
          </a:solidFill>
          <a:ln/>
        </p:spPr>
      </p:sp>
      <p:sp>
        <p:nvSpPr>
          <p:cNvPr id="3" name="Text 1"/>
          <p:cNvSpPr/>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22C55E"/>
                </a:solidFill>
                <a:latin typeface="Calibri" pitchFamily="34" charset="0"/>
                <a:ea typeface="Calibri" pitchFamily="34" charset="-122"/>
                <a:cs typeface="Calibri" pitchFamily="34" charset="-120"/>
              </a:rPr>
              <a:t>10  ·  WHY NOW</a:t>
            </a:r>
            <a:endParaRPr lang="en-US" sz="1100" dirty="0"/>
          </a:p>
        </p:txBody>
      </p:sp>
      <p:sp>
        <p:nvSpPr>
          <p:cNvPr id="4" name="Text 2"/>
          <p:cNvSpPr/>
          <p:nvPr/>
        </p:nvSpPr>
        <p:spPr>
          <a:xfrm>
            <a:off x="640080" y="777240"/>
            <a:ext cx="10881360" cy="685800"/>
          </a:xfrm>
          <a:prstGeom prst="rect">
            <a:avLst/>
          </a:prstGeom>
          <a:noFill/>
          <a:ln/>
        </p:spPr>
        <p:txBody>
          <a:bodyPr wrap="square" lIns="0" tIns="0" rIns="0" bIns="0" rtlCol="0" anchor="t"/>
          <a:lstStyle/>
          <a:p>
            <a:pPr indent="0" marL="0">
              <a:lnSpc>
                <a:spcPct val="105000"/>
              </a:lnSpc>
              <a:buNone/>
            </a:pPr>
            <a:r>
              <a:rPr lang="en-US" sz="3300" b="1" dirty="0">
                <a:solidFill>
                  <a:srgbClr val="F4F7F5"/>
                </a:solidFill>
                <a:latin typeface="Calibri" pitchFamily="34" charset="0"/>
                <a:ea typeface="Calibri" pitchFamily="34" charset="-122"/>
                <a:cs typeface="Calibri" pitchFamily="34" charset="-120"/>
              </a:rPr>
              <a:t>The plumbing and the behaviour</a:t>
            </a:r>
            <a:endParaRPr lang="en-US" sz="3300" dirty="0"/>
          </a:p>
          <a:p>
            <a:pPr indent="0" marL="0">
              <a:lnSpc>
                <a:spcPct val="105000"/>
              </a:lnSpc>
              <a:buNone/>
            </a:pPr>
            <a:r>
              <a:rPr lang="en-US" sz="3300" b="1" dirty="0">
                <a:solidFill>
                  <a:srgbClr val="F4F7F5"/>
                </a:solidFill>
                <a:latin typeface="Calibri" pitchFamily="34" charset="0"/>
                <a:ea typeface="Calibri" pitchFamily="34" charset="-122"/>
                <a:cs typeface="Calibri" pitchFamily="34" charset="-120"/>
              </a:rPr>
              <a:t>both arrived.</a:t>
            </a:r>
            <a:endParaRPr lang="en-US" sz="3300" dirty="0"/>
          </a:p>
        </p:txBody>
      </p:sp>
      <p:sp>
        <p:nvSpPr>
          <p:cNvPr id="5" name="Text 3"/>
          <p:cNvSpPr/>
          <p:nvPr/>
        </p:nvSpPr>
        <p:spPr>
          <a:xfrm>
            <a:off x="640080" y="1956816"/>
            <a:ext cx="9692640" cy="384048"/>
          </a:xfrm>
          <a:prstGeom prst="rect">
            <a:avLst/>
          </a:prstGeom>
          <a:noFill/>
          <a:ln/>
        </p:spPr>
        <p:txBody>
          <a:bodyPr wrap="square" lIns="0" tIns="0" rIns="0" bIns="0" rtlCol="0" anchor="t"/>
          <a:lstStyle/>
          <a:p>
            <a:pPr indent="0" marL="0">
              <a:lnSpc>
                <a:spcPct val="115000"/>
              </a:lnSpc>
              <a:buNone/>
            </a:pPr>
            <a:r>
              <a:rPr lang="en-US" sz="1350" dirty="0">
                <a:solidFill>
                  <a:srgbClr val="9BA8A0"/>
                </a:solidFill>
                <a:latin typeface="Calibri" pitchFamily="34" charset="0"/>
                <a:ea typeface="Calibri" pitchFamily="34" charset="-122"/>
                <a:cs typeface="Calibri" pitchFamily="34" charset="-120"/>
              </a:rPr>
              <a:t>None of this was buildable, or sellable, by one person three years ago.</a:t>
            </a:r>
            <a:endParaRPr lang="en-US" sz="1350" dirty="0"/>
          </a:p>
        </p:txBody>
      </p:sp>
      <p:sp>
        <p:nvSpPr>
          <p:cNvPr id="6" name="Shape 4"/>
          <p:cNvSpPr/>
          <p:nvPr/>
        </p:nvSpPr>
        <p:spPr>
          <a:xfrm>
            <a:off x="640080" y="2578608"/>
            <a:ext cx="5349240" cy="1097280"/>
          </a:xfrm>
          <a:prstGeom prst="roundRect">
            <a:avLst>
              <a:gd name="adj" fmla="val 10000"/>
            </a:avLst>
          </a:prstGeom>
          <a:solidFill>
            <a:srgbClr val="101613"/>
          </a:solidFill>
          <a:ln w="12700">
            <a:solidFill>
              <a:srgbClr val="1C2420"/>
            </a:solidFill>
            <a:prstDash val="solid"/>
          </a:ln>
        </p:spPr>
      </p:sp>
      <p:sp>
        <p:nvSpPr>
          <p:cNvPr id="7" name="Shape 5"/>
          <p:cNvSpPr/>
          <p:nvPr/>
        </p:nvSpPr>
        <p:spPr>
          <a:xfrm>
            <a:off x="896112" y="2779776"/>
            <a:ext cx="274320" cy="274320"/>
          </a:xfrm>
          <a:prstGeom prst="ellipse">
            <a:avLst/>
          </a:prstGeom>
          <a:solidFill>
            <a:srgbClr val="22C55E"/>
          </a:solidFill>
          <a:ln/>
        </p:spPr>
      </p:sp>
      <p:sp>
        <p:nvSpPr>
          <p:cNvPr id="8" name="Text 6"/>
          <p:cNvSpPr/>
          <p:nvPr/>
        </p:nvSpPr>
        <p:spPr>
          <a:xfrm>
            <a:off x="896112" y="2779776"/>
            <a:ext cx="274320" cy="274320"/>
          </a:xfrm>
          <a:prstGeom prst="rect">
            <a:avLst/>
          </a:prstGeom>
          <a:noFill/>
          <a:ln/>
        </p:spPr>
        <p:txBody>
          <a:bodyPr wrap="square" lIns="0" tIns="0" rIns="0" bIns="0" rtlCol="0" anchor="ctr"/>
          <a:lstStyle/>
          <a:p>
            <a:pPr algn="ctr" indent="0" marL="0">
              <a:buNone/>
            </a:pPr>
            <a:r>
              <a:rPr lang="en-US" sz="1100" b="1" dirty="0">
                <a:solidFill>
                  <a:srgbClr val="06140C"/>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1280160" y="2734056"/>
            <a:ext cx="4480560" cy="292608"/>
          </a:xfrm>
          <a:prstGeom prst="rect">
            <a:avLst/>
          </a:prstGeom>
          <a:noFill/>
          <a:ln/>
        </p:spPr>
        <p:txBody>
          <a:bodyPr wrap="square" lIns="0" tIns="0" rIns="0" bIns="0" rtlCol="0" anchor="ctr"/>
          <a:lstStyle/>
          <a:p>
            <a:pPr indent="0" marL="0">
              <a:buNone/>
            </a:pPr>
            <a:r>
              <a:rPr lang="en-US" sz="1450" b="1" dirty="0">
                <a:solidFill>
                  <a:srgbClr val="F4F7F5"/>
                </a:solidFill>
                <a:latin typeface="Calibri" pitchFamily="34" charset="0"/>
                <a:ea typeface="Calibri" pitchFamily="34" charset="-122"/>
                <a:cs typeface="Calibri" pitchFamily="34" charset="-120"/>
              </a:rPr>
              <a:t>Bank data is an API call</a:t>
            </a:r>
            <a:endParaRPr lang="en-US" sz="1450" dirty="0"/>
          </a:p>
        </p:txBody>
      </p:sp>
      <p:sp>
        <p:nvSpPr>
          <p:cNvPr id="10" name="Text 8"/>
          <p:cNvSpPr/>
          <p:nvPr/>
        </p:nvSpPr>
        <p:spPr>
          <a:xfrm>
            <a:off x="1280160" y="3054096"/>
            <a:ext cx="4480560" cy="548640"/>
          </a:xfrm>
          <a:prstGeom prst="rect">
            <a:avLst/>
          </a:prstGeom>
          <a:noFill/>
          <a:ln/>
        </p:spPr>
        <p:txBody>
          <a:bodyPr wrap="square" lIns="0" tIns="0" rIns="0" bIns="0" rtlCol="0" anchor="t"/>
          <a:lstStyle/>
          <a:p>
            <a:pPr indent="0" marL="0">
              <a:lnSpc>
                <a:spcPct val="115000"/>
              </a:lnSpc>
              <a:buNone/>
            </a:pPr>
            <a:r>
              <a:rPr lang="en-US" sz="1150" dirty="0">
                <a:solidFill>
                  <a:srgbClr val="9BA8A0"/>
                </a:solidFill>
                <a:latin typeface="Calibri" pitchFamily="34" charset="0"/>
                <a:ea typeface="Calibri" pitchFamily="34" charset="-122"/>
                <a:cs typeface="Calibri" pitchFamily="34" charset="-120"/>
              </a:rPr>
              <a:t>Consented access to categorised transactions and recurring charges is now a vendor integration, not a research project.</a:t>
            </a:r>
            <a:endParaRPr lang="en-US" sz="1150" dirty="0"/>
          </a:p>
        </p:txBody>
      </p:sp>
      <p:sp>
        <p:nvSpPr>
          <p:cNvPr id="11" name="Shape 9"/>
          <p:cNvSpPr/>
          <p:nvPr/>
        </p:nvSpPr>
        <p:spPr>
          <a:xfrm>
            <a:off x="6199632" y="2578608"/>
            <a:ext cx="5349240" cy="1097280"/>
          </a:xfrm>
          <a:prstGeom prst="roundRect">
            <a:avLst>
              <a:gd name="adj" fmla="val 10000"/>
            </a:avLst>
          </a:prstGeom>
          <a:solidFill>
            <a:srgbClr val="101613"/>
          </a:solidFill>
          <a:ln w="12700">
            <a:solidFill>
              <a:srgbClr val="1C2420"/>
            </a:solidFill>
            <a:prstDash val="solid"/>
          </a:ln>
        </p:spPr>
      </p:sp>
      <p:sp>
        <p:nvSpPr>
          <p:cNvPr id="12" name="Shape 10"/>
          <p:cNvSpPr/>
          <p:nvPr/>
        </p:nvSpPr>
        <p:spPr>
          <a:xfrm>
            <a:off x="6455664" y="2779776"/>
            <a:ext cx="274320" cy="274320"/>
          </a:xfrm>
          <a:prstGeom prst="ellipse">
            <a:avLst/>
          </a:prstGeom>
          <a:solidFill>
            <a:srgbClr val="22C55E"/>
          </a:solidFill>
          <a:ln/>
        </p:spPr>
      </p:sp>
      <p:sp>
        <p:nvSpPr>
          <p:cNvPr id="13" name="Text 11"/>
          <p:cNvSpPr/>
          <p:nvPr/>
        </p:nvSpPr>
        <p:spPr>
          <a:xfrm>
            <a:off x="6455664" y="2779776"/>
            <a:ext cx="274320" cy="274320"/>
          </a:xfrm>
          <a:prstGeom prst="rect">
            <a:avLst/>
          </a:prstGeom>
          <a:noFill/>
          <a:ln/>
        </p:spPr>
        <p:txBody>
          <a:bodyPr wrap="square" lIns="0" tIns="0" rIns="0" bIns="0" rtlCol="0" anchor="ctr"/>
          <a:lstStyle/>
          <a:p>
            <a:pPr algn="ctr" indent="0" marL="0">
              <a:buNone/>
            </a:pPr>
            <a:r>
              <a:rPr lang="en-US" sz="1100" b="1" dirty="0">
                <a:solidFill>
                  <a:srgbClr val="06140C"/>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6839712" y="2734056"/>
            <a:ext cx="4480560" cy="292608"/>
          </a:xfrm>
          <a:prstGeom prst="rect">
            <a:avLst/>
          </a:prstGeom>
          <a:noFill/>
          <a:ln/>
        </p:spPr>
        <p:txBody>
          <a:bodyPr wrap="square" lIns="0" tIns="0" rIns="0" bIns="0" rtlCol="0" anchor="ctr"/>
          <a:lstStyle/>
          <a:p>
            <a:pPr indent="0" marL="0">
              <a:buNone/>
            </a:pPr>
            <a:r>
              <a:rPr lang="en-US" sz="1450" b="1" dirty="0">
                <a:solidFill>
                  <a:srgbClr val="F4F7F5"/>
                </a:solidFill>
                <a:latin typeface="Calibri" pitchFamily="34" charset="0"/>
                <a:ea typeface="Calibri" pitchFamily="34" charset="-122"/>
                <a:cs typeface="Calibri" pitchFamily="34" charset="-120"/>
              </a:rPr>
              <a:t>People already link accounts</a:t>
            </a:r>
            <a:endParaRPr lang="en-US" sz="1450" dirty="0"/>
          </a:p>
        </p:txBody>
      </p:sp>
      <p:sp>
        <p:nvSpPr>
          <p:cNvPr id="15" name="Text 13"/>
          <p:cNvSpPr/>
          <p:nvPr/>
        </p:nvSpPr>
        <p:spPr>
          <a:xfrm>
            <a:off x="6839712" y="3054096"/>
            <a:ext cx="4480560" cy="548640"/>
          </a:xfrm>
          <a:prstGeom prst="rect">
            <a:avLst/>
          </a:prstGeom>
          <a:noFill/>
          <a:ln/>
        </p:spPr>
        <p:txBody>
          <a:bodyPr wrap="square" lIns="0" tIns="0" rIns="0" bIns="0" rtlCol="0" anchor="t"/>
          <a:lstStyle/>
          <a:p>
            <a:pPr indent="0" marL="0">
              <a:lnSpc>
                <a:spcPct val="115000"/>
              </a:lnSpc>
              <a:buNone/>
            </a:pPr>
            <a:r>
              <a:rPr lang="en-US" sz="1150" dirty="0">
                <a:solidFill>
                  <a:srgbClr val="9BA8A0"/>
                </a:solidFill>
                <a:latin typeface="Calibri" pitchFamily="34" charset="0"/>
                <a:ea typeface="Calibri" pitchFamily="34" charset="-122"/>
                <a:cs typeface="Calibri" pitchFamily="34" charset="-120"/>
              </a:rPr>
              <a:t>Rocket Money alone has 10M+ members doing exactly this. The permission is already granted — just not to anyone who ranks the alternatives.</a:t>
            </a:r>
            <a:endParaRPr lang="en-US" sz="1150" dirty="0"/>
          </a:p>
        </p:txBody>
      </p:sp>
      <p:sp>
        <p:nvSpPr>
          <p:cNvPr id="16" name="Shape 14"/>
          <p:cNvSpPr/>
          <p:nvPr/>
        </p:nvSpPr>
        <p:spPr>
          <a:xfrm>
            <a:off x="640080" y="3803904"/>
            <a:ext cx="5349240" cy="1097280"/>
          </a:xfrm>
          <a:prstGeom prst="roundRect">
            <a:avLst>
              <a:gd name="adj" fmla="val 10000"/>
            </a:avLst>
          </a:prstGeom>
          <a:solidFill>
            <a:srgbClr val="101613"/>
          </a:solidFill>
          <a:ln w="12700">
            <a:solidFill>
              <a:srgbClr val="1C2420"/>
            </a:solidFill>
            <a:prstDash val="solid"/>
          </a:ln>
        </p:spPr>
      </p:sp>
      <p:sp>
        <p:nvSpPr>
          <p:cNvPr id="17" name="Shape 15"/>
          <p:cNvSpPr/>
          <p:nvPr/>
        </p:nvSpPr>
        <p:spPr>
          <a:xfrm>
            <a:off x="896112" y="4005072"/>
            <a:ext cx="274320" cy="274320"/>
          </a:xfrm>
          <a:prstGeom prst="ellipse">
            <a:avLst/>
          </a:prstGeom>
          <a:solidFill>
            <a:srgbClr val="22C55E"/>
          </a:solidFill>
          <a:ln/>
        </p:spPr>
      </p:sp>
      <p:sp>
        <p:nvSpPr>
          <p:cNvPr id="18" name="Text 16"/>
          <p:cNvSpPr/>
          <p:nvPr/>
        </p:nvSpPr>
        <p:spPr>
          <a:xfrm>
            <a:off x="896112" y="4005072"/>
            <a:ext cx="274320" cy="274320"/>
          </a:xfrm>
          <a:prstGeom prst="rect">
            <a:avLst/>
          </a:prstGeom>
          <a:noFill/>
          <a:ln/>
        </p:spPr>
        <p:txBody>
          <a:bodyPr wrap="square" lIns="0" tIns="0" rIns="0" bIns="0" rtlCol="0" anchor="ctr"/>
          <a:lstStyle/>
          <a:p>
            <a:pPr algn="ctr" indent="0" marL="0">
              <a:buNone/>
            </a:pPr>
            <a:r>
              <a:rPr lang="en-US" sz="1100" b="1" dirty="0">
                <a:solidFill>
                  <a:srgbClr val="06140C"/>
                </a:solidFill>
                <a:latin typeface="Calibri" pitchFamily="34" charset="0"/>
                <a:ea typeface="Calibri" pitchFamily="34" charset="-122"/>
                <a:cs typeface="Calibri" pitchFamily="34" charset="-120"/>
              </a:rPr>
              <a:t>3</a:t>
            </a:r>
            <a:endParaRPr lang="en-US" sz="1100" dirty="0"/>
          </a:p>
        </p:txBody>
      </p:sp>
      <p:sp>
        <p:nvSpPr>
          <p:cNvPr id="19" name="Text 17"/>
          <p:cNvSpPr/>
          <p:nvPr/>
        </p:nvSpPr>
        <p:spPr>
          <a:xfrm>
            <a:off x="1280160" y="3959352"/>
            <a:ext cx="4480560" cy="292608"/>
          </a:xfrm>
          <a:prstGeom prst="rect">
            <a:avLst/>
          </a:prstGeom>
          <a:noFill/>
          <a:ln/>
        </p:spPr>
        <p:txBody>
          <a:bodyPr wrap="square" lIns="0" tIns="0" rIns="0" bIns="0" rtlCol="0" anchor="ctr"/>
          <a:lstStyle/>
          <a:p>
            <a:pPr indent="0" marL="0">
              <a:buNone/>
            </a:pPr>
            <a:r>
              <a:rPr lang="en-US" sz="1450" b="1" dirty="0">
                <a:solidFill>
                  <a:srgbClr val="F4F7F5"/>
                </a:solidFill>
                <a:latin typeface="Calibri" pitchFamily="34" charset="0"/>
                <a:ea typeface="Calibri" pitchFamily="34" charset="-122"/>
                <a:cs typeface="Calibri" pitchFamily="34" charset="-120"/>
              </a:rPr>
              <a:t>Goal-first saving is proven</a:t>
            </a:r>
            <a:endParaRPr lang="en-US" sz="1450" dirty="0"/>
          </a:p>
        </p:txBody>
      </p:sp>
      <p:sp>
        <p:nvSpPr>
          <p:cNvPr id="20" name="Text 18"/>
          <p:cNvSpPr/>
          <p:nvPr/>
        </p:nvSpPr>
        <p:spPr>
          <a:xfrm>
            <a:off x="1280160" y="4279392"/>
            <a:ext cx="4480560" cy="548640"/>
          </a:xfrm>
          <a:prstGeom prst="rect">
            <a:avLst/>
          </a:prstGeom>
          <a:noFill/>
          <a:ln/>
        </p:spPr>
        <p:txBody>
          <a:bodyPr wrap="square" lIns="0" tIns="0" rIns="0" bIns="0" rtlCol="0" anchor="t"/>
          <a:lstStyle/>
          <a:p>
            <a:pPr indent="0" marL="0">
              <a:lnSpc>
                <a:spcPct val="115000"/>
              </a:lnSpc>
              <a:buNone/>
            </a:pPr>
            <a:r>
              <a:rPr lang="en-US" sz="1150" dirty="0">
                <a:solidFill>
                  <a:srgbClr val="9BA8A0"/>
                </a:solidFill>
                <a:latin typeface="Calibri" pitchFamily="34" charset="0"/>
                <a:ea typeface="Calibri" pitchFamily="34" charset="-122"/>
                <a:cs typeface="Calibri" pitchFamily="34" charset="-120"/>
              </a:rPr>
              <a:t>Betterment built 1M+ customers on 'start with the goal'. We take the same premise and refuse to limit the answer to one asset class.</a:t>
            </a:r>
            <a:endParaRPr lang="en-US" sz="1150" dirty="0"/>
          </a:p>
        </p:txBody>
      </p:sp>
      <p:sp>
        <p:nvSpPr>
          <p:cNvPr id="21" name="Shape 19"/>
          <p:cNvSpPr/>
          <p:nvPr/>
        </p:nvSpPr>
        <p:spPr>
          <a:xfrm>
            <a:off x="6199632" y="3803904"/>
            <a:ext cx="5349240" cy="1097280"/>
          </a:xfrm>
          <a:prstGeom prst="roundRect">
            <a:avLst>
              <a:gd name="adj" fmla="val 10000"/>
            </a:avLst>
          </a:prstGeom>
          <a:solidFill>
            <a:srgbClr val="101613"/>
          </a:solidFill>
          <a:ln w="12700">
            <a:solidFill>
              <a:srgbClr val="1C2420"/>
            </a:solidFill>
            <a:prstDash val="solid"/>
          </a:ln>
        </p:spPr>
      </p:sp>
      <p:sp>
        <p:nvSpPr>
          <p:cNvPr id="22" name="Shape 20"/>
          <p:cNvSpPr/>
          <p:nvPr/>
        </p:nvSpPr>
        <p:spPr>
          <a:xfrm>
            <a:off x="6455664" y="4005072"/>
            <a:ext cx="274320" cy="274320"/>
          </a:xfrm>
          <a:prstGeom prst="ellipse">
            <a:avLst/>
          </a:prstGeom>
          <a:solidFill>
            <a:srgbClr val="22C55E"/>
          </a:solidFill>
          <a:ln/>
        </p:spPr>
      </p:sp>
      <p:sp>
        <p:nvSpPr>
          <p:cNvPr id="23" name="Text 21"/>
          <p:cNvSpPr/>
          <p:nvPr/>
        </p:nvSpPr>
        <p:spPr>
          <a:xfrm>
            <a:off x="6455664" y="4005072"/>
            <a:ext cx="274320" cy="274320"/>
          </a:xfrm>
          <a:prstGeom prst="rect">
            <a:avLst/>
          </a:prstGeom>
          <a:noFill/>
          <a:ln/>
        </p:spPr>
        <p:txBody>
          <a:bodyPr wrap="square" lIns="0" tIns="0" rIns="0" bIns="0" rtlCol="0" anchor="ctr"/>
          <a:lstStyle/>
          <a:p>
            <a:pPr algn="ctr" indent="0" marL="0">
              <a:buNone/>
            </a:pPr>
            <a:r>
              <a:rPr lang="en-US" sz="1100" b="1" dirty="0">
                <a:solidFill>
                  <a:srgbClr val="06140C"/>
                </a:solidFill>
                <a:latin typeface="Calibri" pitchFamily="34" charset="0"/>
                <a:ea typeface="Calibri" pitchFamily="34" charset="-122"/>
                <a:cs typeface="Calibri" pitchFamily="34" charset="-120"/>
              </a:rPr>
              <a:t>4</a:t>
            </a:r>
            <a:endParaRPr lang="en-US" sz="1100" dirty="0"/>
          </a:p>
        </p:txBody>
      </p:sp>
      <p:sp>
        <p:nvSpPr>
          <p:cNvPr id="24" name="Text 22"/>
          <p:cNvSpPr/>
          <p:nvPr/>
        </p:nvSpPr>
        <p:spPr>
          <a:xfrm>
            <a:off x="6839712" y="3959352"/>
            <a:ext cx="4480560" cy="292608"/>
          </a:xfrm>
          <a:prstGeom prst="rect">
            <a:avLst/>
          </a:prstGeom>
          <a:noFill/>
          <a:ln/>
        </p:spPr>
        <p:txBody>
          <a:bodyPr wrap="square" lIns="0" tIns="0" rIns="0" bIns="0" rtlCol="0" anchor="ctr"/>
          <a:lstStyle/>
          <a:p>
            <a:pPr indent="0" marL="0">
              <a:buNone/>
            </a:pPr>
            <a:r>
              <a:rPr lang="en-US" sz="1450" b="1" dirty="0">
                <a:solidFill>
                  <a:srgbClr val="F4F7F5"/>
                </a:solidFill>
                <a:latin typeface="Calibri" pitchFamily="34" charset="0"/>
                <a:ea typeface="Calibri" pitchFamily="34" charset="-122"/>
                <a:cs typeface="Calibri" pitchFamily="34" charset="-120"/>
              </a:rPr>
              <a:t>Prediction markets went legal</a:t>
            </a:r>
            <a:endParaRPr lang="en-US" sz="1450" dirty="0"/>
          </a:p>
        </p:txBody>
      </p:sp>
      <p:sp>
        <p:nvSpPr>
          <p:cNvPr id="25" name="Text 23"/>
          <p:cNvSpPr/>
          <p:nvPr/>
        </p:nvSpPr>
        <p:spPr>
          <a:xfrm>
            <a:off x="6839712" y="4279392"/>
            <a:ext cx="4480560" cy="548640"/>
          </a:xfrm>
          <a:prstGeom prst="rect">
            <a:avLst/>
          </a:prstGeom>
          <a:noFill/>
          <a:ln/>
        </p:spPr>
        <p:txBody>
          <a:bodyPr wrap="square" lIns="0" tIns="0" rIns="0" bIns="0" rtlCol="0" anchor="t"/>
          <a:lstStyle/>
          <a:p>
            <a:pPr indent="0" marL="0">
              <a:lnSpc>
                <a:spcPct val="115000"/>
              </a:lnSpc>
              <a:buNone/>
            </a:pPr>
            <a:r>
              <a:rPr lang="en-US" sz="1150" dirty="0">
                <a:solidFill>
                  <a:srgbClr val="9BA8A0"/>
                </a:solidFill>
                <a:latin typeface="Calibri" pitchFamily="34" charset="0"/>
                <a:ea typeface="Calibri" pitchFamily="34" charset="-122"/>
                <a:cs typeface="Calibri" pitchFamily="34" charset="-120"/>
              </a:rPr>
              <a:t>A genuinely new, live-priced asset class that no incumbent personal-finance app covers — and the one that gets people in the door.</a:t>
            </a:r>
            <a:endParaRPr lang="en-US" sz="1150" dirty="0"/>
          </a:p>
        </p:txBody>
      </p:sp>
      <p:sp>
        <p:nvSpPr>
          <p:cNvPr id="26" name="Shape 24"/>
          <p:cNvSpPr/>
          <p:nvPr/>
        </p:nvSpPr>
        <p:spPr>
          <a:xfrm>
            <a:off x="640080" y="5084064"/>
            <a:ext cx="10908792" cy="1024128"/>
          </a:xfrm>
          <a:prstGeom prst="roundRect">
            <a:avLst>
              <a:gd name="adj" fmla="val 10714"/>
            </a:avLst>
          </a:prstGeom>
          <a:solidFill>
            <a:srgbClr val="161D19"/>
          </a:solidFill>
          <a:ln w="12700">
            <a:solidFill>
              <a:srgbClr val="2A352F"/>
            </a:solidFill>
            <a:prstDash val="solid"/>
          </a:ln>
        </p:spPr>
      </p:sp>
      <p:sp>
        <p:nvSpPr>
          <p:cNvPr id="27" name="Text 25"/>
          <p:cNvSpPr/>
          <p:nvPr/>
        </p:nvSpPr>
        <p:spPr>
          <a:xfrm>
            <a:off x="896112" y="5193792"/>
            <a:ext cx="4572000" cy="219456"/>
          </a:xfrm>
          <a:prstGeom prst="rect">
            <a:avLst/>
          </a:prstGeom>
          <a:noFill/>
          <a:ln/>
        </p:spPr>
        <p:txBody>
          <a:bodyPr wrap="square" lIns="0" tIns="0" rIns="0" bIns="0" rtlCol="0" anchor="ctr"/>
          <a:lstStyle/>
          <a:p>
            <a:pPr indent="0" marL="0">
              <a:buNone/>
            </a:pPr>
            <a:r>
              <a:rPr lang="en-US" sz="900" b="1" spc="130" kern="0" dirty="0">
                <a:solidFill>
                  <a:srgbClr val="22C55E"/>
                </a:solidFill>
                <a:latin typeface="Calibri" pitchFamily="34" charset="0"/>
                <a:ea typeface="Calibri" pitchFamily="34" charset="-122"/>
                <a:cs typeface="Calibri" pitchFamily="34" charset="-120"/>
              </a:rPr>
              <a:t>HOW BIG THIS GETS, BOTTOM-UP</a:t>
            </a:r>
            <a:endParaRPr lang="en-US" sz="900" dirty="0"/>
          </a:p>
        </p:txBody>
      </p:sp>
      <p:sp>
        <p:nvSpPr>
          <p:cNvPr id="28" name="Text 26"/>
          <p:cNvSpPr/>
          <p:nvPr/>
        </p:nvSpPr>
        <p:spPr>
          <a:xfrm>
            <a:off x="896112" y="5431536"/>
            <a:ext cx="2468880" cy="310896"/>
          </a:xfrm>
          <a:prstGeom prst="rect">
            <a:avLst/>
          </a:prstGeom>
          <a:noFill/>
          <a:ln/>
        </p:spPr>
        <p:txBody>
          <a:bodyPr wrap="square" lIns="0" tIns="0" rIns="0" bIns="0" rtlCol="0" anchor="ctr"/>
          <a:lstStyle/>
          <a:p>
            <a:pPr indent="0" marL="0">
              <a:buNone/>
            </a:pPr>
            <a:r>
              <a:rPr lang="en-US" sz="2000" b="1" spc="-50" kern="0" dirty="0">
                <a:solidFill>
                  <a:srgbClr val="F4F7F5"/>
                </a:solidFill>
                <a:latin typeface="Calibri" pitchFamily="34" charset="0"/>
                <a:ea typeface="Calibri" pitchFamily="34" charset="-122"/>
                <a:cs typeface="Calibri" pitchFamily="34" charset="-120"/>
              </a:rPr>
              <a:t>10,000</a:t>
            </a:r>
            <a:endParaRPr lang="en-US" sz="2000" dirty="0"/>
          </a:p>
        </p:txBody>
      </p:sp>
      <p:sp>
        <p:nvSpPr>
          <p:cNvPr id="29" name="Text 27"/>
          <p:cNvSpPr/>
          <p:nvPr/>
        </p:nvSpPr>
        <p:spPr>
          <a:xfrm>
            <a:off x="896112" y="5705856"/>
            <a:ext cx="2468880" cy="182880"/>
          </a:xfrm>
          <a:prstGeom prst="rect">
            <a:avLst/>
          </a:prstGeom>
          <a:noFill/>
          <a:ln/>
        </p:spPr>
        <p:txBody>
          <a:bodyPr wrap="square" lIns="0" tIns="0" rIns="0" bIns="0" rtlCol="0" anchor="ctr"/>
          <a:lstStyle/>
          <a:p>
            <a:pPr indent="0" marL="0">
              <a:buNone/>
            </a:pPr>
            <a:r>
              <a:rPr lang="en-US" sz="950" dirty="0">
                <a:solidFill>
                  <a:srgbClr val="67726B"/>
                </a:solidFill>
                <a:latin typeface="Calibri" pitchFamily="34" charset="0"/>
                <a:ea typeface="Calibri" pitchFamily="34" charset="-122"/>
                <a:cs typeface="Calibri" pitchFamily="34" charset="-120"/>
              </a:rPr>
              <a:t>subscribers</a:t>
            </a:r>
            <a:endParaRPr lang="en-US" sz="950" dirty="0"/>
          </a:p>
        </p:txBody>
      </p:sp>
      <p:sp>
        <p:nvSpPr>
          <p:cNvPr id="30" name="Text 28"/>
          <p:cNvSpPr/>
          <p:nvPr/>
        </p:nvSpPr>
        <p:spPr>
          <a:xfrm>
            <a:off x="896112" y="5870448"/>
            <a:ext cx="2468880" cy="201168"/>
          </a:xfrm>
          <a:prstGeom prst="rect">
            <a:avLst/>
          </a:prstGeom>
          <a:noFill/>
          <a:ln/>
        </p:spPr>
        <p:txBody>
          <a:bodyPr wrap="square" lIns="0" tIns="0" rIns="0" bIns="0" rtlCol="0" anchor="ctr"/>
          <a:lstStyle/>
          <a:p>
            <a:pPr indent="0" marL="0">
              <a:buNone/>
            </a:pPr>
            <a:r>
              <a:rPr lang="en-US" sz="1150" b="1" dirty="0">
                <a:solidFill>
                  <a:srgbClr val="22C55E"/>
                </a:solidFill>
                <a:latin typeface="Calibri" pitchFamily="34" charset="0"/>
                <a:ea typeface="Calibri" pitchFamily="34" charset="-122"/>
                <a:cs typeface="Calibri" pitchFamily="34" charset="-120"/>
              </a:rPr>
              <a:t>$1.2M ARR</a:t>
            </a:r>
            <a:endParaRPr lang="en-US" sz="1150" dirty="0"/>
          </a:p>
        </p:txBody>
      </p:sp>
      <p:sp>
        <p:nvSpPr>
          <p:cNvPr id="31" name="Text 29"/>
          <p:cNvSpPr/>
          <p:nvPr/>
        </p:nvSpPr>
        <p:spPr>
          <a:xfrm>
            <a:off x="3566160" y="5431536"/>
            <a:ext cx="2468880" cy="310896"/>
          </a:xfrm>
          <a:prstGeom prst="rect">
            <a:avLst/>
          </a:prstGeom>
          <a:noFill/>
          <a:ln/>
        </p:spPr>
        <p:txBody>
          <a:bodyPr wrap="square" lIns="0" tIns="0" rIns="0" bIns="0" rtlCol="0" anchor="ctr"/>
          <a:lstStyle/>
          <a:p>
            <a:pPr indent="0" marL="0">
              <a:buNone/>
            </a:pPr>
            <a:r>
              <a:rPr lang="en-US" sz="2000" b="1" spc="-50" kern="0" dirty="0">
                <a:solidFill>
                  <a:srgbClr val="F4F7F5"/>
                </a:solidFill>
                <a:latin typeface="Calibri" pitchFamily="34" charset="0"/>
                <a:ea typeface="Calibri" pitchFamily="34" charset="-122"/>
                <a:cs typeface="Calibri" pitchFamily="34" charset="-120"/>
              </a:rPr>
              <a:t>100,000</a:t>
            </a:r>
            <a:endParaRPr lang="en-US" sz="2000" dirty="0"/>
          </a:p>
        </p:txBody>
      </p:sp>
      <p:sp>
        <p:nvSpPr>
          <p:cNvPr id="32" name="Text 30"/>
          <p:cNvSpPr/>
          <p:nvPr/>
        </p:nvSpPr>
        <p:spPr>
          <a:xfrm>
            <a:off x="3566160" y="5705856"/>
            <a:ext cx="2468880" cy="182880"/>
          </a:xfrm>
          <a:prstGeom prst="rect">
            <a:avLst/>
          </a:prstGeom>
          <a:noFill/>
          <a:ln/>
        </p:spPr>
        <p:txBody>
          <a:bodyPr wrap="square" lIns="0" tIns="0" rIns="0" bIns="0" rtlCol="0" anchor="ctr"/>
          <a:lstStyle/>
          <a:p>
            <a:pPr indent="0" marL="0">
              <a:buNone/>
            </a:pPr>
            <a:r>
              <a:rPr lang="en-US" sz="950" dirty="0">
                <a:solidFill>
                  <a:srgbClr val="67726B"/>
                </a:solidFill>
                <a:latin typeface="Calibri" pitchFamily="34" charset="0"/>
                <a:ea typeface="Calibri" pitchFamily="34" charset="-122"/>
                <a:cs typeface="Calibri" pitchFamily="34" charset="-120"/>
              </a:rPr>
              <a:t>subscribers</a:t>
            </a:r>
            <a:endParaRPr lang="en-US" sz="950" dirty="0"/>
          </a:p>
        </p:txBody>
      </p:sp>
      <p:sp>
        <p:nvSpPr>
          <p:cNvPr id="33" name="Text 31"/>
          <p:cNvSpPr/>
          <p:nvPr/>
        </p:nvSpPr>
        <p:spPr>
          <a:xfrm>
            <a:off x="3566160" y="5870448"/>
            <a:ext cx="2468880" cy="201168"/>
          </a:xfrm>
          <a:prstGeom prst="rect">
            <a:avLst/>
          </a:prstGeom>
          <a:noFill/>
          <a:ln/>
        </p:spPr>
        <p:txBody>
          <a:bodyPr wrap="square" lIns="0" tIns="0" rIns="0" bIns="0" rtlCol="0" anchor="ctr"/>
          <a:lstStyle/>
          <a:p>
            <a:pPr indent="0" marL="0">
              <a:buNone/>
            </a:pPr>
            <a:r>
              <a:rPr lang="en-US" sz="1150" b="1" dirty="0">
                <a:solidFill>
                  <a:srgbClr val="22C55E"/>
                </a:solidFill>
                <a:latin typeface="Calibri" pitchFamily="34" charset="0"/>
                <a:ea typeface="Calibri" pitchFamily="34" charset="-122"/>
                <a:cs typeface="Calibri" pitchFamily="34" charset="-120"/>
              </a:rPr>
              <a:t>$12M ARR</a:t>
            </a:r>
            <a:endParaRPr lang="en-US" sz="1150" dirty="0"/>
          </a:p>
        </p:txBody>
      </p:sp>
      <p:sp>
        <p:nvSpPr>
          <p:cNvPr id="34" name="Text 32"/>
          <p:cNvSpPr/>
          <p:nvPr/>
        </p:nvSpPr>
        <p:spPr>
          <a:xfrm>
            <a:off x="6236208" y="5431536"/>
            <a:ext cx="2468880" cy="310896"/>
          </a:xfrm>
          <a:prstGeom prst="rect">
            <a:avLst/>
          </a:prstGeom>
          <a:noFill/>
          <a:ln/>
        </p:spPr>
        <p:txBody>
          <a:bodyPr wrap="square" lIns="0" tIns="0" rIns="0" bIns="0" rtlCol="0" anchor="ctr"/>
          <a:lstStyle/>
          <a:p>
            <a:pPr indent="0" marL="0">
              <a:buNone/>
            </a:pPr>
            <a:r>
              <a:rPr lang="en-US" sz="2000" b="1" spc="-50" kern="0" dirty="0">
                <a:solidFill>
                  <a:srgbClr val="F4F7F5"/>
                </a:solidFill>
                <a:latin typeface="Calibri" pitchFamily="34" charset="0"/>
                <a:ea typeface="Calibri" pitchFamily="34" charset="-122"/>
                <a:cs typeface="Calibri" pitchFamily="34" charset="-120"/>
              </a:rPr>
              <a:t>500,000</a:t>
            </a:r>
            <a:endParaRPr lang="en-US" sz="2000" dirty="0"/>
          </a:p>
        </p:txBody>
      </p:sp>
      <p:sp>
        <p:nvSpPr>
          <p:cNvPr id="35" name="Text 33"/>
          <p:cNvSpPr/>
          <p:nvPr/>
        </p:nvSpPr>
        <p:spPr>
          <a:xfrm>
            <a:off x="6236208" y="5705856"/>
            <a:ext cx="2468880" cy="182880"/>
          </a:xfrm>
          <a:prstGeom prst="rect">
            <a:avLst/>
          </a:prstGeom>
          <a:noFill/>
          <a:ln/>
        </p:spPr>
        <p:txBody>
          <a:bodyPr wrap="square" lIns="0" tIns="0" rIns="0" bIns="0" rtlCol="0" anchor="ctr"/>
          <a:lstStyle/>
          <a:p>
            <a:pPr indent="0" marL="0">
              <a:buNone/>
            </a:pPr>
            <a:r>
              <a:rPr lang="en-US" sz="950" dirty="0">
                <a:solidFill>
                  <a:srgbClr val="67726B"/>
                </a:solidFill>
                <a:latin typeface="Calibri" pitchFamily="34" charset="0"/>
                <a:ea typeface="Calibri" pitchFamily="34" charset="-122"/>
                <a:cs typeface="Calibri" pitchFamily="34" charset="-120"/>
              </a:rPr>
              <a:t>subscribers</a:t>
            </a:r>
            <a:endParaRPr lang="en-US" sz="950" dirty="0"/>
          </a:p>
        </p:txBody>
      </p:sp>
      <p:sp>
        <p:nvSpPr>
          <p:cNvPr id="36" name="Text 34"/>
          <p:cNvSpPr/>
          <p:nvPr/>
        </p:nvSpPr>
        <p:spPr>
          <a:xfrm>
            <a:off x="6236208" y="5870448"/>
            <a:ext cx="2468880" cy="201168"/>
          </a:xfrm>
          <a:prstGeom prst="rect">
            <a:avLst/>
          </a:prstGeom>
          <a:noFill/>
          <a:ln/>
        </p:spPr>
        <p:txBody>
          <a:bodyPr wrap="square" lIns="0" tIns="0" rIns="0" bIns="0" rtlCol="0" anchor="ctr"/>
          <a:lstStyle/>
          <a:p>
            <a:pPr indent="0" marL="0">
              <a:buNone/>
            </a:pPr>
            <a:r>
              <a:rPr lang="en-US" sz="1150" b="1" dirty="0">
                <a:solidFill>
                  <a:srgbClr val="22C55E"/>
                </a:solidFill>
                <a:latin typeface="Calibri" pitchFamily="34" charset="0"/>
                <a:ea typeface="Calibri" pitchFamily="34" charset="-122"/>
                <a:cs typeface="Calibri" pitchFamily="34" charset="-120"/>
              </a:rPr>
              <a:t>$60M ARR</a:t>
            </a:r>
            <a:endParaRPr lang="en-US" sz="1150" dirty="0"/>
          </a:p>
        </p:txBody>
      </p:sp>
      <p:sp>
        <p:nvSpPr>
          <p:cNvPr id="37" name="Text 35"/>
          <p:cNvSpPr/>
          <p:nvPr/>
        </p:nvSpPr>
        <p:spPr>
          <a:xfrm>
            <a:off x="8906256" y="5431536"/>
            <a:ext cx="2468880" cy="310896"/>
          </a:xfrm>
          <a:prstGeom prst="rect">
            <a:avLst/>
          </a:prstGeom>
          <a:noFill/>
          <a:ln/>
        </p:spPr>
        <p:txBody>
          <a:bodyPr wrap="square" lIns="0" tIns="0" rIns="0" bIns="0" rtlCol="0" anchor="ctr"/>
          <a:lstStyle/>
          <a:p>
            <a:pPr indent="0" marL="0">
              <a:buNone/>
            </a:pPr>
            <a:r>
              <a:rPr lang="en-US" sz="2000" b="1" spc="-50" kern="0" dirty="0">
                <a:solidFill>
                  <a:srgbClr val="F4F7F5"/>
                </a:solidFill>
                <a:latin typeface="Calibri" pitchFamily="34" charset="0"/>
                <a:ea typeface="Calibri" pitchFamily="34" charset="-122"/>
                <a:cs typeface="Calibri" pitchFamily="34" charset="-120"/>
              </a:rPr>
              <a:t>1%</a:t>
            </a:r>
            <a:endParaRPr lang="en-US" sz="2000" dirty="0"/>
          </a:p>
        </p:txBody>
      </p:sp>
      <p:sp>
        <p:nvSpPr>
          <p:cNvPr id="38" name="Text 36"/>
          <p:cNvSpPr/>
          <p:nvPr/>
        </p:nvSpPr>
        <p:spPr>
          <a:xfrm>
            <a:off x="8906256" y="5705856"/>
            <a:ext cx="2468880" cy="182880"/>
          </a:xfrm>
          <a:prstGeom prst="rect">
            <a:avLst/>
          </a:prstGeom>
          <a:noFill/>
          <a:ln/>
        </p:spPr>
        <p:txBody>
          <a:bodyPr wrap="square" lIns="0" tIns="0" rIns="0" bIns="0" rtlCol="0" anchor="ctr"/>
          <a:lstStyle/>
          <a:p>
            <a:pPr indent="0" marL="0">
              <a:buNone/>
            </a:pPr>
            <a:r>
              <a:rPr lang="en-US" sz="950" dirty="0">
                <a:solidFill>
                  <a:srgbClr val="67726B"/>
                </a:solidFill>
                <a:latin typeface="Calibri" pitchFamily="34" charset="0"/>
                <a:ea typeface="Calibri" pitchFamily="34" charset="-122"/>
                <a:cs typeface="Calibri" pitchFamily="34" charset="-120"/>
              </a:rPr>
              <a:t>of one competitor's base</a:t>
            </a:r>
            <a:endParaRPr lang="en-US" sz="950" dirty="0"/>
          </a:p>
        </p:txBody>
      </p:sp>
      <p:sp>
        <p:nvSpPr>
          <p:cNvPr id="39" name="Text 37"/>
          <p:cNvSpPr/>
          <p:nvPr/>
        </p:nvSpPr>
        <p:spPr>
          <a:xfrm>
            <a:off x="8906256" y="5870448"/>
            <a:ext cx="2468880" cy="201168"/>
          </a:xfrm>
          <a:prstGeom prst="rect">
            <a:avLst/>
          </a:prstGeom>
          <a:noFill/>
          <a:ln/>
        </p:spPr>
        <p:txBody>
          <a:bodyPr wrap="square" lIns="0" tIns="0" rIns="0" bIns="0" rtlCol="0" anchor="ctr"/>
          <a:lstStyle/>
          <a:p>
            <a:pPr indent="0" marL="0">
              <a:buNone/>
            </a:pPr>
            <a:r>
              <a:rPr lang="en-US" sz="1150" b="1" dirty="0">
                <a:solidFill>
                  <a:srgbClr val="22C55E"/>
                </a:solidFill>
                <a:latin typeface="Calibri" pitchFamily="34" charset="0"/>
                <a:ea typeface="Calibri" pitchFamily="34" charset="-122"/>
                <a:cs typeface="Calibri" pitchFamily="34" charset="-120"/>
              </a:rPr>
              <a:t>gets us to 100,000</a:t>
            </a:r>
            <a:endParaRPr lang="en-US" sz="1150" dirty="0"/>
          </a:p>
        </p:txBody>
      </p:sp>
      <p:sp>
        <p:nvSpPr>
          <p:cNvPr id="40" name="Text 38"/>
          <p:cNvSpPr/>
          <p:nvPr/>
        </p:nvSpPr>
        <p:spPr>
          <a:xfrm>
            <a:off x="640080" y="6199632"/>
            <a:ext cx="10881360" cy="256032"/>
          </a:xfrm>
          <a:prstGeom prst="rect">
            <a:avLst/>
          </a:prstGeom>
          <a:noFill/>
          <a:ln/>
        </p:spPr>
        <p:txBody>
          <a:bodyPr wrap="square" lIns="0" tIns="0" rIns="0" bIns="0" rtlCol="0" anchor="ctr"/>
          <a:lstStyle/>
          <a:p>
            <a:pPr indent="0" marL="0">
              <a:buNone/>
            </a:pPr>
            <a:r>
              <a:rPr lang="en-US" sz="950" dirty="0">
                <a:solidFill>
                  <a:srgbClr val="67726B"/>
                </a:solidFill>
                <a:latin typeface="Calibri" pitchFamily="34" charset="0"/>
                <a:ea typeface="Calibri" pitchFamily="34" charset="-122"/>
                <a:cs typeface="Calibri" pitchFamily="34" charset="-120"/>
              </a:rPr>
              <a:t>Illustrative arithmetic at the shipped $9.99/month price, before churn, discounts and processing. Third-party member counts are the companies' own published figures.</a:t>
            </a:r>
            <a:endParaRPr lang="en-US" sz="950" dirty="0"/>
          </a:p>
        </p:txBody>
      </p:sp>
      <p:sp>
        <p:nvSpPr>
          <p:cNvPr id="42" name="Text 39"/>
          <p:cNvSpPr/>
          <p:nvPr/>
        </p:nvSpPr>
        <p:spPr>
          <a:xfrm>
            <a:off x="9692640" y="6528816"/>
            <a:ext cx="1188720" cy="237744"/>
          </a:xfrm>
          <a:prstGeom prst="rect">
            <a:avLst/>
          </a:prstGeom>
          <a:noFill/>
          <a:ln/>
        </p:spPr>
        <p:txBody>
          <a:bodyPr wrap="square" lIns="0" tIns="0" rIns="0" bIns="0" rtlCol="0" anchor="ctr"/>
          <a:lstStyle/>
          <a:p>
            <a:pPr algn="r" indent="0" marL="0">
              <a:buNone/>
            </a:pPr>
            <a:r>
              <a:rPr lang="en-US" sz="850" b="1" spc="140" kern="0" dirty="0">
                <a:solidFill>
                  <a:srgbClr val="67726B"/>
                </a:solidFill>
                <a:latin typeface="Calibri" pitchFamily="34" charset="0"/>
                <a:ea typeface="Calibri" pitchFamily="34" charset="-122"/>
                <a:cs typeface="Calibri" pitchFamily="34" charset="-120"/>
              </a:rPr>
              <a:t>POLYPROFIT</a:t>
            </a:r>
            <a:endParaRPr lang="en-US" sz="850" dirty="0"/>
          </a:p>
        </p:txBody>
      </p:sp>
      <p:sp>
        <p:nvSpPr>
          <p:cNvPr id="43" name="Text 40"/>
          <p:cNvSpPr/>
          <p:nvPr/>
        </p:nvSpPr>
        <p:spPr>
          <a:xfrm>
            <a:off x="11018520" y="6528816"/>
            <a:ext cx="530352" cy="237744"/>
          </a:xfrm>
          <a:prstGeom prst="rect">
            <a:avLst/>
          </a:prstGeom>
          <a:noFill/>
          <a:ln/>
        </p:spPr>
        <p:txBody>
          <a:bodyPr wrap="square" lIns="0" tIns="0" rIns="0" bIns="0" rtlCol="0" anchor="ctr"/>
          <a:lstStyle/>
          <a:p>
            <a:pPr algn="r" indent="0" marL="0">
              <a:buNone/>
            </a:pPr>
            <a:r>
              <a:rPr lang="en-US" sz="850" b="1" dirty="0">
                <a:solidFill>
                  <a:srgbClr val="22C55E"/>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B09"/>
        </a:solidFill>
      </p:bgPr>
    </p:bg>
    <p:spTree>
      <p:nvGrpSpPr>
        <p:cNvPr id="1" name=""/>
        <p:cNvGrpSpPr/>
        <p:nvPr/>
      </p:nvGrpSpPr>
      <p:grpSpPr>
        <a:xfrm>
          <a:off x="0" y="0"/>
          <a:ext cx="0" cy="0"/>
          <a:chOff x="0" y="0"/>
          <a:chExt cx="0" cy="0"/>
        </a:xfrm>
      </p:grpSpPr>
      <p:sp>
        <p:nvSpPr>
          <p:cNvPr id="2" name="Shape 0"/>
          <p:cNvSpPr/>
          <p:nvPr/>
        </p:nvSpPr>
        <p:spPr>
          <a:xfrm>
            <a:off x="8229600" y="-1828800"/>
            <a:ext cx="5852160" cy="5852160"/>
          </a:xfrm>
          <a:prstGeom prst="ellipse">
            <a:avLst/>
          </a:prstGeom>
          <a:solidFill>
            <a:srgbClr val="22C55E">
              <a:alpha val="6000"/>
            </a:srgbClr>
          </a:solidFill>
          <a:ln/>
        </p:spPr>
      </p:sp>
      <p:sp>
        <p:nvSpPr>
          <p:cNvPr id="3" name="Text 1"/>
          <p:cNvSpPr/>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22C55E"/>
                </a:solidFill>
                <a:latin typeface="Calibri" pitchFamily="34" charset="0"/>
                <a:ea typeface="Calibri" pitchFamily="34" charset="-122"/>
                <a:cs typeface="Calibri" pitchFamily="34" charset="-120"/>
              </a:rPr>
              <a:t>11  ·  COMPETITION</a:t>
            </a:r>
            <a:endParaRPr lang="en-US" sz="1100" dirty="0"/>
          </a:p>
        </p:txBody>
      </p:sp>
      <p:sp>
        <p:nvSpPr>
          <p:cNvPr id="4" name="Text 2"/>
          <p:cNvSpPr/>
          <p:nvPr/>
        </p:nvSpPr>
        <p:spPr>
          <a:xfrm>
            <a:off x="640080" y="777240"/>
            <a:ext cx="10881360" cy="685800"/>
          </a:xfrm>
          <a:prstGeom prst="rect">
            <a:avLst/>
          </a:prstGeom>
          <a:noFill/>
          <a:ln/>
        </p:spPr>
        <p:txBody>
          <a:bodyPr wrap="square" lIns="0" tIns="0" rIns="0" bIns="0" rtlCol="0" anchor="t"/>
          <a:lstStyle/>
          <a:p>
            <a:pPr indent="0" marL="0">
              <a:lnSpc>
                <a:spcPct val="105000"/>
              </a:lnSpc>
              <a:buNone/>
            </a:pPr>
            <a:r>
              <a:rPr lang="en-US" sz="3300" b="1" dirty="0">
                <a:solidFill>
                  <a:srgbClr val="F4F7F5"/>
                </a:solidFill>
                <a:latin typeface="Calibri" pitchFamily="34" charset="0"/>
                <a:ea typeface="Calibri" pitchFamily="34" charset="-122"/>
                <a:cs typeface="Calibri" pitchFamily="34" charset="-120"/>
              </a:rPr>
              <a:t>Everyone else optimises a product.</a:t>
            </a:r>
            <a:endParaRPr lang="en-US" sz="3300" dirty="0"/>
          </a:p>
          <a:p>
            <a:pPr indent="0" marL="0">
              <a:lnSpc>
                <a:spcPct val="105000"/>
              </a:lnSpc>
              <a:buNone/>
            </a:pPr>
            <a:r>
              <a:rPr lang="en-US" sz="3300" b="1" dirty="0">
                <a:solidFill>
                  <a:srgbClr val="F4F7F5"/>
                </a:solidFill>
                <a:latin typeface="Calibri" pitchFamily="34" charset="0"/>
                <a:ea typeface="Calibri" pitchFamily="34" charset="-122"/>
                <a:cs typeface="Calibri" pitchFamily="34" charset="-120"/>
              </a:rPr>
              <a:t>We optimise the goal.</a:t>
            </a:r>
            <a:endParaRPr lang="en-US" sz="3300" dirty="0"/>
          </a:p>
        </p:txBody>
      </p:sp>
      <p:sp>
        <p:nvSpPr>
          <p:cNvPr id="5" name="Text 3"/>
          <p:cNvSpPr/>
          <p:nvPr/>
        </p:nvSpPr>
        <p:spPr>
          <a:xfrm>
            <a:off x="640080" y="1956816"/>
            <a:ext cx="10424160" cy="384048"/>
          </a:xfrm>
          <a:prstGeom prst="rect">
            <a:avLst/>
          </a:prstGeom>
          <a:noFill/>
          <a:ln/>
        </p:spPr>
        <p:txBody>
          <a:bodyPr wrap="square" lIns="0" tIns="0" rIns="0" bIns="0" rtlCol="0" anchor="t"/>
          <a:lstStyle/>
          <a:p>
            <a:pPr indent="0" marL="0">
              <a:lnSpc>
                <a:spcPct val="115000"/>
              </a:lnSpc>
              <a:buNone/>
            </a:pPr>
            <a:r>
              <a:rPr lang="en-US" sz="1350" dirty="0">
                <a:solidFill>
                  <a:srgbClr val="9BA8A0"/>
                </a:solidFill>
                <a:latin typeface="Calibri" pitchFamily="34" charset="0"/>
                <a:ea typeface="Calibri" pitchFamily="34" charset="-122"/>
                <a:cs typeface="Calibri" pitchFamily="34" charset="-120"/>
              </a:rPr>
              <a:t>Each of these is genuinely good at one column of the answer. Not one of them ranks its column against the others — because doing so would mean recommending a competitor.</a:t>
            </a:r>
            <a:endParaRPr lang="en-US" sz="1350" dirty="0"/>
          </a:p>
        </p:txBody>
      </p:sp>
      <p:sp>
        <p:nvSpPr>
          <p:cNvPr id="6" name="Shape 4"/>
          <p:cNvSpPr/>
          <p:nvPr/>
        </p:nvSpPr>
        <p:spPr>
          <a:xfrm>
            <a:off x="640080" y="2615184"/>
            <a:ext cx="3502152" cy="1078992"/>
          </a:xfrm>
          <a:prstGeom prst="roundRect">
            <a:avLst>
              <a:gd name="adj" fmla="val 10169"/>
            </a:avLst>
          </a:prstGeom>
          <a:solidFill>
            <a:srgbClr val="101613"/>
          </a:solidFill>
          <a:ln w="12700">
            <a:solidFill>
              <a:srgbClr val="1C2420"/>
            </a:solidFill>
            <a:prstDash val="solid"/>
          </a:ln>
        </p:spPr>
      </p:sp>
      <p:sp>
        <p:nvSpPr>
          <p:cNvPr id="7" name="Text 5"/>
          <p:cNvSpPr/>
          <p:nvPr/>
        </p:nvSpPr>
        <p:spPr>
          <a:xfrm>
            <a:off x="877824" y="2724912"/>
            <a:ext cx="3017520" cy="256032"/>
          </a:xfrm>
          <a:prstGeom prst="rect">
            <a:avLst/>
          </a:prstGeom>
          <a:noFill/>
          <a:ln/>
        </p:spPr>
        <p:txBody>
          <a:bodyPr wrap="square" lIns="0" tIns="0" rIns="0" bIns="0" rtlCol="0" anchor="ctr"/>
          <a:lstStyle/>
          <a:p>
            <a:pPr indent="0" marL="0">
              <a:buNone/>
            </a:pPr>
            <a:r>
              <a:rPr lang="en-US" sz="1300" b="1" dirty="0">
                <a:solidFill>
                  <a:srgbClr val="F4F7F5"/>
                </a:solidFill>
                <a:latin typeface="Calibri" pitchFamily="34" charset="0"/>
                <a:ea typeface="Calibri" pitchFamily="34" charset="-122"/>
                <a:cs typeface="Calibri" pitchFamily="34" charset="-120"/>
              </a:rPr>
              <a:t>Rocket Money · Monarch</a:t>
            </a:r>
            <a:endParaRPr lang="en-US" sz="1300" dirty="0"/>
          </a:p>
        </p:txBody>
      </p:sp>
      <p:sp>
        <p:nvSpPr>
          <p:cNvPr id="8" name="Text 6"/>
          <p:cNvSpPr/>
          <p:nvPr/>
        </p:nvSpPr>
        <p:spPr>
          <a:xfrm>
            <a:off x="877824" y="2999232"/>
            <a:ext cx="3063240" cy="274320"/>
          </a:xfrm>
          <a:prstGeom prst="rect">
            <a:avLst/>
          </a:prstGeom>
          <a:noFill/>
          <a:ln/>
        </p:spPr>
        <p:txBody>
          <a:bodyPr wrap="square" lIns="0" tIns="0" rIns="0" bIns="0" rtlCol="0" anchor="ctr"/>
          <a:lstStyle/>
          <a:p>
            <a:pPr indent="0" marL="0">
              <a:buNone/>
            </a:pPr>
            <a:r>
              <a:rPr lang="en-US" sz="1050" b="1" dirty="0">
                <a:solidFill>
                  <a:srgbClr val="67726B"/>
                </a:solidFill>
                <a:latin typeface="Calibri" pitchFamily="34" charset="0"/>
                <a:ea typeface="Calibri" pitchFamily="34" charset="-122"/>
                <a:cs typeface="Calibri" pitchFamily="34" charset="-120"/>
              </a:rPr>
              <a:t>Great at  </a:t>
            </a:r>
            <a:pPr indent="0" marL="0">
              <a:buNone/>
            </a:pPr>
            <a:r>
              <a:rPr lang="en-US" sz="1050" dirty="0">
                <a:solidFill>
                  <a:srgbClr val="9BA8A0"/>
                </a:solidFill>
                <a:latin typeface="Calibri" pitchFamily="34" charset="0"/>
                <a:ea typeface="Calibri" pitchFamily="34" charset="-122"/>
                <a:cs typeface="Calibri" pitchFamily="34" charset="-120"/>
              </a:rPr>
              <a:t>Finding what leaves your account</a:t>
            </a:r>
            <a:endParaRPr lang="en-US" sz="1050" dirty="0"/>
          </a:p>
        </p:txBody>
      </p:sp>
      <p:sp>
        <p:nvSpPr>
          <p:cNvPr id="9" name="Text 7"/>
          <p:cNvSpPr/>
          <p:nvPr/>
        </p:nvSpPr>
        <p:spPr>
          <a:xfrm>
            <a:off x="877824" y="3273552"/>
            <a:ext cx="3063240" cy="310896"/>
          </a:xfrm>
          <a:prstGeom prst="rect">
            <a:avLst/>
          </a:prstGeom>
          <a:noFill/>
          <a:ln/>
        </p:spPr>
        <p:txBody>
          <a:bodyPr wrap="square" lIns="0" tIns="0" rIns="0" bIns="0" rtlCol="0" anchor="t"/>
          <a:lstStyle/>
          <a:p>
            <a:pPr indent="0" marL="0">
              <a:lnSpc>
                <a:spcPct val="110000"/>
              </a:lnSpc>
              <a:buNone/>
            </a:pPr>
            <a:r>
              <a:rPr lang="en-US" sz="1050" b="1" dirty="0">
                <a:solidFill>
                  <a:srgbClr val="F5B43C"/>
                </a:solidFill>
                <a:latin typeface="Calibri" pitchFamily="34" charset="0"/>
                <a:ea typeface="Calibri" pitchFamily="34" charset="-122"/>
                <a:cs typeface="Calibri" pitchFamily="34" charset="-120"/>
              </a:rPr>
              <a:t>Can't  </a:t>
            </a:r>
            <a:pPr indent="0" marL="0">
              <a:lnSpc>
                <a:spcPct val="110000"/>
              </a:lnSpc>
              <a:buNone/>
            </a:pPr>
            <a:r>
              <a:rPr lang="en-US" sz="1050" dirty="0">
                <a:solidFill>
                  <a:srgbClr val="F4F7F5"/>
                </a:solidFill>
                <a:latin typeface="Calibri" pitchFamily="34" charset="0"/>
                <a:ea typeface="Calibri" pitchFamily="34" charset="-122"/>
                <a:cs typeface="Calibri" pitchFamily="34" charset="-120"/>
              </a:rPr>
              <a:t>Tell you what to do with what's left</a:t>
            </a:r>
            <a:endParaRPr lang="en-US" sz="1050" dirty="0"/>
          </a:p>
        </p:txBody>
      </p:sp>
      <p:sp>
        <p:nvSpPr>
          <p:cNvPr id="10" name="Shape 8"/>
          <p:cNvSpPr/>
          <p:nvPr/>
        </p:nvSpPr>
        <p:spPr>
          <a:xfrm>
            <a:off x="4343400" y="2615184"/>
            <a:ext cx="3502152" cy="1078992"/>
          </a:xfrm>
          <a:prstGeom prst="roundRect">
            <a:avLst>
              <a:gd name="adj" fmla="val 10169"/>
            </a:avLst>
          </a:prstGeom>
          <a:solidFill>
            <a:srgbClr val="101613"/>
          </a:solidFill>
          <a:ln w="12700">
            <a:solidFill>
              <a:srgbClr val="1C2420"/>
            </a:solidFill>
            <a:prstDash val="solid"/>
          </a:ln>
        </p:spPr>
      </p:sp>
      <p:sp>
        <p:nvSpPr>
          <p:cNvPr id="11" name="Text 9"/>
          <p:cNvSpPr/>
          <p:nvPr/>
        </p:nvSpPr>
        <p:spPr>
          <a:xfrm>
            <a:off x="4581144" y="2724912"/>
            <a:ext cx="3017520" cy="256032"/>
          </a:xfrm>
          <a:prstGeom prst="rect">
            <a:avLst/>
          </a:prstGeom>
          <a:noFill/>
          <a:ln/>
        </p:spPr>
        <p:txBody>
          <a:bodyPr wrap="square" lIns="0" tIns="0" rIns="0" bIns="0" rtlCol="0" anchor="ctr"/>
          <a:lstStyle/>
          <a:p>
            <a:pPr indent="0" marL="0">
              <a:buNone/>
            </a:pPr>
            <a:r>
              <a:rPr lang="en-US" sz="1300" b="1" dirty="0">
                <a:solidFill>
                  <a:srgbClr val="F4F7F5"/>
                </a:solidFill>
                <a:latin typeface="Calibri" pitchFamily="34" charset="0"/>
                <a:ea typeface="Calibri" pitchFamily="34" charset="-122"/>
                <a:cs typeface="Calibri" pitchFamily="34" charset="-120"/>
              </a:rPr>
              <a:t>Betterment · Wealthfront</a:t>
            </a:r>
            <a:endParaRPr lang="en-US" sz="1300" dirty="0"/>
          </a:p>
        </p:txBody>
      </p:sp>
      <p:sp>
        <p:nvSpPr>
          <p:cNvPr id="12" name="Text 10"/>
          <p:cNvSpPr/>
          <p:nvPr/>
        </p:nvSpPr>
        <p:spPr>
          <a:xfrm>
            <a:off x="4581144" y="2999232"/>
            <a:ext cx="3063240" cy="274320"/>
          </a:xfrm>
          <a:prstGeom prst="rect">
            <a:avLst/>
          </a:prstGeom>
          <a:noFill/>
          <a:ln/>
        </p:spPr>
        <p:txBody>
          <a:bodyPr wrap="square" lIns="0" tIns="0" rIns="0" bIns="0" rtlCol="0" anchor="ctr"/>
          <a:lstStyle/>
          <a:p>
            <a:pPr indent="0" marL="0">
              <a:buNone/>
            </a:pPr>
            <a:r>
              <a:rPr lang="en-US" sz="1050" b="1" dirty="0">
                <a:solidFill>
                  <a:srgbClr val="67726B"/>
                </a:solidFill>
                <a:latin typeface="Calibri" pitchFamily="34" charset="0"/>
                <a:ea typeface="Calibri" pitchFamily="34" charset="-122"/>
                <a:cs typeface="Calibri" pitchFamily="34" charset="-120"/>
              </a:rPr>
              <a:t>Great at  </a:t>
            </a:r>
            <a:pPr indent="0" marL="0">
              <a:buNone/>
            </a:pPr>
            <a:r>
              <a:rPr lang="en-US" sz="1050" dirty="0">
                <a:solidFill>
                  <a:srgbClr val="9BA8A0"/>
                </a:solidFill>
                <a:latin typeface="Calibri" pitchFamily="34" charset="0"/>
                <a:ea typeface="Calibri" pitchFamily="34" charset="-122"/>
                <a:cs typeface="Calibri" pitchFamily="34" charset="-120"/>
              </a:rPr>
              <a:t>Goal-based investing, one asset class</a:t>
            </a:r>
            <a:endParaRPr lang="en-US" sz="1050" dirty="0"/>
          </a:p>
        </p:txBody>
      </p:sp>
      <p:sp>
        <p:nvSpPr>
          <p:cNvPr id="13" name="Text 11"/>
          <p:cNvSpPr/>
          <p:nvPr/>
        </p:nvSpPr>
        <p:spPr>
          <a:xfrm>
            <a:off x="4581144" y="3273552"/>
            <a:ext cx="3063240" cy="310896"/>
          </a:xfrm>
          <a:prstGeom prst="rect">
            <a:avLst/>
          </a:prstGeom>
          <a:noFill/>
          <a:ln/>
        </p:spPr>
        <p:txBody>
          <a:bodyPr wrap="square" lIns="0" tIns="0" rIns="0" bIns="0" rtlCol="0" anchor="t"/>
          <a:lstStyle/>
          <a:p>
            <a:pPr indent="0" marL="0">
              <a:lnSpc>
                <a:spcPct val="110000"/>
              </a:lnSpc>
              <a:buNone/>
            </a:pPr>
            <a:r>
              <a:rPr lang="en-US" sz="1050" b="1" dirty="0">
                <a:solidFill>
                  <a:srgbClr val="F5B43C"/>
                </a:solidFill>
                <a:latin typeface="Calibri" pitchFamily="34" charset="0"/>
                <a:ea typeface="Calibri" pitchFamily="34" charset="-122"/>
                <a:cs typeface="Calibri" pitchFamily="34" charset="-120"/>
              </a:rPr>
              <a:t>Can't  </a:t>
            </a:r>
            <a:pPr indent="0" marL="0">
              <a:lnSpc>
                <a:spcPct val="110000"/>
              </a:lnSpc>
              <a:buNone/>
            </a:pPr>
            <a:r>
              <a:rPr lang="en-US" sz="1050" dirty="0">
                <a:solidFill>
                  <a:srgbClr val="F4F7F5"/>
                </a:solidFill>
                <a:latin typeface="Calibri" pitchFamily="34" charset="0"/>
                <a:ea typeface="Calibri" pitchFamily="34" charset="-122"/>
                <a:cs typeface="Calibri" pitchFamily="34" charset="-120"/>
              </a:rPr>
              <a:t>Recommend anything they don't custody</a:t>
            </a:r>
            <a:endParaRPr lang="en-US" sz="1050" dirty="0"/>
          </a:p>
        </p:txBody>
      </p:sp>
      <p:sp>
        <p:nvSpPr>
          <p:cNvPr id="14" name="Shape 12"/>
          <p:cNvSpPr/>
          <p:nvPr/>
        </p:nvSpPr>
        <p:spPr>
          <a:xfrm>
            <a:off x="8046720" y="2615184"/>
            <a:ext cx="3502152" cy="1078992"/>
          </a:xfrm>
          <a:prstGeom prst="roundRect">
            <a:avLst>
              <a:gd name="adj" fmla="val 10169"/>
            </a:avLst>
          </a:prstGeom>
          <a:solidFill>
            <a:srgbClr val="101613"/>
          </a:solidFill>
          <a:ln w="12700">
            <a:solidFill>
              <a:srgbClr val="1C2420"/>
            </a:solidFill>
            <a:prstDash val="solid"/>
          </a:ln>
        </p:spPr>
      </p:sp>
      <p:sp>
        <p:nvSpPr>
          <p:cNvPr id="15" name="Text 13"/>
          <p:cNvSpPr/>
          <p:nvPr/>
        </p:nvSpPr>
        <p:spPr>
          <a:xfrm>
            <a:off x="8284464" y="2724912"/>
            <a:ext cx="3017520" cy="256032"/>
          </a:xfrm>
          <a:prstGeom prst="rect">
            <a:avLst/>
          </a:prstGeom>
          <a:noFill/>
          <a:ln/>
        </p:spPr>
        <p:txBody>
          <a:bodyPr wrap="square" lIns="0" tIns="0" rIns="0" bIns="0" rtlCol="0" anchor="ctr"/>
          <a:lstStyle/>
          <a:p>
            <a:pPr indent="0" marL="0">
              <a:buNone/>
            </a:pPr>
            <a:r>
              <a:rPr lang="en-US" sz="1300" b="1" dirty="0">
                <a:solidFill>
                  <a:srgbClr val="F4F7F5"/>
                </a:solidFill>
                <a:latin typeface="Calibri" pitchFamily="34" charset="0"/>
                <a:ea typeface="Calibri" pitchFamily="34" charset="-122"/>
                <a:cs typeface="Calibri" pitchFamily="34" charset="-120"/>
              </a:rPr>
              <a:t>Robinhood · Kalshi</a:t>
            </a:r>
            <a:endParaRPr lang="en-US" sz="1300" dirty="0"/>
          </a:p>
        </p:txBody>
      </p:sp>
      <p:sp>
        <p:nvSpPr>
          <p:cNvPr id="16" name="Text 14"/>
          <p:cNvSpPr/>
          <p:nvPr/>
        </p:nvSpPr>
        <p:spPr>
          <a:xfrm>
            <a:off x="8284464" y="2999232"/>
            <a:ext cx="3063240" cy="274320"/>
          </a:xfrm>
          <a:prstGeom prst="rect">
            <a:avLst/>
          </a:prstGeom>
          <a:noFill/>
          <a:ln/>
        </p:spPr>
        <p:txBody>
          <a:bodyPr wrap="square" lIns="0" tIns="0" rIns="0" bIns="0" rtlCol="0" anchor="ctr"/>
          <a:lstStyle/>
          <a:p>
            <a:pPr indent="0" marL="0">
              <a:buNone/>
            </a:pPr>
            <a:r>
              <a:rPr lang="en-US" sz="1050" b="1" dirty="0">
                <a:solidFill>
                  <a:srgbClr val="67726B"/>
                </a:solidFill>
                <a:latin typeface="Calibri" pitchFamily="34" charset="0"/>
                <a:ea typeface="Calibri" pitchFamily="34" charset="-122"/>
                <a:cs typeface="Calibri" pitchFamily="34" charset="-120"/>
              </a:rPr>
              <a:t>Great at  </a:t>
            </a:r>
            <a:pPr indent="0" marL="0">
              <a:buNone/>
            </a:pPr>
            <a:r>
              <a:rPr lang="en-US" sz="1050" dirty="0">
                <a:solidFill>
                  <a:srgbClr val="9BA8A0"/>
                </a:solidFill>
                <a:latin typeface="Calibri" pitchFamily="34" charset="0"/>
                <a:ea typeface="Calibri" pitchFamily="34" charset="-122"/>
                <a:cs typeface="Calibri" pitchFamily="34" charset="-120"/>
              </a:rPr>
              <a:t>Fast, cheap execution</a:t>
            </a:r>
            <a:endParaRPr lang="en-US" sz="1050" dirty="0"/>
          </a:p>
        </p:txBody>
      </p:sp>
      <p:sp>
        <p:nvSpPr>
          <p:cNvPr id="17" name="Text 15"/>
          <p:cNvSpPr/>
          <p:nvPr/>
        </p:nvSpPr>
        <p:spPr>
          <a:xfrm>
            <a:off x="8284464" y="3273552"/>
            <a:ext cx="3063240" cy="310896"/>
          </a:xfrm>
          <a:prstGeom prst="rect">
            <a:avLst/>
          </a:prstGeom>
          <a:noFill/>
          <a:ln/>
        </p:spPr>
        <p:txBody>
          <a:bodyPr wrap="square" lIns="0" tIns="0" rIns="0" bIns="0" rtlCol="0" anchor="t"/>
          <a:lstStyle/>
          <a:p>
            <a:pPr indent="0" marL="0">
              <a:lnSpc>
                <a:spcPct val="110000"/>
              </a:lnSpc>
              <a:buNone/>
            </a:pPr>
            <a:r>
              <a:rPr lang="en-US" sz="1050" b="1" dirty="0">
                <a:solidFill>
                  <a:srgbClr val="F5B43C"/>
                </a:solidFill>
                <a:latin typeface="Calibri" pitchFamily="34" charset="0"/>
                <a:ea typeface="Calibri" pitchFamily="34" charset="-122"/>
                <a:cs typeface="Calibri" pitchFamily="34" charset="-120"/>
              </a:rPr>
              <a:t>Can't  </a:t>
            </a:r>
            <a:pPr indent="0" marL="0">
              <a:lnSpc>
                <a:spcPct val="110000"/>
              </a:lnSpc>
              <a:buNone/>
            </a:pPr>
            <a:r>
              <a:rPr lang="en-US" sz="1050" dirty="0">
                <a:solidFill>
                  <a:srgbClr val="F4F7F5"/>
                </a:solidFill>
                <a:latin typeface="Calibri" pitchFamily="34" charset="0"/>
                <a:ea typeface="Calibri" pitchFamily="34" charset="-122"/>
                <a:cs typeface="Calibri" pitchFamily="34" charset="-120"/>
              </a:rPr>
              <a:t>Tell you whether to trade at all</a:t>
            </a:r>
            <a:endParaRPr lang="en-US" sz="1050" dirty="0"/>
          </a:p>
        </p:txBody>
      </p:sp>
      <p:sp>
        <p:nvSpPr>
          <p:cNvPr id="18" name="Shape 16"/>
          <p:cNvSpPr/>
          <p:nvPr/>
        </p:nvSpPr>
        <p:spPr>
          <a:xfrm>
            <a:off x="640080" y="3822192"/>
            <a:ext cx="3502152" cy="1078992"/>
          </a:xfrm>
          <a:prstGeom prst="roundRect">
            <a:avLst>
              <a:gd name="adj" fmla="val 10169"/>
            </a:avLst>
          </a:prstGeom>
          <a:solidFill>
            <a:srgbClr val="101613"/>
          </a:solidFill>
          <a:ln w="12700">
            <a:solidFill>
              <a:srgbClr val="1C2420"/>
            </a:solidFill>
            <a:prstDash val="solid"/>
          </a:ln>
        </p:spPr>
      </p:sp>
      <p:sp>
        <p:nvSpPr>
          <p:cNvPr id="19" name="Text 17"/>
          <p:cNvSpPr/>
          <p:nvPr/>
        </p:nvSpPr>
        <p:spPr>
          <a:xfrm>
            <a:off x="877824" y="3931920"/>
            <a:ext cx="3017520" cy="256032"/>
          </a:xfrm>
          <a:prstGeom prst="rect">
            <a:avLst/>
          </a:prstGeom>
          <a:noFill/>
          <a:ln/>
        </p:spPr>
        <p:txBody>
          <a:bodyPr wrap="square" lIns="0" tIns="0" rIns="0" bIns="0" rtlCol="0" anchor="ctr"/>
          <a:lstStyle/>
          <a:p>
            <a:pPr indent="0" marL="0">
              <a:buNone/>
            </a:pPr>
            <a:r>
              <a:rPr lang="en-US" sz="1300" b="1" dirty="0">
                <a:solidFill>
                  <a:srgbClr val="F4F7F5"/>
                </a:solidFill>
                <a:latin typeface="Calibri" pitchFamily="34" charset="0"/>
                <a:ea typeface="Calibri" pitchFamily="34" charset="-122"/>
                <a:cs typeface="Calibri" pitchFamily="34" charset="-120"/>
              </a:rPr>
              <a:t>NerdWallet · CardRatings</a:t>
            </a:r>
            <a:endParaRPr lang="en-US" sz="1300" dirty="0"/>
          </a:p>
        </p:txBody>
      </p:sp>
      <p:sp>
        <p:nvSpPr>
          <p:cNvPr id="20" name="Text 18"/>
          <p:cNvSpPr/>
          <p:nvPr/>
        </p:nvSpPr>
        <p:spPr>
          <a:xfrm>
            <a:off x="877824" y="4206240"/>
            <a:ext cx="3063240" cy="274320"/>
          </a:xfrm>
          <a:prstGeom prst="rect">
            <a:avLst/>
          </a:prstGeom>
          <a:noFill/>
          <a:ln/>
        </p:spPr>
        <p:txBody>
          <a:bodyPr wrap="square" lIns="0" tIns="0" rIns="0" bIns="0" rtlCol="0" anchor="ctr"/>
          <a:lstStyle/>
          <a:p>
            <a:pPr indent="0" marL="0">
              <a:buNone/>
            </a:pPr>
            <a:r>
              <a:rPr lang="en-US" sz="1050" b="1" dirty="0">
                <a:solidFill>
                  <a:srgbClr val="67726B"/>
                </a:solidFill>
                <a:latin typeface="Calibri" pitchFamily="34" charset="0"/>
                <a:ea typeface="Calibri" pitchFamily="34" charset="-122"/>
                <a:cs typeface="Calibri" pitchFamily="34" charset="-120"/>
              </a:rPr>
              <a:t>Great at  </a:t>
            </a:r>
            <a:pPr indent="0" marL="0">
              <a:buNone/>
            </a:pPr>
            <a:r>
              <a:rPr lang="en-US" sz="1050" dirty="0">
                <a:solidFill>
                  <a:srgbClr val="9BA8A0"/>
                </a:solidFill>
                <a:latin typeface="Calibri" pitchFamily="34" charset="0"/>
                <a:ea typeface="Calibri" pitchFamily="34" charset="-122"/>
                <a:cs typeface="Calibri" pitchFamily="34" charset="-120"/>
              </a:rPr>
              <a:t>Card comparison at scale</a:t>
            </a:r>
            <a:endParaRPr lang="en-US" sz="1050" dirty="0"/>
          </a:p>
        </p:txBody>
      </p:sp>
      <p:sp>
        <p:nvSpPr>
          <p:cNvPr id="21" name="Text 19"/>
          <p:cNvSpPr/>
          <p:nvPr/>
        </p:nvSpPr>
        <p:spPr>
          <a:xfrm>
            <a:off x="877824" y="4480560"/>
            <a:ext cx="3063240" cy="310896"/>
          </a:xfrm>
          <a:prstGeom prst="rect">
            <a:avLst/>
          </a:prstGeom>
          <a:noFill/>
          <a:ln/>
        </p:spPr>
        <p:txBody>
          <a:bodyPr wrap="square" lIns="0" tIns="0" rIns="0" bIns="0" rtlCol="0" anchor="t"/>
          <a:lstStyle/>
          <a:p>
            <a:pPr indent="0" marL="0">
              <a:lnSpc>
                <a:spcPct val="110000"/>
              </a:lnSpc>
              <a:buNone/>
            </a:pPr>
            <a:r>
              <a:rPr lang="en-US" sz="1050" b="1" dirty="0">
                <a:solidFill>
                  <a:srgbClr val="EF4444"/>
                </a:solidFill>
                <a:latin typeface="Calibri" pitchFamily="34" charset="0"/>
                <a:ea typeface="Calibri" pitchFamily="34" charset="-122"/>
                <a:cs typeface="Calibri" pitchFamily="34" charset="-120"/>
              </a:rPr>
              <a:t>Can't  </a:t>
            </a:r>
            <a:pPr indent="0" marL="0">
              <a:lnSpc>
                <a:spcPct val="110000"/>
              </a:lnSpc>
              <a:buNone/>
            </a:pPr>
            <a:r>
              <a:rPr lang="en-US" sz="1050" dirty="0">
                <a:solidFill>
                  <a:srgbClr val="F4F7F5"/>
                </a:solidFill>
                <a:latin typeface="Calibri" pitchFamily="34" charset="0"/>
                <a:ea typeface="Calibri" pitchFamily="34" charset="-122"/>
                <a:cs typeface="Calibri" pitchFamily="34" charset="-120"/>
              </a:rPr>
              <a:t>Be trusted — they're paid by referral</a:t>
            </a:r>
            <a:endParaRPr lang="en-US" sz="1050" dirty="0"/>
          </a:p>
        </p:txBody>
      </p:sp>
      <p:sp>
        <p:nvSpPr>
          <p:cNvPr id="22" name="Shape 20"/>
          <p:cNvSpPr/>
          <p:nvPr/>
        </p:nvSpPr>
        <p:spPr>
          <a:xfrm>
            <a:off x="4343400" y="3822192"/>
            <a:ext cx="3502152" cy="1078992"/>
          </a:xfrm>
          <a:prstGeom prst="roundRect">
            <a:avLst>
              <a:gd name="adj" fmla="val 10169"/>
            </a:avLst>
          </a:prstGeom>
          <a:solidFill>
            <a:srgbClr val="101613"/>
          </a:solidFill>
          <a:ln w="12700">
            <a:solidFill>
              <a:srgbClr val="1C2420"/>
            </a:solidFill>
            <a:prstDash val="solid"/>
          </a:ln>
        </p:spPr>
      </p:sp>
      <p:sp>
        <p:nvSpPr>
          <p:cNvPr id="23" name="Text 21"/>
          <p:cNvSpPr/>
          <p:nvPr/>
        </p:nvSpPr>
        <p:spPr>
          <a:xfrm>
            <a:off x="4581144" y="3931920"/>
            <a:ext cx="3017520" cy="256032"/>
          </a:xfrm>
          <a:prstGeom prst="rect">
            <a:avLst/>
          </a:prstGeom>
          <a:noFill/>
          <a:ln/>
        </p:spPr>
        <p:txBody>
          <a:bodyPr wrap="square" lIns="0" tIns="0" rIns="0" bIns="0" rtlCol="0" anchor="ctr"/>
          <a:lstStyle/>
          <a:p>
            <a:pPr indent="0" marL="0">
              <a:buNone/>
            </a:pPr>
            <a:r>
              <a:rPr lang="en-US" sz="1300" b="1" dirty="0">
                <a:solidFill>
                  <a:srgbClr val="F4F7F5"/>
                </a:solidFill>
                <a:latin typeface="Calibri" pitchFamily="34" charset="0"/>
                <a:ea typeface="Calibri" pitchFamily="34" charset="-122"/>
                <a:cs typeface="Calibri" pitchFamily="34" charset="-120"/>
              </a:rPr>
              <a:t>Copilot · Cleo</a:t>
            </a:r>
            <a:endParaRPr lang="en-US" sz="1300" dirty="0"/>
          </a:p>
        </p:txBody>
      </p:sp>
      <p:sp>
        <p:nvSpPr>
          <p:cNvPr id="24" name="Text 22"/>
          <p:cNvSpPr/>
          <p:nvPr/>
        </p:nvSpPr>
        <p:spPr>
          <a:xfrm>
            <a:off x="4581144" y="4206240"/>
            <a:ext cx="3063240" cy="274320"/>
          </a:xfrm>
          <a:prstGeom prst="rect">
            <a:avLst/>
          </a:prstGeom>
          <a:noFill/>
          <a:ln/>
        </p:spPr>
        <p:txBody>
          <a:bodyPr wrap="square" lIns="0" tIns="0" rIns="0" bIns="0" rtlCol="0" anchor="ctr"/>
          <a:lstStyle/>
          <a:p>
            <a:pPr indent="0" marL="0">
              <a:buNone/>
            </a:pPr>
            <a:r>
              <a:rPr lang="en-US" sz="1050" b="1" dirty="0">
                <a:solidFill>
                  <a:srgbClr val="67726B"/>
                </a:solidFill>
                <a:latin typeface="Calibri" pitchFamily="34" charset="0"/>
                <a:ea typeface="Calibri" pitchFamily="34" charset="-122"/>
                <a:cs typeface="Calibri" pitchFamily="34" charset="-120"/>
              </a:rPr>
              <a:t>Great at  </a:t>
            </a:r>
            <a:pPr indent="0" marL="0">
              <a:buNone/>
            </a:pPr>
            <a:r>
              <a:rPr lang="en-US" sz="1050" dirty="0">
                <a:solidFill>
                  <a:srgbClr val="9BA8A0"/>
                </a:solidFill>
                <a:latin typeface="Calibri" pitchFamily="34" charset="0"/>
                <a:ea typeface="Calibri" pitchFamily="34" charset="-122"/>
                <a:cs typeface="Calibri" pitchFamily="34" charset="-120"/>
              </a:rPr>
              <a:t>Making budgeting feel modern</a:t>
            </a:r>
            <a:endParaRPr lang="en-US" sz="1050" dirty="0"/>
          </a:p>
        </p:txBody>
      </p:sp>
      <p:sp>
        <p:nvSpPr>
          <p:cNvPr id="25" name="Text 23"/>
          <p:cNvSpPr/>
          <p:nvPr/>
        </p:nvSpPr>
        <p:spPr>
          <a:xfrm>
            <a:off x="4581144" y="4480560"/>
            <a:ext cx="3063240" cy="310896"/>
          </a:xfrm>
          <a:prstGeom prst="rect">
            <a:avLst/>
          </a:prstGeom>
          <a:noFill/>
          <a:ln/>
        </p:spPr>
        <p:txBody>
          <a:bodyPr wrap="square" lIns="0" tIns="0" rIns="0" bIns="0" rtlCol="0" anchor="t"/>
          <a:lstStyle/>
          <a:p>
            <a:pPr indent="0" marL="0">
              <a:lnSpc>
                <a:spcPct val="110000"/>
              </a:lnSpc>
              <a:buNone/>
            </a:pPr>
            <a:r>
              <a:rPr lang="en-US" sz="1050" b="1" dirty="0">
                <a:solidFill>
                  <a:srgbClr val="F5B43C"/>
                </a:solidFill>
                <a:latin typeface="Calibri" pitchFamily="34" charset="0"/>
                <a:ea typeface="Calibri" pitchFamily="34" charset="-122"/>
                <a:cs typeface="Calibri" pitchFamily="34" charset="-120"/>
              </a:rPr>
              <a:t>Can't  </a:t>
            </a:r>
            <a:pPr indent="0" marL="0">
              <a:lnSpc>
                <a:spcPct val="110000"/>
              </a:lnSpc>
              <a:buNone/>
            </a:pPr>
            <a:r>
              <a:rPr lang="en-US" sz="1050" dirty="0">
                <a:solidFill>
                  <a:srgbClr val="F4F7F5"/>
                </a:solidFill>
                <a:latin typeface="Calibri" pitchFamily="34" charset="0"/>
                <a:ea typeface="Calibri" pitchFamily="34" charset="-122"/>
                <a:cs typeface="Calibri" pitchFamily="34" charset="-120"/>
              </a:rPr>
              <a:t>Score an investment against a saving</a:t>
            </a:r>
            <a:endParaRPr lang="en-US" sz="1050" dirty="0"/>
          </a:p>
        </p:txBody>
      </p:sp>
      <p:sp>
        <p:nvSpPr>
          <p:cNvPr id="26" name="Shape 24"/>
          <p:cNvSpPr/>
          <p:nvPr/>
        </p:nvSpPr>
        <p:spPr>
          <a:xfrm>
            <a:off x="8046720" y="3822192"/>
            <a:ext cx="3502152" cy="1078992"/>
          </a:xfrm>
          <a:prstGeom prst="roundRect">
            <a:avLst>
              <a:gd name="adj" fmla="val 10169"/>
            </a:avLst>
          </a:prstGeom>
          <a:solidFill>
            <a:srgbClr val="101613"/>
          </a:solidFill>
          <a:ln w="12700">
            <a:solidFill>
              <a:srgbClr val="1C2420"/>
            </a:solidFill>
            <a:prstDash val="solid"/>
          </a:ln>
        </p:spPr>
      </p:sp>
      <p:sp>
        <p:nvSpPr>
          <p:cNvPr id="27" name="Text 25"/>
          <p:cNvSpPr/>
          <p:nvPr/>
        </p:nvSpPr>
        <p:spPr>
          <a:xfrm>
            <a:off x="8284464" y="3931920"/>
            <a:ext cx="3017520" cy="256032"/>
          </a:xfrm>
          <a:prstGeom prst="rect">
            <a:avLst/>
          </a:prstGeom>
          <a:noFill/>
          <a:ln/>
        </p:spPr>
        <p:txBody>
          <a:bodyPr wrap="square" lIns="0" tIns="0" rIns="0" bIns="0" rtlCol="0" anchor="ctr"/>
          <a:lstStyle/>
          <a:p>
            <a:pPr indent="0" marL="0">
              <a:buNone/>
            </a:pPr>
            <a:r>
              <a:rPr lang="en-US" sz="1300" b="1" dirty="0">
                <a:solidFill>
                  <a:srgbClr val="F4F7F5"/>
                </a:solidFill>
                <a:latin typeface="Calibri" pitchFamily="34" charset="0"/>
                <a:ea typeface="Calibri" pitchFamily="34" charset="-122"/>
                <a:cs typeface="Calibri" pitchFamily="34" charset="-120"/>
              </a:rPr>
              <a:t>Finance social media</a:t>
            </a:r>
            <a:endParaRPr lang="en-US" sz="1300" dirty="0"/>
          </a:p>
        </p:txBody>
      </p:sp>
      <p:sp>
        <p:nvSpPr>
          <p:cNvPr id="28" name="Text 26"/>
          <p:cNvSpPr/>
          <p:nvPr/>
        </p:nvSpPr>
        <p:spPr>
          <a:xfrm>
            <a:off x="8284464" y="4206240"/>
            <a:ext cx="3063240" cy="274320"/>
          </a:xfrm>
          <a:prstGeom prst="rect">
            <a:avLst/>
          </a:prstGeom>
          <a:noFill/>
          <a:ln/>
        </p:spPr>
        <p:txBody>
          <a:bodyPr wrap="square" lIns="0" tIns="0" rIns="0" bIns="0" rtlCol="0" anchor="ctr"/>
          <a:lstStyle/>
          <a:p>
            <a:pPr indent="0" marL="0">
              <a:buNone/>
            </a:pPr>
            <a:r>
              <a:rPr lang="en-US" sz="1050" b="1" dirty="0">
                <a:solidFill>
                  <a:srgbClr val="67726B"/>
                </a:solidFill>
                <a:latin typeface="Calibri" pitchFamily="34" charset="0"/>
                <a:ea typeface="Calibri" pitchFamily="34" charset="-122"/>
                <a:cs typeface="Calibri" pitchFamily="34" charset="-120"/>
              </a:rPr>
              <a:t>Great at  </a:t>
            </a:r>
            <a:pPr indent="0" marL="0">
              <a:buNone/>
            </a:pPr>
            <a:r>
              <a:rPr lang="en-US" sz="1050" dirty="0">
                <a:solidFill>
                  <a:srgbClr val="9BA8A0"/>
                </a:solidFill>
                <a:latin typeface="Calibri" pitchFamily="34" charset="0"/>
                <a:ea typeface="Calibri" pitchFamily="34" charset="-122"/>
                <a:cs typeface="Calibri" pitchFamily="34" charset="-120"/>
              </a:rPr>
              <a:t>Attention</a:t>
            </a:r>
            <a:endParaRPr lang="en-US" sz="1050" dirty="0"/>
          </a:p>
        </p:txBody>
      </p:sp>
      <p:sp>
        <p:nvSpPr>
          <p:cNvPr id="29" name="Text 27"/>
          <p:cNvSpPr/>
          <p:nvPr/>
        </p:nvSpPr>
        <p:spPr>
          <a:xfrm>
            <a:off x="8284464" y="4480560"/>
            <a:ext cx="3063240" cy="310896"/>
          </a:xfrm>
          <a:prstGeom prst="rect">
            <a:avLst/>
          </a:prstGeom>
          <a:noFill/>
          <a:ln/>
        </p:spPr>
        <p:txBody>
          <a:bodyPr wrap="square" lIns="0" tIns="0" rIns="0" bIns="0" rtlCol="0" anchor="t"/>
          <a:lstStyle/>
          <a:p>
            <a:pPr indent="0" marL="0">
              <a:lnSpc>
                <a:spcPct val="110000"/>
              </a:lnSpc>
              <a:buNone/>
            </a:pPr>
            <a:r>
              <a:rPr lang="en-US" sz="1050" b="1" dirty="0">
                <a:solidFill>
                  <a:srgbClr val="EF4444"/>
                </a:solidFill>
                <a:latin typeface="Calibri" pitchFamily="34" charset="0"/>
                <a:ea typeface="Calibri" pitchFamily="34" charset="-122"/>
                <a:cs typeface="Calibri" pitchFamily="34" charset="-120"/>
              </a:rPr>
              <a:t>Can't  </a:t>
            </a:r>
            <a:pPr indent="0" marL="0">
              <a:lnSpc>
                <a:spcPct val="110000"/>
              </a:lnSpc>
              <a:buNone/>
            </a:pPr>
            <a:r>
              <a:rPr lang="en-US" sz="1050" dirty="0">
                <a:solidFill>
                  <a:srgbClr val="F4F7F5"/>
                </a:solidFill>
                <a:latin typeface="Calibri" pitchFamily="34" charset="0"/>
                <a:ea typeface="Calibri" pitchFamily="34" charset="-122"/>
                <a:cs typeface="Calibri" pitchFamily="34" charset="-120"/>
              </a:rPr>
              <a:t>Be accountable for a single claim</a:t>
            </a:r>
            <a:endParaRPr lang="en-US" sz="1050" dirty="0"/>
          </a:p>
        </p:txBody>
      </p:sp>
      <p:sp>
        <p:nvSpPr>
          <p:cNvPr id="30" name="Shape 28"/>
          <p:cNvSpPr/>
          <p:nvPr/>
        </p:nvSpPr>
        <p:spPr>
          <a:xfrm>
            <a:off x="640080" y="5065776"/>
            <a:ext cx="10908792" cy="1005840"/>
          </a:xfrm>
          <a:prstGeom prst="roundRect">
            <a:avLst>
              <a:gd name="adj" fmla="val 10909"/>
            </a:avLst>
          </a:prstGeom>
          <a:solidFill>
            <a:srgbClr val="161D19"/>
          </a:solidFill>
          <a:ln w="12700">
            <a:solidFill>
              <a:srgbClr val="22C55E"/>
            </a:solidFill>
            <a:prstDash val="solid"/>
          </a:ln>
        </p:spPr>
      </p:sp>
      <p:sp>
        <p:nvSpPr>
          <p:cNvPr id="31" name="Text 29"/>
          <p:cNvSpPr/>
          <p:nvPr/>
        </p:nvSpPr>
        <p:spPr>
          <a:xfrm>
            <a:off x="896112" y="5193792"/>
            <a:ext cx="2011680" cy="292608"/>
          </a:xfrm>
          <a:prstGeom prst="rect">
            <a:avLst/>
          </a:prstGeom>
          <a:noFill/>
          <a:ln/>
        </p:spPr>
        <p:txBody>
          <a:bodyPr wrap="square" lIns="0" tIns="0" rIns="0" bIns="0" rtlCol="0" anchor="ctr"/>
          <a:lstStyle/>
          <a:p>
            <a:pPr indent="0" marL="0">
              <a:buNone/>
            </a:pPr>
            <a:r>
              <a:rPr lang="en-US" sz="1600" b="1" dirty="0">
                <a:solidFill>
                  <a:srgbClr val="22C55E"/>
                </a:solidFill>
                <a:latin typeface="Calibri" pitchFamily="34" charset="0"/>
                <a:ea typeface="Calibri" pitchFamily="34" charset="-122"/>
                <a:cs typeface="Calibri" pitchFamily="34" charset="-120"/>
              </a:rPr>
              <a:t>PolyProfit</a:t>
            </a:r>
            <a:endParaRPr lang="en-US" sz="1600" dirty="0"/>
          </a:p>
        </p:txBody>
      </p:sp>
      <p:sp>
        <p:nvSpPr>
          <p:cNvPr id="32" name="Text 30"/>
          <p:cNvSpPr/>
          <p:nvPr/>
        </p:nvSpPr>
        <p:spPr>
          <a:xfrm>
            <a:off x="896112" y="5486400"/>
            <a:ext cx="10424160" cy="512064"/>
          </a:xfrm>
          <a:prstGeom prst="rect">
            <a:avLst/>
          </a:prstGeom>
          <a:noFill/>
          <a:ln/>
        </p:spPr>
        <p:txBody>
          <a:bodyPr wrap="square" lIns="0" tIns="0" rIns="0" bIns="0" rtlCol="0" anchor="t"/>
          <a:lstStyle/>
          <a:p>
            <a:pPr indent="0" marL="0">
              <a:lnSpc>
                <a:spcPct val="115000"/>
              </a:lnSpc>
              <a:buNone/>
            </a:pPr>
            <a:r>
              <a:rPr lang="en-US" sz="1250" dirty="0">
                <a:solidFill>
                  <a:srgbClr val="F4F7F5"/>
                </a:solidFill>
                <a:latin typeface="Calibri" pitchFamily="34" charset="0"/>
                <a:ea typeface="Calibri" pitchFamily="34" charset="-122"/>
                <a:cs typeface="Calibri" pitchFamily="34" charset="-120"/>
              </a:rPr>
              <a:t>The only product with no reason to prefer one answer over another. We hold none of the money, custody none of the assets, and take no referral fee that touches the ranking — so we're the only one that can say "put it in a Treasury bill and stop thinking about it" when that's the right answer.</a:t>
            </a:r>
            <a:endParaRPr lang="en-US" sz="1250" dirty="0"/>
          </a:p>
        </p:txBody>
      </p:sp>
      <p:sp>
        <p:nvSpPr>
          <p:cNvPr id="33" name="Text 31"/>
          <p:cNvSpPr/>
          <p:nvPr/>
        </p:nvSpPr>
        <p:spPr>
          <a:xfrm>
            <a:off x="640080" y="6181344"/>
            <a:ext cx="10881360" cy="274320"/>
          </a:xfrm>
          <a:prstGeom prst="rect">
            <a:avLst/>
          </a:prstGeom>
          <a:noFill/>
          <a:ln/>
        </p:spPr>
        <p:txBody>
          <a:bodyPr wrap="square" lIns="0" tIns="0" rIns="0" bIns="0" rtlCol="0" anchor="ctr"/>
          <a:lstStyle/>
          <a:p>
            <a:pPr indent="0" marL="0">
              <a:buNone/>
            </a:pPr>
            <a:r>
              <a:rPr lang="en-US" sz="1100" dirty="0">
                <a:solidFill>
                  <a:srgbClr val="9BA8A0"/>
                </a:solidFill>
                <a:latin typeface="Calibri" pitchFamily="34" charset="0"/>
                <a:ea typeface="Calibri" pitchFamily="34" charset="-122"/>
                <a:cs typeface="Calibri" pitchFamily="34" charset="-120"/>
              </a:rPr>
              <a:t>The real competitor is not an app — it's "just buy an index fund and stop thinking about it." That's the bar we have to beat, and on most goals we beat it by pointing at the spending side.</a:t>
            </a:r>
            <a:endParaRPr lang="en-US" sz="1100" dirty="0"/>
          </a:p>
        </p:txBody>
      </p:sp>
      <p:sp>
        <p:nvSpPr>
          <p:cNvPr id="35" name="Text 32"/>
          <p:cNvSpPr/>
          <p:nvPr/>
        </p:nvSpPr>
        <p:spPr>
          <a:xfrm>
            <a:off x="9692640" y="6528816"/>
            <a:ext cx="1188720" cy="237744"/>
          </a:xfrm>
          <a:prstGeom prst="rect">
            <a:avLst/>
          </a:prstGeom>
          <a:noFill/>
          <a:ln/>
        </p:spPr>
        <p:txBody>
          <a:bodyPr wrap="square" lIns="0" tIns="0" rIns="0" bIns="0" rtlCol="0" anchor="ctr"/>
          <a:lstStyle/>
          <a:p>
            <a:pPr algn="r" indent="0" marL="0">
              <a:buNone/>
            </a:pPr>
            <a:r>
              <a:rPr lang="en-US" sz="850" b="1" spc="140" kern="0" dirty="0">
                <a:solidFill>
                  <a:srgbClr val="67726B"/>
                </a:solidFill>
                <a:latin typeface="Calibri" pitchFamily="34" charset="0"/>
                <a:ea typeface="Calibri" pitchFamily="34" charset="-122"/>
                <a:cs typeface="Calibri" pitchFamily="34" charset="-120"/>
              </a:rPr>
              <a:t>POLYPROFIT</a:t>
            </a:r>
            <a:endParaRPr lang="en-US" sz="850" dirty="0"/>
          </a:p>
        </p:txBody>
      </p:sp>
      <p:sp>
        <p:nvSpPr>
          <p:cNvPr id="36" name="Text 33"/>
          <p:cNvSpPr/>
          <p:nvPr/>
        </p:nvSpPr>
        <p:spPr>
          <a:xfrm>
            <a:off x="11018520" y="6528816"/>
            <a:ext cx="530352" cy="237744"/>
          </a:xfrm>
          <a:prstGeom prst="rect">
            <a:avLst/>
          </a:prstGeom>
          <a:noFill/>
          <a:ln/>
        </p:spPr>
        <p:txBody>
          <a:bodyPr wrap="square" lIns="0" tIns="0" rIns="0" bIns="0" rtlCol="0" anchor="ctr"/>
          <a:lstStyle/>
          <a:p>
            <a:pPr algn="r" indent="0" marL="0">
              <a:buNone/>
            </a:pPr>
            <a:r>
              <a:rPr lang="en-US" sz="850" b="1" dirty="0">
                <a:solidFill>
                  <a:srgbClr val="22C55E"/>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0B09"/>
        </a:solidFill>
      </p:bgPr>
    </p:bg>
    <p:spTree>
      <p:nvGrpSpPr>
        <p:cNvPr id="1" name=""/>
        <p:cNvGrpSpPr/>
        <p:nvPr/>
      </p:nvGrpSpPr>
      <p:grpSpPr>
        <a:xfrm>
          <a:off x="0" y="0"/>
          <a:ext cx="0" cy="0"/>
          <a:chOff x="0" y="0"/>
          <a:chExt cx="0" cy="0"/>
        </a:xfrm>
      </p:grpSpPr>
      <p:sp>
        <p:nvSpPr>
          <p:cNvPr id="2" name="Shape 0"/>
          <p:cNvSpPr/>
          <p:nvPr/>
        </p:nvSpPr>
        <p:spPr>
          <a:xfrm>
            <a:off x="-2011680" y="-1828800"/>
            <a:ext cx="5852160" cy="5852160"/>
          </a:xfrm>
          <a:prstGeom prst="ellipse">
            <a:avLst/>
          </a:prstGeom>
          <a:solidFill>
            <a:srgbClr val="22C55E">
              <a:alpha val="6000"/>
            </a:srgbClr>
          </a:solidFill>
          <a:ln/>
        </p:spPr>
      </p:sp>
      <p:sp>
        <p:nvSpPr>
          <p:cNvPr id="3" name="Text 1"/>
          <p:cNvSpPr/>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22C55E"/>
                </a:solidFill>
                <a:latin typeface="Calibri" pitchFamily="34" charset="0"/>
                <a:ea typeface="Calibri" pitchFamily="34" charset="-122"/>
                <a:cs typeface="Calibri" pitchFamily="34" charset="-120"/>
              </a:rPr>
              <a:t>12  ·  GO TO MARKET</a:t>
            </a:r>
            <a:endParaRPr lang="en-US" sz="1100" dirty="0"/>
          </a:p>
        </p:txBody>
      </p:sp>
      <p:sp>
        <p:nvSpPr>
          <p:cNvPr id="4" name="Text 2"/>
          <p:cNvSpPr/>
          <p:nvPr/>
        </p:nvSpPr>
        <p:spPr>
          <a:xfrm>
            <a:off x="640080" y="777240"/>
            <a:ext cx="10881360" cy="685800"/>
          </a:xfrm>
          <a:prstGeom prst="rect">
            <a:avLst/>
          </a:prstGeom>
          <a:noFill/>
          <a:ln/>
        </p:spPr>
        <p:txBody>
          <a:bodyPr wrap="square" lIns="0" tIns="0" rIns="0" bIns="0" rtlCol="0" anchor="t"/>
          <a:lstStyle/>
          <a:p>
            <a:pPr indent="0" marL="0">
              <a:lnSpc>
                <a:spcPct val="105000"/>
              </a:lnSpc>
              <a:buNone/>
            </a:pPr>
            <a:r>
              <a:rPr lang="en-US" sz="3300" b="1" dirty="0">
                <a:solidFill>
                  <a:srgbClr val="F4F7F5"/>
                </a:solidFill>
                <a:latin typeface="Calibri" pitchFamily="34" charset="0"/>
                <a:ea typeface="Calibri" pitchFamily="34" charset="-122"/>
                <a:cs typeface="Calibri" pitchFamily="34" charset="-120"/>
              </a:rPr>
              <a:t>How we get the first 100,000 users</a:t>
            </a:r>
            <a:endParaRPr lang="en-US" sz="3300" dirty="0"/>
          </a:p>
          <a:p>
            <a:pPr indent="0" marL="0">
              <a:lnSpc>
                <a:spcPct val="105000"/>
              </a:lnSpc>
              <a:buNone/>
            </a:pPr>
            <a:r>
              <a:rPr lang="en-US" sz="3300" b="1" dirty="0">
                <a:solidFill>
                  <a:srgbClr val="F4F7F5"/>
                </a:solidFill>
                <a:latin typeface="Calibri" pitchFamily="34" charset="0"/>
                <a:ea typeface="Calibri" pitchFamily="34" charset="-122"/>
                <a:cs typeface="Calibri" pitchFamily="34" charset="-120"/>
              </a:rPr>
              <a:t>without buying them.</a:t>
            </a:r>
            <a:endParaRPr lang="en-US" sz="3300" dirty="0"/>
          </a:p>
        </p:txBody>
      </p:sp>
      <p:sp>
        <p:nvSpPr>
          <p:cNvPr id="5" name="Text 3"/>
          <p:cNvSpPr/>
          <p:nvPr/>
        </p:nvSpPr>
        <p:spPr>
          <a:xfrm>
            <a:off x="640080" y="1956816"/>
            <a:ext cx="10424160" cy="384048"/>
          </a:xfrm>
          <a:prstGeom prst="rect">
            <a:avLst/>
          </a:prstGeom>
          <a:noFill/>
          <a:ln/>
        </p:spPr>
        <p:txBody>
          <a:bodyPr wrap="square" lIns="0" tIns="0" rIns="0" bIns="0" rtlCol="0" anchor="t"/>
          <a:lstStyle/>
          <a:p>
            <a:pPr indent="0" marL="0">
              <a:lnSpc>
                <a:spcPct val="115000"/>
              </a:lnSpc>
              <a:buNone/>
            </a:pPr>
            <a:r>
              <a:rPr lang="en-US" sz="1350" dirty="0">
                <a:solidFill>
                  <a:srgbClr val="9BA8A0"/>
                </a:solidFill>
                <a:latin typeface="Calibri" pitchFamily="34" charset="0"/>
                <a:ea typeface="Calibri" pitchFamily="34" charset="-122"/>
                <a:cs typeface="Calibri" pitchFamily="34" charset="-120"/>
              </a:rPr>
              <a:t>Fintech customer acquisition is brutally expensive when you're selling a product. It's much cheaper when you're giving away an answer people want to show someone.</a:t>
            </a:r>
            <a:endParaRPr lang="en-US" sz="1350" dirty="0"/>
          </a:p>
        </p:txBody>
      </p:sp>
      <p:sp>
        <p:nvSpPr>
          <p:cNvPr id="6" name="Shape 4"/>
          <p:cNvSpPr/>
          <p:nvPr/>
        </p:nvSpPr>
        <p:spPr>
          <a:xfrm>
            <a:off x="640080" y="2578608"/>
            <a:ext cx="3502152" cy="2395728"/>
          </a:xfrm>
          <a:prstGeom prst="roundRect">
            <a:avLst>
              <a:gd name="adj" fmla="val 4580"/>
            </a:avLst>
          </a:prstGeom>
          <a:solidFill>
            <a:srgbClr val="101613"/>
          </a:solidFill>
          <a:ln w="12700">
            <a:solidFill>
              <a:srgbClr val="1C2420"/>
            </a:solidFill>
            <a:prstDash val="solid"/>
          </a:ln>
        </p:spPr>
      </p:sp>
      <p:sp>
        <p:nvSpPr>
          <p:cNvPr id="7" name="Shape 5"/>
          <p:cNvSpPr/>
          <p:nvPr/>
        </p:nvSpPr>
        <p:spPr>
          <a:xfrm>
            <a:off x="877824" y="2743200"/>
            <a:ext cx="1691640" cy="256032"/>
          </a:xfrm>
          <a:prstGeom prst="roundRect">
            <a:avLst>
              <a:gd name="adj" fmla="val 178571"/>
            </a:avLst>
          </a:prstGeom>
          <a:solidFill>
            <a:srgbClr val="161D19"/>
          </a:solidFill>
          <a:ln w="12700">
            <a:solidFill>
              <a:srgbClr val="22C55E"/>
            </a:solidFill>
            <a:prstDash val="solid"/>
          </a:ln>
        </p:spPr>
      </p:sp>
      <p:sp>
        <p:nvSpPr>
          <p:cNvPr id="8" name="Text 6"/>
          <p:cNvSpPr/>
          <p:nvPr/>
        </p:nvSpPr>
        <p:spPr>
          <a:xfrm>
            <a:off x="877824" y="2743200"/>
            <a:ext cx="1691640" cy="256032"/>
          </a:xfrm>
          <a:prstGeom prst="rect">
            <a:avLst/>
          </a:prstGeom>
          <a:noFill/>
          <a:ln/>
        </p:spPr>
        <p:txBody>
          <a:bodyPr wrap="square" lIns="0" tIns="0" rIns="0" bIns="0" rtlCol="0" anchor="ctr"/>
          <a:lstStyle/>
          <a:p>
            <a:pPr algn="ctr" indent="0" marL="0">
              <a:buNone/>
            </a:pPr>
            <a:r>
              <a:rPr lang="en-US" sz="850" b="1" spc="80" kern="0" dirty="0">
                <a:solidFill>
                  <a:srgbClr val="22C55E"/>
                </a:solidFill>
                <a:latin typeface="Calibri" pitchFamily="34" charset="0"/>
                <a:ea typeface="Calibri" pitchFamily="34" charset="-122"/>
                <a:cs typeface="Calibri" pitchFamily="34" charset="-120"/>
              </a:rPr>
              <a:t>PHASE 1  ·  0–3 MO</a:t>
            </a:r>
            <a:endParaRPr lang="en-US" sz="850" dirty="0"/>
          </a:p>
        </p:txBody>
      </p:sp>
      <p:sp>
        <p:nvSpPr>
          <p:cNvPr id="9" name="Text 7"/>
          <p:cNvSpPr/>
          <p:nvPr/>
        </p:nvSpPr>
        <p:spPr>
          <a:xfrm>
            <a:off x="877824" y="3090672"/>
            <a:ext cx="3017520" cy="310896"/>
          </a:xfrm>
          <a:prstGeom prst="rect">
            <a:avLst/>
          </a:prstGeom>
          <a:noFill/>
          <a:ln/>
        </p:spPr>
        <p:txBody>
          <a:bodyPr wrap="square" lIns="0" tIns="0" rIns="0" bIns="0" rtlCol="0" anchor="ctr"/>
          <a:lstStyle/>
          <a:p>
            <a:pPr indent="0" marL="0">
              <a:buNone/>
            </a:pPr>
            <a:r>
              <a:rPr lang="en-US" sz="1550" b="1" dirty="0">
                <a:solidFill>
                  <a:srgbClr val="F4F7F5"/>
                </a:solidFill>
                <a:latin typeface="Calibri" pitchFamily="34" charset="0"/>
                <a:ea typeface="Calibri" pitchFamily="34" charset="-122"/>
                <a:cs typeface="Calibri" pitchFamily="34" charset="-120"/>
              </a:rPr>
              <a:t>The founder's own network</a:t>
            </a:r>
            <a:endParaRPr lang="en-US" sz="1550" dirty="0"/>
          </a:p>
        </p:txBody>
      </p:sp>
      <p:sp>
        <p:nvSpPr>
          <p:cNvPr id="10" name="Text 8"/>
          <p:cNvSpPr/>
          <p:nvPr/>
        </p:nvSpPr>
        <p:spPr>
          <a:xfrm>
            <a:off x="877824" y="3438144"/>
            <a:ext cx="3035808" cy="1005840"/>
          </a:xfrm>
          <a:prstGeom prst="rect">
            <a:avLst/>
          </a:prstGeom>
          <a:noFill/>
          <a:ln/>
        </p:spPr>
        <p:txBody>
          <a:bodyPr wrap="square" lIns="0" tIns="0" rIns="0" bIns="0" rtlCol="0" anchor="t"/>
          <a:lstStyle/>
          <a:p>
            <a:pPr indent="0" marL="0">
              <a:lnSpc>
                <a:spcPct val="118000"/>
              </a:lnSpc>
              <a:buNone/>
            </a:pPr>
            <a:r>
              <a:rPr lang="en-US" sz="1150" dirty="0">
                <a:solidFill>
                  <a:srgbClr val="9BA8A0"/>
                </a:solidFill>
                <a:latin typeface="Calibri" pitchFamily="34" charset="0"/>
                <a:ea typeface="Calibri" pitchFamily="34" charset="-122"/>
                <a:cs typeface="Calibri" pitchFamily="34" charset="-120"/>
              </a:rPr>
              <a:t>Skilled trades and professionals with real income and no system — reachable directly, at zero cost. The target is 100 paying users who renew, not 10,000 signups who don't.</a:t>
            </a:r>
            <a:endParaRPr lang="en-US" sz="1150" dirty="0"/>
          </a:p>
        </p:txBody>
      </p:sp>
      <p:sp>
        <p:nvSpPr>
          <p:cNvPr id="11" name="Text 9"/>
          <p:cNvSpPr/>
          <p:nvPr/>
        </p:nvSpPr>
        <p:spPr>
          <a:xfrm>
            <a:off x="877824" y="4498848"/>
            <a:ext cx="3017520" cy="329184"/>
          </a:xfrm>
          <a:prstGeom prst="rect">
            <a:avLst/>
          </a:prstGeom>
          <a:noFill/>
          <a:ln/>
        </p:spPr>
        <p:txBody>
          <a:bodyPr wrap="square" lIns="0" tIns="0" rIns="0" bIns="0" rtlCol="0" anchor="ctr"/>
          <a:lstStyle/>
          <a:p>
            <a:pPr indent="0" marL="0">
              <a:buNone/>
            </a:pPr>
            <a:r>
              <a:rPr lang="en-US" sz="2000" b="1" dirty="0">
                <a:solidFill>
                  <a:srgbClr val="22C55E"/>
                </a:solidFill>
                <a:latin typeface="Calibri" pitchFamily="34" charset="0"/>
                <a:ea typeface="Calibri" pitchFamily="34" charset="-122"/>
                <a:cs typeface="Calibri" pitchFamily="34" charset="-120"/>
              </a:rPr>
              <a:t>$0   </a:t>
            </a:r>
            <a:pPr indent="0" marL="0">
              <a:buNone/>
            </a:pPr>
            <a:r>
              <a:rPr lang="en-US" sz="1050" dirty="0">
                <a:solidFill>
                  <a:srgbClr val="67726B"/>
                </a:solidFill>
                <a:latin typeface="Calibri" pitchFamily="34" charset="0"/>
                <a:ea typeface="Calibri" pitchFamily="34" charset="-122"/>
                <a:cs typeface="Calibri" pitchFamily="34" charset="-120"/>
              </a:rPr>
              <a:t>acquisition cost</a:t>
            </a:r>
            <a:endParaRPr lang="en-US" sz="2000" dirty="0"/>
          </a:p>
        </p:txBody>
      </p:sp>
      <p:sp>
        <p:nvSpPr>
          <p:cNvPr id="12" name="Shape 10"/>
          <p:cNvSpPr/>
          <p:nvPr/>
        </p:nvSpPr>
        <p:spPr>
          <a:xfrm>
            <a:off x="4343400" y="2578608"/>
            <a:ext cx="3502152" cy="2395728"/>
          </a:xfrm>
          <a:prstGeom prst="roundRect">
            <a:avLst>
              <a:gd name="adj" fmla="val 4580"/>
            </a:avLst>
          </a:prstGeom>
          <a:solidFill>
            <a:srgbClr val="101613"/>
          </a:solidFill>
          <a:ln w="12700">
            <a:solidFill>
              <a:srgbClr val="1C2420"/>
            </a:solidFill>
            <a:prstDash val="solid"/>
          </a:ln>
        </p:spPr>
      </p:sp>
      <p:sp>
        <p:nvSpPr>
          <p:cNvPr id="13" name="Shape 11"/>
          <p:cNvSpPr/>
          <p:nvPr/>
        </p:nvSpPr>
        <p:spPr>
          <a:xfrm>
            <a:off x="4581144" y="2743200"/>
            <a:ext cx="1691640" cy="256032"/>
          </a:xfrm>
          <a:prstGeom prst="roundRect">
            <a:avLst>
              <a:gd name="adj" fmla="val 178571"/>
            </a:avLst>
          </a:prstGeom>
          <a:solidFill>
            <a:srgbClr val="161D19"/>
          </a:solidFill>
          <a:ln w="12700">
            <a:solidFill>
              <a:srgbClr val="22C55E"/>
            </a:solidFill>
            <a:prstDash val="solid"/>
          </a:ln>
        </p:spPr>
      </p:sp>
      <p:sp>
        <p:nvSpPr>
          <p:cNvPr id="14" name="Text 12"/>
          <p:cNvSpPr/>
          <p:nvPr/>
        </p:nvSpPr>
        <p:spPr>
          <a:xfrm>
            <a:off x="4581144" y="2743200"/>
            <a:ext cx="1691640" cy="256032"/>
          </a:xfrm>
          <a:prstGeom prst="rect">
            <a:avLst/>
          </a:prstGeom>
          <a:noFill/>
          <a:ln/>
        </p:spPr>
        <p:txBody>
          <a:bodyPr wrap="square" lIns="0" tIns="0" rIns="0" bIns="0" rtlCol="0" anchor="ctr"/>
          <a:lstStyle/>
          <a:p>
            <a:pPr algn="ctr" indent="0" marL="0">
              <a:buNone/>
            </a:pPr>
            <a:r>
              <a:rPr lang="en-US" sz="850" b="1" spc="80" kern="0" dirty="0">
                <a:solidFill>
                  <a:srgbClr val="22C55E"/>
                </a:solidFill>
                <a:latin typeface="Calibri" pitchFamily="34" charset="0"/>
                <a:ea typeface="Calibri" pitchFamily="34" charset="-122"/>
                <a:cs typeface="Calibri" pitchFamily="34" charset="-120"/>
              </a:rPr>
              <a:t>PHASE 2  ·  3–12 MO</a:t>
            </a:r>
            <a:endParaRPr lang="en-US" sz="850" dirty="0"/>
          </a:p>
        </p:txBody>
      </p:sp>
      <p:sp>
        <p:nvSpPr>
          <p:cNvPr id="15" name="Text 13"/>
          <p:cNvSpPr/>
          <p:nvPr/>
        </p:nvSpPr>
        <p:spPr>
          <a:xfrm>
            <a:off x="4581144" y="3090672"/>
            <a:ext cx="3017520" cy="310896"/>
          </a:xfrm>
          <a:prstGeom prst="rect">
            <a:avLst/>
          </a:prstGeom>
          <a:noFill/>
          <a:ln/>
        </p:spPr>
        <p:txBody>
          <a:bodyPr wrap="square" lIns="0" tIns="0" rIns="0" bIns="0" rtlCol="0" anchor="ctr"/>
          <a:lstStyle/>
          <a:p>
            <a:pPr indent="0" marL="0">
              <a:buNone/>
            </a:pPr>
            <a:r>
              <a:rPr lang="en-US" sz="1550" b="1" dirty="0">
                <a:solidFill>
                  <a:srgbClr val="F4F7F5"/>
                </a:solidFill>
                <a:latin typeface="Calibri" pitchFamily="34" charset="0"/>
                <a:ea typeface="Calibri" pitchFamily="34" charset="-122"/>
                <a:cs typeface="Calibri" pitchFamily="34" charset="-120"/>
              </a:rPr>
              <a:t>The answer is the ad</a:t>
            </a:r>
            <a:endParaRPr lang="en-US" sz="1550" dirty="0"/>
          </a:p>
        </p:txBody>
      </p:sp>
      <p:sp>
        <p:nvSpPr>
          <p:cNvPr id="16" name="Text 14"/>
          <p:cNvSpPr/>
          <p:nvPr/>
        </p:nvSpPr>
        <p:spPr>
          <a:xfrm>
            <a:off x="4581144" y="3438144"/>
            <a:ext cx="3035808" cy="1005840"/>
          </a:xfrm>
          <a:prstGeom prst="rect">
            <a:avLst/>
          </a:prstGeom>
          <a:noFill/>
          <a:ln/>
        </p:spPr>
        <p:txBody>
          <a:bodyPr wrap="square" lIns="0" tIns="0" rIns="0" bIns="0" rtlCol="0" anchor="t"/>
          <a:lstStyle/>
          <a:p>
            <a:pPr indent="0" marL="0">
              <a:lnSpc>
                <a:spcPct val="118000"/>
              </a:lnSpc>
              <a:buNone/>
            </a:pPr>
            <a:r>
              <a:rPr lang="en-US" sz="1150" dirty="0">
                <a:solidFill>
                  <a:srgbClr val="9BA8A0"/>
                </a:solidFill>
                <a:latin typeface="Calibri" pitchFamily="34" charset="0"/>
                <a:ea typeface="Calibri" pitchFamily="34" charset="-122"/>
                <a:cs typeface="Calibri" pitchFamily="34" charset="-120"/>
              </a:rPr>
              <a:t>Share-to-unlock is already shipped: the first ranked answer is free in exchange for a share. A ranked list with the reasoning attached is inherently screenshot-able — the coach's replies especially.</a:t>
            </a:r>
            <a:endParaRPr lang="en-US" sz="1150" dirty="0"/>
          </a:p>
        </p:txBody>
      </p:sp>
      <p:sp>
        <p:nvSpPr>
          <p:cNvPr id="17" name="Text 15"/>
          <p:cNvSpPr/>
          <p:nvPr/>
        </p:nvSpPr>
        <p:spPr>
          <a:xfrm>
            <a:off x="4581144" y="4498848"/>
            <a:ext cx="3017520" cy="329184"/>
          </a:xfrm>
          <a:prstGeom prst="rect">
            <a:avLst/>
          </a:prstGeom>
          <a:noFill/>
          <a:ln/>
        </p:spPr>
        <p:txBody>
          <a:bodyPr wrap="square" lIns="0" tIns="0" rIns="0" bIns="0" rtlCol="0" anchor="ctr"/>
          <a:lstStyle/>
          <a:p>
            <a:pPr indent="0" marL="0">
              <a:buNone/>
            </a:pPr>
            <a:r>
              <a:rPr lang="en-US" sz="2000" b="1" dirty="0">
                <a:solidFill>
                  <a:srgbClr val="22C55E"/>
                </a:solidFill>
                <a:latin typeface="Calibri" pitchFamily="34" charset="0"/>
                <a:ea typeface="Calibri" pitchFamily="34" charset="-122"/>
                <a:cs typeface="Calibri" pitchFamily="34" charset="-120"/>
              </a:rPr>
              <a:t>1 share   </a:t>
            </a:r>
            <a:pPr indent="0" marL="0">
              <a:buNone/>
            </a:pPr>
            <a:r>
              <a:rPr lang="en-US" sz="1050" dirty="0">
                <a:solidFill>
                  <a:srgbClr val="67726B"/>
                </a:solidFill>
                <a:latin typeface="Calibri" pitchFamily="34" charset="0"/>
                <a:ea typeface="Calibri" pitchFamily="34" charset="-122"/>
                <a:cs typeface="Calibri" pitchFamily="34" charset="-120"/>
              </a:rPr>
              <a:t>unlocks the first answer</a:t>
            </a:r>
            <a:endParaRPr lang="en-US" sz="2000" dirty="0"/>
          </a:p>
        </p:txBody>
      </p:sp>
      <p:sp>
        <p:nvSpPr>
          <p:cNvPr id="18" name="Shape 16"/>
          <p:cNvSpPr/>
          <p:nvPr/>
        </p:nvSpPr>
        <p:spPr>
          <a:xfrm>
            <a:off x="8046720" y="2578608"/>
            <a:ext cx="3502152" cy="2395728"/>
          </a:xfrm>
          <a:prstGeom prst="roundRect">
            <a:avLst>
              <a:gd name="adj" fmla="val 4580"/>
            </a:avLst>
          </a:prstGeom>
          <a:solidFill>
            <a:srgbClr val="101613"/>
          </a:solidFill>
          <a:ln w="12700">
            <a:solidFill>
              <a:srgbClr val="1C2420"/>
            </a:solidFill>
            <a:prstDash val="solid"/>
          </a:ln>
        </p:spPr>
      </p:sp>
      <p:sp>
        <p:nvSpPr>
          <p:cNvPr id="19" name="Shape 17"/>
          <p:cNvSpPr/>
          <p:nvPr/>
        </p:nvSpPr>
        <p:spPr>
          <a:xfrm>
            <a:off x="8284464" y="2743200"/>
            <a:ext cx="1691640" cy="256032"/>
          </a:xfrm>
          <a:prstGeom prst="roundRect">
            <a:avLst>
              <a:gd name="adj" fmla="val 178571"/>
            </a:avLst>
          </a:prstGeom>
          <a:solidFill>
            <a:srgbClr val="161D19"/>
          </a:solidFill>
          <a:ln w="12700">
            <a:solidFill>
              <a:srgbClr val="22C55E"/>
            </a:solidFill>
            <a:prstDash val="solid"/>
          </a:ln>
        </p:spPr>
      </p:sp>
      <p:sp>
        <p:nvSpPr>
          <p:cNvPr id="20" name="Text 18"/>
          <p:cNvSpPr/>
          <p:nvPr/>
        </p:nvSpPr>
        <p:spPr>
          <a:xfrm>
            <a:off x="8284464" y="2743200"/>
            <a:ext cx="1691640" cy="256032"/>
          </a:xfrm>
          <a:prstGeom prst="rect">
            <a:avLst/>
          </a:prstGeom>
          <a:noFill/>
          <a:ln/>
        </p:spPr>
        <p:txBody>
          <a:bodyPr wrap="square" lIns="0" tIns="0" rIns="0" bIns="0" rtlCol="0" anchor="ctr"/>
          <a:lstStyle/>
          <a:p>
            <a:pPr algn="ctr" indent="0" marL="0">
              <a:buNone/>
            </a:pPr>
            <a:r>
              <a:rPr lang="en-US" sz="850" b="1" spc="80" kern="0" dirty="0">
                <a:solidFill>
                  <a:srgbClr val="22C55E"/>
                </a:solidFill>
                <a:latin typeface="Calibri" pitchFamily="34" charset="0"/>
                <a:ea typeface="Calibri" pitchFamily="34" charset="-122"/>
                <a:cs typeface="Calibri" pitchFamily="34" charset="-120"/>
              </a:rPr>
              <a:t>PHASE 3  ·  12 MO+</a:t>
            </a:r>
            <a:endParaRPr lang="en-US" sz="850" dirty="0"/>
          </a:p>
        </p:txBody>
      </p:sp>
      <p:sp>
        <p:nvSpPr>
          <p:cNvPr id="21" name="Text 19"/>
          <p:cNvSpPr/>
          <p:nvPr/>
        </p:nvSpPr>
        <p:spPr>
          <a:xfrm>
            <a:off x="8284464" y="3090672"/>
            <a:ext cx="3017520" cy="310896"/>
          </a:xfrm>
          <a:prstGeom prst="rect">
            <a:avLst/>
          </a:prstGeom>
          <a:noFill/>
          <a:ln/>
        </p:spPr>
        <p:txBody>
          <a:bodyPr wrap="square" lIns="0" tIns="0" rIns="0" bIns="0" rtlCol="0" anchor="ctr"/>
          <a:lstStyle/>
          <a:p>
            <a:pPr indent="0" marL="0">
              <a:buNone/>
            </a:pPr>
            <a:r>
              <a:rPr lang="en-US" sz="1550" b="1" dirty="0">
                <a:solidFill>
                  <a:srgbClr val="F4F7F5"/>
                </a:solidFill>
                <a:latin typeface="Calibri" pitchFamily="34" charset="0"/>
                <a:ea typeface="Calibri" pitchFamily="34" charset="-122"/>
                <a:cs typeface="Calibri" pitchFamily="34" charset="-120"/>
              </a:rPr>
              <a:t>Rankings are content</a:t>
            </a:r>
            <a:endParaRPr lang="en-US" sz="1550" dirty="0"/>
          </a:p>
        </p:txBody>
      </p:sp>
      <p:sp>
        <p:nvSpPr>
          <p:cNvPr id="22" name="Text 20"/>
          <p:cNvSpPr/>
          <p:nvPr/>
        </p:nvSpPr>
        <p:spPr>
          <a:xfrm>
            <a:off x="8284464" y="3438144"/>
            <a:ext cx="3035808" cy="1005840"/>
          </a:xfrm>
          <a:prstGeom prst="rect">
            <a:avLst/>
          </a:prstGeom>
          <a:noFill/>
          <a:ln/>
        </p:spPr>
        <p:txBody>
          <a:bodyPr wrap="square" lIns="0" tIns="0" rIns="0" bIns="0" rtlCol="0" anchor="t"/>
          <a:lstStyle/>
          <a:p>
            <a:pPr indent="0" marL="0">
              <a:lnSpc>
                <a:spcPct val="118000"/>
              </a:lnSpc>
              <a:buNone/>
            </a:pPr>
            <a:r>
              <a:rPr lang="en-US" sz="1150" dirty="0">
                <a:solidFill>
                  <a:srgbClr val="9BA8A0"/>
                </a:solidFill>
                <a:latin typeface="Calibri" pitchFamily="34" charset="0"/>
                <a:ea typeface="Calibri" pitchFamily="34" charset="-122"/>
                <a:cs typeface="Calibri" pitchFamily="34" charset="-120"/>
              </a:rPr>
              <a:t>The engine produces a fresh, defensible, publishable answer every day — "the best place for $5,000 this week." That's an SEO surface, a newsletter and a social feed that costs one API call to generate.</a:t>
            </a:r>
            <a:endParaRPr lang="en-US" sz="1150" dirty="0"/>
          </a:p>
        </p:txBody>
      </p:sp>
      <p:sp>
        <p:nvSpPr>
          <p:cNvPr id="23" name="Text 21"/>
          <p:cNvSpPr/>
          <p:nvPr/>
        </p:nvSpPr>
        <p:spPr>
          <a:xfrm>
            <a:off x="8284464" y="4498848"/>
            <a:ext cx="3017520" cy="329184"/>
          </a:xfrm>
          <a:prstGeom prst="rect">
            <a:avLst/>
          </a:prstGeom>
          <a:noFill/>
          <a:ln/>
        </p:spPr>
        <p:txBody>
          <a:bodyPr wrap="square" lIns="0" tIns="0" rIns="0" bIns="0" rtlCol="0" anchor="ctr"/>
          <a:lstStyle/>
          <a:p>
            <a:pPr indent="0" marL="0">
              <a:buNone/>
            </a:pPr>
            <a:r>
              <a:rPr lang="en-US" sz="2000" b="1" dirty="0">
                <a:solidFill>
                  <a:srgbClr val="22C55E"/>
                </a:solidFill>
                <a:latin typeface="Calibri" pitchFamily="34" charset="0"/>
                <a:ea typeface="Calibri" pitchFamily="34" charset="-122"/>
                <a:cs typeface="Calibri" pitchFamily="34" charset="-120"/>
              </a:rPr>
              <a:t>1   </a:t>
            </a:r>
            <a:pPr indent="0" marL="0">
              <a:buNone/>
            </a:pPr>
            <a:r>
              <a:rPr lang="en-US" sz="1050" dirty="0">
                <a:solidFill>
                  <a:srgbClr val="67726B"/>
                </a:solidFill>
                <a:latin typeface="Calibri" pitchFamily="34" charset="0"/>
                <a:ea typeface="Calibri" pitchFamily="34" charset="-122"/>
                <a:cs typeface="Calibri" pitchFamily="34" charset="-120"/>
              </a:rPr>
              <a:t>engine, infinite content</a:t>
            </a:r>
            <a:endParaRPr lang="en-US" sz="2000" dirty="0"/>
          </a:p>
        </p:txBody>
      </p:sp>
      <p:sp>
        <p:nvSpPr>
          <p:cNvPr id="24" name="Shape 22"/>
          <p:cNvSpPr/>
          <p:nvPr/>
        </p:nvSpPr>
        <p:spPr>
          <a:xfrm>
            <a:off x="640080" y="5138928"/>
            <a:ext cx="10908792" cy="932688"/>
          </a:xfrm>
          <a:prstGeom prst="roundRect">
            <a:avLst>
              <a:gd name="adj" fmla="val 11765"/>
            </a:avLst>
          </a:prstGeom>
          <a:solidFill>
            <a:srgbClr val="161D19"/>
          </a:solidFill>
          <a:ln w="12700">
            <a:solidFill>
              <a:srgbClr val="2A352F"/>
            </a:solidFill>
            <a:prstDash val="solid"/>
          </a:ln>
        </p:spPr>
      </p:sp>
      <p:sp>
        <p:nvSpPr>
          <p:cNvPr id="25" name="Text 23"/>
          <p:cNvSpPr/>
          <p:nvPr/>
        </p:nvSpPr>
        <p:spPr>
          <a:xfrm>
            <a:off x="896112" y="5248656"/>
            <a:ext cx="1371600" cy="219456"/>
          </a:xfrm>
          <a:prstGeom prst="rect">
            <a:avLst/>
          </a:prstGeom>
          <a:noFill/>
          <a:ln/>
        </p:spPr>
        <p:txBody>
          <a:bodyPr wrap="square" lIns="0" tIns="0" rIns="0" bIns="0" rtlCol="0" anchor="ctr"/>
          <a:lstStyle/>
          <a:p>
            <a:pPr indent="0" marL="0">
              <a:buNone/>
            </a:pPr>
            <a:r>
              <a:rPr lang="en-US" sz="900" b="1" spc="130" kern="0" dirty="0">
                <a:solidFill>
                  <a:srgbClr val="22C55E"/>
                </a:solidFill>
                <a:latin typeface="Calibri" pitchFamily="34" charset="0"/>
                <a:ea typeface="Calibri" pitchFamily="34" charset="-122"/>
                <a:cs typeface="Calibri" pitchFamily="34" charset="-120"/>
              </a:rPr>
              <a:t>THE LOOP</a:t>
            </a:r>
            <a:endParaRPr lang="en-US" sz="900" dirty="0"/>
          </a:p>
        </p:txBody>
      </p:sp>
      <p:sp>
        <p:nvSpPr>
          <p:cNvPr id="26" name="Shape 24"/>
          <p:cNvSpPr/>
          <p:nvPr/>
        </p:nvSpPr>
        <p:spPr>
          <a:xfrm>
            <a:off x="896112" y="5504688"/>
            <a:ext cx="1828800" cy="402336"/>
          </a:xfrm>
          <a:prstGeom prst="roundRect">
            <a:avLst>
              <a:gd name="adj" fmla="val 22727"/>
            </a:avLst>
          </a:prstGeom>
          <a:solidFill>
            <a:srgbClr val="101613"/>
          </a:solidFill>
          <a:ln w="12700">
            <a:solidFill>
              <a:srgbClr val="1C2420"/>
            </a:solidFill>
            <a:prstDash val="solid"/>
          </a:ln>
        </p:spPr>
      </p:sp>
      <p:sp>
        <p:nvSpPr>
          <p:cNvPr id="27" name="Text 25"/>
          <p:cNvSpPr/>
          <p:nvPr/>
        </p:nvSpPr>
        <p:spPr>
          <a:xfrm>
            <a:off x="969264" y="5504688"/>
            <a:ext cx="1682496" cy="402336"/>
          </a:xfrm>
          <a:prstGeom prst="rect">
            <a:avLst/>
          </a:prstGeom>
          <a:noFill/>
          <a:ln/>
        </p:spPr>
        <p:txBody>
          <a:bodyPr wrap="square" lIns="0" tIns="0" rIns="0" bIns="0" rtlCol="0" anchor="ctr"/>
          <a:lstStyle/>
          <a:p>
            <a:pPr algn="ctr" indent="0" marL="0">
              <a:buNone/>
            </a:pPr>
            <a:r>
              <a:rPr lang="en-US" sz="1000" b="1" dirty="0">
                <a:solidFill>
                  <a:srgbClr val="F4F7F5"/>
                </a:solidFill>
                <a:latin typeface="Calibri" pitchFamily="34" charset="0"/>
                <a:ea typeface="Calibri" pitchFamily="34" charset="-122"/>
                <a:cs typeface="Calibri" pitchFamily="34" charset="-120"/>
              </a:rPr>
              <a:t>User sets a goal</a:t>
            </a:r>
            <a:endParaRPr lang="en-US" sz="1000" dirty="0"/>
          </a:p>
        </p:txBody>
      </p:sp>
      <p:sp>
        <p:nvSpPr>
          <p:cNvPr id="28" name="Text 26"/>
          <p:cNvSpPr/>
          <p:nvPr/>
        </p:nvSpPr>
        <p:spPr>
          <a:xfrm>
            <a:off x="2724912" y="5504688"/>
            <a:ext cx="320040" cy="402336"/>
          </a:xfrm>
          <a:prstGeom prst="rect">
            <a:avLst/>
          </a:prstGeom>
          <a:noFill/>
          <a:ln/>
        </p:spPr>
        <p:txBody>
          <a:bodyPr wrap="square" lIns="0" tIns="0" rIns="0" bIns="0" rtlCol="0" anchor="ctr"/>
          <a:lstStyle/>
          <a:p>
            <a:pPr algn="ctr" indent="0" marL="0">
              <a:buNone/>
            </a:pPr>
            <a:r>
              <a:rPr lang="en-US" sz="1400" b="1" dirty="0">
                <a:solidFill>
                  <a:srgbClr val="22C55E"/>
                </a:solidFill>
                <a:latin typeface="Calibri" pitchFamily="34" charset="0"/>
                <a:ea typeface="Calibri" pitchFamily="34" charset="-122"/>
                <a:cs typeface="Calibri" pitchFamily="34" charset="-120"/>
              </a:rPr>
              <a:t>→</a:t>
            </a:r>
            <a:endParaRPr lang="en-US" sz="1400" dirty="0"/>
          </a:p>
        </p:txBody>
      </p:sp>
      <p:sp>
        <p:nvSpPr>
          <p:cNvPr id="29" name="Shape 27"/>
          <p:cNvSpPr/>
          <p:nvPr/>
        </p:nvSpPr>
        <p:spPr>
          <a:xfrm>
            <a:off x="3044952" y="5504688"/>
            <a:ext cx="1828800" cy="402336"/>
          </a:xfrm>
          <a:prstGeom prst="roundRect">
            <a:avLst>
              <a:gd name="adj" fmla="val 22727"/>
            </a:avLst>
          </a:prstGeom>
          <a:solidFill>
            <a:srgbClr val="101613"/>
          </a:solidFill>
          <a:ln w="12700">
            <a:solidFill>
              <a:srgbClr val="1C2420"/>
            </a:solidFill>
            <a:prstDash val="solid"/>
          </a:ln>
        </p:spPr>
      </p:sp>
      <p:sp>
        <p:nvSpPr>
          <p:cNvPr id="30" name="Text 28"/>
          <p:cNvSpPr/>
          <p:nvPr/>
        </p:nvSpPr>
        <p:spPr>
          <a:xfrm>
            <a:off x="3118104" y="5504688"/>
            <a:ext cx="1682496" cy="402336"/>
          </a:xfrm>
          <a:prstGeom prst="rect">
            <a:avLst/>
          </a:prstGeom>
          <a:noFill/>
          <a:ln/>
        </p:spPr>
        <p:txBody>
          <a:bodyPr wrap="square" lIns="0" tIns="0" rIns="0" bIns="0" rtlCol="0" anchor="ctr"/>
          <a:lstStyle/>
          <a:p>
            <a:pPr algn="ctr" indent="0" marL="0">
              <a:buNone/>
            </a:pPr>
            <a:r>
              <a:rPr lang="en-US" sz="1000" b="1" dirty="0">
                <a:solidFill>
                  <a:srgbClr val="F4F7F5"/>
                </a:solidFill>
                <a:latin typeface="Calibri" pitchFamily="34" charset="0"/>
                <a:ea typeface="Calibri" pitchFamily="34" charset="-122"/>
                <a:cs typeface="Calibri" pitchFamily="34" charset="-120"/>
              </a:rPr>
              <a:t>Gets a ranked answer</a:t>
            </a:r>
            <a:endParaRPr lang="en-US" sz="1000" dirty="0"/>
          </a:p>
        </p:txBody>
      </p:sp>
      <p:sp>
        <p:nvSpPr>
          <p:cNvPr id="31" name="Text 29"/>
          <p:cNvSpPr/>
          <p:nvPr/>
        </p:nvSpPr>
        <p:spPr>
          <a:xfrm>
            <a:off x="4873752" y="5504688"/>
            <a:ext cx="320040" cy="402336"/>
          </a:xfrm>
          <a:prstGeom prst="rect">
            <a:avLst/>
          </a:prstGeom>
          <a:noFill/>
          <a:ln/>
        </p:spPr>
        <p:txBody>
          <a:bodyPr wrap="square" lIns="0" tIns="0" rIns="0" bIns="0" rtlCol="0" anchor="ctr"/>
          <a:lstStyle/>
          <a:p>
            <a:pPr algn="ctr" indent="0" marL="0">
              <a:buNone/>
            </a:pPr>
            <a:r>
              <a:rPr lang="en-US" sz="1400" b="1" dirty="0">
                <a:solidFill>
                  <a:srgbClr val="22C55E"/>
                </a:solidFill>
                <a:latin typeface="Calibri" pitchFamily="34" charset="0"/>
                <a:ea typeface="Calibri" pitchFamily="34" charset="-122"/>
                <a:cs typeface="Calibri" pitchFamily="34" charset="-120"/>
              </a:rPr>
              <a:t>→</a:t>
            </a:r>
            <a:endParaRPr lang="en-US" sz="1400" dirty="0"/>
          </a:p>
        </p:txBody>
      </p:sp>
      <p:sp>
        <p:nvSpPr>
          <p:cNvPr id="32" name="Shape 30"/>
          <p:cNvSpPr/>
          <p:nvPr/>
        </p:nvSpPr>
        <p:spPr>
          <a:xfrm>
            <a:off x="5193792" y="5504688"/>
            <a:ext cx="1828800" cy="402336"/>
          </a:xfrm>
          <a:prstGeom prst="roundRect">
            <a:avLst>
              <a:gd name="adj" fmla="val 22727"/>
            </a:avLst>
          </a:prstGeom>
          <a:solidFill>
            <a:srgbClr val="101613"/>
          </a:solidFill>
          <a:ln w="12700">
            <a:solidFill>
              <a:srgbClr val="1C2420"/>
            </a:solidFill>
            <a:prstDash val="solid"/>
          </a:ln>
        </p:spPr>
      </p:sp>
      <p:sp>
        <p:nvSpPr>
          <p:cNvPr id="33" name="Text 31"/>
          <p:cNvSpPr/>
          <p:nvPr/>
        </p:nvSpPr>
        <p:spPr>
          <a:xfrm>
            <a:off x="5266944" y="5504688"/>
            <a:ext cx="1682496" cy="402336"/>
          </a:xfrm>
          <a:prstGeom prst="rect">
            <a:avLst/>
          </a:prstGeom>
          <a:noFill/>
          <a:ln/>
        </p:spPr>
        <p:txBody>
          <a:bodyPr wrap="square" lIns="0" tIns="0" rIns="0" bIns="0" rtlCol="0" anchor="ctr"/>
          <a:lstStyle/>
          <a:p>
            <a:pPr algn="ctr" indent="0" marL="0">
              <a:buNone/>
            </a:pPr>
            <a:r>
              <a:rPr lang="en-US" sz="1000" b="1" dirty="0">
                <a:solidFill>
                  <a:srgbClr val="F4F7F5"/>
                </a:solidFill>
                <a:latin typeface="Calibri" pitchFamily="34" charset="0"/>
                <a:ea typeface="Calibri" pitchFamily="34" charset="-122"/>
                <a:cs typeface="Calibri" pitchFamily="34" charset="-120"/>
              </a:rPr>
              <a:t>Shares it to unlock</a:t>
            </a:r>
            <a:endParaRPr lang="en-US" sz="1000" dirty="0"/>
          </a:p>
        </p:txBody>
      </p:sp>
      <p:sp>
        <p:nvSpPr>
          <p:cNvPr id="34" name="Text 32"/>
          <p:cNvSpPr/>
          <p:nvPr/>
        </p:nvSpPr>
        <p:spPr>
          <a:xfrm>
            <a:off x="7022592" y="5504688"/>
            <a:ext cx="320040" cy="402336"/>
          </a:xfrm>
          <a:prstGeom prst="rect">
            <a:avLst/>
          </a:prstGeom>
          <a:noFill/>
          <a:ln/>
        </p:spPr>
        <p:txBody>
          <a:bodyPr wrap="square" lIns="0" tIns="0" rIns="0" bIns="0" rtlCol="0" anchor="ctr"/>
          <a:lstStyle/>
          <a:p>
            <a:pPr algn="ctr" indent="0" marL="0">
              <a:buNone/>
            </a:pPr>
            <a:r>
              <a:rPr lang="en-US" sz="1400" b="1" dirty="0">
                <a:solidFill>
                  <a:srgbClr val="22C55E"/>
                </a:solidFill>
                <a:latin typeface="Calibri" pitchFamily="34" charset="0"/>
                <a:ea typeface="Calibri" pitchFamily="34" charset="-122"/>
                <a:cs typeface="Calibri" pitchFamily="34" charset="-120"/>
              </a:rPr>
              <a:t>→</a:t>
            </a:r>
            <a:endParaRPr lang="en-US" sz="1400" dirty="0"/>
          </a:p>
        </p:txBody>
      </p:sp>
      <p:sp>
        <p:nvSpPr>
          <p:cNvPr id="35" name="Shape 33"/>
          <p:cNvSpPr/>
          <p:nvPr/>
        </p:nvSpPr>
        <p:spPr>
          <a:xfrm>
            <a:off x="7342632" y="5504688"/>
            <a:ext cx="1828800" cy="402336"/>
          </a:xfrm>
          <a:prstGeom prst="roundRect">
            <a:avLst>
              <a:gd name="adj" fmla="val 22727"/>
            </a:avLst>
          </a:prstGeom>
          <a:solidFill>
            <a:srgbClr val="101613"/>
          </a:solidFill>
          <a:ln w="12700">
            <a:solidFill>
              <a:srgbClr val="1C2420"/>
            </a:solidFill>
            <a:prstDash val="solid"/>
          </a:ln>
        </p:spPr>
      </p:sp>
      <p:sp>
        <p:nvSpPr>
          <p:cNvPr id="36" name="Text 34"/>
          <p:cNvSpPr/>
          <p:nvPr/>
        </p:nvSpPr>
        <p:spPr>
          <a:xfrm>
            <a:off x="7415784" y="5504688"/>
            <a:ext cx="1682496" cy="402336"/>
          </a:xfrm>
          <a:prstGeom prst="rect">
            <a:avLst/>
          </a:prstGeom>
          <a:noFill/>
          <a:ln/>
        </p:spPr>
        <p:txBody>
          <a:bodyPr wrap="square" lIns="0" tIns="0" rIns="0" bIns="0" rtlCol="0" anchor="ctr"/>
          <a:lstStyle/>
          <a:p>
            <a:pPr algn="ctr" indent="0" marL="0">
              <a:buNone/>
            </a:pPr>
            <a:r>
              <a:rPr lang="en-US" sz="1000" b="1" dirty="0">
                <a:solidFill>
                  <a:srgbClr val="F4F7F5"/>
                </a:solidFill>
                <a:latin typeface="Calibri" pitchFamily="34" charset="0"/>
                <a:ea typeface="Calibri" pitchFamily="34" charset="-122"/>
                <a:cs typeface="Calibri" pitchFamily="34" charset="-120"/>
              </a:rPr>
              <a:t>Friend sees the reasoning</a:t>
            </a:r>
            <a:endParaRPr lang="en-US" sz="1000" dirty="0"/>
          </a:p>
        </p:txBody>
      </p:sp>
      <p:sp>
        <p:nvSpPr>
          <p:cNvPr id="37" name="Text 35"/>
          <p:cNvSpPr/>
          <p:nvPr/>
        </p:nvSpPr>
        <p:spPr>
          <a:xfrm>
            <a:off x="9171432" y="5504688"/>
            <a:ext cx="320040" cy="402336"/>
          </a:xfrm>
          <a:prstGeom prst="rect">
            <a:avLst/>
          </a:prstGeom>
          <a:noFill/>
          <a:ln/>
        </p:spPr>
        <p:txBody>
          <a:bodyPr wrap="square" lIns="0" tIns="0" rIns="0" bIns="0" rtlCol="0" anchor="ctr"/>
          <a:lstStyle/>
          <a:p>
            <a:pPr algn="ctr" indent="0" marL="0">
              <a:buNone/>
            </a:pPr>
            <a:r>
              <a:rPr lang="en-US" sz="1400" b="1" dirty="0">
                <a:solidFill>
                  <a:srgbClr val="22C55E"/>
                </a:solidFill>
                <a:latin typeface="Calibri" pitchFamily="34" charset="0"/>
                <a:ea typeface="Calibri" pitchFamily="34" charset="-122"/>
                <a:cs typeface="Calibri" pitchFamily="34" charset="-120"/>
              </a:rPr>
              <a:t>→</a:t>
            </a:r>
            <a:endParaRPr lang="en-US" sz="1400" dirty="0"/>
          </a:p>
        </p:txBody>
      </p:sp>
      <p:sp>
        <p:nvSpPr>
          <p:cNvPr id="38" name="Shape 36"/>
          <p:cNvSpPr/>
          <p:nvPr/>
        </p:nvSpPr>
        <p:spPr>
          <a:xfrm>
            <a:off x="9491472" y="5504688"/>
            <a:ext cx="1828800" cy="402336"/>
          </a:xfrm>
          <a:prstGeom prst="roundRect">
            <a:avLst>
              <a:gd name="adj" fmla="val 22727"/>
            </a:avLst>
          </a:prstGeom>
          <a:solidFill>
            <a:srgbClr val="101613"/>
          </a:solidFill>
          <a:ln w="12700">
            <a:solidFill>
              <a:srgbClr val="1C2420"/>
            </a:solidFill>
            <a:prstDash val="solid"/>
          </a:ln>
        </p:spPr>
      </p:sp>
      <p:sp>
        <p:nvSpPr>
          <p:cNvPr id="39" name="Text 37"/>
          <p:cNvSpPr/>
          <p:nvPr/>
        </p:nvSpPr>
        <p:spPr>
          <a:xfrm>
            <a:off x="9564624" y="5504688"/>
            <a:ext cx="1682496" cy="402336"/>
          </a:xfrm>
          <a:prstGeom prst="rect">
            <a:avLst/>
          </a:prstGeom>
          <a:noFill/>
          <a:ln/>
        </p:spPr>
        <p:txBody>
          <a:bodyPr wrap="square" lIns="0" tIns="0" rIns="0" bIns="0" rtlCol="0" anchor="ctr"/>
          <a:lstStyle/>
          <a:p>
            <a:pPr algn="ctr" indent="0" marL="0">
              <a:buNone/>
            </a:pPr>
            <a:r>
              <a:rPr lang="en-US" sz="1000" b="1" dirty="0">
                <a:solidFill>
                  <a:srgbClr val="F4F7F5"/>
                </a:solidFill>
                <a:latin typeface="Calibri" pitchFamily="34" charset="0"/>
                <a:ea typeface="Calibri" pitchFamily="34" charset="-122"/>
                <a:cs typeface="Calibri" pitchFamily="34" charset="-120"/>
              </a:rPr>
              <a:t>Sets their own goal</a:t>
            </a:r>
            <a:endParaRPr lang="en-US" sz="1000" dirty="0"/>
          </a:p>
        </p:txBody>
      </p:sp>
      <p:sp>
        <p:nvSpPr>
          <p:cNvPr id="40" name="Text 38"/>
          <p:cNvSpPr/>
          <p:nvPr/>
        </p:nvSpPr>
        <p:spPr>
          <a:xfrm>
            <a:off x="640080" y="6199632"/>
            <a:ext cx="10881360" cy="274320"/>
          </a:xfrm>
          <a:prstGeom prst="rect">
            <a:avLst/>
          </a:prstGeom>
          <a:noFill/>
          <a:ln/>
        </p:spPr>
        <p:txBody>
          <a:bodyPr wrap="square" lIns="0" tIns="0" rIns="0" bIns="0" rtlCol="0" anchor="ctr"/>
          <a:lstStyle/>
          <a:p>
            <a:pPr indent="0" marL="0">
              <a:buNone/>
            </a:pPr>
            <a:r>
              <a:rPr lang="en-US" sz="1150" dirty="0">
                <a:solidFill>
                  <a:srgbClr val="9BA8A0"/>
                </a:solidFill>
                <a:latin typeface="Calibri" pitchFamily="34" charset="0"/>
                <a:ea typeface="Calibri" pitchFamily="34" charset="-122"/>
                <a:cs typeface="Calibri" pitchFamily="34" charset="-120"/>
              </a:rPr>
              <a:t>There is no paid acquisition in the plan. If the founder's own network won't pay for this, no advertising budget fixes that — and we'd rather find that out for free.</a:t>
            </a:r>
            <a:endParaRPr lang="en-US" sz="1150" dirty="0"/>
          </a:p>
        </p:txBody>
      </p:sp>
      <p:sp>
        <p:nvSpPr>
          <p:cNvPr id="42" name="Text 39"/>
          <p:cNvSpPr/>
          <p:nvPr/>
        </p:nvSpPr>
        <p:spPr>
          <a:xfrm>
            <a:off x="9692640" y="6528816"/>
            <a:ext cx="1188720" cy="237744"/>
          </a:xfrm>
          <a:prstGeom prst="rect">
            <a:avLst/>
          </a:prstGeom>
          <a:noFill/>
          <a:ln/>
        </p:spPr>
        <p:txBody>
          <a:bodyPr wrap="square" lIns="0" tIns="0" rIns="0" bIns="0" rtlCol="0" anchor="ctr"/>
          <a:lstStyle/>
          <a:p>
            <a:pPr algn="r" indent="0" marL="0">
              <a:buNone/>
            </a:pPr>
            <a:r>
              <a:rPr lang="en-US" sz="850" b="1" spc="140" kern="0" dirty="0">
                <a:solidFill>
                  <a:srgbClr val="67726B"/>
                </a:solidFill>
                <a:latin typeface="Calibri" pitchFamily="34" charset="0"/>
                <a:ea typeface="Calibri" pitchFamily="34" charset="-122"/>
                <a:cs typeface="Calibri" pitchFamily="34" charset="-120"/>
              </a:rPr>
              <a:t>POLYPROFIT</a:t>
            </a:r>
            <a:endParaRPr lang="en-US" sz="850" dirty="0"/>
          </a:p>
        </p:txBody>
      </p:sp>
      <p:sp>
        <p:nvSpPr>
          <p:cNvPr id="43" name="Text 40"/>
          <p:cNvSpPr/>
          <p:nvPr/>
        </p:nvSpPr>
        <p:spPr>
          <a:xfrm>
            <a:off x="11018520" y="6528816"/>
            <a:ext cx="530352" cy="237744"/>
          </a:xfrm>
          <a:prstGeom prst="rect">
            <a:avLst/>
          </a:prstGeom>
          <a:noFill/>
          <a:ln/>
        </p:spPr>
        <p:txBody>
          <a:bodyPr wrap="square" lIns="0" tIns="0" rIns="0" bIns="0" rtlCol="0" anchor="ctr"/>
          <a:lstStyle/>
          <a:p>
            <a:pPr algn="r" indent="0" marL="0">
              <a:buNone/>
            </a:pPr>
            <a:r>
              <a:rPr lang="en-US" sz="850" b="1" dirty="0">
                <a:solidFill>
                  <a:srgbClr val="22C55E"/>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0B09"/>
        </a:solidFill>
      </p:bgPr>
    </p:bg>
    <p:spTree>
      <p:nvGrpSpPr>
        <p:cNvPr id="1" name=""/>
        <p:cNvGrpSpPr/>
        <p:nvPr/>
      </p:nvGrpSpPr>
      <p:grpSpPr>
        <a:xfrm>
          <a:off x="0" y="0"/>
          <a:ext cx="0" cy="0"/>
          <a:chOff x="0" y="0"/>
          <a:chExt cx="0" cy="0"/>
        </a:xfrm>
      </p:grpSpPr>
      <p:sp>
        <p:nvSpPr>
          <p:cNvPr id="2" name="Shape 0"/>
          <p:cNvSpPr/>
          <p:nvPr/>
        </p:nvSpPr>
        <p:spPr>
          <a:xfrm>
            <a:off x="7863840" y="3291840"/>
            <a:ext cx="5852160" cy="5852160"/>
          </a:xfrm>
          <a:prstGeom prst="ellipse">
            <a:avLst/>
          </a:prstGeom>
          <a:solidFill>
            <a:srgbClr val="22C55E">
              <a:alpha val="6000"/>
            </a:srgbClr>
          </a:solidFill>
          <a:ln/>
        </p:spPr>
      </p:sp>
      <p:sp>
        <p:nvSpPr>
          <p:cNvPr id="3" name="Text 1"/>
          <p:cNvSpPr/>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22C55E"/>
                </a:solidFill>
                <a:latin typeface="Calibri" pitchFamily="34" charset="0"/>
                <a:ea typeface="Calibri" pitchFamily="34" charset="-122"/>
                <a:cs typeface="Calibri" pitchFamily="34" charset="-120"/>
              </a:rPr>
              <a:t>13  ·  WHY THIS SCALES</a:t>
            </a:r>
            <a:endParaRPr lang="en-US" sz="1100" dirty="0"/>
          </a:p>
        </p:txBody>
      </p:sp>
      <p:sp>
        <p:nvSpPr>
          <p:cNvPr id="4" name="Text 2"/>
          <p:cNvSpPr/>
          <p:nvPr/>
        </p:nvSpPr>
        <p:spPr>
          <a:xfrm>
            <a:off x="640080" y="777240"/>
            <a:ext cx="10881360" cy="685800"/>
          </a:xfrm>
          <a:prstGeom prst="rect">
            <a:avLst/>
          </a:prstGeom>
          <a:noFill/>
          <a:ln/>
        </p:spPr>
        <p:txBody>
          <a:bodyPr wrap="square" lIns="0" tIns="0" rIns="0" bIns="0" rtlCol="0" anchor="t"/>
          <a:lstStyle/>
          <a:p>
            <a:pPr indent="0" marL="0">
              <a:lnSpc>
                <a:spcPct val="105000"/>
              </a:lnSpc>
              <a:buNone/>
            </a:pPr>
            <a:r>
              <a:rPr lang="en-US" sz="3300" b="1" dirty="0">
                <a:solidFill>
                  <a:srgbClr val="F4F7F5"/>
                </a:solidFill>
                <a:latin typeface="Calibri" pitchFamily="34" charset="0"/>
                <a:ea typeface="Calibri" pitchFamily="34" charset="-122"/>
                <a:cs typeface="Calibri" pitchFamily="34" charset="-120"/>
              </a:rPr>
              <a:t>One engine. Every goal. Almost no</a:t>
            </a:r>
            <a:endParaRPr lang="en-US" sz="3300" dirty="0"/>
          </a:p>
          <a:p>
            <a:pPr indent="0" marL="0">
              <a:lnSpc>
                <a:spcPct val="105000"/>
              </a:lnSpc>
              <a:buNone/>
            </a:pPr>
            <a:r>
              <a:rPr lang="en-US" sz="3300" b="1" dirty="0">
                <a:solidFill>
                  <a:srgbClr val="F4F7F5"/>
                </a:solidFill>
                <a:latin typeface="Calibri" pitchFamily="34" charset="0"/>
                <a:ea typeface="Calibri" pitchFamily="34" charset="-122"/>
                <a:cs typeface="Calibri" pitchFamily="34" charset="-120"/>
              </a:rPr>
              <a:t>marginal cost per user.</a:t>
            </a:r>
            <a:endParaRPr lang="en-US" sz="3300" dirty="0"/>
          </a:p>
        </p:txBody>
      </p:sp>
      <p:sp>
        <p:nvSpPr>
          <p:cNvPr id="5" name="Text 3"/>
          <p:cNvSpPr/>
          <p:nvPr/>
        </p:nvSpPr>
        <p:spPr>
          <a:xfrm>
            <a:off x="640080" y="1956816"/>
            <a:ext cx="10424160" cy="384048"/>
          </a:xfrm>
          <a:prstGeom prst="rect">
            <a:avLst/>
          </a:prstGeom>
          <a:noFill/>
          <a:ln/>
        </p:spPr>
        <p:txBody>
          <a:bodyPr wrap="square" lIns="0" tIns="0" rIns="0" bIns="0" rtlCol="0" anchor="t"/>
          <a:lstStyle/>
          <a:p>
            <a:pPr indent="0" marL="0">
              <a:lnSpc>
                <a:spcPct val="115000"/>
              </a:lnSpc>
              <a:buNone/>
            </a:pPr>
            <a:r>
              <a:rPr lang="en-US" sz="1350" dirty="0">
                <a:solidFill>
                  <a:srgbClr val="9BA8A0"/>
                </a:solidFill>
                <a:latin typeface="Calibri" pitchFamily="34" charset="0"/>
                <a:ea typeface="Calibri" pitchFamily="34" charset="-122"/>
                <a:cs typeface="Calibri" pitchFamily="34" charset="-120"/>
              </a:rPr>
              <a:t>The expensive part — the integrations and the scoring engine — is built once and serves everybody. Nothing about user number 100,000 costs meaningfully more than user number 100.</a:t>
            </a:r>
            <a:endParaRPr lang="en-US" sz="1350" dirty="0"/>
          </a:p>
        </p:txBody>
      </p:sp>
      <p:sp>
        <p:nvSpPr>
          <p:cNvPr id="6" name="Shape 4"/>
          <p:cNvSpPr/>
          <p:nvPr/>
        </p:nvSpPr>
        <p:spPr>
          <a:xfrm>
            <a:off x="640080" y="2615184"/>
            <a:ext cx="5349240" cy="1115568"/>
          </a:xfrm>
          <a:prstGeom prst="roundRect">
            <a:avLst>
              <a:gd name="adj" fmla="val 9836"/>
            </a:avLst>
          </a:prstGeom>
          <a:solidFill>
            <a:srgbClr val="101613"/>
          </a:solidFill>
          <a:ln w="12700">
            <a:solidFill>
              <a:srgbClr val="1C2420"/>
            </a:solidFill>
            <a:prstDash val="solid"/>
          </a:ln>
        </p:spPr>
      </p:sp>
      <p:sp>
        <p:nvSpPr>
          <p:cNvPr id="7" name="Text 5"/>
          <p:cNvSpPr/>
          <p:nvPr/>
        </p:nvSpPr>
        <p:spPr>
          <a:xfrm>
            <a:off x="896112" y="2761488"/>
            <a:ext cx="4846320" cy="292608"/>
          </a:xfrm>
          <a:prstGeom prst="rect">
            <a:avLst/>
          </a:prstGeom>
          <a:noFill/>
          <a:ln/>
        </p:spPr>
        <p:txBody>
          <a:bodyPr wrap="square" lIns="0" tIns="0" rIns="0" bIns="0" rtlCol="0" anchor="ctr"/>
          <a:lstStyle/>
          <a:p>
            <a:pPr indent="0" marL="0">
              <a:buNone/>
            </a:pPr>
            <a:r>
              <a:rPr lang="en-US" sz="1500" b="1" dirty="0">
                <a:solidFill>
                  <a:srgbClr val="22C55E"/>
                </a:solidFill>
                <a:latin typeface="Calibri" pitchFamily="34" charset="0"/>
                <a:ea typeface="Calibri" pitchFamily="34" charset="-122"/>
                <a:cs typeface="Calibri" pitchFamily="34" charset="-120"/>
              </a:rPr>
              <a:t>The engine is shared</a:t>
            </a:r>
            <a:endParaRPr lang="en-US" sz="1500" dirty="0"/>
          </a:p>
        </p:txBody>
      </p:sp>
      <p:sp>
        <p:nvSpPr>
          <p:cNvPr id="8" name="Text 6"/>
          <p:cNvSpPr/>
          <p:nvPr/>
        </p:nvSpPr>
        <p:spPr>
          <a:xfrm>
            <a:off x="896112" y="3072384"/>
            <a:ext cx="4846320" cy="566928"/>
          </a:xfrm>
          <a:prstGeom prst="rect">
            <a:avLst/>
          </a:prstGeom>
          <a:noFill/>
          <a:ln/>
        </p:spPr>
        <p:txBody>
          <a:bodyPr wrap="square" lIns="0" tIns="0" rIns="0" bIns="0" rtlCol="0" anchor="t"/>
          <a:lstStyle/>
          <a:p>
            <a:pPr indent="0" marL="0">
              <a:lnSpc>
                <a:spcPct val="115000"/>
              </a:lnSpc>
              <a:buNone/>
            </a:pPr>
            <a:r>
              <a:rPr lang="en-US" sz="1150" dirty="0">
                <a:solidFill>
                  <a:srgbClr val="9BA8A0"/>
                </a:solidFill>
                <a:latin typeface="Calibri" pitchFamily="34" charset="0"/>
                <a:ea typeface="Calibri" pitchFamily="34" charset="-122"/>
                <a:cs typeface="Calibri" pitchFamily="34" charset="-120"/>
              </a:rPr>
              <a:t>Prices are fetched once and scored for everyone. Adding a user adds a database row, not a data feed.</a:t>
            </a:r>
            <a:endParaRPr lang="en-US" sz="1150" dirty="0"/>
          </a:p>
        </p:txBody>
      </p:sp>
      <p:sp>
        <p:nvSpPr>
          <p:cNvPr id="9" name="Shape 7"/>
          <p:cNvSpPr/>
          <p:nvPr/>
        </p:nvSpPr>
        <p:spPr>
          <a:xfrm>
            <a:off x="6199632" y="2615184"/>
            <a:ext cx="5349240" cy="1115568"/>
          </a:xfrm>
          <a:prstGeom prst="roundRect">
            <a:avLst>
              <a:gd name="adj" fmla="val 9836"/>
            </a:avLst>
          </a:prstGeom>
          <a:solidFill>
            <a:srgbClr val="101613"/>
          </a:solidFill>
          <a:ln w="12700">
            <a:solidFill>
              <a:srgbClr val="1C2420"/>
            </a:solidFill>
            <a:prstDash val="solid"/>
          </a:ln>
        </p:spPr>
      </p:sp>
      <p:sp>
        <p:nvSpPr>
          <p:cNvPr id="10" name="Text 8"/>
          <p:cNvSpPr/>
          <p:nvPr/>
        </p:nvSpPr>
        <p:spPr>
          <a:xfrm>
            <a:off x="6455664" y="2761488"/>
            <a:ext cx="4846320" cy="292608"/>
          </a:xfrm>
          <a:prstGeom prst="rect">
            <a:avLst/>
          </a:prstGeom>
          <a:noFill/>
          <a:ln/>
        </p:spPr>
        <p:txBody>
          <a:bodyPr wrap="square" lIns="0" tIns="0" rIns="0" bIns="0" rtlCol="0" anchor="ctr"/>
          <a:lstStyle/>
          <a:p>
            <a:pPr indent="0" marL="0">
              <a:buNone/>
            </a:pPr>
            <a:r>
              <a:rPr lang="en-US" sz="1500" b="1" dirty="0">
                <a:solidFill>
                  <a:srgbClr val="22C55E"/>
                </a:solidFill>
                <a:latin typeface="Calibri" pitchFamily="34" charset="0"/>
                <a:ea typeface="Calibri" pitchFamily="34" charset="-122"/>
                <a:cs typeface="Calibri" pitchFamily="34" charset="-120"/>
              </a:rPr>
              <a:t>New routes are additive</a:t>
            </a:r>
            <a:endParaRPr lang="en-US" sz="1500" dirty="0"/>
          </a:p>
        </p:txBody>
      </p:sp>
      <p:sp>
        <p:nvSpPr>
          <p:cNvPr id="11" name="Text 9"/>
          <p:cNvSpPr/>
          <p:nvPr/>
        </p:nvSpPr>
        <p:spPr>
          <a:xfrm>
            <a:off x="6455664" y="3072384"/>
            <a:ext cx="4846320" cy="566928"/>
          </a:xfrm>
          <a:prstGeom prst="rect">
            <a:avLst/>
          </a:prstGeom>
          <a:noFill/>
          <a:ln/>
        </p:spPr>
        <p:txBody>
          <a:bodyPr wrap="square" lIns="0" tIns="0" rIns="0" bIns="0" rtlCol="0" anchor="t"/>
          <a:lstStyle/>
          <a:p>
            <a:pPr indent="0" marL="0">
              <a:lnSpc>
                <a:spcPct val="115000"/>
              </a:lnSpc>
              <a:buNone/>
            </a:pPr>
            <a:r>
              <a:rPr lang="en-US" sz="1150" dirty="0">
                <a:solidFill>
                  <a:srgbClr val="9BA8A0"/>
                </a:solidFill>
                <a:latin typeface="Calibri" pitchFamily="34" charset="0"/>
                <a:ea typeface="Calibri" pitchFamily="34" charset="-122"/>
                <a:cs typeface="Calibri" pitchFamily="34" charset="-120"/>
              </a:rPr>
              <a:t>Every asset class we add makes the list better for every existing user at the same time — a bond ladder, a new exchange, a savings product.</a:t>
            </a:r>
            <a:endParaRPr lang="en-US" sz="1150" dirty="0"/>
          </a:p>
        </p:txBody>
      </p:sp>
      <p:sp>
        <p:nvSpPr>
          <p:cNvPr id="12" name="Shape 10"/>
          <p:cNvSpPr/>
          <p:nvPr/>
        </p:nvSpPr>
        <p:spPr>
          <a:xfrm>
            <a:off x="640080" y="3858768"/>
            <a:ext cx="5349240" cy="1115568"/>
          </a:xfrm>
          <a:prstGeom prst="roundRect">
            <a:avLst>
              <a:gd name="adj" fmla="val 9836"/>
            </a:avLst>
          </a:prstGeom>
          <a:solidFill>
            <a:srgbClr val="101613"/>
          </a:solidFill>
          <a:ln w="12700">
            <a:solidFill>
              <a:srgbClr val="1C2420"/>
            </a:solidFill>
            <a:prstDash val="solid"/>
          </a:ln>
        </p:spPr>
      </p:sp>
      <p:sp>
        <p:nvSpPr>
          <p:cNvPr id="13" name="Text 11"/>
          <p:cNvSpPr/>
          <p:nvPr/>
        </p:nvSpPr>
        <p:spPr>
          <a:xfrm>
            <a:off x="896112" y="4005072"/>
            <a:ext cx="4846320" cy="292608"/>
          </a:xfrm>
          <a:prstGeom prst="rect">
            <a:avLst/>
          </a:prstGeom>
          <a:noFill/>
          <a:ln/>
        </p:spPr>
        <p:txBody>
          <a:bodyPr wrap="square" lIns="0" tIns="0" rIns="0" bIns="0" rtlCol="0" anchor="ctr"/>
          <a:lstStyle/>
          <a:p>
            <a:pPr indent="0" marL="0">
              <a:buNone/>
            </a:pPr>
            <a:r>
              <a:rPr lang="en-US" sz="1500" b="1" dirty="0">
                <a:solidFill>
                  <a:srgbClr val="22C55E"/>
                </a:solidFill>
                <a:latin typeface="Calibri" pitchFamily="34" charset="0"/>
                <a:ea typeface="Calibri" pitchFamily="34" charset="-122"/>
                <a:cs typeface="Calibri" pitchFamily="34" charset="-120"/>
              </a:rPr>
              <a:t>Every goal teaches it</a:t>
            </a:r>
            <a:endParaRPr lang="en-US" sz="1500" dirty="0"/>
          </a:p>
        </p:txBody>
      </p:sp>
      <p:sp>
        <p:nvSpPr>
          <p:cNvPr id="14" name="Text 12"/>
          <p:cNvSpPr/>
          <p:nvPr/>
        </p:nvSpPr>
        <p:spPr>
          <a:xfrm>
            <a:off x="896112" y="4315968"/>
            <a:ext cx="4846320" cy="566928"/>
          </a:xfrm>
          <a:prstGeom prst="rect">
            <a:avLst/>
          </a:prstGeom>
          <a:noFill/>
          <a:ln/>
        </p:spPr>
        <p:txBody>
          <a:bodyPr wrap="square" lIns="0" tIns="0" rIns="0" bIns="0" rtlCol="0" anchor="t"/>
          <a:lstStyle/>
          <a:p>
            <a:pPr indent="0" marL="0">
              <a:lnSpc>
                <a:spcPct val="115000"/>
              </a:lnSpc>
              <a:buNone/>
            </a:pPr>
            <a:r>
              <a:rPr lang="en-US" sz="1150" dirty="0">
                <a:solidFill>
                  <a:srgbClr val="9BA8A0"/>
                </a:solidFill>
                <a:latin typeface="Calibri" pitchFamily="34" charset="0"/>
                <a:ea typeface="Calibri" pitchFamily="34" charset="-122"/>
                <a:cs typeface="Calibri" pitchFamily="34" charset="-120"/>
              </a:rPr>
              <a:t>More goals means more predictions, which means a published record of being right. That record is the asset a competitor can't copy on day one.</a:t>
            </a:r>
            <a:endParaRPr lang="en-US" sz="1150" dirty="0"/>
          </a:p>
        </p:txBody>
      </p:sp>
      <p:sp>
        <p:nvSpPr>
          <p:cNvPr id="15" name="Shape 13"/>
          <p:cNvSpPr/>
          <p:nvPr/>
        </p:nvSpPr>
        <p:spPr>
          <a:xfrm>
            <a:off x="6199632" y="3858768"/>
            <a:ext cx="5349240" cy="1115568"/>
          </a:xfrm>
          <a:prstGeom prst="roundRect">
            <a:avLst>
              <a:gd name="adj" fmla="val 9836"/>
            </a:avLst>
          </a:prstGeom>
          <a:solidFill>
            <a:srgbClr val="101613"/>
          </a:solidFill>
          <a:ln w="12700">
            <a:solidFill>
              <a:srgbClr val="1C2420"/>
            </a:solidFill>
            <a:prstDash val="solid"/>
          </a:ln>
        </p:spPr>
      </p:sp>
      <p:sp>
        <p:nvSpPr>
          <p:cNvPr id="16" name="Text 14"/>
          <p:cNvSpPr/>
          <p:nvPr/>
        </p:nvSpPr>
        <p:spPr>
          <a:xfrm>
            <a:off x="6455664" y="4005072"/>
            <a:ext cx="4846320" cy="292608"/>
          </a:xfrm>
          <a:prstGeom prst="rect">
            <a:avLst/>
          </a:prstGeom>
          <a:noFill/>
          <a:ln/>
        </p:spPr>
        <p:txBody>
          <a:bodyPr wrap="square" lIns="0" tIns="0" rIns="0" bIns="0" rtlCol="0" anchor="ctr"/>
          <a:lstStyle/>
          <a:p>
            <a:pPr indent="0" marL="0">
              <a:buNone/>
            </a:pPr>
            <a:r>
              <a:rPr lang="en-US" sz="1500" b="1" dirty="0">
                <a:solidFill>
                  <a:srgbClr val="F5B43C"/>
                </a:solidFill>
                <a:latin typeface="Calibri" pitchFamily="34" charset="0"/>
                <a:ea typeface="Calibri" pitchFamily="34" charset="-122"/>
                <a:cs typeface="Calibri" pitchFamily="34" charset="-120"/>
              </a:rPr>
              <a:t>It travels</a:t>
            </a:r>
            <a:endParaRPr lang="en-US" sz="1500" dirty="0"/>
          </a:p>
        </p:txBody>
      </p:sp>
      <p:sp>
        <p:nvSpPr>
          <p:cNvPr id="17" name="Text 15"/>
          <p:cNvSpPr/>
          <p:nvPr/>
        </p:nvSpPr>
        <p:spPr>
          <a:xfrm>
            <a:off x="6455664" y="4315968"/>
            <a:ext cx="4846320" cy="566928"/>
          </a:xfrm>
          <a:prstGeom prst="rect">
            <a:avLst/>
          </a:prstGeom>
          <a:noFill/>
          <a:ln/>
        </p:spPr>
        <p:txBody>
          <a:bodyPr wrap="square" lIns="0" tIns="0" rIns="0" bIns="0" rtlCol="0" anchor="t"/>
          <a:lstStyle/>
          <a:p>
            <a:pPr indent="0" marL="0">
              <a:lnSpc>
                <a:spcPct val="115000"/>
              </a:lnSpc>
              <a:buNone/>
            </a:pPr>
            <a:r>
              <a:rPr lang="en-US" sz="1150" dirty="0">
                <a:solidFill>
                  <a:srgbClr val="9BA8A0"/>
                </a:solidFill>
                <a:latin typeface="Calibri" pitchFamily="34" charset="0"/>
                <a:ea typeface="Calibri" pitchFamily="34" charset="-122"/>
                <a:cs typeface="Calibri" pitchFamily="34" charset="-120"/>
              </a:rPr>
              <a:t>The engine doesn't care what currency it is. Swap the Treasury feed for gilts and the same product works in a new country.</a:t>
            </a:r>
            <a:endParaRPr lang="en-US" sz="1150" dirty="0"/>
          </a:p>
        </p:txBody>
      </p:sp>
      <p:sp>
        <p:nvSpPr>
          <p:cNvPr id="18" name="Shape 16"/>
          <p:cNvSpPr/>
          <p:nvPr/>
        </p:nvSpPr>
        <p:spPr>
          <a:xfrm>
            <a:off x="640080" y="5138928"/>
            <a:ext cx="10908792" cy="1170432"/>
          </a:xfrm>
          <a:prstGeom prst="roundRect">
            <a:avLst>
              <a:gd name="adj" fmla="val 9375"/>
            </a:avLst>
          </a:prstGeom>
          <a:solidFill>
            <a:srgbClr val="161D19"/>
          </a:solidFill>
          <a:ln w="12700">
            <a:solidFill>
              <a:srgbClr val="22C55E"/>
            </a:solidFill>
            <a:prstDash val="solid"/>
          </a:ln>
        </p:spPr>
      </p:sp>
      <p:sp>
        <p:nvSpPr>
          <p:cNvPr id="19" name="Text 17"/>
          <p:cNvSpPr/>
          <p:nvPr/>
        </p:nvSpPr>
        <p:spPr>
          <a:xfrm>
            <a:off x="896112" y="5248656"/>
            <a:ext cx="3657600" cy="219456"/>
          </a:xfrm>
          <a:prstGeom prst="rect">
            <a:avLst/>
          </a:prstGeom>
          <a:noFill/>
          <a:ln/>
        </p:spPr>
        <p:txBody>
          <a:bodyPr wrap="square" lIns="0" tIns="0" rIns="0" bIns="0" rtlCol="0" anchor="ctr"/>
          <a:lstStyle/>
          <a:p>
            <a:pPr indent="0" marL="0">
              <a:buNone/>
            </a:pPr>
            <a:r>
              <a:rPr lang="en-US" sz="900" b="1" spc="130" kern="0" dirty="0">
                <a:solidFill>
                  <a:srgbClr val="22C55E"/>
                </a:solidFill>
                <a:latin typeface="Calibri" pitchFamily="34" charset="0"/>
                <a:ea typeface="Calibri" pitchFamily="34" charset="-122"/>
                <a:cs typeface="Calibri" pitchFamily="34" charset="-120"/>
              </a:rPr>
              <a:t>THE COMPOUNDING BIT</a:t>
            </a:r>
            <a:endParaRPr lang="en-US" sz="900" dirty="0"/>
          </a:p>
        </p:txBody>
      </p:sp>
      <p:sp>
        <p:nvSpPr>
          <p:cNvPr id="20" name="Text 18"/>
          <p:cNvSpPr/>
          <p:nvPr/>
        </p:nvSpPr>
        <p:spPr>
          <a:xfrm>
            <a:off x="896112" y="5486400"/>
            <a:ext cx="10424160" cy="731520"/>
          </a:xfrm>
          <a:prstGeom prst="rect">
            <a:avLst/>
          </a:prstGeom>
          <a:noFill/>
          <a:ln/>
        </p:spPr>
        <p:txBody>
          <a:bodyPr wrap="square" lIns="0" tIns="0" rIns="0" bIns="0" rtlCol="0" anchor="t"/>
          <a:lstStyle/>
          <a:p>
            <a:pPr indent="0" marL="0">
              <a:lnSpc>
                <a:spcPct val="115000"/>
              </a:lnSpc>
              <a:buNone/>
            </a:pPr>
            <a:r>
              <a:rPr lang="en-US" sz="1250" dirty="0">
                <a:solidFill>
                  <a:srgbClr val="F4F7F5"/>
                </a:solidFill>
                <a:latin typeface="Calibri" pitchFamily="34" charset="0"/>
                <a:ea typeface="Calibri" pitchFamily="34" charset="-122"/>
                <a:cs typeface="Calibri" pitchFamily="34" charset="-120"/>
              </a:rPr>
              <a:t>The company isn't the ranked list — anyone can build a ranked list. The company is the published record of that list having been right, checked against real outcomes over time. That record only gets more valuable, it can't be raised in a competitor's seed round, and it's the reason a user picks us over the next app that ships the same screen.</a:t>
            </a:r>
            <a:endParaRPr lang="en-US" sz="1250" dirty="0"/>
          </a:p>
        </p:txBody>
      </p:sp>
      <p:sp>
        <p:nvSpPr>
          <p:cNvPr id="22" name="Text 19"/>
          <p:cNvSpPr/>
          <p:nvPr/>
        </p:nvSpPr>
        <p:spPr>
          <a:xfrm>
            <a:off x="9692640" y="6528816"/>
            <a:ext cx="1188720" cy="237744"/>
          </a:xfrm>
          <a:prstGeom prst="rect">
            <a:avLst/>
          </a:prstGeom>
          <a:noFill/>
          <a:ln/>
        </p:spPr>
        <p:txBody>
          <a:bodyPr wrap="square" lIns="0" tIns="0" rIns="0" bIns="0" rtlCol="0" anchor="ctr"/>
          <a:lstStyle/>
          <a:p>
            <a:pPr algn="r" indent="0" marL="0">
              <a:buNone/>
            </a:pPr>
            <a:r>
              <a:rPr lang="en-US" sz="850" b="1" spc="140" kern="0" dirty="0">
                <a:solidFill>
                  <a:srgbClr val="67726B"/>
                </a:solidFill>
                <a:latin typeface="Calibri" pitchFamily="34" charset="0"/>
                <a:ea typeface="Calibri" pitchFamily="34" charset="-122"/>
                <a:cs typeface="Calibri" pitchFamily="34" charset="-120"/>
              </a:rPr>
              <a:t>POLYPROFIT</a:t>
            </a:r>
            <a:endParaRPr lang="en-US" sz="850" dirty="0"/>
          </a:p>
        </p:txBody>
      </p:sp>
      <p:sp>
        <p:nvSpPr>
          <p:cNvPr id="23" name="Text 20"/>
          <p:cNvSpPr/>
          <p:nvPr/>
        </p:nvSpPr>
        <p:spPr>
          <a:xfrm>
            <a:off x="11018520" y="6528816"/>
            <a:ext cx="530352" cy="237744"/>
          </a:xfrm>
          <a:prstGeom prst="rect">
            <a:avLst/>
          </a:prstGeom>
          <a:noFill/>
          <a:ln/>
        </p:spPr>
        <p:txBody>
          <a:bodyPr wrap="square" lIns="0" tIns="0" rIns="0" bIns="0" rtlCol="0" anchor="ctr"/>
          <a:lstStyle/>
          <a:p>
            <a:pPr algn="r" indent="0" marL="0">
              <a:buNone/>
            </a:pPr>
            <a:r>
              <a:rPr lang="en-US" sz="850" b="1" dirty="0">
                <a:solidFill>
                  <a:srgbClr val="22C55E"/>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0B09"/>
        </a:solidFill>
      </p:bgPr>
    </p:bg>
    <p:spTree>
      <p:nvGrpSpPr>
        <p:cNvPr id="1" name=""/>
        <p:cNvGrpSpPr/>
        <p:nvPr/>
      </p:nvGrpSpPr>
      <p:grpSpPr>
        <a:xfrm>
          <a:off x="0" y="0"/>
          <a:ext cx="0" cy="0"/>
          <a:chOff x="0" y="0"/>
          <a:chExt cx="0" cy="0"/>
        </a:xfrm>
      </p:grpSpPr>
      <p:sp>
        <p:nvSpPr>
          <p:cNvPr id="2" name="Shape 0"/>
          <p:cNvSpPr/>
          <p:nvPr/>
        </p:nvSpPr>
        <p:spPr>
          <a:xfrm>
            <a:off x="-1828800" y="-2011680"/>
            <a:ext cx="5852160" cy="5852160"/>
          </a:xfrm>
          <a:prstGeom prst="ellipse">
            <a:avLst/>
          </a:prstGeom>
          <a:solidFill>
            <a:srgbClr val="22C55E">
              <a:alpha val="6000"/>
            </a:srgbClr>
          </a:solidFill>
          <a:ln/>
        </p:spPr>
      </p:sp>
      <p:sp>
        <p:nvSpPr>
          <p:cNvPr id="3" name="Text 1"/>
          <p:cNvSpPr/>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22C55E"/>
                </a:solidFill>
                <a:latin typeface="Calibri" pitchFamily="34" charset="0"/>
                <a:ea typeface="Calibri" pitchFamily="34" charset="-122"/>
                <a:cs typeface="Calibri" pitchFamily="34" charset="-120"/>
              </a:rPr>
              <a:t>14  ·  THE BUSINESS</a:t>
            </a:r>
            <a:endParaRPr lang="en-US" sz="1100" dirty="0"/>
          </a:p>
        </p:txBody>
      </p:sp>
      <p:sp>
        <p:nvSpPr>
          <p:cNvPr id="4" name="Text 2"/>
          <p:cNvSpPr/>
          <p:nvPr/>
        </p:nvSpPr>
        <p:spPr>
          <a:xfrm>
            <a:off x="640080" y="777240"/>
            <a:ext cx="10881360" cy="685800"/>
          </a:xfrm>
          <a:prstGeom prst="rect">
            <a:avLst/>
          </a:prstGeom>
          <a:noFill/>
          <a:ln/>
        </p:spPr>
        <p:txBody>
          <a:bodyPr wrap="square" lIns="0" tIns="0" rIns="0" bIns="0" rtlCol="0" anchor="t"/>
          <a:lstStyle/>
          <a:p>
            <a:pPr indent="0" marL="0">
              <a:lnSpc>
                <a:spcPct val="105000"/>
              </a:lnSpc>
              <a:buNone/>
            </a:pPr>
            <a:r>
              <a:rPr lang="en-US" sz="3300" b="1" dirty="0">
                <a:solidFill>
                  <a:srgbClr val="F4F7F5"/>
                </a:solidFill>
                <a:latin typeface="Calibri" pitchFamily="34" charset="0"/>
                <a:ea typeface="Calibri" pitchFamily="34" charset="-122"/>
                <a:cs typeface="Calibri" pitchFamily="34" charset="-120"/>
              </a:rPr>
              <a:t>One price today. Three revenue lines</a:t>
            </a:r>
            <a:endParaRPr lang="en-US" sz="3300" dirty="0"/>
          </a:p>
          <a:p>
            <a:pPr indent="0" marL="0">
              <a:lnSpc>
                <a:spcPct val="105000"/>
              </a:lnSpc>
              <a:buNone/>
            </a:pPr>
            <a:r>
              <a:rPr lang="en-US" sz="3300" b="1" dirty="0">
                <a:solidFill>
                  <a:srgbClr val="F4F7F5"/>
                </a:solidFill>
                <a:latin typeface="Calibri" pitchFamily="34" charset="0"/>
                <a:ea typeface="Calibri" pitchFamily="34" charset="-122"/>
                <a:cs typeface="Calibri" pitchFamily="34" charset="-120"/>
              </a:rPr>
              <a:t>by year three.</a:t>
            </a:r>
            <a:endParaRPr lang="en-US" sz="3300" dirty="0"/>
          </a:p>
        </p:txBody>
      </p:sp>
      <p:sp>
        <p:nvSpPr>
          <p:cNvPr id="5" name="Text 3"/>
          <p:cNvSpPr/>
          <p:nvPr/>
        </p:nvSpPr>
        <p:spPr>
          <a:xfrm>
            <a:off x="640080" y="1956816"/>
            <a:ext cx="10424160" cy="384048"/>
          </a:xfrm>
          <a:prstGeom prst="rect">
            <a:avLst/>
          </a:prstGeom>
          <a:noFill/>
          <a:ln/>
        </p:spPr>
        <p:txBody>
          <a:bodyPr wrap="square" lIns="0" tIns="0" rIns="0" bIns="0" rtlCol="0" anchor="t"/>
          <a:lstStyle/>
          <a:p>
            <a:pPr indent="0" marL="0">
              <a:lnSpc>
                <a:spcPct val="115000"/>
              </a:lnSpc>
              <a:buNone/>
            </a:pPr>
            <a:r>
              <a:rPr lang="en-US" sz="1350" dirty="0">
                <a:solidFill>
                  <a:srgbClr val="9BA8A0"/>
                </a:solidFill>
                <a:latin typeface="Calibri" pitchFamily="34" charset="0"/>
                <a:ea typeface="Calibri" pitchFamily="34" charset="-122"/>
                <a:cs typeface="Calibri" pitchFamily="34" charset="-120"/>
              </a:rPr>
              <a:t>Subscription is the base, not the ceiling. The two lines above it get unlocked by the same bank connection the roadmap already needs.</a:t>
            </a:r>
            <a:endParaRPr lang="en-US" sz="1350" dirty="0"/>
          </a:p>
        </p:txBody>
      </p:sp>
      <p:sp>
        <p:nvSpPr>
          <p:cNvPr id="6" name="Shape 4"/>
          <p:cNvSpPr/>
          <p:nvPr/>
        </p:nvSpPr>
        <p:spPr>
          <a:xfrm>
            <a:off x="640080" y="2578608"/>
            <a:ext cx="10908792" cy="1024128"/>
          </a:xfrm>
          <a:prstGeom prst="roundRect">
            <a:avLst>
              <a:gd name="adj" fmla="val 10714"/>
            </a:avLst>
          </a:prstGeom>
          <a:solidFill>
            <a:srgbClr val="101613"/>
          </a:solidFill>
          <a:ln w="12700">
            <a:solidFill>
              <a:srgbClr val="1C2420"/>
            </a:solidFill>
            <a:prstDash val="solid"/>
          </a:ln>
        </p:spPr>
      </p:sp>
      <p:sp>
        <p:nvSpPr>
          <p:cNvPr id="7" name="Shape 5"/>
          <p:cNvSpPr/>
          <p:nvPr/>
        </p:nvSpPr>
        <p:spPr>
          <a:xfrm>
            <a:off x="914400" y="2871216"/>
            <a:ext cx="329184" cy="329184"/>
          </a:xfrm>
          <a:prstGeom prst="ellipse">
            <a:avLst/>
          </a:prstGeom>
          <a:solidFill>
            <a:srgbClr val="22C55E"/>
          </a:solidFill>
          <a:ln/>
        </p:spPr>
      </p:sp>
      <p:sp>
        <p:nvSpPr>
          <p:cNvPr id="8" name="Text 6"/>
          <p:cNvSpPr/>
          <p:nvPr/>
        </p:nvSpPr>
        <p:spPr>
          <a:xfrm>
            <a:off x="914400" y="2871216"/>
            <a:ext cx="329184" cy="329184"/>
          </a:xfrm>
          <a:prstGeom prst="rect">
            <a:avLst/>
          </a:prstGeom>
          <a:noFill/>
          <a:ln/>
        </p:spPr>
        <p:txBody>
          <a:bodyPr wrap="square" lIns="0" tIns="0" rIns="0" bIns="0" rtlCol="0" anchor="ctr"/>
          <a:lstStyle/>
          <a:p>
            <a:pPr algn="ctr" indent="0" marL="0">
              <a:buNone/>
            </a:pPr>
            <a:r>
              <a:rPr lang="en-US" sz="1200" b="1" dirty="0">
                <a:solidFill>
                  <a:srgbClr val="06140C"/>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1371600" y="2724912"/>
            <a:ext cx="4206240" cy="310896"/>
          </a:xfrm>
          <a:prstGeom prst="rect">
            <a:avLst/>
          </a:prstGeom>
          <a:noFill/>
          <a:ln/>
        </p:spPr>
        <p:txBody>
          <a:bodyPr wrap="square" lIns="0" tIns="0" rIns="0" bIns="0" rtlCol="0" anchor="ctr"/>
          <a:lstStyle/>
          <a:p>
            <a:pPr indent="0" marL="0">
              <a:buNone/>
            </a:pPr>
            <a:r>
              <a:rPr lang="en-US" sz="1550" b="1" dirty="0">
                <a:solidFill>
                  <a:srgbClr val="F4F7F5"/>
                </a:solidFill>
                <a:latin typeface="Calibri" pitchFamily="34" charset="0"/>
                <a:ea typeface="Calibri" pitchFamily="34" charset="-122"/>
                <a:cs typeface="Calibri" pitchFamily="34" charset="-120"/>
              </a:rPr>
              <a:t>Subscription</a:t>
            </a:r>
            <a:endParaRPr lang="en-US" sz="1550" dirty="0"/>
          </a:p>
        </p:txBody>
      </p:sp>
      <p:sp>
        <p:nvSpPr>
          <p:cNvPr id="10" name="Shape 8"/>
          <p:cNvSpPr/>
          <p:nvPr/>
        </p:nvSpPr>
        <p:spPr>
          <a:xfrm>
            <a:off x="5669280" y="2779776"/>
            <a:ext cx="868680" cy="237744"/>
          </a:xfrm>
          <a:prstGeom prst="roundRect">
            <a:avLst>
              <a:gd name="adj" fmla="val 192308"/>
            </a:avLst>
          </a:prstGeom>
          <a:solidFill>
            <a:srgbClr val="161D19"/>
          </a:solidFill>
          <a:ln w="12700">
            <a:solidFill>
              <a:srgbClr val="22C55E"/>
            </a:solidFill>
            <a:prstDash val="solid"/>
          </a:ln>
        </p:spPr>
      </p:sp>
      <p:sp>
        <p:nvSpPr>
          <p:cNvPr id="11" name="Text 9"/>
          <p:cNvSpPr/>
          <p:nvPr/>
        </p:nvSpPr>
        <p:spPr>
          <a:xfrm>
            <a:off x="5669280" y="2779776"/>
            <a:ext cx="868680" cy="237744"/>
          </a:xfrm>
          <a:prstGeom prst="rect">
            <a:avLst/>
          </a:prstGeom>
          <a:noFill/>
          <a:ln/>
        </p:spPr>
        <p:txBody>
          <a:bodyPr wrap="square" lIns="0" tIns="0" rIns="0" bIns="0" rtlCol="0" anchor="ctr"/>
          <a:lstStyle/>
          <a:p>
            <a:pPr algn="ctr" indent="0" marL="0">
              <a:buNone/>
            </a:pPr>
            <a:r>
              <a:rPr lang="en-US" sz="850" b="1" spc="80" kern="0" dirty="0">
                <a:solidFill>
                  <a:srgbClr val="22C55E"/>
                </a:solidFill>
                <a:latin typeface="Calibri" pitchFamily="34" charset="0"/>
                <a:ea typeface="Calibri" pitchFamily="34" charset="-122"/>
                <a:cs typeface="Calibri" pitchFamily="34" charset="-120"/>
              </a:rPr>
              <a:t>LIVE</a:t>
            </a:r>
            <a:endParaRPr lang="en-US" sz="850" dirty="0"/>
          </a:p>
        </p:txBody>
      </p:sp>
      <p:sp>
        <p:nvSpPr>
          <p:cNvPr id="12" name="Text 10"/>
          <p:cNvSpPr/>
          <p:nvPr/>
        </p:nvSpPr>
        <p:spPr>
          <a:xfrm>
            <a:off x="1371600" y="3054096"/>
            <a:ext cx="4206240" cy="256032"/>
          </a:xfrm>
          <a:prstGeom prst="rect">
            <a:avLst/>
          </a:prstGeom>
          <a:noFill/>
          <a:ln/>
        </p:spPr>
        <p:txBody>
          <a:bodyPr wrap="square" lIns="0" tIns="0" rIns="0" bIns="0" rtlCol="0" anchor="ctr"/>
          <a:lstStyle/>
          <a:p>
            <a:pPr indent="0" marL="0">
              <a:buNone/>
            </a:pPr>
            <a:r>
              <a:rPr lang="en-US" sz="1250" b="1" dirty="0">
                <a:solidFill>
                  <a:srgbClr val="22C55E"/>
                </a:solidFill>
                <a:latin typeface="Calibri" pitchFamily="34" charset="0"/>
                <a:ea typeface="Calibri" pitchFamily="34" charset="-122"/>
                <a:cs typeface="Calibri" pitchFamily="34" charset="-120"/>
              </a:rPr>
              <a:t>$9.99 / month</a:t>
            </a:r>
            <a:endParaRPr lang="en-US" sz="1250" dirty="0"/>
          </a:p>
        </p:txBody>
      </p:sp>
      <p:sp>
        <p:nvSpPr>
          <p:cNvPr id="13" name="Text 11"/>
          <p:cNvSpPr/>
          <p:nvPr/>
        </p:nvSpPr>
        <p:spPr>
          <a:xfrm>
            <a:off x="6766560" y="2724912"/>
            <a:ext cx="4572000" cy="768096"/>
          </a:xfrm>
          <a:prstGeom prst="rect">
            <a:avLst/>
          </a:prstGeom>
          <a:noFill/>
          <a:ln/>
        </p:spPr>
        <p:txBody>
          <a:bodyPr wrap="square" lIns="0" tIns="0" rIns="0" bIns="0" rtlCol="0" anchor="t"/>
          <a:lstStyle/>
          <a:p>
            <a:pPr indent="0" marL="0">
              <a:lnSpc>
                <a:spcPct val="115000"/>
              </a:lnSpc>
              <a:buNone/>
            </a:pPr>
            <a:r>
              <a:rPr lang="en-US" sz="1100" dirty="0">
                <a:solidFill>
                  <a:srgbClr val="9BA8A0"/>
                </a:solidFill>
                <a:latin typeface="Calibri" pitchFamily="34" charset="0"/>
                <a:ea typeface="Calibri" pitchFamily="34" charset="-122"/>
                <a:cs typeface="Calibri" pitchFamily="34" charset="-120"/>
              </a:rPr>
              <a:t>The ranked list, the AI coach, goal tracking. Charging today, with a share-to-unlock free tier that gives the first answer away.</a:t>
            </a:r>
            <a:endParaRPr lang="en-US" sz="1100" dirty="0"/>
          </a:p>
        </p:txBody>
      </p:sp>
      <p:sp>
        <p:nvSpPr>
          <p:cNvPr id="14" name="Shape 12"/>
          <p:cNvSpPr/>
          <p:nvPr/>
        </p:nvSpPr>
        <p:spPr>
          <a:xfrm>
            <a:off x="640080" y="3694176"/>
            <a:ext cx="10908792" cy="1024128"/>
          </a:xfrm>
          <a:prstGeom prst="roundRect">
            <a:avLst>
              <a:gd name="adj" fmla="val 10714"/>
            </a:avLst>
          </a:prstGeom>
          <a:solidFill>
            <a:srgbClr val="101613"/>
          </a:solidFill>
          <a:ln w="12700">
            <a:solidFill>
              <a:srgbClr val="1C2420"/>
            </a:solidFill>
            <a:prstDash val="solid"/>
          </a:ln>
        </p:spPr>
      </p:sp>
      <p:sp>
        <p:nvSpPr>
          <p:cNvPr id="15" name="Shape 13"/>
          <p:cNvSpPr/>
          <p:nvPr/>
        </p:nvSpPr>
        <p:spPr>
          <a:xfrm>
            <a:off x="914400" y="3986784"/>
            <a:ext cx="329184" cy="329184"/>
          </a:xfrm>
          <a:prstGeom prst="ellipse">
            <a:avLst/>
          </a:prstGeom>
          <a:solidFill>
            <a:srgbClr val="F5B43C"/>
          </a:solidFill>
          <a:ln/>
        </p:spPr>
      </p:sp>
      <p:sp>
        <p:nvSpPr>
          <p:cNvPr id="16" name="Text 14"/>
          <p:cNvSpPr/>
          <p:nvPr/>
        </p:nvSpPr>
        <p:spPr>
          <a:xfrm>
            <a:off x="914400" y="3986784"/>
            <a:ext cx="329184" cy="329184"/>
          </a:xfrm>
          <a:prstGeom prst="rect">
            <a:avLst/>
          </a:prstGeom>
          <a:noFill/>
          <a:ln/>
        </p:spPr>
        <p:txBody>
          <a:bodyPr wrap="square" lIns="0" tIns="0" rIns="0" bIns="0" rtlCol="0" anchor="ctr"/>
          <a:lstStyle/>
          <a:p>
            <a:pPr algn="ctr" indent="0" marL="0">
              <a:buNone/>
            </a:pPr>
            <a:r>
              <a:rPr lang="en-US" sz="1200" b="1" dirty="0">
                <a:solidFill>
                  <a:srgbClr val="06140C"/>
                </a:solidFill>
                <a:latin typeface="Calibri" pitchFamily="34" charset="0"/>
                <a:ea typeface="Calibri" pitchFamily="34" charset="-122"/>
                <a:cs typeface="Calibri" pitchFamily="34" charset="-120"/>
              </a:rPr>
              <a:t>02</a:t>
            </a:r>
            <a:endParaRPr lang="en-US" sz="1200" dirty="0"/>
          </a:p>
        </p:txBody>
      </p:sp>
      <p:sp>
        <p:nvSpPr>
          <p:cNvPr id="17" name="Text 15"/>
          <p:cNvSpPr/>
          <p:nvPr/>
        </p:nvSpPr>
        <p:spPr>
          <a:xfrm>
            <a:off x="1371600" y="3840480"/>
            <a:ext cx="4206240" cy="310896"/>
          </a:xfrm>
          <a:prstGeom prst="rect">
            <a:avLst/>
          </a:prstGeom>
          <a:noFill/>
          <a:ln/>
        </p:spPr>
        <p:txBody>
          <a:bodyPr wrap="square" lIns="0" tIns="0" rIns="0" bIns="0" rtlCol="0" anchor="ctr"/>
          <a:lstStyle/>
          <a:p>
            <a:pPr indent="0" marL="0">
              <a:buNone/>
            </a:pPr>
            <a:r>
              <a:rPr lang="en-US" sz="1550" b="1" dirty="0">
                <a:solidFill>
                  <a:srgbClr val="F4F7F5"/>
                </a:solidFill>
                <a:latin typeface="Calibri" pitchFamily="34" charset="0"/>
                <a:ea typeface="Calibri" pitchFamily="34" charset="-122"/>
                <a:cs typeface="Calibri" pitchFamily="34" charset="-120"/>
              </a:rPr>
              <a:t>Placement in a market we already rank</a:t>
            </a:r>
            <a:endParaRPr lang="en-US" sz="1550" dirty="0"/>
          </a:p>
        </p:txBody>
      </p:sp>
      <p:sp>
        <p:nvSpPr>
          <p:cNvPr id="18" name="Shape 16"/>
          <p:cNvSpPr/>
          <p:nvPr/>
        </p:nvSpPr>
        <p:spPr>
          <a:xfrm>
            <a:off x="5669280" y="3895344"/>
            <a:ext cx="868680" cy="237744"/>
          </a:xfrm>
          <a:prstGeom prst="roundRect">
            <a:avLst>
              <a:gd name="adj" fmla="val 192308"/>
            </a:avLst>
          </a:prstGeom>
          <a:solidFill>
            <a:srgbClr val="161D19"/>
          </a:solidFill>
          <a:ln w="12700">
            <a:solidFill>
              <a:srgbClr val="F5B43C"/>
            </a:solidFill>
            <a:prstDash val="solid"/>
          </a:ln>
        </p:spPr>
      </p:sp>
      <p:sp>
        <p:nvSpPr>
          <p:cNvPr id="19" name="Text 17"/>
          <p:cNvSpPr/>
          <p:nvPr/>
        </p:nvSpPr>
        <p:spPr>
          <a:xfrm>
            <a:off x="5669280" y="3895344"/>
            <a:ext cx="868680" cy="237744"/>
          </a:xfrm>
          <a:prstGeom prst="rect">
            <a:avLst/>
          </a:prstGeom>
          <a:noFill/>
          <a:ln/>
        </p:spPr>
        <p:txBody>
          <a:bodyPr wrap="square" lIns="0" tIns="0" rIns="0" bIns="0" rtlCol="0" anchor="ctr"/>
          <a:lstStyle/>
          <a:p>
            <a:pPr algn="ctr" indent="0" marL="0">
              <a:buNone/>
            </a:pPr>
            <a:r>
              <a:rPr lang="en-US" sz="850" b="1" spc="80" kern="0" dirty="0">
                <a:solidFill>
                  <a:srgbClr val="F5B43C"/>
                </a:solidFill>
                <a:latin typeface="Calibri" pitchFamily="34" charset="0"/>
                <a:ea typeface="Calibri" pitchFamily="34" charset="-122"/>
                <a:cs typeface="Calibri" pitchFamily="34" charset="-120"/>
              </a:rPr>
              <a:t>12–18 MO</a:t>
            </a:r>
            <a:endParaRPr lang="en-US" sz="850" dirty="0"/>
          </a:p>
        </p:txBody>
      </p:sp>
      <p:sp>
        <p:nvSpPr>
          <p:cNvPr id="20" name="Text 18"/>
          <p:cNvSpPr/>
          <p:nvPr/>
        </p:nvSpPr>
        <p:spPr>
          <a:xfrm>
            <a:off x="1371600" y="4169664"/>
            <a:ext cx="4206240" cy="256032"/>
          </a:xfrm>
          <a:prstGeom prst="rect">
            <a:avLst/>
          </a:prstGeom>
          <a:noFill/>
          <a:ln/>
        </p:spPr>
        <p:txBody>
          <a:bodyPr wrap="square" lIns="0" tIns="0" rIns="0" bIns="0" rtlCol="0" anchor="ctr"/>
          <a:lstStyle/>
          <a:p>
            <a:pPr indent="0" marL="0">
              <a:buNone/>
            </a:pPr>
            <a:r>
              <a:rPr lang="en-US" sz="1250" b="1" dirty="0">
                <a:solidFill>
                  <a:srgbClr val="F5B43C"/>
                </a:solidFill>
                <a:latin typeface="Calibri" pitchFamily="34" charset="0"/>
                <a:ea typeface="Calibri" pitchFamily="34" charset="-122"/>
                <a:cs typeface="Calibri" pitchFamily="34" charset="-120"/>
              </a:rPr>
              <a:t>CPA per account opened</a:t>
            </a:r>
            <a:endParaRPr lang="en-US" sz="1250" dirty="0"/>
          </a:p>
        </p:txBody>
      </p:sp>
      <p:sp>
        <p:nvSpPr>
          <p:cNvPr id="21" name="Text 19"/>
          <p:cNvSpPr/>
          <p:nvPr/>
        </p:nvSpPr>
        <p:spPr>
          <a:xfrm>
            <a:off x="6766560" y="3840480"/>
            <a:ext cx="4572000" cy="768096"/>
          </a:xfrm>
          <a:prstGeom prst="rect">
            <a:avLst/>
          </a:prstGeom>
          <a:noFill/>
          <a:ln/>
        </p:spPr>
        <p:txBody>
          <a:bodyPr wrap="square" lIns="0" tIns="0" rIns="0" bIns="0" rtlCol="0" anchor="t"/>
          <a:lstStyle/>
          <a:p>
            <a:pPr indent="0" marL="0">
              <a:lnSpc>
                <a:spcPct val="115000"/>
              </a:lnSpc>
              <a:buNone/>
            </a:pPr>
            <a:r>
              <a:rPr lang="en-US" sz="1100" dirty="0">
                <a:solidFill>
                  <a:srgbClr val="9BA8A0"/>
                </a:solidFill>
                <a:latin typeface="Calibri" pitchFamily="34" charset="0"/>
                <a:ea typeface="Calibri" pitchFamily="34" charset="-122"/>
                <a:cs typeface="Calibri" pitchFamily="34" charset="-120"/>
              </a:rPr>
              <a:t>Card issuers and savings providers pay to appear in a comparison we already produce. Two rules are hard-coded: partner money never touches the score, and every paid route is labelled inline.</a:t>
            </a:r>
            <a:endParaRPr lang="en-US" sz="1100" dirty="0"/>
          </a:p>
        </p:txBody>
      </p:sp>
      <p:sp>
        <p:nvSpPr>
          <p:cNvPr id="22" name="Shape 20"/>
          <p:cNvSpPr/>
          <p:nvPr/>
        </p:nvSpPr>
        <p:spPr>
          <a:xfrm>
            <a:off x="640080" y="4809744"/>
            <a:ext cx="10908792" cy="1024128"/>
          </a:xfrm>
          <a:prstGeom prst="roundRect">
            <a:avLst>
              <a:gd name="adj" fmla="val 10714"/>
            </a:avLst>
          </a:prstGeom>
          <a:solidFill>
            <a:srgbClr val="101613"/>
          </a:solidFill>
          <a:ln w="12700">
            <a:solidFill>
              <a:srgbClr val="1C2420"/>
            </a:solidFill>
            <a:prstDash val="solid"/>
          </a:ln>
        </p:spPr>
      </p:sp>
      <p:sp>
        <p:nvSpPr>
          <p:cNvPr id="23" name="Shape 21"/>
          <p:cNvSpPr/>
          <p:nvPr/>
        </p:nvSpPr>
        <p:spPr>
          <a:xfrm>
            <a:off x="914400" y="5102352"/>
            <a:ext cx="329184" cy="329184"/>
          </a:xfrm>
          <a:prstGeom prst="ellipse">
            <a:avLst/>
          </a:prstGeom>
          <a:solidFill>
            <a:srgbClr val="F5B43C"/>
          </a:solidFill>
          <a:ln/>
        </p:spPr>
      </p:sp>
      <p:sp>
        <p:nvSpPr>
          <p:cNvPr id="24" name="Text 22"/>
          <p:cNvSpPr/>
          <p:nvPr/>
        </p:nvSpPr>
        <p:spPr>
          <a:xfrm>
            <a:off x="914400" y="5102352"/>
            <a:ext cx="329184" cy="329184"/>
          </a:xfrm>
          <a:prstGeom prst="rect">
            <a:avLst/>
          </a:prstGeom>
          <a:noFill/>
          <a:ln/>
        </p:spPr>
        <p:txBody>
          <a:bodyPr wrap="square" lIns="0" tIns="0" rIns="0" bIns="0" rtlCol="0" anchor="ctr"/>
          <a:lstStyle/>
          <a:p>
            <a:pPr algn="ctr" indent="0" marL="0">
              <a:buNone/>
            </a:pPr>
            <a:r>
              <a:rPr lang="en-US" sz="1200" b="1" dirty="0">
                <a:solidFill>
                  <a:srgbClr val="06140C"/>
                </a:solidFill>
                <a:latin typeface="Calibri" pitchFamily="34" charset="0"/>
                <a:ea typeface="Calibri" pitchFamily="34" charset="-122"/>
                <a:cs typeface="Calibri" pitchFamily="34" charset="-120"/>
              </a:rPr>
              <a:t>03</a:t>
            </a:r>
            <a:endParaRPr lang="en-US" sz="1200" dirty="0"/>
          </a:p>
        </p:txBody>
      </p:sp>
      <p:sp>
        <p:nvSpPr>
          <p:cNvPr id="25" name="Text 23"/>
          <p:cNvSpPr/>
          <p:nvPr/>
        </p:nvSpPr>
        <p:spPr>
          <a:xfrm>
            <a:off x="1371600" y="4956048"/>
            <a:ext cx="4206240" cy="310896"/>
          </a:xfrm>
          <a:prstGeom prst="rect">
            <a:avLst/>
          </a:prstGeom>
          <a:noFill/>
          <a:ln/>
        </p:spPr>
        <p:txBody>
          <a:bodyPr wrap="square" lIns="0" tIns="0" rIns="0" bIns="0" rtlCol="0" anchor="ctr"/>
          <a:lstStyle/>
          <a:p>
            <a:pPr indent="0" marL="0">
              <a:buNone/>
            </a:pPr>
            <a:r>
              <a:rPr lang="en-US" sz="1550" b="1" dirty="0">
                <a:solidFill>
                  <a:srgbClr val="F4F7F5"/>
                </a:solidFill>
                <a:latin typeface="Calibri" pitchFamily="34" charset="0"/>
                <a:ea typeface="Calibri" pitchFamily="34" charset="-122"/>
                <a:cs typeface="Calibri" pitchFamily="34" charset="-120"/>
              </a:rPr>
              <a:t>Execution plumbing</a:t>
            </a:r>
            <a:endParaRPr lang="en-US" sz="1550" dirty="0"/>
          </a:p>
        </p:txBody>
      </p:sp>
      <p:sp>
        <p:nvSpPr>
          <p:cNvPr id="26" name="Shape 24"/>
          <p:cNvSpPr/>
          <p:nvPr/>
        </p:nvSpPr>
        <p:spPr>
          <a:xfrm>
            <a:off x="5669280" y="5010912"/>
            <a:ext cx="868680" cy="237744"/>
          </a:xfrm>
          <a:prstGeom prst="roundRect">
            <a:avLst>
              <a:gd name="adj" fmla="val 192308"/>
            </a:avLst>
          </a:prstGeom>
          <a:solidFill>
            <a:srgbClr val="161D19"/>
          </a:solidFill>
          <a:ln w="12700">
            <a:solidFill>
              <a:srgbClr val="F5B43C"/>
            </a:solidFill>
            <a:prstDash val="solid"/>
          </a:ln>
        </p:spPr>
      </p:sp>
      <p:sp>
        <p:nvSpPr>
          <p:cNvPr id="27" name="Text 25"/>
          <p:cNvSpPr/>
          <p:nvPr/>
        </p:nvSpPr>
        <p:spPr>
          <a:xfrm>
            <a:off x="5669280" y="5010912"/>
            <a:ext cx="868680" cy="237744"/>
          </a:xfrm>
          <a:prstGeom prst="rect">
            <a:avLst/>
          </a:prstGeom>
          <a:noFill/>
          <a:ln/>
        </p:spPr>
        <p:txBody>
          <a:bodyPr wrap="square" lIns="0" tIns="0" rIns="0" bIns="0" rtlCol="0" anchor="ctr"/>
          <a:lstStyle/>
          <a:p>
            <a:pPr algn="ctr" indent="0" marL="0">
              <a:buNone/>
            </a:pPr>
            <a:r>
              <a:rPr lang="en-US" sz="850" b="1" spc="80" kern="0" dirty="0">
                <a:solidFill>
                  <a:srgbClr val="F5B43C"/>
                </a:solidFill>
                <a:latin typeface="Calibri" pitchFamily="34" charset="0"/>
                <a:ea typeface="Calibri" pitchFamily="34" charset="-122"/>
                <a:cs typeface="Calibri" pitchFamily="34" charset="-120"/>
              </a:rPr>
              <a:t>18 MO+</a:t>
            </a:r>
            <a:endParaRPr lang="en-US" sz="850" dirty="0"/>
          </a:p>
        </p:txBody>
      </p:sp>
      <p:sp>
        <p:nvSpPr>
          <p:cNvPr id="28" name="Text 26"/>
          <p:cNvSpPr/>
          <p:nvPr/>
        </p:nvSpPr>
        <p:spPr>
          <a:xfrm>
            <a:off x="1371600" y="5285232"/>
            <a:ext cx="4206240" cy="256032"/>
          </a:xfrm>
          <a:prstGeom prst="rect">
            <a:avLst/>
          </a:prstGeom>
          <a:noFill/>
          <a:ln/>
        </p:spPr>
        <p:txBody>
          <a:bodyPr wrap="square" lIns="0" tIns="0" rIns="0" bIns="0" rtlCol="0" anchor="ctr"/>
          <a:lstStyle/>
          <a:p>
            <a:pPr indent="0" marL="0">
              <a:buNone/>
            </a:pPr>
            <a:r>
              <a:rPr lang="en-US" sz="1250" b="1" dirty="0">
                <a:solidFill>
                  <a:srgbClr val="F5B43C"/>
                </a:solidFill>
                <a:latin typeface="Calibri" pitchFamily="34" charset="0"/>
                <a:ea typeface="Calibri" pitchFamily="34" charset="-122"/>
                <a:cs typeface="Calibri" pitchFamily="34" charset="-120"/>
              </a:rPr>
              <a:t>Referral &amp; routing</a:t>
            </a:r>
            <a:endParaRPr lang="en-US" sz="1250" dirty="0"/>
          </a:p>
        </p:txBody>
      </p:sp>
      <p:sp>
        <p:nvSpPr>
          <p:cNvPr id="29" name="Text 27"/>
          <p:cNvSpPr/>
          <p:nvPr/>
        </p:nvSpPr>
        <p:spPr>
          <a:xfrm>
            <a:off x="6766560" y="4956048"/>
            <a:ext cx="4572000" cy="768096"/>
          </a:xfrm>
          <a:prstGeom prst="rect">
            <a:avLst/>
          </a:prstGeom>
          <a:noFill/>
          <a:ln/>
        </p:spPr>
        <p:txBody>
          <a:bodyPr wrap="square" lIns="0" tIns="0" rIns="0" bIns="0" rtlCol="0" anchor="t"/>
          <a:lstStyle/>
          <a:p>
            <a:pPr indent="0" marL="0">
              <a:lnSpc>
                <a:spcPct val="115000"/>
              </a:lnSpc>
              <a:buNone/>
            </a:pPr>
            <a:r>
              <a:rPr lang="en-US" sz="1100" dirty="0">
                <a:solidFill>
                  <a:srgbClr val="9BA8A0"/>
                </a:solidFill>
                <a:latin typeface="Calibri" pitchFamily="34" charset="0"/>
                <a:ea typeface="Calibri" pitchFamily="34" charset="-122"/>
                <a:cs typeface="Calibri" pitchFamily="34" charset="-120"/>
              </a:rPr>
              <a:t>Brokerage referral is already wired in and deliberately unmonetised. Once the calibration record is public, routing the trade is a natural — and much larger — line.</a:t>
            </a:r>
            <a:endParaRPr lang="en-US" sz="1100" dirty="0"/>
          </a:p>
        </p:txBody>
      </p:sp>
      <p:sp>
        <p:nvSpPr>
          <p:cNvPr id="30" name="Shape 28"/>
          <p:cNvSpPr/>
          <p:nvPr/>
        </p:nvSpPr>
        <p:spPr>
          <a:xfrm>
            <a:off x="640080" y="5961888"/>
            <a:ext cx="10908792" cy="512064"/>
          </a:xfrm>
          <a:prstGeom prst="roundRect">
            <a:avLst>
              <a:gd name="adj" fmla="val 21429"/>
            </a:avLst>
          </a:prstGeom>
          <a:solidFill>
            <a:srgbClr val="161D19"/>
          </a:solidFill>
          <a:ln w="12700">
            <a:solidFill>
              <a:srgbClr val="2A352F"/>
            </a:solidFill>
            <a:prstDash val="solid"/>
          </a:ln>
        </p:spPr>
      </p:sp>
      <p:sp>
        <p:nvSpPr>
          <p:cNvPr id="31" name="Text 29"/>
          <p:cNvSpPr/>
          <p:nvPr/>
        </p:nvSpPr>
        <p:spPr>
          <a:xfrm>
            <a:off x="896112" y="5961888"/>
            <a:ext cx="10424160" cy="512064"/>
          </a:xfrm>
          <a:prstGeom prst="rect">
            <a:avLst/>
          </a:prstGeom>
          <a:noFill/>
          <a:ln/>
        </p:spPr>
        <p:txBody>
          <a:bodyPr wrap="square" lIns="0" tIns="0" rIns="0" bIns="0" rtlCol="0" anchor="ctr"/>
          <a:lstStyle/>
          <a:p>
            <a:pPr indent="0" marL="0">
              <a:buNone/>
            </a:pPr>
            <a:r>
              <a:rPr lang="en-US" sz="1200" b="1" dirty="0">
                <a:solidFill>
                  <a:srgbClr val="F4F7F5"/>
                </a:solidFill>
                <a:latin typeface="Calibri" pitchFamily="34" charset="0"/>
                <a:ea typeface="Calibri" pitchFamily="34" charset="-122"/>
                <a:cs typeface="Calibri" pitchFamily="34" charset="-120"/>
              </a:rPr>
              <a:t>The metric we're driving to is renewal, not signups.  </a:t>
            </a:r>
            <a:pPr indent="0" marL="0">
              <a:buNone/>
            </a:pPr>
            <a:r>
              <a:rPr lang="en-US" sz="1200" dirty="0">
                <a:solidFill>
                  <a:srgbClr val="9BA8A0"/>
                </a:solidFill>
                <a:latin typeface="Calibri" pitchFamily="34" charset="0"/>
                <a:ea typeface="Calibri" pitchFamily="34" charset="-122"/>
                <a:cs typeface="Calibri" pitchFamily="34" charset="-120"/>
              </a:rPr>
              <a:t>The goal tracker and the spend side both exist to turn a one-time answer into a standing relationship — a leak that reopens is a reason to come back.</a:t>
            </a:r>
            <a:endParaRPr lang="en-US" sz="1200" dirty="0"/>
          </a:p>
        </p:txBody>
      </p:sp>
      <p:sp>
        <p:nvSpPr>
          <p:cNvPr id="33" name="Text 30"/>
          <p:cNvSpPr/>
          <p:nvPr/>
        </p:nvSpPr>
        <p:spPr>
          <a:xfrm>
            <a:off x="9692640" y="6528816"/>
            <a:ext cx="1188720" cy="237744"/>
          </a:xfrm>
          <a:prstGeom prst="rect">
            <a:avLst/>
          </a:prstGeom>
          <a:noFill/>
          <a:ln/>
        </p:spPr>
        <p:txBody>
          <a:bodyPr wrap="square" lIns="0" tIns="0" rIns="0" bIns="0" rtlCol="0" anchor="ctr"/>
          <a:lstStyle/>
          <a:p>
            <a:pPr algn="r" indent="0" marL="0">
              <a:buNone/>
            </a:pPr>
            <a:r>
              <a:rPr lang="en-US" sz="850" b="1" spc="140" kern="0" dirty="0">
                <a:solidFill>
                  <a:srgbClr val="67726B"/>
                </a:solidFill>
                <a:latin typeface="Calibri" pitchFamily="34" charset="0"/>
                <a:ea typeface="Calibri" pitchFamily="34" charset="-122"/>
                <a:cs typeface="Calibri" pitchFamily="34" charset="-120"/>
              </a:rPr>
              <a:t>POLYPROFIT</a:t>
            </a:r>
            <a:endParaRPr lang="en-US" sz="850" dirty="0"/>
          </a:p>
        </p:txBody>
      </p:sp>
      <p:sp>
        <p:nvSpPr>
          <p:cNvPr id="34" name="Text 31"/>
          <p:cNvSpPr/>
          <p:nvPr/>
        </p:nvSpPr>
        <p:spPr>
          <a:xfrm>
            <a:off x="11018520" y="6528816"/>
            <a:ext cx="530352" cy="237744"/>
          </a:xfrm>
          <a:prstGeom prst="rect">
            <a:avLst/>
          </a:prstGeom>
          <a:noFill/>
          <a:ln/>
        </p:spPr>
        <p:txBody>
          <a:bodyPr wrap="square" lIns="0" tIns="0" rIns="0" bIns="0" rtlCol="0" anchor="ctr"/>
          <a:lstStyle/>
          <a:p>
            <a:pPr algn="r" indent="0" marL="0">
              <a:buNone/>
            </a:pPr>
            <a:r>
              <a:rPr lang="en-US" sz="850" b="1" dirty="0">
                <a:solidFill>
                  <a:srgbClr val="22C55E"/>
                </a:solidFill>
                <a:latin typeface="Calibri" pitchFamily="34" charset="0"/>
                <a:ea typeface="Calibri" pitchFamily="34" charset="-122"/>
                <a:cs typeface="Calibri" pitchFamily="34" charset="-120"/>
              </a:rPr>
              <a:t>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70B09"/>
        </a:solidFill>
      </p:bgPr>
    </p:bg>
    <p:spTree>
      <p:nvGrpSpPr>
        <p:cNvPr id="1" name=""/>
        <p:cNvGrpSpPr/>
        <p:nvPr/>
      </p:nvGrpSpPr>
      <p:grpSpPr>
        <a:xfrm>
          <a:off x="0" y="0"/>
          <a:ext cx="0" cy="0"/>
          <a:chOff x="0" y="0"/>
          <a:chExt cx="0" cy="0"/>
        </a:xfrm>
      </p:grpSpPr>
      <p:sp>
        <p:nvSpPr>
          <p:cNvPr id="2" name="Shape 0"/>
          <p:cNvSpPr/>
          <p:nvPr/>
        </p:nvSpPr>
        <p:spPr>
          <a:xfrm>
            <a:off x="8046720" y="-1828800"/>
            <a:ext cx="6035040" cy="6035040"/>
          </a:xfrm>
          <a:prstGeom prst="ellipse">
            <a:avLst/>
          </a:prstGeom>
          <a:solidFill>
            <a:srgbClr val="22C55E">
              <a:alpha val="7000"/>
            </a:srgbClr>
          </a:solidFill>
          <a:ln/>
        </p:spPr>
      </p:sp>
      <p:sp>
        <p:nvSpPr>
          <p:cNvPr id="3" name="Text 1"/>
          <p:cNvSpPr/>
          <p:nvPr/>
        </p:nvSpPr>
        <p:spPr>
          <a:xfrm>
            <a:off x="640080" y="384048"/>
            <a:ext cx="7315200" cy="256032"/>
          </a:xfrm>
          <a:prstGeom prst="rect">
            <a:avLst/>
          </a:prstGeom>
          <a:noFill/>
          <a:ln/>
        </p:spPr>
        <p:txBody>
          <a:bodyPr wrap="square" lIns="0" tIns="0" rIns="0" bIns="0" rtlCol="0" anchor="ctr"/>
          <a:lstStyle/>
          <a:p>
            <a:pPr indent="0" marL="0">
              <a:buNone/>
            </a:pPr>
            <a:r>
              <a:rPr lang="en-US" sz="1100" b="1" spc="200" kern="0" dirty="0">
                <a:solidFill>
                  <a:srgbClr val="22C55E"/>
                </a:solidFill>
                <a:latin typeface="Calibri" pitchFamily="34" charset="0"/>
                <a:ea typeface="Calibri" pitchFamily="34" charset="-122"/>
                <a:cs typeface="Calibri" pitchFamily="34" charset="-120"/>
              </a:rPr>
              <a:t>15  ·  THE ASK</a:t>
            </a:r>
            <a:endParaRPr lang="en-US" sz="1100" dirty="0"/>
          </a:p>
        </p:txBody>
      </p:sp>
      <p:sp>
        <p:nvSpPr>
          <p:cNvPr id="4" name="Text 2"/>
          <p:cNvSpPr/>
          <p:nvPr/>
        </p:nvSpPr>
        <p:spPr>
          <a:xfrm>
            <a:off x="640080" y="777240"/>
            <a:ext cx="10881360" cy="685800"/>
          </a:xfrm>
          <a:prstGeom prst="rect">
            <a:avLst/>
          </a:prstGeom>
          <a:noFill/>
          <a:ln/>
        </p:spPr>
        <p:txBody>
          <a:bodyPr wrap="square" lIns="0" tIns="0" rIns="0" bIns="0" rtlCol="0" anchor="t"/>
          <a:lstStyle/>
          <a:p>
            <a:pPr indent="0" marL="0">
              <a:lnSpc>
                <a:spcPct val="105000"/>
              </a:lnSpc>
              <a:buNone/>
            </a:pPr>
            <a:r>
              <a:rPr lang="en-US" sz="3300" b="1" dirty="0">
                <a:solidFill>
                  <a:srgbClr val="F4F7F5"/>
                </a:solidFill>
                <a:latin typeface="Calibri" pitchFamily="34" charset="0"/>
                <a:ea typeface="Calibri" pitchFamily="34" charset="-122"/>
                <a:cs typeface="Calibri" pitchFamily="34" charset="-120"/>
              </a:rPr>
              <a:t>Raising $[ amount ] for 18 months.</a:t>
            </a:r>
            <a:endParaRPr lang="en-US" sz="3300" dirty="0"/>
          </a:p>
        </p:txBody>
      </p:sp>
      <p:sp>
        <p:nvSpPr>
          <p:cNvPr id="5" name="Text 3"/>
          <p:cNvSpPr/>
          <p:nvPr/>
        </p:nvSpPr>
        <p:spPr>
          <a:xfrm>
            <a:off x="640080" y="1536192"/>
            <a:ext cx="10241280" cy="384048"/>
          </a:xfrm>
          <a:prstGeom prst="rect">
            <a:avLst/>
          </a:prstGeom>
          <a:noFill/>
          <a:ln/>
        </p:spPr>
        <p:txBody>
          <a:bodyPr wrap="square" lIns="0" tIns="0" rIns="0" bIns="0" rtlCol="0" anchor="t"/>
          <a:lstStyle/>
          <a:p>
            <a:pPr indent="0" marL="0">
              <a:lnSpc>
                <a:spcPct val="115000"/>
              </a:lnSpc>
              <a:buNone/>
            </a:pPr>
            <a:r>
              <a:rPr lang="en-US" sz="1350" dirty="0">
                <a:solidFill>
                  <a:srgbClr val="9BA8A0"/>
                </a:solidFill>
                <a:latin typeface="Calibri" pitchFamily="34" charset="0"/>
                <a:ea typeface="Calibri" pitchFamily="34" charset="-122"/>
                <a:cs typeface="Calibri" pitchFamily="34" charset="-120"/>
              </a:rPr>
              <a:t>The product is built and charging. What isn't bought yet is proof the answer can be trusted, and the bank connection that turns one honest answer into a recurring one.</a:t>
            </a:r>
            <a:endParaRPr lang="en-US" sz="1350" dirty="0"/>
          </a:p>
        </p:txBody>
      </p:sp>
      <p:sp>
        <p:nvSpPr>
          <p:cNvPr id="6" name="Shape 4"/>
          <p:cNvSpPr/>
          <p:nvPr/>
        </p:nvSpPr>
        <p:spPr>
          <a:xfrm>
            <a:off x="640080" y="2212848"/>
            <a:ext cx="2569464" cy="2286000"/>
          </a:xfrm>
          <a:prstGeom prst="roundRect">
            <a:avLst>
              <a:gd name="adj" fmla="val 4800"/>
            </a:avLst>
          </a:prstGeom>
          <a:solidFill>
            <a:srgbClr val="101613"/>
          </a:solidFill>
          <a:ln w="12700">
            <a:solidFill>
              <a:srgbClr val="1C2420"/>
            </a:solidFill>
            <a:prstDash val="solid"/>
          </a:ln>
        </p:spPr>
      </p:sp>
      <p:sp>
        <p:nvSpPr>
          <p:cNvPr id="7" name="Text 5"/>
          <p:cNvSpPr/>
          <p:nvPr/>
        </p:nvSpPr>
        <p:spPr>
          <a:xfrm>
            <a:off x="877824" y="2377440"/>
            <a:ext cx="2103120" cy="512064"/>
          </a:xfrm>
          <a:prstGeom prst="rect">
            <a:avLst/>
          </a:prstGeom>
          <a:noFill/>
          <a:ln/>
        </p:spPr>
        <p:txBody>
          <a:bodyPr wrap="square" lIns="0" tIns="0" rIns="0" bIns="0" rtlCol="0" anchor="ctr"/>
          <a:lstStyle/>
          <a:p>
            <a:pPr indent="0" marL="0">
              <a:buNone/>
            </a:pPr>
            <a:r>
              <a:rPr lang="en-US" sz="3200" b="1" spc="-100" kern="0" dirty="0">
                <a:solidFill>
                  <a:srgbClr val="22C55E"/>
                </a:solidFill>
                <a:latin typeface="Calibri" pitchFamily="34" charset="0"/>
                <a:ea typeface="Calibri" pitchFamily="34" charset="-122"/>
                <a:cs typeface="Calibri" pitchFamily="34" charset="-120"/>
              </a:rPr>
              <a:t>45%</a:t>
            </a:r>
            <a:endParaRPr lang="en-US" sz="3200" dirty="0"/>
          </a:p>
        </p:txBody>
      </p:sp>
      <p:sp>
        <p:nvSpPr>
          <p:cNvPr id="8" name="Text 6"/>
          <p:cNvSpPr/>
          <p:nvPr/>
        </p:nvSpPr>
        <p:spPr>
          <a:xfrm>
            <a:off x="877824" y="2907792"/>
            <a:ext cx="2148840" cy="292608"/>
          </a:xfrm>
          <a:prstGeom prst="rect">
            <a:avLst/>
          </a:prstGeom>
          <a:noFill/>
          <a:ln/>
        </p:spPr>
        <p:txBody>
          <a:bodyPr wrap="square" lIns="0" tIns="0" rIns="0" bIns="0" rtlCol="0" anchor="ctr"/>
          <a:lstStyle/>
          <a:p>
            <a:pPr indent="0" marL="0">
              <a:buNone/>
            </a:pPr>
            <a:r>
              <a:rPr lang="en-US" sz="1450" b="1" dirty="0">
                <a:solidFill>
                  <a:srgbClr val="F4F7F5"/>
                </a:solidFill>
                <a:latin typeface="Calibri" pitchFamily="34" charset="0"/>
                <a:ea typeface="Calibri" pitchFamily="34" charset="-122"/>
                <a:cs typeface="Calibri" pitchFamily="34" charset="-120"/>
              </a:rPr>
              <a:t>Two hires</a:t>
            </a:r>
            <a:endParaRPr lang="en-US" sz="1450" dirty="0"/>
          </a:p>
        </p:txBody>
      </p:sp>
      <p:sp>
        <p:nvSpPr>
          <p:cNvPr id="9" name="Text 7"/>
          <p:cNvSpPr/>
          <p:nvPr/>
        </p:nvSpPr>
        <p:spPr>
          <a:xfrm>
            <a:off x="877824" y="3236976"/>
            <a:ext cx="2121408" cy="1133856"/>
          </a:xfrm>
          <a:prstGeom prst="rect">
            <a:avLst/>
          </a:prstGeom>
          <a:noFill/>
          <a:ln/>
        </p:spPr>
        <p:txBody>
          <a:bodyPr wrap="square" lIns="0" tIns="0" rIns="0" bIns="0" rtlCol="0" anchor="t"/>
          <a:lstStyle/>
          <a:p>
            <a:pPr indent="0" marL="0">
              <a:lnSpc>
                <a:spcPct val="118000"/>
              </a:lnSpc>
              <a:buNone/>
            </a:pPr>
            <a:r>
              <a:rPr lang="en-US" sz="1100" dirty="0">
                <a:solidFill>
                  <a:srgbClr val="9BA8A0"/>
                </a:solidFill>
                <a:latin typeface="Calibri" pitchFamily="34" charset="0"/>
                <a:ea typeface="Calibri" pitchFamily="34" charset="-122"/>
                <a:cs typeface="Calibri" pitchFamily="34" charset="-120"/>
              </a:rPr>
              <a:t>One engineer to take the data layer off the founder, one on research and support — so getting users stops being a nights-and-weekends job.</a:t>
            </a:r>
            <a:endParaRPr lang="en-US" sz="1100" dirty="0"/>
          </a:p>
        </p:txBody>
      </p:sp>
      <p:sp>
        <p:nvSpPr>
          <p:cNvPr id="10" name="Shape 8"/>
          <p:cNvSpPr/>
          <p:nvPr/>
        </p:nvSpPr>
        <p:spPr>
          <a:xfrm>
            <a:off x="3410712" y="2212848"/>
            <a:ext cx="2569464" cy="2286000"/>
          </a:xfrm>
          <a:prstGeom prst="roundRect">
            <a:avLst>
              <a:gd name="adj" fmla="val 4800"/>
            </a:avLst>
          </a:prstGeom>
          <a:solidFill>
            <a:srgbClr val="101613"/>
          </a:solidFill>
          <a:ln w="12700">
            <a:solidFill>
              <a:srgbClr val="1C2420"/>
            </a:solidFill>
            <a:prstDash val="solid"/>
          </a:ln>
        </p:spPr>
      </p:sp>
      <p:sp>
        <p:nvSpPr>
          <p:cNvPr id="11" name="Text 9"/>
          <p:cNvSpPr/>
          <p:nvPr/>
        </p:nvSpPr>
        <p:spPr>
          <a:xfrm>
            <a:off x="3648456" y="2377440"/>
            <a:ext cx="2103120" cy="512064"/>
          </a:xfrm>
          <a:prstGeom prst="rect">
            <a:avLst/>
          </a:prstGeom>
          <a:noFill/>
          <a:ln/>
        </p:spPr>
        <p:txBody>
          <a:bodyPr wrap="square" lIns="0" tIns="0" rIns="0" bIns="0" rtlCol="0" anchor="ctr"/>
          <a:lstStyle/>
          <a:p>
            <a:pPr indent="0" marL="0">
              <a:buNone/>
            </a:pPr>
            <a:r>
              <a:rPr lang="en-US" sz="3200" b="1" spc="-100" kern="0" dirty="0">
                <a:solidFill>
                  <a:srgbClr val="22C55E"/>
                </a:solidFill>
                <a:latin typeface="Calibri" pitchFamily="34" charset="0"/>
                <a:ea typeface="Calibri" pitchFamily="34" charset="-122"/>
                <a:cs typeface="Calibri" pitchFamily="34" charset="-120"/>
              </a:rPr>
              <a:t>20%</a:t>
            </a:r>
            <a:endParaRPr lang="en-US" sz="3200" dirty="0"/>
          </a:p>
        </p:txBody>
      </p:sp>
      <p:sp>
        <p:nvSpPr>
          <p:cNvPr id="12" name="Text 10"/>
          <p:cNvSpPr/>
          <p:nvPr/>
        </p:nvSpPr>
        <p:spPr>
          <a:xfrm>
            <a:off x="3648456" y="2907792"/>
            <a:ext cx="2148840" cy="292608"/>
          </a:xfrm>
          <a:prstGeom prst="rect">
            <a:avLst/>
          </a:prstGeom>
          <a:noFill/>
          <a:ln/>
        </p:spPr>
        <p:txBody>
          <a:bodyPr wrap="square" lIns="0" tIns="0" rIns="0" bIns="0" rtlCol="0" anchor="ctr"/>
          <a:lstStyle/>
          <a:p>
            <a:pPr indent="0" marL="0">
              <a:buNone/>
            </a:pPr>
            <a:r>
              <a:rPr lang="en-US" sz="1450" b="1" dirty="0">
                <a:solidFill>
                  <a:srgbClr val="F4F7F5"/>
                </a:solidFill>
                <a:latin typeface="Calibri" pitchFamily="34" charset="0"/>
                <a:ea typeface="Calibri" pitchFamily="34" charset="-122"/>
                <a:cs typeface="Calibri" pitchFamily="34" charset="-120"/>
              </a:rPr>
              <a:t>The spend side</a:t>
            </a:r>
            <a:endParaRPr lang="en-US" sz="1450" dirty="0"/>
          </a:p>
        </p:txBody>
      </p:sp>
      <p:sp>
        <p:nvSpPr>
          <p:cNvPr id="13" name="Text 11"/>
          <p:cNvSpPr/>
          <p:nvPr/>
        </p:nvSpPr>
        <p:spPr>
          <a:xfrm>
            <a:off x="3648456" y="3236976"/>
            <a:ext cx="2121408" cy="1133856"/>
          </a:xfrm>
          <a:prstGeom prst="rect">
            <a:avLst/>
          </a:prstGeom>
          <a:noFill/>
          <a:ln/>
        </p:spPr>
        <p:txBody>
          <a:bodyPr wrap="square" lIns="0" tIns="0" rIns="0" bIns="0" rtlCol="0" anchor="t"/>
          <a:lstStyle/>
          <a:p>
            <a:pPr indent="0" marL="0">
              <a:lnSpc>
                <a:spcPct val="118000"/>
              </a:lnSpc>
              <a:buNone/>
            </a:pPr>
            <a:r>
              <a:rPr lang="en-US" sz="1100" dirty="0">
                <a:solidFill>
                  <a:srgbClr val="9BA8A0"/>
                </a:solidFill>
                <a:latin typeface="Calibri" pitchFamily="34" charset="0"/>
                <a:ea typeface="Calibri" pitchFamily="34" charset="-122"/>
                <a:cs typeface="Calibri" pitchFamily="34" charset="-120"/>
              </a:rPr>
              <a:t>Bank linking, consent flow, transaction categorisation and recurring-charge detection, plus the vendor and security costs of holding that data.</a:t>
            </a:r>
            <a:endParaRPr lang="en-US" sz="1100" dirty="0"/>
          </a:p>
        </p:txBody>
      </p:sp>
      <p:sp>
        <p:nvSpPr>
          <p:cNvPr id="14" name="Shape 12"/>
          <p:cNvSpPr/>
          <p:nvPr/>
        </p:nvSpPr>
        <p:spPr>
          <a:xfrm>
            <a:off x="6181344" y="2212848"/>
            <a:ext cx="2569464" cy="2286000"/>
          </a:xfrm>
          <a:prstGeom prst="roundRect">
            <a:avLst>
              <a:gd name="adj" fmla="val 4800"/>
            </a:avLst>
          </a:prstGeom>
          <a:solidFill>
            <a:srgbClr val="101613"/>
          </a:solidFill>
          <a:ln w="12700">
            <a:solidFill>
              <a:srgbClr val="1C2420"/>
            </a:solidFill>
            <a:prstDash val="solid"/>
          </a:ln>
        </p:spPr>
      </p:sp>
      <p:sp>
        <p:nvSpPr>
          <p:cNvPr id="15" name="Text 13"/>
          <p:cNvSpPr/>
          <p:nvPr/>
        </p:nvSpPr>
        <p:spPr>
          <a:xfrm>
            <a:off x="6419088" y="2377440"/>
            <a:ext cx="2103120" cy="512064"/>
          </a:xfrm>
          <a:prstGeom prst="rect">
            <a:avLst/>
          </a:prstGeom>
          <a:noFill/>
          <a:ln/>
        </p:spPr>
        <p:txBody>
          <a:bodyPr wrap="square" lIns="0" tIns="0" rIns="0" bIns="0" rtlCol="0" anchor="ctr"/>
          <a:lstStyle/>
          <a:p>
            <a:pPr indent="0" marL="0">
              <a:buNone/>
            </a:pPr>
            <a:r>
              <a:rPr lang="en-US" sz="3200" b="1" spc="-100" kern="0" dirty="0">
                <a:solidFill>
                  <a:srgbClr val="22C55E"/>
                </a:solidFill>
                <a:latin typeface="Calibri" pitchFamily="34" charset="0"/>
                <a:ea typeface="Calibri" pitchFamily="34" charset="-122"/>
                <a:cs typeface="Calibri" pitchFamily="34" charset="-120"/>
              </a:rPr>
              <a:t>20%</a:t>
            </a:r>
            <a:endParaRPr lang="en-US" sz="3200" dirty="0"/>
          </a:p>
        </p:txBody>
      </p:sp>
      <p:sp>
        <p:nvSpPr>
          <p:cNvPr id="16" name="Text 14"/>
          <p:cNvSpPr/>
          <p:nvPr/>
        </p:nvSpPr>
        <p:spPr>
          <a:xfrm>
            <a:off x="6419088" y="2907792"/>
            <a:ext cx="2148840" cy="292608"/>
          </a:xfrm>
          <a:prstGeom prst="rect">
            <a:avLst/>
          </a:prstGeom>
          <a:noFill/>
          <a:ln/>
        </p:spPr>
        <p:txBody>
          <a:bodyPr wrap="square" lIns="0" tIns="0" rIns="0" bIns="0" rtlCol="0" anchor="ctr"/>
          <a:lstStyle/>
          <a:p>
            <a:pPr indent="0" marL="0">
              <a:buNone/>
            </a:pPr>
            <a:r>
              <a:rPr lang="en-US" sz="1450" b="1" dirty="0">
                <a:solidFill>
                  <a:srgbClr val="F4F7F5"/>
                </a:solidFill>
                <a:latin typeface="Calibri" pitchFamily="34" charset="0"/>
                <a:ea typeface="Calibri" pitchFamily="34" charset="-122"/>
                <a:cs typeface="Calibri" pitchFamily="34" charset="-120"/>
              </a:rPr>
              <a:t>Proof it's right</a:t>
            </a:r>
            <a:endParaRPr lang="en-US" sz="1450" dirty="0"/>
          </a:p>
        </p:txBody>
      </p:sp>
      <p:sp>
        <p:nvSpPr>
          <p:cNvPr id="17" name="Text 15"/>
          <p:cNvSpPr/>
          <p:nvPr/>
        </p:nvSpPr>
        <p:spPr>
          <a:xfrm>
            <a:off x="6419088" y="3236976"/>
            <a:ext cx="2121408" cy="1133856"/>
          </a:xfrm>
          <a:prstGeom prst="rect">
            <a:avLst/>
          </a:prstGeom>
          <a:noFill/>
          <a:ln/>
        </p:spPr>
        <p:txBody>
          <a:bodyPr wrap="square" lIns="0" tIns="0" rIns="0" bIns="0" rtlCol="0" anchor="t"/>
          <a:lstStyle/>
          <a:p>
            <a:pPr indent="0" marL="0">
              <a:lnSpc>
                <a:spcPct val="118000"/>
              </a:lnSpc>
              <a:buNone/>
            </a:pPr>
            <a:r>
              <a:rPr lang="en-US" sz="1100" dirty="0">
                <a:solidFill>
                  <a:srgbClr val="9BA8A0"/>
                </a:solidFill>
                <a:latin typeface="Calibri" pitchFamily="34" charset="0"/>
                <a:ea typeface="Calibri" pitchFamily="34" charset="-122"/>
                <a:cs typeface="Calibri" pitchFamily="34" charset="-120"/>
              </a:rPr>
              <a:t>Back-test every route type against real outcomes, then publish the record. The moat and the biggest unproven claim in this deck, at the same time.</a:t>
            </a:r>
            <a:endParaRPr lang="en-US" sz="1100" dirty="0"/>
          </a:p>
        </p:txBody>
      </p:sp>
      <p:sp>
        <p:nvSpPr>
          <p:cNvPr id="18" name="Shape 16"/>
          <p:cNvSpPr/>
          <p:nvPr/>
        </p:nvSpPr>
        <p:spPr>
          <a:xfrm>
            <a:off x="8951976" y="2212848"/>
            <a:ext cx="2569464" cy="2286000"/>
          </a:xfrm>
          <a:prstGeom prst="roundRect">
            <a:avLst>
              <a:gd name="adj" fmla="val 4800"/>
            </a:avLst>
          </a:prstGeom>
          <a:solidFill>
            <a:srgbClr val="101613"/>
          </a:solidFill>
          <a:ln w="12700">
            <a:solidFill>
              <a:srgbClr val="1C2420"/>
            </a:solidFill>
            <a:prstDash val="solid"/>
          </a:ln>
        </p:spPr>
      </p:sp>
      <p:sp>
        <p:nvSpPr>
          <p:cNvPr id="19" name="Text 17"/>
          <p:cNvSpPr/>
          <p:nvPr/>
        </p:nvSpPr>
        <p:spPr>
          <a:xfrm>
            <a:off x="9189720" y="2377440"/>
            <a:ext cx="2103120" cy="512064"/>
          </a:xfrm>
          <a:prstGeom prst="rect">
            <a:avLst/>
          </a:prstGeom>
          <a:noFill/>
          <a:ln/>
        </p:spPr>
        <p:txBody>
          <a:bodyPr wrap="square" lIns="0" tIns="0" rIns="0" bIns="0" rtlCol="0" anchor="ctr"/>
          <a:lstStyle/>
          <a:p>
            <a:pPr indent="0" marL="0">
              <a:buNone/>
            </a:pPr>
            <a:r>
              <a:rPr lang="en-US" sz="3200" b="1" spc="-100" kern="0" dirty="0">
                <a:solidFill>
                  <a:srgbClr val="22C55E"/>
                </a:solidFill>
                <a:latin typeface="Calibri" pitchFamily="34" charset="0"/>
                <a:ea typeface="Calibri" pitchFamily="34" charset="-122"/>
                <a:cs typeface="Calibri" pitchFamily="34" charset="-120"/>
              </a:rPr>
              <a:t>15%</a:t>
            </a:r>
            <a:endParaRPr lang="en-US" sz="3200" dirty="0"/>
          </a:p>
        </p:txBody>
      </p:sp>
      <p:sp>
        <p:nvSpPr>
          <p:cNvPr id="20" name="Text 18"/>
          <p:cNvSpPr/>
          <p:nvPr/>
        </p:nvSpPr>
        <p:spPr>
          <a:xfrm>
            <a:off x="9189720" y="2907792"/>
            <a:ext cx="2148840" cy="292608"/>
          </a:xfrm>
          <a:prstGeom prst="rect">
            <a:avLst/>
          </a:prstGeom>
          <a:noFill/>
          <a:ln/>
        </p:spPr>
        <p:txBody>
          <a:bodyPr wrap="square" lIns="0" tIns="0" rIns="0" bIns="0" rtlCol="0" anchor="ctr"/>
          <a:lstStyle/>
          <a:p>
            <a:pPr indent="0" marL="0">
              <a:buNone/>
            </a:pPr>
            <a:r>
              <a:rPr lang="en-US" sz="1450" b="1" dirty="0">
                <a:solidFill>
                  <a:srgbClr val="F4F7F5"/>
                </a:solidFill>
                <a:latin typeface="Calibri" pitchFamily="34" charset="0"/>
                <a:ea typeface="Calibri" pitchFamily="34" charset="-122"/>
                <a:cs typeface="Calibri" pitchFamily="34" charset="-120"/>
              </a:rPr>
              <a:t>Legal &amp; compliance</a:t>
            </a:r>
            <a:endParaRPr lang="en-US" sz="1450" dirty="0"/>
          </a:p>
        </p:txBody>
      </p:sp>
      <p:sp>
        <p:nvSpPr>
          <p:cNvPr id="21" name="Text 19"/>
          <p:cNvSpPr/>
          <p:nvPr/>
        </p:nvSpPr>
        <p:spPr>
          <a:xfrm>
            <a:off x="9189720" y="3236976"/>
            <a:ext cx="2121408" cy="1133856"/>
          </a:xfrm>
          <a:prstGeom prst="rect">
            <a:avLst/>
          </a:prstGeom>
          <a:noFill/>
          <a:ln/>
        </p:spPr>
        <p:txBody>
          <a:bodyPr wrap="square" lIns="0" tIns="0" rIns="0" bIns="0" rtlCol="0" anchor="t"/>
          <a:lstStyle/>
          <a:p>
            <a:pPr indent="0" marL="0">
              <a:lnSpc>
                <a:spcPct val="118000"/>
              </a:lnSpc>
              <a:buNone/>
            </a:pPr>
            <a:r>
              <a:rPr lang="en-US" sz="1100" dirty="0">
                <a:solidFill>
                  <a:srgbClr val="9BA8A0"/>
                </a:solidFill>
                <a:latin typeface="Calibri" pitchFamily="34" charset="0"/>
                <a:ea typeface="Calibri" pitchFamily="34" charset="-122"/>
                <a:cs typeface="Calibri" pitchFamily="34" charset="-120"/>
              </a:rPr>
              <a:t>A securities read on the saving side, plus the consent, security and data-handling review that closes before a single bank account is connected.</a:t>
            </a:r>
            <a:endParaRPr lang="en-US" sz="1100" dirty="0"/>
          </a:p>
        </p:txBody>
      </p:sp>
      <p:sp>
        <p:nvSpPr>
          <p:cNvPr id="22" name="Text 20"/>
          <p:cNvSpPr/>
          <p:nvPr/>
        </p:nvSpPr>
        <p:spPr>
          <a:xfrm>
            <a:off x="640080" y="4681728"/>
            <a:ext cx="5486400" cy="237744"/>
          </a:xfrm>
          <a:prstGeom prst="rect">
            <a:avLst/>
          </a:prstGeom>
          <a:noFill/>
          <a:ln/>
        </p:spPr>
        <p:txBody>
          <a:bodyPr wrap="square" lIns="0" tIns="0" rIns="0" bIns="0" rtlCol="0" anchor="ctr"/>
          <a:lstStyle/>
          <a:p>
            <a:pPr indent="0" marL="0">
              <a:buNone/>
            </a:pPr>
            <a:r>
              <a:rPr lang="en-US" sz="950" b="1" spc="140" kern="0" dirty="0">
                <a:solidFill>
                  <a:srgbClr val="22C55E"/>
                </a:solidFill>
                <a:latin typeface="Calibri" pitchFamily="34" charset="0"/>
                <a:ea typeface="Calibri" pitchFamily="34" charset="-122"/>
                <a:cs typeface="Calibri" pitchFamily="34" charset="-120"/>
              </a:rPr>
              <a:t>WHAT THAT BUYS, IN ORDER</a:t>
            </a:r>
            <a:endParaRPr lang="en-US" sz="950" dirty="0"/>
          </a:p>
        </p:txBody>
      </p:sp>
      <p:sp>
        <p:nvSpPr>
          <p:cNvPr id="23" name="Shape 21"/>
          <p:cNvSpPr/>
          <p:nvPr/>
        </p:nvSpPr>
        <p:spPr>
          <a:xfrm>
            <a:off x="640080" y="4974336"/>
            <a:ext cx="2569464" cy="841248"/>
          </a:xfrm>
          <a:prstGeom prst="roundRect">
            <a:avLst>
              <a:gd name="adj" fmla="val 13043"/>
            </a:avLst>
          </a:prstGeom>
          <a:solidFill>
            <a:srgbClr val="161D19"/>
          </a:solidFill>
          <a:ln w="12700">
            <a:solidFill>
              <a:srgbClr val="2A352F"/>
            </a:solidFill>
            <a:prstDash val="solid"/>
          </a:ln>
        </p:spPr>
      </p:sp>
      <p:sp>
        <p:nvSpPr>
          <p:cNvPr id="24" name="Text 22"/>
          <p:cNvSpPr/>
          <p:nvPr/>
        </p:nvSpPr>
        <p:spPr>
          <a:xfrm>
            <a:off x="877824" y="5065776"/>
            <a:ext cx="2103120" cy="219456"/>
          </a:xfrm>
          <a:prstGeom prst="rect">
            <a:avLst/>
          </a:prstGeom>
          <a:noFill/>
          <a:ln/>
        </p:spPr>
        <p:txBody>
          <a:bodyPr wrap="square" lIns="0" tIns="0" rIns="0" bIns="0" rtlCol="0" anchor="ctr"/>
          <a:lstStyle/>
          <a:p>
            <a:pPr indent="0" marL="0">
              <a:buNone/>
            </a:pPr>
            <a:r>
              <a:rPr lang="en-US" sz="950" b="1" spc="100" kern="0" dirty="0">
                <a:solidFill>
                  <a:srgbClr val="F5B43C"/>
                </a:solidFill>
                <a:latin typeface="Calibri" pitchFamily="34" charset="0"/>
                <a:ea typeface="Calibri" pitchFamily="34" charset="-122"/>
                <a:cs typeface="Calibri" pitchFamily="34" charset="-120"/>
              </a:rPr>
              <a:t>0–3 mo</a:t>
            </a:r>
            <a:endParaRPr lang="en-US" sz="950" dirty="0"/>
          </a:p>
        </p:txBody>
      </p:sp>
      <p:sp>
        <p:nvSpPr>
          <p:cNvPr id="25" name="Text 23"/>
          <p:cNvSpPr/>
          <p:nvPr/>
        </p:nvSpPr>
        <p:spPr>
          <a:xfrm>
            <a:off x="877824" y="5285232"/>
            <a:ext cx="2148840" cy="457200"/>
          </a:xfrm>
          <a:prstGeom prst="rect">
            <a:avLst/>
          </a:prstGeom>
          <a:noFill/>
          <a:ln/>
        </p:spPr>
        <p:txBody>
          <a:bodyPr wrap="square" lIns="0" tIns="0" rIns="0" bIns="0" rtlCol="0" anchor="t"/>
          <a:lstStyle/>
          <a:p>
            <a:pPr indent="0" marL="0">
              <a:lnSpc>
                <a:spcPct val="112000"/>
              </a:lnSpc>
              <a:buNone/>
            </a:pPr>
            <a:r>
              <a:rPr lang="en-US" sz="1100" dirty="0">
                <a:solidFill>
                  <a:srgbClr val="F4F7F5"/>
                </a:solidFill>
                <a:latin typeface="Calibri" pitchFamily="34" charset="0"/>
                <a:ea typeface="Calibri" pitchFamily="34" charset="-122"/>
                <a:cs typeface="Calibri" pitchFamily="34" charset="-120"/>
              </a:rPr>
              <a:t>100 paying users, none of them friends</a:t>
            </a:r>
            <a:endParaRPr lang="en-US" sz="1100" dirty="0"/>
          </a:p>
        </p:txBody>
      </p:sp>
      <p:sp>
        <p:nvSpPr>
          <p:cNvPr id="26" name="Shape 24"/>
          <p:cNvSpPr/>
          <p:nvPr/>
        </p:nvSpPr>
        <p:spPr>
          <a:xfrm>
            <a:off x="3410712" y="4974336"/>
            <a:ext cx="2569464" cy="841248"/>
          </a:xfrm>
          <a:prstGeom prst="roundRect">
            <a:avLst>
              <a:gd name="adj" fmla="val 13043"/>
            </a:avLst>
          </a:prstGeom>
          <a:solidFill>
            <a:srgbClr val="161D19"/>
          </a:solidFill>
          <a:ln w="12700">
            <a:solidFill>
              <a:srgbClr val="2A352F"/>
            </a:solidFill>
            <a:prstDash val="solid"/>
          </a:ln>
        </p:spPr>
      </p:sp>
      <p:sp>
        <p:nvSpPr>
          <p:cNvPr id="27" name="Text 25"/>
          <p:cNvSpPr/>
          <p:nvPr/>
        </p:nvSpPr>
        <p:spPr>
          <a:xfrm>
            <a:off x="3648456" y="5065776"/>
            <a:ext cx="2103120" cy="219456"/>
          </a:xfrm>
          <a:prstGeom prst="rect">
            <a:avLst/>
          </a:prstGeom>
          <a:noFill/>
          <a:ln/>
        </p:spPr>
        <p:txBody>
          <a:bodyPr wrap="square" lIns="0" tIns="0" rIns="0" bIns="0" rtlCol="0" anchor="ctr"/>
          <a:lstStyle/>
          <a:p>
            <a:pPr indent="0" marL="0">
              <a:buNone/>
            </a:pPr>
            <a:r>
              <a:rPr lang="en-US" sz="950" b="1" spc="100" kern="0" dirty="0">
                <a:solidFill>
                  <a:srgbClr val="F5B43C"/>
                </a:solidFill>
                <a:latin typeface="Calibri" pitchFamily="34" charset="0"/>
                <a:ea typeface="Calibri" pitchFamily="34" charset="-122"/>
                <a:cs typeface="Calibri" pitchFamily="34" charset="-120"/>
              </a:rPr>
              <a:t>3–6 mo</a:t>
            </a:r>
            <a:endParaRPr lang="en-US" sz="950" dirty="0"/>
          </a:p>
        </p:txBody>
      </p:sp>
      <p:sp>
        <p:nvSpPr>
          <p:cNvPr id="28" name="Text 26"/>
          <p:cNvSpPr/>
          <p:nvPr/>
        </p:nvSpPr>
        <p:spPr>
          <a:xfrm>
            <a:off x="3648456" y="5285232"/>
            <a:ext cx="2148840" cy="457200"/>
          </a:xfrm>
          <a:prstGeom prst="rect">
            <a:avLst/>
          </a:prstGeom>
          <a:noFill/>
          <a:ln/>
        </p:spPr>
        <p:txBody>
          <a:bodyPr wrap="square" lIns="0" tIns="0" rIns="0" bIns="0" rtlCol="0" anchor="t"/>
          <a:lstStyle/>
          <a:p>
            <a:pPr indent="0" marL="0">
              <a:lnSpc>
                <a:spcPct val="112000"/>
              </a:lnSpc>
              <a:buNone/>
            </a:pPr>
            <a:r>
              <a:rPr lang="en-US" sz="1100" dirty="0">
                <a:solidFill>
                  <a:srgbClr val="F4F7F5"/>
                </a:solidFill>
                <a:latin typeface="Calibri" pitchFamily="34" charset="0"/>
                <a:ea typeface="Calibri" pitchFamily="34" charset="-122"/>
                <a:cs typeface="Calibri" pitchFamily="34" charset="-120"/>
              </a:rPr>
              <a:t>A published record of the rankings being right</a:t>
            </a:r>
            <a:endParaRPr lang="en-US" sz="1100" dirty="0"/>
          </a:p>
        </p:txBody>
      </p:sp>
      <p:sp>
        <p:nvSpPr>
          <p:cNvPr id="29" name="Shape 27"/>
          <p:cNvSpPr/>
          <p:nvPr/>
        </p:nvSpPr>
        <p:spPr>
          <a:xfrm>
            <a:off x="6181344" y="4974336"/>
            <a:ext cx="2569464" cy="841248"/>
          </a:xfrm>
          <a:prstGeom prst="roundRect">
            <a:avLst>
              <a:gd name="adj" fmla="val 13043"/>
            </a:avLst>
          </a:prstGeom>
          <a:solidFill>
            <a:srgbClr val="161D19"/>
          </a:solidFill>
          <a:ln w="12700">
            <a:solidFill>
              <a:srgbClr val="2A352F"/>
            </a:solidFill>
            <a:prstDash val="solid"/>
          </a:ln>
        </p:spPr>
      </p:sp>
      <p:sp>
        <p:nvSpPr>
          <p:cNvPr id="30" name="Text 28"/>
          <p:cNvSpPr/>
          <p:nvPr/>
        </p:nvSpPr>
        <p:spPr>
          <a:xfrm>
            <a:off x="6419088" y="5065776"/>
            <a:ext cx="2103120" cy="219456"/>
          </a:xfrm>
          <a:prstGeom prst="rect">
            <a:avLst/>
          </a:prstGeom>
          <a:noFill/>
          <a:ln/>
        </p:spPr>
        <p:txBody>
          <a:bodyPr wrap="square" lIns="0" tIns="0" rIns="0" bIns="0" rtlCol="0" anchor="ctr"/>
          <a:lstStyle/>
          <a:p>
            <a:pPr indent="0" marL="0">
              <a:buNone/>
            </a:pPr>
            <a:r>
              <a:rPr lang="en-US" sz="950" b="1" spc="100" kern="0" dirty="0">
                <a:solidFill>
                  <a:srgbClr val="F5B43C"/>
                </a:solidFill>
                <a:latin typeface="Calibri" pitchFamily="34" charset="0"/>
                <a:ea typeface="Calibri" pitchFamily="34" charset="-122"/>
                <a:cs typeface="Calibri" pitchFamily="34" charset="-120"/>
              </a:rPr>
              <a:t>6–12 mo</a:t>
            </a:r>
            <a:endParaRPr lang="en-US" sz="950" dirty="0"/>
          </a:p>
        </p:txBody>
      </p:sp>
      <p:sp>
        <p:nvSpPr>
          <p:cNvPr id="31" name="Text 29"/>
          <p:cNvSpPr/>
          <p:nvPr/>
        </p:nvSpPr>
        <p:spPr>
          <a:xfrm>
            <a:off x="6419088" y="5285232"/>
            <a:ext cx="2148840" cy="457200"/>
          </a:xfrm>
          <a:prstGeom prst="rect">
            <a:avLst/>
          </a:prstGeom>
          <a:noFill/>
          <a:ln/>
        </p:spPr>
        <p:txBody>
          <a:bodyPr wrap="square" lIns="0" tIns="0" rIns="0" bIns="0" rtlCol="0" anchor="t"/>
          <a:lstStyle/>
          <a:p>
            <a:pPr indent="0" marL="0">
              <a:lnSpc>
                <a:spcPct val="112000"/>
              </a:lnSpc>
              <a:buNone/>
            </a:pPr>
            <a:r>
              <a:rPr lang="en-US" sz="1100" dirty="0">
                <a:solidFill>
                  <a:srgbClr val="F4F7F5"/>
                </a:solidFill>
                <a:latin typeface="Calibri" pitchFamily="34" charset="0"/>
                <a:ea typeface="Calibri" pitchFamily="34" charset="-122"/>
                <a:cs typeface="Calibri" pitchFamily="34" charset="-120"/>
              </a:rPr>
              <a:t>Bank linking live, saving routes in the same list</a:t>
            </a:r>
            <a:endParaRPr lang="en-US" sz="1100" dirty="0"/>
          </a:p>
        </p:txBody>
      </p:sp>
      <p:sp>
        <p:nvSpPr>
          <p:cNvPr id="32" name="Shape 30"/>
          <p:cNvSpPr/>
          <p:nvPr/>
        </p:nvSpPr>
        <p:spPr>
          <a:xfrm>
            <a:off x="8951976" y="4974336"/>
            <a:ext cx="2569464" cy="841248"/>
          </a:xfrm>
          <a:prstGeom prst="roundRect">
            <a:avLst>
              <a:gd name="adj" fmla="val 13043"/>
            </a:avLst>
          </a:prstGeom>
          <a:solidFill>
            <a:srgbClr val="161D19"/>
          </a:solidFill>
          <a:ln w="12700">
            <a:solidFill>
              <a:srgbClr val="2A352F"/>
            </a:solidFill>
            <a:prstDash val="solid"/>
          </a:ln>
        </p:spPr>
      </p:sp>
      <p:sp>
        <p:nvSpPr>
          <p:cNvPr id="33" name="Text 31"/>
          <p:cNvSpPr/>
          <p:nvPr/>
        </p:nvSpPr>
        <p:spPr>
          <a:xfrm>
            <a:off x="9189720" y="5065776"/>
            <a:ext cx="2103120" cy="219456"/>
          </a:xfrm>
          <a:prstGeom prst="rect">
            <a:avLst/>
          </a:prstGeom>
          <a:noFill/>
          <a:ln/>
        </p:spPr>
        <p:txBody>
          <a:bodyPr wrap="square" lIns="0" tIns="0" rIns="0" bIns="0" rtlCol="0" anchor="ctr"/>
          <a:lstStyle/>
          <a:p>
            <a:pPr indent="0" marL="0">
              <a:buNone/>
            </a:pPr>
            <a:r>
              <a:rPr lang="en-US" sz="950" b="1" spc="100" kern="0" dirty="0">
                <a:solidFill>
                  <a:srgbClr val="F5B43C"/>
                </a:solidFill>
                <a:latin typeface="Calibri" pitchFamily="34" charset="0"/>
                <a:ea typeface="Calibri" pitchFamily="34" charset="-122"/>
                <a:cs typeface="Calibri" pitchFamily="34" charset="-120"/>
              </a:rPr>
              <a:t>12–18 mo</a:t>
            </a:r>
            <a:endParaRPr lang="en-US" sz="950" dirty="0"/>
          </a:p>
        </p:txBody>
      </p:sp>
      <p:sp>
        <p:nvSpPr>
          <p:cNvPr id="34" name="Text 32"/>
          <p:cNvSpPr/>
          <p:nvPr/>
        </p:nvSpPr>
        <p:spPr>
          <a:xfrm>
            <a:off x="9189720" y="5285232"/>
            <a:ext cx="2148840" cy="457200"/>
          </a:xfrm>
          <a:prstGeom prst="rect">
            <a:avLst/>
          </a:prstGeom>
          <a:noFill/>
          <a:ln/>
        </p:spPr>
        <p:txBody>
          <a:bodyPr wrap="square" lIns="0" tIns="0" rIns="0" bIns="0" rtlCol="0" anchor="t"/>
          <a:lstStyle/>
          <a:p>
            <a:pPr indent="0" marL="0">
              <a:lnSpc>
                <a:spcPct val="112000"/>
              </a:lnSpc>
              <a:buNone/>
            </a:pPr>
            <a:r>
              <a:rPr lang="en-US" sz="1100" dirty="0">
                <a:solidFill>
                  <a:srgbClr val="F4F7F5"/>
                </a:solidFill>
                <a:latin typeface="Calibri" pitchFamily="34" charset="0"/>
                <a:ea typeface="Calibri" pitchFamily="34" charset="-122"/>
                <a:cs typeface="Calibri" pitchFamily="34" charset="-120"/>
              </a:rPr>
              <a:t>Renewal evidence strong enough to raise on</a:t>
            </a:r>
            <a:endParaRPr lang="en-US" sz="1100" dirty="0"/>
          </a:p>
        </p:txBody>
      </p:sp>
      <p:sp>
        <p:nvSpPr>
          <p:cNvPr id="35" name="Shape 33"/>
          <p:cNvSpPr/>
          <p:nvPr/>
        </p:nvSpPr>
        <p:spPr>
          <a:xfrm>
            <a:off x="640080" y="5980176"/>
            <a:ext cx="10908792" cy="475488"/>
          </a:xfrm>
          <a:prstGeom prst="roundRect">
            <a:avLst>
              <a:gd name="adj" fmla="val 23077"/>
            </a:avLst>
          </a:prstGeom>
          <a:solidFill>
            <a:srgbClr val="161D19"/>
          </a:solidFill>
          <a:ln w="12700">
            <a:solidFill>
              <a:srgbClr val="2A352F"/>
            </a:solidFill>
            <a:prstDash val="solid"/>
          </a:ln>
        </p:spPr>
      </p:sp>
      <p:sp>
        <p:nvSpPr>
          <p:cNvPr id="36" name="Text 34"/>
          <p:cNvSpPr/>
          <p:nvPr/>
        </p:nvSpPr>
        <p:spPr>
          <a:xfrm>
            <a:off x="868680" y="5980176"/>
            <a:ext cx="10469880" cy="475488"/>
          </a:xfrm>
          <a:prstGeom prst="rect">
            <a:avLst/>
          </a:prstGeom>
          <a:noFill/>
          <a:ln/>
        </p:spPr>
        <p:txBody>
          <a:bodyPr wrap="square" lIns="0" tIns="0" rIns="0" bIns="0" rtlCol="0" anchor="ctr"/>
          <a:lstStyle/>
          <a:p>
            <a:pPr indent="0" marL="0">
              <a:lnSpc>
                <a:spcPct val="110000"/>
              </a:lnSpc>
              <a:buNone/>
            </a:pPr>
            <a:r>
              <a:rPr lang="en-US" sz="1200" dirty="0">
                <a:solidFill>
                  <a:srgbClr val="F4F7F5"/>
                </a:solidFill>
                <a:latin typeface="Calibri" pitchFamily="34" charset="0"/>
                <a:ea typeface="Calibri" pitchFamily="34" charset="-122"/>
                <a:cs typeface="Calibri" pitchFamily="34" charset="-120"/>
              </a:rPr>
              <a:t>Every line item retires one named doubt, in the order an investor would want them retired. No line item is advertising.</a:t>
            </a:r>
            <a:endParaRPr lang="en-US" sz="1200" dirty="0"/>
          </a:p>
        </p:txBody>
      </p:sp>
      <p:sp>
        <p:nvSpPr>
          <p:cNvPr id="38" name="Text 35"/>
          <p:cNvSpPr/>
          <p:nvPr/>
        </p:nvSpPr>
        <p:spPr>
          <a:xfrm>
            <a:off x="9692640" y="6528816"/>
            <a:ext cx="1188720" cy="237744"/>
          </a:xfrm>
          <a:prstGeom prst="rect">
            <a:avLst/>
          </a:prstGeom>
          <a:noFill/>
          <a:ln/>
        </p:spPr>
        <p:txBody>
          <a:bodyPr wrap="square" lIns="0" tIns="0" rIns="0" bIns="0" rtlCol="0" anchor="ctr"/>
          <a:lstStyle/>
          <a:p>
            <a:pPr algn="r" indent="0" marL="0">
              <a:buNone/>
            </a:pPr>
            <a:r>
              <a:rPr lang="en-US" sz="850" b="1" spc="140" kern="0" dirty="0">
                <a:solidFill>
                  <a:srgbClr val="67726B"/>
                </a:solidFill>
                <a:latin typeface="Calibri" pitchFamily="34" charset="0"/>
                <a:ea typeface="Calibri" pitchFamily="34" charset="-122"/>
                <a:cs typeface="Calibri" pitchFamily="34" charset="-120"/>
              </a:rPr>
              <a:t>POLYPROFIT</a:t>
            </a:r>
            <a:endParaRPr lang="en-US" sz="850" dirty="0"/>
          </a:p>
        </p:txBody>
      </p:sp>
      <p:sp>
        <p:nvSpPr>
          <p:cNvPr id="39" name="Text 36"/>
          <p:cNvSpPr/>
          <p:nvPr/>
        </p:nvSpPr>
        <p:spPr>
          <a:xfrm>
            <a:off x="11018520" y="6528816"/>
            <a:ext cx="530352" cy="237744"/>
          </a:xfrm>
          <a:prstGeom prst="rect">
            <a:avLst/>
          </a:prstGeom>
          <a:noFill/>
          <a:ln/>
        </p:spPr>
        <p:txBody>
          <a:bodyPr wrap="square" lIns="0" tIns="0" rIns="0" bIns="0" rtlCol="0" anchor="ctr"/>
          <a:lstStyle/>
          <a:p>
            <a:pPr algn="r" indent="0" marL="0">
              <a:buNone/>
            </a:pPr>
            <a:r>
              <a:rPr lang="en-US" sz="850" b="1" dirty="0">
                <a:solidFill>
                  <a:srgbClr val="22C55E"/>
                </a:solidFill>
                <a:latin typeface="Calibri" pitchFamily="34" charset="0"/>
                <a:ea typeface="Calibri" pitchFamily="34" charset="-122"/>
                <a:cs typeface="Calibri" pitchFamily="34" charset="-120"/>
              </a:rPr>
              <a:t>16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70B09"/>
        </a:solidFill>
      </p:bgPr>
    </p:bg>
    <p:spTree>
      <p:nvGrpSpPr>
        <p:cNvPr id="1" name=""/>
        <p:cNvGrpSpPr/>
        <p:nvPr/>
      </p:nvGrpSpPr>
      <p:grpSpPr>
        <a:xfrm>
          <a:off x="0" y="0"/>
          <a:ext cx="0" cy="0"/>
          <a:chOff x="0" y="0"/>
          <a:chExt cx="0" cy="0"/>
        </a:xfrm>
      </p:grpSpPr>
      <p:sp>
        <p:nvSpPr>
          <p:cNvPr id="2" name="Shape 0"/>
          <p:cNvSpPr/>
          <p:nvPr/>
        </p:nvSpPr>
        <p:spPr>
          <a:xfrm>
            <a:off x="6949440" y="-1280160"/>
            <a:ext cx="7315200" cy="7315200"/>
          </a:xfrm>
          <a:prstGeom prst="ellipse">
            <a:avLst/>
          </a:prstGeom>
          <a:solidFill>
            <a:srgbClr val="22C55E">
              <a:alpha val="9000"/>
            </a:srgbClr>
          </a:solidFill>
          <a:ln/>
        </p:spPr>
      </p:sp>
      <p:sp>
        <p:nvSpPr>
          <p:cNvPr id="3" name="Shape 1"/>
          <p:cNvSpPr/>
          <p:nvPr/>
        </p:nvSpPr>
        <p:spPr>
          <a:xfrm>
            <a:off x="-2194560" y="3840480"/>
            <a:ext cx="5486400" cy="5486400"/>
          </a:xfrm>
          <a:prstGeom prst="ellipse">
            <a:avLst/>
          </a:prstGeom>
          <a:solidFill>
            <a:srgbClr val="22C55E">
              <a:alpha val="6000"/>
            </a:srgbClr>
          </a:solidFill>
          <a:ln/>
        </p:spPr>
      </p:sp>
      <p:sp>
        <p:nvSpPr>
          <p:cNvPr id="4" name="Shape 2"/>
          <p:cNvSpPr/>
          <p:nvPr/>
        </p:nvSpPr>
        <p:spPr>
          <a:xfrm>
            <a:off x="640080" y="566928"/>
            <a:ext cx="457200" cy="457200"/>
          </a:xfrm>
          <a:prstGeom prst="roundRect">
            <a:avLst>
              <a:gd name="adj" fmla="val 28000"/>
            </a:avLst>
          </a:prstGeom>
          <a:solidFill>
            <a:srgbClr val="22C55E"/>
          </a:solidFill>
          <a:ln/>
        </p:spPr>
      </p:sp>
      <p:sp>
        <p:nvSpPr>
          <p:cNvPr id="5" name="Text 3"/>
          <p:cNvSpPr/>
          <p:nvPr/>
        </p:nvSpPr>
        <p:spPr>
          <a:xfrm>
            <a:off x="640080" y="566928"/>
            <a:ext cx="457200" cy="457200"/>
          </a:xfrm>
          <a:prstGeom prst="rect">
            <a:avLst/>
          </a:prstGeom>
          <a:noFill/>
          <a:ln/>
        </p:spPr>
        <p:txBody>
          <a:bodyPr wrap="square" lIns="0" tIns="0" rIns="0" bIns="0" rtlCol="0" anchor="ctr"/>
          <a:lstStyle/>
          <a:p>
            <a:pPr algn="ctr" indent="0" marL="0">
              <a:buNone/>
            </a:pPr>
            <a:r>
              <a:rPr lang="en-US" sz="2200" b="1" dirty="0">
                <a:solidFill>
                  <a:srgbClr val="06140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207008" y="566928"/>
            <a:ext cx="3657600" cy="457200"/>
          </a:xfrm>
          <a:prstGeom prst="rect">
            <a:avLst/>
          </a:prstGeom>
          <a:noFill/>
          <a:ln/>
        </p:spPr>
        <p:txBody>
          <a:bodyPr wrap="square" lIns="0" tIns="0" rIns="0" bIns="0" rtlCol="0" anchor="ctr"/>
          <a:lstStyle/>
          <a:p>
            <a:pPr indent="0" marL="0">
              <a:buNone/>
            </a:pPr>
            <a:r>
              <a:rPr lang="en-US" sz="2300" b="1" spc="-30" kern="0" dirty="0">
                <a:solidFill>
                  <a:srgbClr val="F4F7F5"/>
                </a:solidFill>
                <a:latin typeface="Calibri" pitchFamily="34" charset="0"/>
                <a:ea typeface="Calibri" pitchFamily="34" charset="-122"/>
                <a:cs typeface="Calibri" pitchFamily="34" charset="-120"/>
              </a:rPr>
              <a:t>PolyProfit</a:t>
            </a:r>
            <a:endParaRPr lang="en-US" sz="2300" dirty="0"/>
          </a:p>
        </p:txBody>
      </p:sp>
      <p:sp>
        <p:nvSpPr>
          <p:cNvPr id="7" name="Text 5"/>
          <p:cNvSpPr/>
          <p:nvPr/>
        </p:nvSpPr>
        <p:spPr>
          <a:xfrm>
            <a:off x="640080" y="1828800"/>
            <a:ext cx="6400800" cy="274320"/>
          </a:xfrm>
          <a:prstGeom prst="rect">
            <a:avLst/>
          </a:prstGeom>
          <a:noFill/>
          <a:ln/>
        </p:spPr>
        <p:txBody>
          <a:bodyPr wrap="square" lIns="0" tIns="0" rIns="0" bIns="0" rtlCol="0" anchor="ctr"/>
          <a:lstStyle/>
          <a:p>
            <a:pPr indent="0" marL="0">
              <a:buNone/>
            </a:pPr>
            <a:r>
              <a:rPr lang="en-US" sz="1050" b="1" spc="200" kern="0" dirty="0">
                <a:solidFill>
                  <a:srgbClr val="22C55E"/>
                </a:solidFill>
                <a:latin typeface="Calibri" pitchFamily="34" charset="0"/>
                <a:ea typeface="Calibri" pitchFamily="34" charset="-122"/>
                <a:cs typeface="Calibri" pitchFamily="34" charset="-120"/>
              </a:rPr>
              <a:t>WHAT WE ARE DRIVING TO</a:t>
            </a:r>
            <a:endParaRPr lang="en-US" sz="1050" dirty="0"/>
          </a:p>
        </p:txBody>
      </p:sp>
      <p:sp>
        <p:nvSpPr>
          <p:cNvPr id="8" name="Text 6"/>
          <p:cNvSpPr/>
          <p:nvPr/>
        </p:nvSpPr>
        <p:spPr>
          <a:xfrm>
            <a:off x="640080" y="2286000"/>
            <a:ext cx="6583680" cy="1737360"/>
          </a:xfrm>
          <a:prstGeom prst="rect">
            <a:avLst/>
          </a:prstGeom>
          <a:noFill/>
          <a:ln/>
        </p:spPr>
        <p:txBody>
          <a:bodyPr wrap="square" lIns="0" tIns="0" rIns="0" bIns="0" rtlCol="0" anchor="t"/>
          <a:lstStyle/>
          <a:p>
            <a:pPr indent="0" marL="0">
              <a:lnSpc>
                <a:spcPct val="102000"/>
              </a:lnSpc>
              <a:buNone/>
            </a:pPr>
            <a:r>
              <a:rPr lang="en-US" sz="4200" b="1" dirty="0">
                <a:solidFill>
                  <a:srgbClr val="F4F7F5"/>
                </a:solidFill>
                <a:latin typeface="Calibri" pitchFamily="34" charset="0"/>
                <a:ea typeface="Calibri" pitchFamily="34" charset="-122"/>
                <a:cs typeface="Calibri" pitchFamily="34" charset="-120"/>
              </a:rPr>
              <a:t>Earn trust first.</a:t>
            </a:r>
            <a:endParaRPr lang="en-US" sz="4200" dirty="0"/>
          </a:p>
          <a:p>
            <a:pPr indent="0" marL="0">
              <a:lnSpc>
                <a:spcPct val="102000"/>
              </a:lnSpc>
              <a:buNone/>
            </a:pPr>
            <a:r>
              <a:rPr lang="en-US" sz="4200" b="1" dirty="0">
                <a:solidFill>
                  <a:srgbClr val="F4F7F5"/>
                </a:solidFill>
                <a:latin typeface="Calibri" pitchFamily="34" charset="0"/>
                <a:ea typeface="Calibri" pitchFamily="34" charset="-122"/>
                <a:cs typeface="Calibri" pitchFamily="34" charset="-120"/>
              </a:rPr>
              <a:t>The money follows it.</a:t>
            </a:r>
            <a:endParaRPr lang="en-US" sz="4200" dirty="0"/>
          </a:p>
        </p:txBody>
      </p:sp>
      <p:sp>
        <p:nvSpPr>
          <p:cNvPr id="9" name="Text 7"/>
          <p:cNvSpPr/>
          <p:nvPr/>
        </p:nvSpPr>
        <p:spPr>
          <a:xfrm>
            <a:off x="640080" y="4041648"/>
            <a:ext cx="6309360" cy="731520"/>
          </a:xfrm>
          <a:prstGeom prst="rect">
            <a:avLst/>
          </a:prstGeom>
          <a:noFill/>
          <a:ln/>
        </p:spPr>
        <p:txBody>
          <a:bodyPr wrap="square" lIns="0" tIns="0" rIns="0" bIns="0" rtlCol="0" anchor="t"/>
          <a:lstStyle/>
          <a:p>
            <a:pPr indent="0" marL="0">
              <a:lnSpc>
                <a:spcPct val="125000"/>
              </a:lnSpc>
              <a:buNone/>
            </a:pPr>
            <a:r>
              <a:rPr lang="en-US" sz="1450" dirty="0">
                <a:solidFill>
                  <a:srgbClr val="9BA8A0"/>
                </a:solidFill>
                <a:latin typeface="Calibri" pitchFamily="34" charset="0"/>
                <a:ea typeface="Calibri" pitchFamily="34" charset="-122"/>
                <a:cs typeface="Calibri" pitchFamily="34" charset="-120"/>
              </a:rPr>
              <a:t>The company isn't the ranked list. It's the record of that list having been right — published, checked, and boring enough to believe.</a:t>
            </a:r>
            <a:endParaRPr lang="en-US" sz="1450" dirty="0"/>
          </a:p>
        </p:txBody>
      </p:sp>
      <p:sp>
        <p:nvSpPr>
          <p:cNvPr id="10" name="Shape 8"/>
          <p:cNvSpPr/>
          <p:nvPr/>
        </p:nvSpPr>
        <p:spPr>
          <a:xfrm>
            <a:off x="7635240" y="1828800"/>
            <a:ext cx="3913632" cy="877824"/>
          </a:xfrm>
          <a:prstGeom prst="roundRect">
            <a:avLst>
              <a:gd name="adj" fmla="val 12500"/>
            </a:avLst>
          </a:prstGeom>
          <a:solidFill>
            <a:srgbClr val="161D19"/>
          </a:solidFill>
          <a:ln w="12700">
            <a:solidFill>
              <a:srgbClr val="2A352F"/>
            </a:solidFill>
            <a:prstDash val="solid"/>
          </a:ln>
        </p:spPr>
      </p:sp>
      <p:sp>
        <p:nvSpPr>
          <p:cNvPr id="11" name="Shape 9"/>
          <p:cNvSpPr/>
          <p:nvPr/>
        </p:nvSpPr>
        <p:spPr>
          <a:xfrm>
            <a:off x="7882128" y="2112264"/>
            <a:ext cx="310896" cy="310896"/>
          </a:xfrm>
          <a:prstGeom prst="ellipse">
            <a:avLst/>
          </a:prstGeom>
          <a:solidFill>
            <a:srgbClr val="22C55E"/>
          </a:solidFill>
          <a:ln/>
        </p:spPr>
      </p:sp>
      <p:sp>
        <p:nvSpPr>
          <p:cNvPr id="12" name="Text 10"/>
          <p:cNvSpPr/>
          <p:nvPr/>
        </p:nvSpPr>
        <p:spPr>
          <a:xfrm>
            <a:off x="7882128" y="2112264"/>
            <a:ext cx="310896" cy="310896"/>
          </a:xfrm>
          <a:prstGeom prst="rect">
            <a:avLst/>
          </a:prstGeom>
          <a:noFill/>
          <a:ln/>
        </p:spPr>
        <p:txBody>
          <a:bodyPr wrap="square" lIns="0" tIns="0" rIns="0" bIns="0" rtlCol="0" anchor="ctr"/>
          <a:lstStyle/>
          <a:p>
            <a:pPr algn="ctr" indent="0" marL="0">
              <a:buNone/>
            </a:pPr>
            <a:r>
              <a:rPr lang="en-US" sz="1200" b="1" dirty="0">
                <a:solidFill>
                  <a:srgbClr val="06140C"/>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8302752" y="1828800"/>
            <a:ext cx="3063240" cy="877824"/>
          </a:xfrm>
          <a:prstGeom prst="rect">
            <a:avLst/>
          </a:prstGeom>
          <a:noFill/>
          <a:ln/>
        </p:spPr>
        <p:txBody>
          <a:bodyPr wrap="square" lIns="0" tIns="0" rIns="0" bIns="0" rtlCol="0" anchor="ctr"/>
          <a:lstStyle/>
          <a:p>
            <a:pPr indent="0" marL="0">
              <a:lnSpc>
                <a:spcPct val="112000"/>
              </a:lnSpc>
              <a:buNone/>
            </a:pPr>
            <a:r>
              <a:rPr lang="en-US" sz="1250" b="1" dirty="0">
                <a:solidFill>
                  <a:srgbClr val="F4F7F5"/>
                </a:solidFill>
                <a:latin typeface="Calibri" pitchFamily="34" charset="0"/>
                <a:ea typeface="Calibri" pitchFamily="34" charset="-122"/>
                <a:cs typeface="Calibri" pitchFamily="34" charset="-120"/>
              </a:rPr>
              <a:t>100 paying users, none of them friends</a:t>
            </a:r>
            <a:endParaRPr lang="en-US" sz="1250" dirty="0"/>
          </a:p>
        </p:txBody>
      </p:sp>
      <p:sp>
        <p:nvSpPr>
          <p:cNvPr id="14" name="Shape 12"/>
          <p:cNvSpPr/>
          <p:nvPr/>
        </p:nvSpPr>
        <p:spPr>
          <a:xfrm>
            <a:off x="7635240" y="2816352"/>
            <a:ext cx="3913632" cy="877824"/>
          </a:xfrm>
          <a:prstGeom prst="roundRect">
            <a:avLst>
              <a:gd name="adj" fmla="val 12500"/>
            </a:avLst>
          </a:prstGeom>
          <a:solidFill>
            <a:srgbClr val="161D19"/>
          </a:solidFill>
          <a:ln w="12700">
            <a:solidFill>
              <a:srgbClr val="2A352F"/>
            </a:solidFill>
            <a:prstDash val="solid"/>
          </a:ln>
        </p:spPr>
      </p:sp>
      <p:sp>
        <p:nvSpPr>
          <p:cNvPr id="15" name="Shape 13"/>
          <p:cNvSpPr/>
          <p:nvPr/>
        </p:nvSpPr>
        <p:spPr>
          <a:xfrm>
            <a:off x="7882128" y="3099816"/>
            <a:ext cx="310896" cy="310896"/>
          </a:xfrm>
          <a:prstGeom prst="ellipse">
            <a:avLst/>
          </a:prstGeom>
          <a:solidFill>
            <a:srgbClr val="22C55E"/>
          </a:solidFill>
          <a:ln/>
        </p:spPr>
      </p:sp>
      <p:sp>
        <p:nvSpPr>
          <p:cNvPr id="16" name="Text 14"/>
          <p:cNvSpPr/>
          <p:nvPr/>
        </p:nvSpPr>
        <p:spPr>
          <a:xfrm>
            <a:off x="7882128" y="3099816"/>
            <a:ext cx="310896" cy="310896"/>
          </a:xfrm>
          <a:prstGeom prst="rect">
            <a:avLst/>
          </a:prstGeom>
          <a:noFill/>
          <a:ln/>
        </p:spPr>
        <p:txBody>
          <a:bodyPr wrap="square" lIns="0" tIns="0" rIns="0" bIns="0" rtlCol="0" anchor="ctr"/>
          <a:lstStyle/>
          <a:p>
            <a:pPr algn="ctr" indent="0" marL="0">
              <a:buNone/>
            </a:pPr>
            <a:r>
              <a:rPr lang="en-US" sz="1200" b="1" dirty="0">
                <a:solidFill>
                  <a:srgbClr val="06140C"/>
                </a:solidFill>
                <a:latin typeface="Calibri" pitchFamily="34" charset="0"/>
                <a:ea typeface="Calibri" pitchFamily="34" charset="-122"/>
                <a:cs typeface="Calibri" pitchFamily="34" charset="-120"/>
              </a:rPr>
              <a:t>2</a:t>
            </a:r>
            <a:endParaRPr lang="en-US" sz="1200" dirty="0"/>
          </a:p>
        </p:txBody>
      </p:sp>
      <p:sp>
        <p:nvSpPr>
          <p:cNvPr id="17" name="Text 15"/>
          <p:cNvSpPr/>
          <p:nvPr/>
        </p:nvSpPr>
        <p:spPr>
          <a:xfrm>
            <a:off x="8302752" y="2816352"/>
            <a:ext cx="3063240" cy="877824"/>
          </a:xfrm>
          <a:prstGeom prst="rect">
            <a:avLst/>
          </a:prstGeom>
          <a:noFill/>
          <a:ln/>
        </p:spPr>
        <p:txBody>
          <a:bodyPr wrap="square" lIns="0" tIns="0" rIns="0" bIns="0" rtlCol="0" anchor="ctr"/>
          <a:lstStyle/>
          <a:p>
            <a:pPr indent="0" marL="0">
              <a:lnSpc>
                <a:spcPct val="112000"/>
              </a:lnSpc>
              <a:buNone/>
            </a:pPr>
            <a:r>
              <a:rPr lang="en-US" sz="1250" b="1" dirty="0">
                <a:solidFill>
                  <a:srgbClr val="F4F7F5"/>
                </a:solidFill>
                <a:latin typeface="Calibri" pitchFamily="34" charset="0"/>
                <a:ea typeface="Calibri" pitchFamily="34" charset="-122"/>
                <a:cs typeface="Calibri" pitchFamily="34" charset="-120"/>
              </a:rPr>
              <a:t>Renewal evidence, not signup counts</a:t>
            </a:r>
            <a:endParaRPr lang="en-US" sz="1250" dirty="0"/>
          </a:p>
        </p:txBody>
      </p:sp>
      <p:sp>
        <p:nvSpPr>
          <p:cNvPr id="18" name="Shape 16"/>
          <p:cNvSpPr/>
          <p:nvPr/>
        </p:nvSpPr>
        <p:spPr>
          <a:xfrm>
            <a:off x="7635240" y="3803904"/>
            <a:ext cx="3913632" cy="877824"/>
          </a:xfrm>
          <a:prstGeom prst="roundRect">
            <a:avLst>
              <a:gd name="adj" fmla="val 12500"/>
            </a:avLst>
          </a:prstGeom>
          <a:solidFill>
            <a:srgbClr val="161D19"/>
          </a:solidFill>
          <a:ln w="12700">
            <a:solidFill>
              <a:srgbClr val="2A352F"/>
            </a:solidFill>
            <a:prstDash val="solid"/>
          </a:ln>
        </p:spPr>
      </p:sp>
      <p:sp>
        <p:nvSpPr>
          <p:cNvPr id="19" name="Shape 17"/>
          <p:cNvSpPr/>
          <p:nvPr/>
        </p:nvSpPr>
        <p:spPr>
          <a:xfrm>
            <a:off x="7882128" y="4087368"/>
            <a:ext cx="310896" cy="310896"/>
          </a:xfrm>
          <a:prstGeom prst="ellipse">
            <a:avLst/>
          </a:prstGeom>
          <a:solidFill>
            <a:srgbClr val="22C55E"/>
          </a:solidFill>
          <a:ln/>
        </p:spPr>
      </p:sp>
      <p:sp>
        <p:nvSpPr>
          <p:cNvPr id="20" name="Text 18"/>
          <p:cNvSpPr/>
          <p:nvPr/>
        </p:nvSpPr>
        <p:spPr>
          <a:xfrm>
            <a:off x="7882128" y="4087368"/>
            <a:ext cx="310896" cy="310896"/>
          </a:xfrm>
          <a:prstGeom prst="rect">
            <a:avLst/>
          </a:prstGeom>
          <a:noFill/>
          <a:ln/>
        </p:spPr>
        <p:txBody>
          <a:bodyPr wrap="square" lIns="0" tIns="0" rIns="0" bIns="0" rtlCol="0" anchor="ctr"/>
          <a:lstStyle/>
          <a:p>
            <a:pPr algn="ctr" indent="0" marL="0">
              <a:buNone/>
            </a:pPr>
            <a:r>
              <a:rPr lang="en-US" sz="1200" b="1" dirty="0">
                <a:solidFill>
                  <a:srgbClr val="06140C"/>
                </a:solidFill>
                <a:latin typeface="Calibri" pitchFamily="34" charset="0"/>
                <a:ea typeface="Calibri" pitchFamily="34" charset="-122"/>
                <a:cs typeface="Calibri" pitchFamily="34" charset="-120"/>
              </a:rPr>
              <a:t>3</a:t>
            </a:r>
            <a:endParaRPr lang="en-US" sz="1200" dirty="0"/>
          </a:p>
        </p:txBody>
      </p:sp>
      <p:sp>
        <p:nvSpPr>
          <p:cNvPr id="21" name="Text 19"/>
          <p:cNvSpPr/>
          <p:nvPr/>
        </p:nvSpPr>
        <p:spPr>
          <a:xfrm>
            <a:off x="8302752" y="3803904"/>
            <a:ext cx="3063240" cy="877824"/>
          </a:xfrm>
          <a:prstGeom prst="rect">
            <a:avLst/>
          </a:prstGeom>
          <a:noFill/>
          <a:ln/>
        </p:spPr>
        <p:txBody>
          <a:bodyPr wrap="square" lIns="0" tIns="0" rIns="0" bIns="0" rtlCol="0" anchor="ctr"/>
          <a:lstStyle/>
          <a:p>
            <a:pPr indent="0" marL="0">
              <a:lnSpc>
                <a:spcPct val="112000"/>
              </a:lnSpc>
              <a:buNone/>
            </a:pPr>
            <a:r>
              <a:rPr lang="en-US" sz="1250" b="1" dirty="0">
                <a:solidFill>
                  <a:srgbClr val="F4F7F5"/>
                </a:solidFill>
                <a:latin typeface="Calibri" pitchFamily="34" charset="0"/>
                <a:ea typeface="Calibri" pitchFamily="34" charset="-122"/>
                <a:cs typeface="Calibri" pitchFamily="34" charset="-120"/>
              </a:rPr>
              <a:t>A public record of the rankings being right</a:t>
            </a:r>
            <a:endParaRPr lang="en-US" sz="1250" dirty="0"/>
          </a:p>
        </p:txBody>
      </p:sp>
      <p:sp>
        <p:nvSpPr>
          <p:cNvPr id="22" name="Shape 20"/>
          <p:cNvSpPr/>
          <p:nvPr/>
        </p:nvSpPr>
        <p:spPr>
          <a:xfrm>
            <a:off x="7635240" y="4791456"/>
            <a:ext cx="3913632" cy="877824"/>
          </a:xfrm>
          <a:prstGeom prst="roundRect">
            <a:avLst>
              <a:gd name="adj" fmla="val 12500"/>
            </a:avLst>
          </a:prstGeom>
          <a:solidFill>
            <a:srgbClr val="161D19"/>
          </a:solidFill>
          <a:ln w="12700">
            <a:solidFill>
              <a:srgbClr val="2A352F"/>
            </a:solidFill>
            <a:prstDash val="solid"/>
          </a:ln>
        </p:spPr>
      </p:sp>
      <p:sp>
        <p:nvSpPr>
          <p:cNvPr id="23" name="Shape 21"/>
          <p:cNvSpPr/>
          <p:nvPr/>
        </p:nvSpPr>
        <p:spPr>
          <a:xfrm>
            <a:off x="7882128" y="5074920"/>
            <a:ext cx="310896" cy="310896"/>
          </a:xfrm>
          <a:prstGeom prst="ellipse">
            <a:avLst/>
          </a:prstGeom>
          <a:solidFill>
            <a:srgbClr val="22C55E"/>
          </a:solidFill>
          <a:ln/>
        </p:spPr>
      </p:sp>
      <p:sp>
        <p:nvSpPr>
          <p:cNvPr id="24" name="Text 22"/>
          <p:cNvSpPr/>
          <p:nvPr/>
        </p:nvSpPr>
        <p:spPr>
          <a:xfrm>
            <a:off x="7882128" y="5074920"/>
            <a:ext cx="310896" cy="310896"/>
          </a:xfrm>
          <a:prstGeom prst="rect">
            <a:avLst/>
          </a:prstGeom>
          <a:noFill/>
          <a:ln/>
        </p:spPr>
        <p:txBody>
          <a:bodyPr wrap="square" lIns="0" tIns="0" rIns="0" bIns="0" rtlCol="0" anchor="ctr"/>
          <a:lstStyle/>
          <a:p>
            <a:pPr algn="ctr" indent="0" marL="0">
              <a:buNone/>
            </a:pPr>
            <a:r>
              <a:rPr lang="en-US" sz="1200" b="1" dirty="0">
                <a:solidFill>
                  <a:srgbClr val="06140C"/>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8302752" y="4791456"/>
            <a:ext cx="3063240" cy="877824"/>
          </a:xfrm>
          <a:prstGeom prst="rect">
            <a:avLst/>
          </a:prstGeom>
          <a:noFill/>
          <a:ln/>
        </p:spPr>
        <p:txBody>
          <a:bodyPr wrap="square" lIns="0" tIns="0" rIns="0" bIns="0" rtlCol="0" anchor="ctr"/>
          <a:lstStyle/>
          <a:p>
            <a:pPr indent="0" marL="0">
              <a:lnSpc>
                <a:spcPct val="112000"/>
              </a:lnSpc>
              <a:buNone/>
            </a:pPr>
            <a:r>
              <a:rPr lang="en-US" sz="1250" b="1" dirty="0">
                <a:solidFill>
                  <a:srgbClr val="F4F7F5"/>
                </a:solidFill>
                <a:latin typeface="Calibri" pitchFamily="34" charset="0"/>
                <a:ea typeface="Calibri" pitchFamily="34" charset="-122"/>
                <a:cs typeface="Calibri" pitchFamily="34" charset="-120"/>
              </a:rPr>
              <a:t>A bank-linked beta people actually trust</a:t>
            </a:r>
            <a:endParaRPr lang="en-US" sz="1250" dirty="0"/>
          </a:p>
        </p:txBody>
      </p:sp>
      <p:sp>
        <p:nvSpPr>
          <p:cNvPr id="26" name="Text 24"/>
          <p:cNvSpPr/>
          <p:nvPr/>
        </p:nvSpPr>
        <p:spPr>
          <a:xfrm>
            <a:off x="640080" y="5212080"/>
            <a:ext cx="6583680" cy="365760"/>
          </a:xfrm>
          <a:prstGeom prst="rect">
            <a:avLst/>
          </a:prstGeom>
          <a:noFill/>
          <a:ln/>
        </p:spPr>
        <p:txBody>
          <a:bodyPr wrap="square" lIns="0" tIns="0" rIns="0" bIns="0" rtlCol="0" anchor="ctr"/>
          <a:lstStyle/>
          <a:p>
            <a:pPr indent="0" marL="0">
              <a:buNone/>
            </a:pPr>
            <a:r>
              <a:rPr lang="en-US" sz="1250" dirty="0">
                <a:solidFill>
                  <a:srgbClr val="F4F7F5"/>
                </a:solidFill>
                <a:latin typeface="Calibri" pitchFamily="34" charset="0"/>
                <a:ea typeface="Calibri" pitchFamily="34" charset="-122"/>
                <a:cs typeface="Calibri" pitchFamily="34" charset="-120"/>
              </a:rPr>
              <a:t>Opening conversations with investors, design partners and fintech infrastructure partners.</a:t>
            </a:r>
            <a:endParaRPr lang="en-US" sz="1250" dirty="0"/>
          </a:p>
        </p:txBody>
      </p:sp>
      <p:sp>
        <p:nvSpPr>
          <p:cNvPr id="27" name="Text 25"/>
          <p:cNvSpPr/>
          <p:nvPr/>
        </p:nvSpPr>
        <p:spPr>
          <a:xfrm>
            <a:off x="640080" y="6309360"/>
            <a:ext cx="7315200" cy="274320"/>
          </a:xfrm>
          <a:prstGeom prst="rect">
            <a:avLst/>
          </a:prstGeom>
          <a:noFill/>
          <a:ln/>
        </p:spPr>
        <p:txBody>
          <a:bodyPr wrap="square" lIns="0" tIns="0" rIns="0" bIns="0" rtlCol="0" anchor="ctr"/>
          <a:lstStyle/>
          <a:p>
            <a:pPr indent="0" marL="0">
              <a:buNone/>
            </a:pPr>
            <a:r>
              <a:rPr lang="en-US" sz="950" b="1" spc="140" kern="0" dirty="0">
                <a:solidFill>
                  <a:srgbClr val="67726B"/>
                </a:solidFill>
                <a:latin typeface="Calibri" pitchFamily="34" charset="0"/>
                <a:ea typeface="Calibri" pitchFamily="34" charset="-122"/>
                <a:cs typeface="Calibri" pitchFamily="34" charset="-120"/>
              </a:rPr>
              <a:t>POLYPROFIT   ·   INVESTOR OVERVIEW   ·   AUGUST 2026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PolyProfit — Investor Overview</dc:title>
  <dc:subject>PptxGenJS Presentation</dc:subject>
  <dc:creator>PolyProfit</dc:creator>
  <cp:lastModifiedBy>PolyProfit</cp:lastModifiedBy>
  <cp:revision>1</cp:revision>
  <dcterms:created xsi:type="dcterms:W3CDTF">2026-08-11T01:58:16Z</dcterms:created>
  <dcterms:modified xsi:type="dcterms:W3CDTF">2026-08-11T01:58:16Z</dcterms:modified>
</cp:coreProperties>
</file>